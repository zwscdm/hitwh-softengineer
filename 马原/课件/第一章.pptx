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8" r:id="rId3"/>
    <p:sldId id="259" r:id="rId4"/>
    <p:sldId id="339" r:id="rId5"/>
    <p:sldId id="274" r:id="rId7"/>
    <p:sldId id="280" r:id="rId8"/>
    <p:sldId id="486" r:id="rId9"/>
    <p:sldId id="290" r:id="rId10"/>
    <p:sldId id="293" r:id="rId11"/>
    <p:sldId id="489" r:id="rId12"/>
    <p:sldId id="495" r:id="rId13"/>
    <p:sldId id="306" r:id="rId14"/>
    <p:sldId id="311" r:id="rId15"/>
    <p:sldId id="316" r:id="rId16"/>
    <p:sldId id="543" r:id="rId17"/>
    <p:sldId id="323" r:id="rId18"/>
    <p:sldId id="328" r:id="rId19"/>
    <p:sldId id="332" r:id="rId20"/>
    <p:sldId id="649" r:id="rId21"/>
    <p:sldId id="549" r:id="rId22"/>
    <p:sldId id="553" r:id="rId23"/>
    <p:sldId id="564" r:id="rId24"/>
    <p:sldId id="565" r:id="rId25"/>
    <p:sldId id="571" r:id="rId26"/>
    <p:sldId id="572" r:id="rId27"/>
    <p:sldId id="573" r:id="rId28"/>
    <p:sldId id="576" r:id="rId29"/>
    <p:sldId id="577" r:id="rId30"/>
    <p:sldId id="580" r:id="rId31"/>
    <p:sldId id="583" r:id="rId32"/>
    <p:sldId id="585" r:id="rId33"/>
    <p:sldId id="587" r:id="rId34"/>
    <p:sldId id="589" r:id="rId35"/>
    <p:sldId id="597" r:id="rId36"/>
    <p:sldId id="599" r:id="rId37"/>
    <p:sldId id="601" r:id="rId38"/>
    <p:sldId id="605" r:id="rId39"/>
    <p:sldId id="611" r:id="rId40"/>
    <p:sldId id="614" r:id="rId41"/>
    <p:sldId id="617" r:id="rId42"/>
    <p:sldId id="622" r:id="rId43"/>
    <p:sldId id="624" r:id="rId44"/>
    <p:sldId id="626" r:id="rId45"/>
    <p:sldId id="629" r:id="rId46"/>
    <p:sldId id="633" r:id="rId47"/>
    <p:sldId id="637" r:id="rId48"/>
    <p:sldId id="640" r:id="rId49"/>
    <p:sldId id="645" r:id="rId50"/>
    <p:sldId id="646" r:id="rId51"/>
    <p:sldId id="647" r:id="rId52"/>
    <p:sldId id="650" r:id="rId53"/>
    <p:sldId id="651" r:id="rId54"/>
    <p:sldId id="653" r:id="rId55"/>
    <p:sldId id="654" r:id="rId56"/>
    <p:sldId id="655" r:id="rId57"/>
    <p:sldId id="656" r:id="rId58"/>
    <p:sldId id="659" r:id="rId59"/>
    <p:sldId id="675" r:id="rId60"/>
    <p:sldId id="676" r:id="rId61"/>
    <p:sldId id="677" r:id="rId62"/>
    <p:sldId id="678" r:id="rId63"/>
    <p:sldId id="679" r:id="rId64"/>
    <p:sldId id="680" r:id="rId65"/>
  </p:sldIdLst>
  <p:sldSz cx="9144000" cy="6858000" type="screen4x3"/>
  <p:notesSz cx="6858000" cy="9144000"/>
  <p:custDataLst>
    <p:tags r:id="rId6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7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CC66"/>
    <a:srgbClr val="0035F4"/>
    <a:srgbClr val="B7ECFF"/>
    <a:srgbClr val="9900CC"/>
    <a:srgbClr val="4482F3"/>
    <a:srgbClr val="BE90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108" d="100"/>
          <a:sy n="108" d="100"/>
        </p:scale>
        <p:origin x="-1704" y="-78"/>
      </p:cViewPr>
      <p:guideLst>
        <p:guide orient="horz" pos="2160"/>
        <p:guide pos="278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9" Type="http://schemas.openxmlformats.org/officeDocument/2006/relationships/tags" Target="tags/tag3.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2">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2">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9885443-7626-41CA-B643-530557D23F19}" type="doc">
      <dgm:prSet loTypeId="urn:microsoft.com/office/officeart/2005/8/layout/hierarchy3#1" loCatId="relationship" qsTypeId="urn:microsoft.com/office/officeart/2005/8/quickstyle/simple1#1" qsCatId="simple" csTypeId="urn:microsoft.com/office/officeart/2005/8/colors/colorful3#1" csCatId="colorful" phldr="1"/>
      <dgm:spPr/>
      <dgm:t>
        <a:bodyPr/>
        <a:lstStyle/>
        <a:p>
          <a:endParaRPr lang="zh-CN" altLang="en-US"/>
        </a:p>
      </dgm:t>
    </dgm:pt>
    <dgm:pt modelId="{84ED8C32-71BF-4938-87CD-698A2C38883A}">
      <dgm:prSet phldrT="[文本]" custT="1"/>
      <dgm:spPr/>
      <dgm:t>
        <a:bodyPr/>
        <a:lstStyle/>
        <a:p>
          <a:r>
            <a:rPr lang="zh-CN" altLang="en-US" sz="2400" b="1" kern="1200" dirty="0">
              <a:ln>
                <a:solidFill>
                  <a:prstClr val="white"/>
                </a:solidFill>
              </a:ln>
              <a:solidFill>
                <a:prstClr val="black">
                  <a:lumMod val="75000"/>
                  <a:lumOff val="25000"/>
                </a:prstClr>
              </a:solidFill>
              <a:latin typeface="黑体" panose="02010609060101010101" pitchFamily="49" charset="-122"/>
              <a:ea typeface="黑体" panose="02010609060101010101" pitchFamily="49" charset="-122"/>
              <a:cs typeface="+mn-cs"/>
            </a:rPr>
            <a:t>古代朴素唯物主义唯物观</a:t>
          </a:r>
        </a:p>
      </dgm:t>
    </dgm:pt>
    <dgm:pt modelId="{AF78C9F8-4262-4C16-B246-751EBE47EA7C}" cxnId="{EA543B01-5BDF-438E-A2A1-DA1C97E3485C}" type="parTrans">
      <dgm:prSet/>
      <dgm:spPr/>
      <dgm:t>
        <a:bodyPr/>
        <a:lstStyle/>
        <a:p>
          <a:endParaRPr lang="zh-CN" altLang="en-US"/>
        </a:p>
      </dgm:t>
    </dgm:pt>
    <dgm:pt modelId="{28A01654-8657-4AD1-A9BB-4DAB06475BC8}" cxnId="{EA543B01-5BDF-438E-A2A1-DA1C97E3485C}" type="sibTrans">
      <dgm:prSet/>
      <dgm:spPr/>
      <dgm:t>
        <a:bodyPr/>
        <a:lstStyle/>
        <a:p>
          <a:endParaRPr lang="zh-CN" altLang="en-US"/>
        </a:p>
      </dgm:t>
    </dgm:pt>
    <dgm:pt modelId="{6AB68B8F-7BE7-4549-B54F-A94E099CEF30}">
      <dgm:prSet phldrT="[文本]" phldr="0" custT="1"/>
      <dgm:spPr/>
      <dgm:t>
        <a:bodyPr vert="horz" wrap="square"/>
        <a:lstStyle/>
        <a:p>
          <a:pPr>
            <a:lnSpc>
              <a:spcPct val="100000"/>
            </a:lnSpc>
            <a:spcBef>
              <a:spcPct val="0"/>
            </a:spcBef>
            <a:spcAft>
              <a:spcPct val="35000"/>
            </a:spcAft>
          </a:pPr>
          <a:r>
            <a:rPr lang="zh-CN" altLang="en-US" sz="2400" b="1" dirty="0">
              <a:latin typeface="华光楷体_CNKI" panose="02000500000000000000" charset="-122"/>
              <a:ea typeface="华光楷体_CNKI" panose="02000500000000000000" charset="-122"/>
            </a:rPr>
            <a:t>合理性</a:t>
          </a:r>
          <a:endParaRPr lang="en-US" altLang="zh-CN" sz="2400" b="1" dirty="0">
            <a:latin typeface="华光楷体_CNKI" panose="02000500000000000000" charset="-122"/>
            <a:ea typeface="华光楷体_CNKI" panose="02000500000000000000" charset="-122"/>
          </a:endParaRPr>
        </a:p>
        <a:p>
          <a:pPr>
            <a:lnSpc>
              <a:spcPct val="100000"/>
            </a:lnSpc>
            <a:spcBef>
              <a:spcPct val="0"/>
            </a:spcBef>
            <a:spcAft>
              <a:spcPct val="35000"/>
            </a:spcAft>
          </a:pPr>
          <a:r>
            <a:rPr lang="zh-CN" altLang="en-US" sz="2400" b="1" dirty="0">
              <a:latin typeface="华光楷体_CNKI" panose="02000500000000000000" charset="-122"/>
              <a:ea typeface="华光楷体_CNKI" panose="02000500000000000000" charset="-122"/>
            </a:rPr>
            <a:t>进步性</a:t>
          </a:r>
          <a:endParaRPr sz="2400" b="1">
            <a:latin typeface="华光楷体_CNKI" panose="02000500000000000000" charset="-122"/>
            <a:ea typeface="华光楷体_CNKI" panose="02000500000000000000" charset="-122"/>
          </a:endParaRPr>
        </a:p>
      </dgm:t>
    </dgm:pt>
    <dgm:pt modelId="{ED9DE674-1203-4259-8ACD-A93879965092}" cxnId="{95FA5691-2E75-45E5-AFA4-868A6D54D215}" type="parTrans">
      <dgm:prSet/>
      <dgm:spPr/>
      <dgm:t>
        <a:bodyPr/>
        <a:lstStyle/>
        <a:p>
          <a:endParaRPr lang="zh-CN" altLang="en-US"/>
        </a:p>
      </dgm:t>
    </dgm:pt>
    <dgm:pt modelId="{F68DCE9B-AB7D-4F41-B5FD-5ABBACA67E2E}" cxnId="{95FA5691-2E75-45E5-AFA4-868A6D54D215}" type="sibTrans">
      <dgm:prSet/>
      <dgm:spPr/>
      <dgm:t>
        <a:bodyPr/>
        <a:lstStyle/>
        <a:p>
          <a:endParaRPr lang="zh-CN" altLang="en-US"/>
        </a:p>
      </dgm:t>
    </dgm:pt>
    <dgm:pt modelId="{D4291781-BDFF-4255-B8EF-41920F6FC0C5}">
      <dgm:prSet phldrT="[文本]" phldr="0" custT="1"/>
      <dgm:spPr/>
      <dgm:t>
        <a:bodyPr vert="horz" wrap="square"/>
        <a:lstStyle/>
        <a:p>
          <a:pPr>
            <a:lnSpc>
              <a:spcPct val="100000"/>
            </a:lnSpc>
            <a:spcBef>
              <a:spcPct val="0"/>
            </a:spcBef>
            <a:spcAft>
              <a:spcPct val="35000"/>
            </a:spcAft>
          </a:pPr>
          <a:r>
            <a:rPr lang="zh-CN" altLang="en-US" sz="1800" b="1" dirty="0">
              <a:latin typeface="华光楷体_CNKI" panose="02000500000000000000" charset="-122"/>
              <a:ea typeface="华光楷体_CNKI" panose="02000500000000000000" charset="-122"/>
            </a:rPr>
            <a:t>物质等同于具体的物质形态，</a:t>
          </a:r>
          <a:endParaRPr lang="en-US" altLang="zh-CN" sz="1800" b="1" dirty="0">
            <a:latin typeface="华光楷体_CNKI" panose="02000500000000000000" charset="-122"/>
            <a:ea typeface="华光楷体_CNKI" panose="02000500000000000000" charset="-122"/>
          </a:endParaRPr>
        </a:p>
        <a:p>
          <a:pPr>
            <a:lnSpc>
              <a:spcPct val="100000"/>
            </a:lnSpc>
            <a:spcBef>
              <a:spcPct val="0"/>
            </a:spcBef>
            <a:spcAft>
              <a:spcPct val="35000"/>
            </a:spcAft>
          </a:pPr>
          <a:r>
            <a:rPr lang="zh-CN" altLang="en-US" sz="1800" b="1" dirty="0">
              <a:latin typeface="华光楷体_CNKI" panose="02000500000000000000" charset="-122"/>
              <a:ea typeface="华光楷体_CNKI" panose="02000500000000000000" charset="-122"/>
            </a:rPr>
            <a:t>具有明显的局限性</a:t>
          </a:r>
          <a:endParaRPr sz="1800" b="1">
            <a:latin typeface="华光楷体_CNKI" panose="02000500000000000000" charset="-122"/>
            <a:ea typeface="华光楷体_CNKI" panose="02000500000000000000" charset="-122"/>
          </a:endParaRPr>
        </a:p>
      </dgm:t>
    </dgm:pt>
    <dgm:pt modelId="{02055BDC-DD4A-46E0-A5E5-82A899BC8E63}" cxnId="{7289F37E-80D1-43A5-97F5-7C06A93E0E0F}" type="parTrans">
      <dgm:prSet/>
      <dgm:spPr/>
      <dgm:t>
        <a:bodyPr/>
        <a:lstStyle/>
        <a:p>
          <a:endParaRPr lang="zh-CN" altLang="en-US"/>
        </a:p>
      </dgm:t>
    </dgm:pt>
    <dgm:pt modelId="{83A2CB93-7CBD-4966-ADA2-31C55AAA41DF}" cxnId="{7289F37E-80D1-43A5-97F5-7C06A93E0E0F}" type="sibTrans">
      <dgm:prSet/>
      <dgm:spPr/>
      <dgm:t>
        <a:bodyPr/>
        <a:lstStyle/>
        <a:p>
          <a:endParaRPr lang="zh-CN" altLang="en-US"/>
        </a:p>
      </dgm:t>
    </dgm:pt>
    <dgm:pt modelId="{ED39E238-D110-49D2-A382-833F3673BA61}">
      <dgm:prSet phldrT="[文本]"/>
      <dgm:spPr/>
      <dgm:t>
        <a:bodyPr/>
        <a:lstStyle/>
        <a:p>
          <a:r>
            <a:rPr lang="zh-CN" altLang="en-US" b="1" dirty="0">
              <a:ln>
                <a:solidFill>
                  <a:schemeClr val="bg1"/>
                </a:solidFill>
              </a:ln>
              <a:solidFill>
                <a:schemeClr val="tx1">
                  <a:lumMod val="75000"/>
                  <a:lumOff val="25000"/>
                </a:schemeClr>
              </a:solidFill>
              <a:latin typeface="黑体" panose="02010609060101010101" pitchFamily="49" charset="-122"/>
              <a:ea typeface="黑体" panose="02010609060101010101" pitchFamily="49" charset="-122"/>
            </a:rPr>
            <a:t>近代形而上学唯物主义物质观</a:t>
          </a:r>
          <a:endParaRPr lang="zh-CN" altLang="en-US" dirty="0"/>
        </a:p>
      </dgm:t>
    </dgm:pt>
    <dgm:pt modelId="{B8721291-2C83-4F87-B584-98F25A798D39}" cxnId="{91734E07-A720-4999-B3CD-74B4E2F2CDF0}" type="parTrans">
      <dgm:prSet/>
      <dgm:spPr/>
      <dgm:t>
        <a:bodyPr/>
        <a:lstStyle/>
        <a:p>
          <a:endParaRPr lang="zh-CN" altLang="en-US"/>
        </a:p>
      </dgm:t>
    </dgm:pt>
    <dgm:pt modelId="{E6E9D13A-6598-4595-9BAA-24E8733AC20D}" cxnId="{91734E07-A720-4999-B3CD-74B4E2F2CDF0}" type="sibTrans">
      <dgm:prSet/>
      <dgm:spPr/>
      <dgm:t>
        <a:bodyPr/>
        <a:lstStyle/>
        <a:p>
          <a:endParaRPr lang="zh-CN" altLang="en-US"/>
        </a:p>
      </dgm:t>
    </dgm:pt>
    <dgm:pt modelId="{18DDCA03-3DC3-4B33-9BA9-629E670A230A}">
      <dgm:prSet phldrT="[文本]" phldr="0" custT="1"/>
      <dgm:spPr/>
      <dgm:t>
        <a:bodyPr vert="horz" wrap="square"/>
        <a:lstStyle/>
        <a:p>
          <a:pPr>
            <a:lnSpc>
              <a:spcPct val="100000"/>
            </a:lnSpc>
            <a:spcBef>
              <a:spcPct val="0"/>
            </a:spcBef>
            <a:spcAft>
              <a:spcPct val="35000"/>
            </a:spcAft>
          </a:pPr>
          <a:r>
            <a:rPr lang="zh-CN" altLang="en-US" sz="1800" b="1" dirty="0">
              <a:latin typeface="华光楷体_CNKI" panose="02000500000000000000" charset="-122"/>
              <a:ea typeface="华光楷体_CNKI" panose="02000500000000000000" charset="-122"/>
            </a:rPr>
            <a:t>物质概念建立在</a:t>
          </a:r>
          <a:endParaRPr lang="en-US" altLang="zh-CN" sz="1800" b="1" dirty="0">
            <a:latin typeface="华光楷体_CNKI" panose="02000500000000000000" charset="-122"/>
            <a:ea typeface="华光楷体_CNKI" panose="02000500000000000000" charset="-122"/>
          </a:endParaRPr>
        </a:p>
        <a:p>
          <a:pPr>
            <a:lnSpc>
              <a:spcPct val="100000"/>
            </a:lnSpc>
            <a:spcBef>
              <a:spcPct val="0"/>
            </a:spcBef>
            <a:spcAft>
              <a:spcPct val="35000"/>
            </a:spcAft>
          </a:pPr>
          <a:r>
            <a:rPr lang="zh-CN" altLang="en-US" sz="1800" b="1" dirty="0">
              <a:latin typeface="华光楷体_CNKI" panose="02000500000000000000" charset="-122"/>
              <a:ea typeface="华光楷体_CNKI" panose="02000500000000000000" charset="-122"/>
            </a:rPr>
            <a:t>自然科学发现的基础上</a:t>
          </a:r>
          <a:endParaRPr sz="1700" b="1" dirty="0">
            <a:latin typeface="华光楷体_CNKI" panose="02000500000000000000" charset="-122"/>
            <a:ea typeface="华光楷体_CNKI" panose="02000500000000000000" charset="-122"/>
          </a:endParaRPr>
        </a:p>
      </dgm:t>
    </dgm:pt>
    <dgm:pt modelId="{EA385F46-5867-42DE-9F6F-9723608832E9}" cxnId="{FDA75BD3-A897-4118-8C2E-A2FD75CCF67A}" type="parTrans">
      <dgm:prSet/>
      <dgm:spPr/>
      <dgm:t>
        <a:bodyPr/>
        <a:lstStyle/>
        <a:p>
          <a:endParaRPr lang="zh-CN" altLang="en-US"/>
        </a:p>
      </dgm:t>
    </dgm:pt>
    <dgm:pt modelId="{B3426B87-73F0-4536-A000-3F09AD4703A1}" cxnId="{FDA75BD3-A897-4118-8C2E-A2FD75CCF67A}" type="sibTrans">
      <dgm:prSet/>
      <dgm:spPr/>
      <dgm:t>
        <a:bodyPr/>
        <a:lstStyle/>
        <a:p>
          <a:endParaRPr lang="zh-CN" altLang="en-US"/>
        </a:p>
      </dgm:t>
    </dgm:pt>
    <dgm:pt modelId="{AEC78B5C-076A-4C02-90A2-FDBA073852AC}">
      <dgm:prSet phldrT="[文本]" phldr="0" custT="1"/>
      <dgm:spPr/>
      <dgm:t>
        <a:bodyPr vert="horz" wrap="square"/>
        <a:lstStyle/>
        <a:p>
          <a:pPr>
            <a:lnSpc>
              <a:spcPct val="100000"/>
            </a:lnSpc>
            <a:spcBef>
              <a:spcPct val="0"/>
            </a:spcBef>
            <a:spcAft>
              <a:spcPct val="35000"/>
            </a:spcAft>
          </a:pPr>
          <a:r>
            <a:rPr lang="zh-CN" altLang="en-US" sz="1800" b="1" dirty="0">
              <a:latin typeface="华光楷体_CNKI" panose="02000500000000000000" charset="-122"/>
              <a:ea typeface="华光楷体_CNKI" panose="02000500000000000000" charset="-122"/>
            </a:rPr>
            <a:t>没有正确理解</a:t>
          </a:r>
          <a:endParaRPr lang="en-US" altLang="zh-CN" sz="1800" b="1" dirty="0">
            <a:latin typeface="华光楷体_CNKI" panose="02000500000000000000" charset="-122"/>
            <a:ea typeface="华光楷体_CNKI" panose="02000500000000000000" charset="-122"/>
          </a:endParaRPr>
        </a:p>
        <a:p>
          <a:pPr>
            <a:lnSpc>
              <a:spcPct val="100000"/>
            </a:lnSpc>
            <a:spcBef>
              <a:spcPct val="0"/>
            </a:spcBef>
            <a:spcAft>
              <a:spcPct val="35000"/>
            </a:spcAft>
          </a:pPr>
          <a:r>
            <a:rPr lang="zh-CN" altLang="en-US" sz="1800" b="1" dirty="0">
              <a:latin typeface="华光楷体_CNKI" panose="02000500000000000000" charset="-122"/>
              <a:ea typeface="华光楷体_CNKI" panose="02000500000000000000" charset="-122"/>
            </a:rPr>
            <a:t>哲学物质概念与自然科学物质</a:t>
          </a:r>
          <a:r>
            <a:rPr lang="zh-CN" altLang="en-US" sz="1800" b="1" dirty="0" smtClean="0">
              <a:latin typeface="华光楷体_CNKI" panose="02000500000000000000" charset="-122"/>
              <a:ea typeface="华光楷体_CNKI" panose="02000500000000000000" charset="-122"/>
            </a:rPr>
            <a:t>概念的</a:t>
          </a:r>
          <a:r>
            <a:rPr lang="zh-CN" altLang="en-US" sz="1800" b="1" dirty="0">
              <a:latin typeface="华光楷体_CNKI" panose="02000500000000000000" charset="-122"/>
              <a:ea typeface="华光楷体_CNKI" panose="02000500000000000000" charset="-122"/>
            </a:rPr>
            <a:t>共性与个性</a:t>
          </a:r>
          <a:endParaRPr sz="1800" b="1" dirty="0">
            <a:latin typeface="华光楷体_CNKI" panose="02000500000000000000" charset="-122"/>
            <a:ea typeface="华光楷体_CNKI" panose="02000500000000000000" charset="-122"/>
          </a:endParaRPr>
        </a:p>
      </dgm:t>
    </dgm:pt>
    <dgm:pt modelId="{BF7D146E-DF3E-4CAC-8FF3-6D5618A116E0}" cxnId="{A44E0E90-18FE-4BA8-866B-D06BFFFDAD27}" type="parTrans">
      <dgm:prSet/>
      <dgm:spPr/>
      <dgm:t>
        <a:bodyPr/>
        <a:lstStyle/>
        <a:p>
          <a:endParaRPr lang="zh-CN" altLang="en-US"/>
        </a:p>
      </dgm:t>
    </dgm:pt>
    <dgm:pt modelId="{E5312370-D8F4-4B2A-A4E8-DBB5D3A1772C}" cxnId="{A44E0E90-18FE-4BA8-866B-D06BFFFDAD27}" type="sibTrans">
      <dgm:prSet/>
      <dgm:spPr/>
      <dgm:t>
        <a:bodyPr/>
        <a:lstStyle/>
        <a:p>
          <a:endParaRPr lang="zh-CN" altLang="en-US"/>
        </a:p>
      </dgm:t>
    </dgm:pt>
    <dgm:pt modelId="{71434D63-D5CC-4704-A338-945B5DA7E3FB}" type="pres">
      <dgm:prSet presAssocID="{B9885443-7626-41CA-B643-530557D23F19}" presName="diagram" presStyleCnt="0">
        <dgm:presLayoutVars>
          <dgm:chPref val="1"/>
          <dgm:dir/>
          <dgm:animOne val="branch"/>
          <dgm:animLvl val="lvl"/>
          <dgm:resizeHandles/>
        </dgm:presLayoutVars>
      </dgm:prSet>
      <dgm:spPr/>
      <dgm:t>
        <a:bodyPr/>
        <a:lstStyle/>
        <a:p>
          <a:endParaRPr lang="zh-CN" altLang="en-US"/>
        </a:p>
      </dgm:t>
    </dgm:pt>
    <dgm:pt modelId="{20585DCF-4CE1-42E0-BC92-392E335CE7E7}" type="pres">
      <dgm:prSet presAssocID="{84ED8C32-71BF-4938-87CD-698A2C38883A}" presName="root" presStyleCnt="0"/>
      <dgm:spPr/>
    </dgm:pt>
    <dgm:pt modelId="{420677C5-962E-4611-8AE0-C5A53BC49285}" type="pres">
      <dgm:prSet presAssocID="{84ED8C32-71BF-4938-87CD-698A2C38883A}" presName="rootComposite" presStyleCnt="0"/>
      <dgm:spPr/>
      <dgm:t>
        <a:bodyPr/>
        <a:lstStyle/>
        <a:p>
          <a:endParaRPr lang="zh-CN" altLang="en-US"/>
        </a:p>
      </dgm:t>
    </dgm:pt>
    <dgm:pt modelId="{497D5903-CF78-4732-9578-8E5285DE1E39}" type="pres">
      <dgm:prSet presAssocID="{84ED8C32-71BF-4938-87CD-698A2C38883A}" presName="rootText" presStyleLbl="node1" presStyleIdx="0" presStyleCnt="2"/>
      <dgm:spPr/>
      <dgm:t>
        <a:bodyPr/>
        <a:lstStyle/>
        <a:p>
          <a:endParaRPr lang="zh-CN" altLang="en-US"/>
        </a:p>
      </dgm:t>
    </dgm:pt>
    <dgm:pt modelId="{6581303F-FDE2-4FF4-A7DF-5A7F9E81709C}" type="pres">
      <dgm:prSet presAssocID="{84ED8C32-71BF-4938-87CD-698A2C38883A}" presName="rootConnector" presStyleLbl="node1" presStyleIdx="0" presStyleCnt="2"/>
      <dgm:spPr/>
      <dgm:t>
        <a:bodyPr/>
        <a:lstStyle/>
        <a:p>
          <a:endParaRPr lang="zh-CN" altLang="en-US"/>
        </a:p>
      </dgm:t>
    </dgm:pt>
    <dgm:pt modelId="{F0FF853E-D519-4200-B2D2-31AC6D9FA84A}" type="pres">
      <dgm:prSet presAssocID="{84ED8C32-71BF-4938-87CD-698A2C38883A}" presName="childShape" presStyleCnt="0"/>
      <dgm:spPr/>
    </dgm:pt>
    <dgm:pt modelId="{1821058D-9BF9-4EF5-8E31-BC50FB9EAF9B}" type="pres">
      <dgm:prSet presAssocID="{ED9DE674-1203-4259-8ACD-A93879965092}" presName="Name13" presStyleLbl="parChTrans1D2" presStyleIdx="0" presStyleCnt="4"/>
      <dgm:spPr/>
      <dgm:t>
        <a:bodyPr/>
        <a:lstStyle/>
        <a:p>
          <a:endParaRPr lang="zh-CN" altLang="en-US"/>
        </a:p>
      </dgm:t>
    </dgm:pt>
    <dgm:pt modelId="{36FD198C-15E6-46AC-B61D-03AB953565FB}" type="pres">
      <dgm:prSet presAssocID="{6AB68B8F-7BE7-4549-B54F-A94E099CEF30}" presName="childText" presStyleLbl="bgAcc1" presStyleIdx="0" presStyleCnt="4">
        <dgm:presLayoutVars>
          <dgm:bulletEnabled val="1"/>
        </dgm:presLayoutVars>
      </dgm:prSet>
      <dgm:spPr/>
      <dgm:t>
        <a:bodyPr/>
        <a:lstStyle/>
        <a:p>
          <a:endParaRPr lang="zh-CN" altLang="en-US"/>
        </a:p>
      </dgm:t>
    </dgm:pt>
    <dgm:pt modelId="{414CB623-95DB-4607-A6C7-B48FEFDF1949}" type="pres">
      <dgm:prSet presAssocID="{02055BDC-DD4A-46E0-A5E5-82A899BC8E63}" presName="Name13" presStyleLbl="parChTrans1D2" presStyleIdx="1" presStyleCnt="4"/>
      <dgm:spPr/>
      <dgm:t>
        <a:bodyPr/>
        <a:lstStyle/>
        <a:p>
          <a:endParaRPr lang="zh-CN" altLang="en-US"/>
        </a:p>
      </dgm:t>
    </dgm:pt>
    <dgm:pt modelId="{A0EED1F8-BA2E-4211-A5A9-36DDC3B49A76}" type="pres">
      <dgm:prSet presAssocID="{D4291781-BDFF-4255-B8EF-41920F6FC0C5}" presName="childText" presStyleLbl="bgAcc1" presStyleIdx="1" presStyleCnt="4" custScaleX="161711">
        <dgm:presLayoutVars>
          <dgm:bulletEnabled val="1"/>
        </dgm:presLayoutVars>
      </dgm:prSet>
      <dgm:spPr/>
      <dgm:t>
        <a:bodyPr/>
        <a:lstStyle/>
        <a:p>
          <a:endParaRPr lang="zh-CN" altLang="en-US"/>
        </a:p>
      </dgm:t>
    </dgm:pt>
    <dgm:pt modelId="{1DFF290A-3593-46AE-85CD-5A50322C8A67}" type="pres">
      <dgm:prSet presAssocID="{ED39E238-D110-49D2-A382-833F3673BA61}" presName="root" presStyleCnt="0"/>
      <dgm:spPr/>
    </dgm:pt>
    <dgm:pt modelId="{A02FE591-FABA-4367-9ADE-4AD6BF11D37C}" type="pres">
      <dgm:prSet presAssocID="{ED39E238-D110-49D2-A382-833F3673BA61}" presName="rootComposite" presStyleCnt="0"/>
      <dgm:spPr/>
      <dgm:t>
        <a:bodyPr/>
        <a:lstStyle/>
        <a:p>
          <a:endParaRPr lang="zh-CN" altLang="en-US"/>
        </a:p>
      </dgm:t>
    </dgm:pt>
    <dgm:pt modelId="{3C4CEC6F-109A-4C19-881A-20EE37F4CB54}" type="pres">
      <dgm:prSet presAssocID="{ED39E238-D110-49D2-A382-833F3673BA61}" presName="rootText" presStyleLbl="node1" presStyleIdx="1" presStyleCnt="2"/>
      <dgm:spPr/>
      <dgm:t>
        <a:bodyPr/>
        <a:lstStyle/>
        <a:p>
          <a:endParaRPr lang="zh-CN" altLang="en-US"/>
        </a:p>
      </dgm:t>
    </dgm:pt>
    <dgm:pt modelId="{0D04A6C0-8037-4499-AC7B-686459043F3B}" type="pres">
      <dgm:prSet presAssocID="{ED39E238-D110-49D2-A382-833F3673BA61}" presName="rootConnector" presStyleLbl="node1" presStyleIdx="1" presStyleCnt="2"/>
      <dgm:spPr/>
      <dgm:t>
        <a:bodyPr/>
        <a:lstStyle/>
        <a:p>
          <a:endParaRPr lang="zh-CN" altLang="en-US"/>
        </a:p>
      </dgm:t>
    </dgm:pt>
    <dgm:pt modelId="{C99E0857-596A-4EB8-8B43-33BA4A6B7F1A}" type="pres">
      <dgm:prSet presAssocID="{ED39E238-D110-49D2-A382-833F3673BA61}" presName="childShape" presStyleCnt="0"/>
      <dgm:spPr/>
    </dgm:pt>
    <dgm:pt modelId="{3692549D-59A3-4F3D-8130-DE8D0F98E5FA}" type="pres">
      <dgm:prSet presAssocID="{EA385F46-5867-42DE-9F6F-9723608832E9}" presName="Name13" presStyleLbl="parChTrans1D2" presStyleIdx="2" presStyleCnt="4"/>
      <dgm:spPr/>
      <dgm:t>
        <a:bodyPr/>
        <a:lstStyle/>
        <a:p>
          <a:endParaRPr lang="zh-CN" altLang="en-US"/>
        </a:p>
      </dgm:t>
    </dgm:pt>
    <dgm:pt modelId="{02B2C7FF-E5B7-4B07-816B-E5A7940A97D8}" type="pres">
      <dgm:prSet presAssocID="{18DDCA03-3DC3-4B33-9BA9-629E670A230A}" presName="childText" presStyleLbl="bgAcc1" presStyleIdx="2" presStyleCnt="4" custScaleX="134055">
        <dgm:presLayoutVars>
          <dgm:bulletEnabled val="1"/>
        </dgm:presLayoutVars>
      </dgm:prSet>
      <dgm:spPr/>
      <dgm:t>
        <a:bodyPr/>
        <a:lstStyle/>
        <a:p>
          <a:endParaRPr lang="zh-CN" altLang="en-US"/>
        </a:p>
      </dgm:t>
    </dgm:pt>
    <dgm:pt modelId="{69B59CE5-61F2-40F0-9022-6954FE573F56}" type="pres">
      <dgm:prSet presAssocID="{BF7D146E-DF3E-4CAC-8FF3-6D5618A116E0}" presName="Name13" presStyleLbl="parChTrans1D2" presStyleIdx="3" presStyleCnt="4"/>
      <dgm:spPr/>
      <dgm:t>
        <a:bodyPr/>
        <a:lstStyle/>
        <a:p>
          <a:endParaRPr lang="zh-CN" altLang="en-US"/>
        </a:p>
      </dgm:t>
    </dgm:pt>
    <dgm:pt modelId="{312600F2-9020-4B15-9D1C-57D8C4534742}" type="pres">
      <dgm:prSet presAssocID="{AEC78B5C-076A-4C02-90A2-FDBA073852AC}" presName="childText" presStyleLbl="bgAcc1" presStyleIdx="3" presStyleCnt="4" custScaleX="186071">
        <dgm:presLayoutVars>
          <dgm:bulletEnabled val="1"/>
        </dgm:presLayoutVars>
      </dgm:prSet>
      <dgm:spPr/>
      <dgm:t>
        <a:bodyPr/>
        <a:lstStyle/>
        <a:p>
          <a:endParaRPr lang="zh-CN" altLang="en-US"/>
        </a:p>
      </dgm:t>
    </dgm:pt>
  </dgm:ptLst>
  <dgm:cxnLst>
    <dgm:cxn modelId="{45F58038-FEC0-42E9-96C0-E0DC24B37D0C}" type="presOf" srcId="{AEC78B5C-076A-4C02-90A2-FDBA073852AC}" destId="{312600F2-9020-4B15-9D1C-57D8C4534742}" srcOrd="0" destOrd="0" presId="urn:microsoft.com/office/officeart/2005/8/layout/hierarchy3#1"/>
    <dgm:cxn modelId="{8122ABD3-9F66-4BBA-9401-82F0AAFDB6A1}" type="presOf" srcId="{D4291781-BDFF-4255-B8EF-41920F6FC0C5}" destId="{A0EED1F8-BA2E-4211-A5A9-36DDC3B49A76}" srcOrd="0" destOrd="0" presId="urn:microsoft.com/office/officeart/2005/8/layout/hierarchy3#1"/>
    <dgm:cxn modelId="{A44E0E90-18FE-4BA8-866B-D06BFFFDAD27}" srcId="{ED39E238-D110-49D2-A382-833F3673BA61}" destId="{AEC78B5C-076A-4C02-90A2-FDBA073852AC}" srcOrd="1" destOrd="0" parTransId="{BF7D146E-DF3E-4CAC-8FF3-6D5618A116E0}" sibTransId="{E5312370-D8F4-4B2A-A4E8-DBB5D3A1772C}"/>
    <dgm:cxn modelId="{C9492A8E-CCEE-442A-A019-3895786AEA71}" type="presOf" srcId="{ED39E238-D110-49D2-A382-833F3673BA61}" destId="{3C4CEC6F-109A-4C19-881A-20EE37F4CB54}" srcOrd="0" destOrd="0" presId="urn:microsoft.com/office/officeart/2005/8/layout/hierarchy3#1"/>
    <dgm:cxn modelId="{54E86B66-37E9-4A37-AE20-4A6F343F1D8A}" type="presOf" srcId="{84ED8C32-71BF-4938-87CD-698A2C38883A}" destId="{497D5903-CF78-4732-9578-8E5285DE1E39}" srcOrd="0" destOrd="0" presId="urn:microsoft.com/office/officeart/2005/8/layout/hierarchy3#1"/>
    <dgm:cxn modelId="{91734E07-A720-4999-B3CD-74B4E2F2CDF0}" srcId="{B9885443-7626-41CA-B643-530557D23F19}" destId="{ED39E238-D110-49D2-A382-833F3673BA61}" srcOrd="1" destOrd="0" parTransId="{B8721291-2C83-4F87-B584-98F25A798D39}" sibTransId="{E6E9D13A-6598-4595-9BAA-24E8733AC20D}"/>
    <dgm:cxn modelId="{3BDBBF95-8D30-4C0E-AA72-6280B8D877E2}" type="presOf" srcId="{ED39E238-D110-49D2-A382-833F3673BA61}" destId="{0D04A6C0-8037-4499-AC7B-686459043F3B}" srcOrd="1" destOrd="0" presId="urn:microsoft.com/office/officeart/2005/8/layout/hierarchy3#1"/>
    <dgm:cxn modelId="{FDA75BD3-A897-4118-8C2E-A2FD75CCF67A}" srcId="{ED39E238-D110-49D2-A382-833F3673BA61}" destId="{18DDCA03-3DC3-4B33-9BA9-629E670A230A}" srcOrd="0" destOrd="0" parTransId="{EA385F46-5867-42DE-9F6F-9723608832E9}" sibTransId="{B3426B87-73F0-4536-A000-3F09AD4703A1}"/>
    <dgm:cxn modelId="{95FA5691-2E75-45E5-AFA4-868A6D54D215}" srcId="{84ED8C32-71BF-4938-87CD-698A2C38883A}" destId="{6AB68B8F-7BE7-4549-B54F-A94E099CEF30}" srcOrd="0" destOrd="0" parTransId="{ED9DE674-1203-4259-8ACD-A93879965092}" sibTransId="{F68DCE9B-AB7D-4F41-B5FD-5ABBACA67E2E}"/>
    <dgm:cxn modelId="{EA543B01-5BDF-438E-A2A1-DA1C97E3485C}" srcId="{B9885443-7626-41CA-B643-530557D23F19}" destId="{84ED8C32-71BF-4938-87CD-698A2C38883A}" srcOrd="0" destOrd="0" parTransId="{AF78C9F8-4262-4C16-B246-751EBE47EA7C}" sibTransId="{28A01654-8657-4AD1-A9BB-4DAB06475BC8}"/>
    <dgm:cxn modelId="{F9D0558B-7A51-4C7A-B9CE-AB1F7CA24792}" type="presOf" srcId="{18DDCA03-3DC3-4B33-9BA9-629E670A230A}" destId="{02B2C7FF-E5B7-4B07-816B-E5A7940A97D8}" srcOrd="0" destOrd="0" presId="urn:microsoft.com/office/officeart/2005/8/layout/hierarchy3#1"/>
    <dgm:cxn modelId="{8241B1AF-E16D-4A3D-8322-D2BA07129488}" type="presOf" srcId="{EA385F46-5867-42DE-9F6F-9723608832E9}" destId="{3692549D-59A3-4F3D-8130-DE8D0F98E5FA}" srcOrd="0" destOrd="0" presId="urn:microsoft.com/office/officeart/2005/8/layout/hierarchy3#1"/>
    <dgm:cxn modelId="{E57DE1BE-55C3-451C-92D6-2EB127E56E3A}" type="presOf" srcId="{84ED8C32-71BF-4938-87CD-698A2C38883A}" destId="{6581303F-FDE2-4FF4-A7DF-5A7F9E81709C}" srcOrd="1" destOrd="0" presId="urn:microsoft.com/office/officeart/2005/8/layout/hierarchy3#1"/>
    <dgm:cxn modelId="{0A3B51D5-62B1-4836-B6BE-EBB2816DDBEA}" type="presOf" srcId="{BF7D146E-DF3E-4CAC-8FF3-6D5618A116E0}" destId="{69B59CE5-61F2-40F0-9022-6954FE573F56}" srcOrd="0" destOrd="0" presId="urn:microsoft.com/office/officeart/2005/8/layout/hierarchy3#1"/>
    <dgm:cxn modelId="{D6380FF9-1BD7-4F28-B4F3-4CD46771AE05}" type="presOf" srcId="{02055BDC-DD4A-46E0-A5E5-82A899BC8E63}" destId="{414CB623-95DB-4607-A6C7-B48FEFDF1949}" srcOrd="0" destOrd="0" presId="urn:microsoft.com/office/officeart/2005/8/layout/hierarchy3#1"/>
    <dgm:cxn modelId="{94BF8804-3A31-4CAB-929F-FC6947CF5EE6}" type="presOf" srcId="{6AB68B8F-7BE7-4549-B54F-A94E099CEF30}" destId="{36FD198C-15E6-46AC-B61D-03AB953565FB}" srcOrd="0" destOrd="0" presId="urn:microsoft.com/office/officeart/2005/8/layout/hierarchy3#1"/>
    <dgm:cxn modelId="{AC787CC6-0904-427E-9E64-A5F04D63170B}" type="presOf" srcId="{ED9DE674-1203-4259-8ACD-A93879965092}" destId="{1821058D-9BF9-4EF5-8E31-BC50FB9EAF9B}" srcOrd="0" destOrd="0" presId="urn:microsoft.com/office/officeart/2005/8/layout/hierarchy3#1"/>
    <dgm:cxn modelId="{6C345E2C-6D62-4ECB-B57B-4555EB86D14E}" type="presOf" srcId="{B9885443-7626-41CA-B643-530557D23F19}" destId="{71434D63-D5CC-4704-A338-945B5DA7E3FB}" srcOrd="0" destOrd="0" presId="urn:microsoft.com/office/officeart/2005/8/layout/hierarchy3#1"/>
    <dgm:cxn modelId="{7289F37E-80D1-43A5-97F5-7C06A93E0E0F}" srcId="{84ED8C32-71BF-4938-87CD-698A2C38883A}" destId="{D4291781-BDFF-4255-B8EF-41920F6FC0C5}" srcOrd="1" destOrd="0" parTransId="{02055BDC-DD4A-46E0-A5E5-82A899BC8E63}" sibTransId="{83A2CB93-7CBD-4966-ADA2-31C55AAA41DF}"/>
    <dgm:cxn modelId="{0CE506C4-AFCE-4212-8795-6AABA828B19B}" type="presParOf" srcId="{71434D63-D5CC-4704-A338-945B5DA7E3FB}" destId="{20585DCF-4CE1-42E0-BC92-392E335CE7E7}" srcOrd="0" destOrd="0" presId="urn:microsoft.com/office/officeart/2005/8/layout/hierarchy3#1"/>
    <dgm:cxn modelId="{FD9670D0-7876-4DD9-B7B4-F35D85928496}" type="presParOf" srcId="{20585DCF-4CE1-42E0-BC92-392E335CE7E7}" destId="{420677C5-962E-4611-8AE0-C5A53BC49285}" srcOrd="0" destOrd="0" presId="urn:microsoft.com/office/officeart/2005/8/layout/hierarchy3#1"/>
    <dgm:cxn modelId="{46CB73AD-65F9-4A3D-8F3E-684AD77D8F4D}" type="presParOf" srcId="{420677C5-962E-4611-8AE0-C5A53BC49285}" destId="{497D5903-CF78-4732-9578-8E5285DE1E39}" srcOrd="0" destOrd="0" presId="urn:microsoft.com/office/officeart/2005/8/layout/hierarchy3#1"/>
    <dgm:cxn modelId="{618D03A3-AD91-469F-8296-6892CE3315E5}" type="presParOf" srcId="{420677C5-962E-4611-8AE0-C5A53BC49285}" destId="{6581303F-FDE2-4FF4-A7DF-5A7F9E81709C}" srcOrd="1" destOrd="0" presId="urn:microsoft.com/office/officeart/2005/8/layout/hierarchy3#1"/>
    <dgm:cxn modelId="{D636A173-EA79-40EB-9689-879005C0DD43}" type="presParOf" srcId="{20585DCF-4CE1-42E0-BC92-392E335CE7E7}" destId="{F0FF853E-D519-4200-B2D2-31AC6D9FA84A}" srcOrd="1" destOrd="0" presId="urn:microsoft.com/office/officeart/2005/8/layout/hierarchy3#1"/>
    <dgm:cxn modelId="{2BC5C9D7-E80D-421D-B08E-32AEC072CE4A}" type="presParOf" srcId="{F0FF853E-D519-4200-B2D2-31AC6D9FA84A}" destId="{1821058D-9BF9-4EF5-8E31-BC50FB9EAF9B}" srcOrd="0" destOrd="0" presId="urn:microsoft.com/office/officeart/2005/8/layout/hierarchy3#1"/>
    <dgm:cxn modelId="{6979A7CD-80A0-448D-BF70-93F81810A72F}" type="presParOf" srcId="{F0FF853E-D519-4200-B2D2-31AC6D9FA84A}" destId="{36FD198C-15E6-46AC-B61D-03AB953565FB}" srcOrd="1" destOrd="0" presId="urn:microsoft.com/office/officeart/2005/8/layout/hierarchy3#1"/>
    <dgm:cxn modelId="{4EACFC32-DB87-4E49-B986-71169531BCB1}" type="presParOf" srcId="{F0FF853E-D519-4200-B2D2-31AC6D9FA84A}" destId="{414CB623-95DB-4607-A6C7-B48FEFDF1949}" srcOrd="2" destOrd="0" presId="urn:microsoft.com/office/officeart/2005/8/layout/hierarchy3#1"/>
    <dgm:cxn modelId="{35D7B7FF-7AF1-4893-894F-5CF24AC88BAA}" type="presParOf" srcId="{F0FF853E-D519-4200-B2D2-31AC6D9FA84A}" destId="{A0EED1F8-BA2E-4211-A5A9-36DDC3B49A76}" srcOrd="3" destOrd="0" presId="urn:microsoft.com/office/officeart/2005/8/layout/hierarchy3#1"/>
    <dgm:cxn modelId="{74024482-16E9-408C-B7F5-2E80FE5CF57A}" type="presParOf" srcId="{71434D63-D5CC-4704-A338-945B5DA7E3FB}" destId="{1DFF290A-3593-46AE-85CD-5A50322C8A67}" srcOrd="1" destOrd="0" presId="urn:microsoft.com/office/officeart/2005/8/layout/hierarchy3#1"/>
    <dgm:cxn modelId="{C4ADF049-5034-44BC-8E69-180BBC6D5C86}" type="presParOf" srcId="{1DFF290A-3593-46AE-85CD-5A50322C8A67}" destId="{A02FE591-FABA-4367-9ADE-4AD6BF11D37C}" srcOrd="0" destOrd="0" presId="urn:microsoft.com/office/officeart/2005/8/layout/hierarchy3#1"/>
    <dgm:cxn modelId="{E562E122-6FD2-455C-950E-4A2B84DBEF59}" type="presParOf" srcId="{A02FE591-FABA-4367-9ADE-4AD6BF11D37C}" destId="{3C4CEC6F-109A-4C19-881A-20EE37F4CB54}" srcOrd="0" destOrd="0" presId="urn:microsoft.com/office/officeart/2005/8/layout/hierarchy3#1"/>
    <dgm:cxn modelId="{64BEBAEA-CC5B-4AE9-84D6-8A302A1C9A09}" type="presParOf" srcId="{A02FE591-FABA-4367-9ADE-4AD6BF11D37C}" destId="{0D04A6C0-8037-4499-AC7B-686459043F3B}" srcOrd="1" destOrd="0" presId="urn:microsoft.com/office/officeart/2005/8/layout/hierarchy3#1"/>
    <dgm:cxn modelId="{E7BECD16-133E-48A1-8693-97EDAFE3AB28}" type="presParOf" srcId="{1DFF290A-3593-46AE-85CD-5A50322C8A67}" destId="{C99E0857-596A-4EB8-8B43-33BA4A6B7F1A}" srcOrd="1" destOrd="0" presId="urn:microsoft.com/office/officeart/2005/8/layout/hierarchy3#1"/>
    <dgm:cxn modelId="{786A7023-E0FF-4376-8E4A-BC6C95B93E90}" type="presParOf" srcId="{C99E0857-596A-4EB8-8B43-33BA4A6B7F1A}" destId="{3692549D-59A3-4F3D-8130-DE8D0F98E5FA}" srcOrd="0" destOrd="0" presId="urn:microsoft.com/office/officeart/2005/8/layout/hierarchy3#1"/>
    <dgm:cxn modelId="{E491330F-CFA7-447E-AE93-57D130B5062F}" type="presParOf" srcId="{C99E0857-596A-4EB8-8B43-33BA4A6B7F1A}" destId="{02B2C7FF-E5B7-4B07-816B-E5A7940A97D8}" srcOrd="1" destOrd="0" presId="urn:microsoft.com/office/officeart/2005/8/layout/hierarchy3#1"/>
    <dgm:cxn modelId="{2F3412B4-8E74-4BBD-94FD-2DF665C6145B}" type="presParOf" srcId="{C99E0857-596A-4EB8-8B43-33BA4A6B7F1A}" destId="{69B59CE5-61F2-40F0-9022-6954FE573F56}" srcOrd="2" destOrd="0" presId="urn:microsoft.com/office/officeart/2005/8/layout/hierarchy3#1"/>
    <dgm:cxn modelId="{9B436497-40E5-4CC8-9257-FF4BD7E8100E}" type="presParOf" srcId="{C99E0857-596A-4EB8-8B43-33BA4A6B7F1A}" destId="{312600F2-9020-4B15-9D1C-57D8C4534742}" srcOrd="3" destOrd="0" presId="urn:microsoft.com/office/officeart/2005/8/layout/hierarchy3#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8AF1C6-95DA-4A22-9881-072B234CE4A0}" type="doc">
      <dgm:prSet loTypeId="urn:microsoft.com/office/officeart/2005/8/layout/hierarchy2#3" loCatId="hierarchy" qsTypeId="urn:microsoft.com/office/officeart/2005/8/quickstyle/simple1#5" qsCatId="simple" csTypeId="urn:microsoft.com/office/officeart/2005/8/colors/accent1_2#2" csCatId="accent1" phldr="1"/>
      <dgm:spPr/>
      <dgm:t>
        <a:bodyPr/>
        <a:lstStyle/>
        <a:p>
          <a:endParaRPr lang="zh-CN" altLang="en-US"/>
        </a:p>
      </dgm:t>
    </dgm:pt>
    <dgm:pt modelId="{C6CD881B-608E-4B8B-8045-6FB31CEE270A}">
      <dgm:prSet phldrT="[文本]" custT="1"/>
      <dgm:spPr>
        <a:solidFill>
          <a:schemeClr val="bg1"/>
        </a:solidFill>
      </dgm:spPr>
      <dgm:t>
        <a:bodyPr/>
        <a:lstStyle/>
        <a:p>
          <a:r>
            <a:rPr lang="zh-CN" altLang="en-US" sz="2400" b="1" dirty="0">
              <a:solidFill>
                <a:srgbClr val="000000"/>
              </a:solidFill>
            </a:rPr>
            <a:t>世界</a:t>
          </a:r>
        </a:p>
      </dgm:t>
    </dgm:pt>
    <dgm:pt modelId="{58CBB073-2834-4228-9229-93FA328508C0}" cxnId="{6929A712-50BA-4AA1-9C28-D263927D3725}" type="parTrans">
      <dgm:prSet/>
      <dgm:spPr/>
      <dgm:t>
        <a:bodyPr/>
        <a:lstStyle/>
        <a:p>
          <a:endParaRPr lang="zh-CN" altLang="en-US"/>
        </a:p>
      </dgm:t>
    </dgm:pt>
    <dgm:pt modelId="{7F01A40C-A7C3-4C37-80E7-BEAD04E8AD11}" cxnId="{6929A712-50BA-4AA1-9C28-D263927D3725}" type="sibTrans">
      <dgm:prSet/>
      <dgm:spPr/>
      <dgm:t>
        <a:bodyPr/>
        <a:lstStyle/>
        <a:p>
          <a:endParaRPr lang="zh-CN" altLang="en-US"/>
        </a:p>
      </dgm:t>
    </dgm:pt>
    <dgm:pt modelId="{55C77395-9E22-46F2-983F-03E16695E1BA}">
      <dgm:prSet phldrT="[文本]" custT="1"/>
      <dgm:spPr>
        <a:solidFill>
          <a:schemeClr val="bg1"/>
        </a:solidFill>
      </dgm:spPr>
      <dgm:t>
        <a:bodyPr/>
        <a:lstStyle/>
        <a:p>
          <a:r>
            <a:rPr lang="zh-CN" altLang="en-US" sz="1800" b="1" dirty="0" smtClean="0">
              <a:solidFill>
                <a:srgbClr val="000000"/>
              </a:solidFill>
            </a:rPr>
            <a:t>世界是什么</a:t>
          </a:r>
          <a:endParaRPr lang="en-US" altLang="zh-CN" sz="1800" b="1" dirty="0" smtClean="0">
            <a:solidFill>
              <a:srgbClr val="000000"/>
            </a:solidFill>
          </a:endParaRPr>
        </a:p>
        <a:p>
          <a:r>
            <a:rPr lang="zh-CN" altLang="en-US" sz="1800" b="1" dirty="0" smtClean="0">
              <a:solidFill>
                <a:srgbClr val="000000"/>
              </a:solidFill>
            </a:rPr>
            <a:t>（本原）</a:t>
          </a:r>
          <a:endParaRPr lang="zh-CN" altLang="en-US" sz="1800" b="1" dirty="0">
            <a:solidFill>
              <a:srgbClr val="000000"/>
            </a:solidFill>
          </a:endParaRPr>
        </a:p>
      </dgm:t>
    </dgm:pt>
    <dgm:pt modelId="{E5C9C69E-22F7-48C4-9F5B-E1A197051E0D}" cxnId="{B80F6312-C27A-4E61-A09F-939DCE15114E}" type="parTrans">
      <dgm:prSet/>
      <dgm:spPr/>
      <dgm:t>
        <a:bodyPr/>
        <a:lstStyle/>
        <a:p>
          <a:endParaRPr lang="zh-CN" altLang="en-US"/>
        </a:p>
      </dgm:t>
    </dgm:pt>
    <dgm:pt modelId="{740E5867-BACF-424A-8A94-F2DF5DC63F48}" cxnId="{B80F6312-C27A-4E61-A09F-939DCE15114E}" type="sibTrans">
      <dgm:prSet/>
      <dgm:spPr/>
      <dgm:t>
        <a:bodyPr/>
        <a:lstStyle/>
        <a:p>
          <a:endParaRPr lang="zh-CN" altLang="en-US"/>
        </a:p>
      </dgm:t>
    </dgm:pt>
    <dgm:pt modelId="{75B007B7-0CA7-4BDD-9497-5B47774EA02D}">
      <dgm:prSet phldrT="[文本]" custT="1"/>
      <dgm:spPr>
        <a:solidFill>
          <a:schemeClr val="bg1"/>
        </a:solidFill>
      </dgm:spPr>
      <dgm:t>
        <a:bodyPr/>
        <a:lstStyle/>
        <a:p>
          <a:r>
            <a:rPr lang="zh-CN" altLang="en-US" sz="2000" b="1" dirty="0">
              <a:solidFill>
                <a:srgbClr val="000000"/>
              </a:solidFill>
            </a:rPr>
            <a:t>唯心主义</a:t>
          </a:r>
        </a:p>
      </dgm:t>
    </dgm:pt>
    <dgm:pt modelId="{85A4CC27-7C45-484D-82AB-55EBFC9F1DB5}" cxnId="{DF661A4A-E7DF-451F-98CC-8F8A80F2DA54}" type="parTrans">
      <dgm:prSet/>
      <dgm:spPr/>
      <dgm:t>
        <a:bodyPr/>
        <a:lstStyle/>
        <a:p>
          <a:endParaRPr lang="zh-CN" altLang="en-US"/>
        </a:p>
      </dgm:t>
    </dgm:pt>
    <dgm:pt modelId="{D4EBC867-965E-417B-972A-E9ED4C96C53A}" cxnId="{DF661A4A-E7DF-451F-98CC-8F8A80F2DA54}" type="sibTrans">
      <dgm:prSet/>
      <dgm:spPr/>
      <dgm:t>
        <a:bodyPr/>
        <a:lstStyle/>
        <a:p>
          <a:endParaRPr lang="zh-CN" altLang="en-US"/>
        </a:p>
      </dgm:t>
    </dgm:pt>
    <dgm:pt modelId="{87B0EAE2-DA7B-4861-A536-A3414384A16F}">
      <dgm:prSet phldrT="[文本]" custT="1"/>
      <dgm:spPr>
        <a:solidFill>
          <a:schemeClr val="bg1"/>
        </a:solidFill>
      </dgm:spPr>
      <dgm:t>
        <a:bodyPr/>
        <a:lstStyle/>
        <a:p>
          <a:r>
            <a:rPr lang="zh-CN" altLang="en-US" sz="2000" b="1" dirty="0">
              <a:solidFill>
                <a:srgbClr val="000000"/>
              </a:solidFill>
            </a:rPr>
            <a:t>唯物主义</a:t>
          </a:r>
        </a:p>
      </dgm:t>
    </dgm:pt>
    <dgm:pt modelId="{00BAFED4-6734-46F5-834F-A93DDFA0AFCC}" cxnId="{D3FDCFD4-ED70-47FC-BAE6-5A19680ED17E}" type="parTrans">
      <dgm:prSet/>
      <dgm:spPr/>
      <dgm:t>
        <a:bodyPr/>
        <a:lstStyle/>
        <a:p>
          <a:endParaRPr lang="zh-CN" altLang="en-US"/>
        </a:p>
      </dgm:t>
    </dgm:pt>
    <dgm:pt modelId="{62A57FE8-B634-42A4-B68F-8F2B20B6BE83}" cxnId="{D3FDCFD4-ED70-47FC-BAE6-5A19680ED17E}" type="sibTrans">
      <dgm:prSet/>
      <dgm:spPr/>
      <dgm:t>
        <a:bodyPr/>
        <a:lstStyle/>
        <a:p>
          <a:endParaRPr lang="zh-CN" altLang="en-US"/>
        </a:p>
      </dgm:t>
    </dgm:pt>
    <dgm:pt modelId="{7857D771-195E-499A-A33C-D43B0A5ED675}">
      <dgm:prSet phldrT="[文本]" custT="1"/>
      <dgm:spPr>
        <a:solidFill>
          <a:schemeClr val="bg1"/>
        </a:solidFill>
      </dgm:spPr>
      <dgm:t>
        <a:bodyPr/>
        <a:lstStyle/>
        <a:p>
          <a:r>
            <a:rPr lang="zh-CN" altLang="en-US" sz="1600" b="1" dirty="0" smtClean="0">
              <a:solidFill>
                <a:srgbClr val="000000"/>
              </a:solidFill>
            </a:rPr>
            <a:t>世界怎么样</a:t>
          </a:r>
          <a:endParaRPr lang="en-US" altLang="zh-CN" sz="1600" b="1" dirty="0" smtClean="0">
            <a:solidFill>
              <a:srgbClr val="000000"/>
            </a:solidFill>
          </a:endParaRPr>
        </a:p>
        <a:p>
          <a:r>
            <a:rPr lang="zh-CN" altLang="en-US" sz="1600" b="1" dirty="0" smtClean="0">
              <a:solidFill>
                <a:srgbClr val="000000"/>
              </a:solidFill>
            </a:rPr>
            <a:t>（存在状态）</a:t>
          </a:r>
          <a:endParaRPr lang="zh-CN" altLang="en-US" sz="1600" b="1" dirty="0">
            <a:solidFill>
              <a:srgbClr val="000000"/>
            </a:solidFill>
          </a:endParaRPr>
        </a:p>
      </dgm:t>
    </dgm:pt>
    <dgm:pt modelId="{AC8A2C14-92E9-4527-A905-0F05E438D62D}" cxnId="{42BED06A-1DDB-4256-A8B1-0BE18B16A4C1}" type="parTrans">
      <dgm:prSet/>
      <dgm:spPr/>
      <dgm:t>
        <a:bodyPr/>
        <a:lstStyle/>
        <a:p>
          <a:endParaRPr lang="zh-CN" altLang="en-US"/>
        </a:p>
      </dgm:t>
    </dgm:pt>
    <dgm:pt modelId="{C31926FC-E686-4D54-9DD4-C3E98F621595}" cxnId="{42BED06A-1DDB-4256-A8B1-0BE18B16A4C1}" type="sibTrans">
      <dgm:prSet/>
      <dgm:spPr/>
      <dgm:t>
        <a:bodyPr/>
        <a:lstStyle/>
        <a:p>
          <a:endParaRPr lang="zh-CN" altLang="en-US"/>
        </a:p>
      </dgm:t>
    </dgm:pt>
    <dgm:pt modelId="{BD316248-44C6-491D-85E6-DF88A0F718EB}">
      <dgm:prSet phldrT="[文本]" custT="1"/>
      <dgm:spPr>
        <a:solidFill>
          <a:schemeClr val="bg1"/>
        </a:solidFill>
      </dgm:spPr>
      <dgm:t>
        <a:bodyPr/>
        <a:lstStyle/>
        <a:p>
          <a:r>
            <a:rPr lang="zh-CN" altLang="en-US" sz="2000" b="1" dirty="0">
              <a:solidFill>
                <a:srgbClr val="000000"/>
              </a:solidFill>
            </a:rPr>
            <a:t>形而上学</a:t>
          </a:r>
        </a:p>
      </dgm:t>
    </dgm:pt>
    <dgm:pt modelId="{F6E7A273-FF3C-4B06-86B3-B15973A0985F}" cxnId="{D8E31206-E037-48E7-8BBD-632506196D56}" type="parTrans">
      <dgm:prSet/>
      <dgm:spPr/>
      <dgm:t>
        <a:bodyPr/>
        <a:lstStyle/>
        <a:p>
          <a:endParaRPr lang="zh-CN" altLang="en-US"/>
        </a:p>
      </dgm:t>
    </dgm:pt>
    <dgm:pt modelId="{E82B802A-911A-49E5-BF5D-AC0158ABA75A}" cxnId="{D8E31206-E037-48E7-8BBD-632506196D56}" type="sibTrans">
      <dgm:prSet/>
      <dgm:spPr/>
      <dgm:t>
        <a:bodyPr/>
        <a:lstStyle/>
        <a:p>
          <a:endParaRPr lang="zh-CN" altLang="en-US"/>
        </a:p>
      </dgm:t>
    </dgm:pt>
    <dgm:pt modelId="{EB821227-E77D-4842-BC3D-56ED48F11EEC}">
      <dgm:prSet custT="1"/>
      <dgm:spPr>
        <a:solidFill>
          <a:schemeClr val="bg1"/>
        </a:solidFill>
      </dgm:spPr>
      <dgm:t>
        <a:bodyPr/>
        <a:lstStyle/>
        <a:p>
          <a:r>
            <a:rPr lang="zh-CN" altLang="en-US" sz="1600" b="1" dirty="0" smtClean="0">
              <a:solidFill>
                <a:srgbClr val="000000"/>
              </a:solidFill>
            </a:rPr>
            <a:t>用孤立的、静止</a:t>
          </a:r>
          <a:r>
            <a:rPr lang="zh-CN" altLang="en-US" sz="1600" b="1" dirty="0" smtClean="0">
              <a:solidFill>
                <a:srgbClr val="000000"/>
              </a:solidFill>
            </a:rPr>
            <a:t>的，从而</a:t>
          </a:r>
          <a:r>
            <a:rPr lang="zh-CN" altLang="en-US" sz="1600" b="1" dirty="0" smtClean="0">
              <a:solidFill>
                <a:srgbClr val="000000"/>
              </a:solidFill>
            </a:rPr>
            <a:t>是片面的观点看世界，否认矛盾</a:t>
          </a:r>
          <a:endParaRPr lang="zh-CN" altLang="en-US" sz="1600" b="1" dirty="0">
            <a:solidFill>
              <a:srgbClr val="000000"/>
            </a:solidFill>
          </a:endParaRPr>
        </a:p>
      </dgm:t>
    </dgm:pt>
    <dgm:pt modelId="{2015D961-4F30-4A2F-B286-2EB5F0A02FD3}" cxnId="{00208103-4F1A-4654-A00B-68A07AEC9DC7}" type="parTrans">
      <dgm:prSet/>
      <dgm:spPr/>
      <dgm:t>
        <a:bodyPr/>
        <a:lstStyle/>
        <a:p>
          <a:endParaRPr lang="zh-CN" altLang="en-US"/>
        </a:p>
      </dgm:t>
    </dgm:pt>
    <dgm:pt modelId="{0497F0F1-2F96-4A7F-BDC6-7BB7CBCC85CE}" cxnId="{00208103-4F1A-4654-A00B-68A07AEC9DC7}" type="sibTrans">
      <dgm:prSet/>
      <dgm:spPr/>
      <dgm:t>
        <a:bodyPr/>
        <a:lstStyle/>
        <a:p>
          <a:endParaRPr lang="zh-CN" altLang="en-US"/>
        </a:p>
      </dgm:t>
    </dgm:pt>
    <dgm:pt modelId="{AD4D1C7E-2A94-4187-BEAE-338B1C204594}">
      <dgm:prSet custT="1"/>
      <dgm:spPr>
        <a:solidFill>
          <a:schemeClr val="bg1"/>
        </a:solidFill>
      </dgm:spPr>
      <dgm:t>
        <a:bodyPr/>
        <a:lstStyle/>
        <a:p>
          <a:r>
            <a:rPr lang="zh-CN" altLang="en-US" sz="2000" b="1" dirty="0" smtClean="0">
              <a:solidFill>
                <a:srgbClr val="000000"/>
              </a:solidFill>
            </a:rPr>
            <a:t>辩证法</a:t>
          </a:r>
          <a:endParaRPr lang="zh-CN" altLang="en-US" sz="2000" b="1" dirty="0">
            <a:solidFill>
              <a:srgbClr val="000000"/>
            </a:solidFill>
          </a:endParaRPr>
        </a:p>
      </dgm:t>
    </dgm:pt>
    <dgm:pt modelId="{2CF635C5-CC93-4F4C-AC4F-D3405DBEB9E7}" cxnId="{6A45659E-53BF-40E7-A95A-B914BE25D826}" type="parTrans">
      <dgm:prSet/>
      <dgm:spPr/>
      <dgm:t>
        <a:bodyPr/>
        <a:lstStyle/>
        <a:p>
          <a:endParaRPr lang="zh-CN" altLang="en-US"/>
        </a:p>
      </dgm:t>
    </dgm:pt>
    <dgm:pt modelId="{6C31B4BA-4F90-4849-B7E5-E47CC23ED28C}" cxnId="{6A45659E-53BF-40E7-A95A-B914BE25D826}" type="sibTrans">
      <dgm:prSet/>
      <dgm:spPr/>
      <dgm:t>
        <a:bodyPr/>
        <a:lstStyle/>
        <a:p>
          <a:endParaRPr lang="zh-CN" altLang="en-US"/>
        </a:p>
      </dgm:t>
    </dgm:pt>
    <dgm:pt modelId="{3BDB0E17-FBF8-49CA-A3F7-50FE29C74202}">
      <dgm:prSet custT="1"/>
      <dgm:spPr>
        <a:solidFill>
          <a:schemeClr val="bg1"/>
        </a:solidFill>
      </dgm:spPr>
      <dgm:t>
        <a:bodyPr/>
        <a:lstStyle/>
        <a:p>
          <a:r>
            <a:rPr lang="zh-CN" altLang="en-US" sz="1600" b="1" dirty="0" smtClean="0">
              <a:solidFill>
                <a:srgbClr val="000000"/>
              </a:solidFill>
            </a:rPr>
            <a:t>用联系的、发展</a:t>
          </a:r>
          <a:r>
            <a:rPr lang="zh-CN" altLang="en-US" sz="1600" b="1" dirty="0" smtClean="0">
              <a:solidFill>
                <a:srgbClr val="000000"/>
              </a:solidFill>
            </a:rPr>
            <a:t>的，从而</a:t>
          </a:r>
          <a:r>
            <a:rPr lang="zh-CN" altLang="en-US" sz="1600" b="1" dirty="0" smtClean="0">
              <a:solidFill>
                <a:srgbClr val="000000"/>
              </a:solidFill>
            </a:rPr>
            <a:t>是全面的观点看世界，承认矛盾</a:t>
          </a:r>
          <a:endParaRPr lang="zh-CN" altLang="en-US" sz="1600" b="1" dirty="0">
            <a:solidFill>
              <a:srgbClr val="000000"/>
            </a:solidFill>
          </a:endParaRPr>
        </a:p>
      </dgm:t>
    </dgm:pt>
    <dgm:pt modelId="{73842854-F840-41C7-8E0E-155EEC62201C}" cxnId="{10DCBACA-DE88-4B6E-9FF5-8F57530DBDBD}" type="parTrans">
      <dgm:prSet/>
      <dgm:spPr/>
      <dgm:t>
        <a:bodyPr/>
        <a:lstStyle/>
        <a:p>
          <a:endParaRPr lang="zh-CN" altLang="en-US"/>
        </a:p>
      </dgm:t>
    </dgm:pt>
    <dgm:pt modelId="{092E8E11-0192-4A84-B41B-8051F7A11810}" cxnId="{10DCBACA-DE88-4B6E-9FF5-8F57530DBDBD}" type="sibTrans">
      <dgm:prSet/>
      <dgm:spPr/>
      <dgm:t>
        <a:bodyPr/>
        <a:lstStyle/>
        <a:p>
          <a:endParaRPr lang="zh-CN" altLang="en-US"/>
        </a:p>
      </dgm:t>
    </dgm:pt>
    <dgm:pt modelId="{28C73F57-AA17-4636-B0E8-DAB6BA8A7271}" type="pres">
      <dgm:prSet presAssocID="{248AF1C6-95DA-4A22-9881-072B234CE4A0}" presName="diagram" presStyleCnt="0">
        <dgm:presLayoutVars>
          <dgm:chPref val="1"/>
          <dgm:dir/>
          <dgm:animOne val="branch"/>
          <dgm:animLvl val="lvl"/>
          <dgm:resizeHandles val="exact"/>
        </dgm:presLayoutVars>
      </dgm:prSet>
      <dgm:spPr/>
      <dgm:t>
        <a:bodyPr/>
        <a:lstStyle/>
        <a:p>
          <a:endParaRPr lang="zh-CN" altLang="en-US"/>
        </a:p>
      </dgm:t>
    </dgm:pt>
    <dgm:pt modelId="{ABE4B059-0665-4004-A506-330F749228BB}" type="pres">
      <dgm:prSet presAssocID="{C6CD881B-608E-4B8B-8045-6FB31CEE270A}" presName="root1" presStyleCnt="0"/>
      <dgm:spPr/>
      <dgm:t>
        <a:bodyPr/>
        <a:lstStyle/>
        <a:p>
          <a:endParaRPr lang="zh-CN" altLang="en-US"/>
        </a:p>
      </dgm:t>
    </dgm:pt>
    <dgm:pt modelId="{00923E0D-0F7D-4E0B-80D9-3BB127F7DBD5}" type="pres">
      <dgm:prSet presAssocID="{C6CD881B-608E-4B8B-8045-6FB31CEE270A}" presName="LevelOneTextNode" presStyleLbl="node0" presStyleIdx="0" presStyleCnt="1">
        <dgm:presLayoutVars>
          <dgm:chPref val="3"/>
        </dgm:presLayoutVars>
      </dgm:prSet>
      <dgm:spPr/>
      <dgm:t>
        <a:bodyPr/>
        <a:lstStyle/>
        <a:p>
          <a:endParaRPr lang="zh-CN" altLang="en-US"/>
        </a:p>
      </dgm:t>
    </dgm:pt>
    <dgm:pt modelId="{0084864A-CD18-432C-8365-64A6BF1B24C2}" type="pres">
      <dgm:prSet presAssocID="{C6CD881B-608E-4B8B-8045-6FB31CEE270A}" presName="level2hierChild" presStyleCnt="0"/>
      <dgm:spPr/>
      <dgm:t>
        <a:bodyPr/>
        <a:lstStyle/>
        <a:p>
          <a:endParaRPr lang="zh-CN" altLang="en-US"/>
        </a:p>
      </dgm:t>
    </dgm:pt>
    <dgm:pt modelId="{E6FF0E47-22B0-44D5-BA10-6F44CF8D9310}" type="pres">
      <dgm:prSet presAssocID="{E5C9C69E-22F7-48C4-9F5B-E1A197051E0D}" presName="conn2-1" presStyleLbl="parChTrans1D2" presStyleIdx="0" presStyleCnt="2"/>
      <dgm:spPr/>
      <dgm:t>
        <a:bodyPr/>
        <a:lstStyle/>
        <a:p>
          <a:endParaRPr lang="zh-CN" altLang="en-US"/>
        </a:p>
      </dgm:t>
    </dgm:pt>
    <dgm:pt modelId="{5E73AB93-502F-4330-8860-127ADE6CF51E}" type="pres">
      <dgm:prSet presAssocID="{E5C9C69E-22F7-48C4-9F5B-E1A197051E0D}" presName="connTx" presStyleLbl="parChTrans1D2" presStyleIdx="0" presStyleCnt="2"/>
      <dgm:spPr/>
      <dgm:t>
        <a:bodyPr/>
        <a:lstStyle/>
        <a:p>
          <a:endParaRPr lang="zh-CN" altLang="en-US"/>
        </a:p>
      </dgm:t>
    </dgm:pt>
    <dgm:pt modelId="{41C77520-C236-4760-B235-43ED06795C09}" type="pres">
      <dgm:prSet presAssocID="{55C77395-9E22-46F2-983F-03E16695E1BA}" presName="root2" presStyleCnt="0"/>
      <dgm:spPr/>
      <dgm:t>
        <a:bodyPr/>
        <a:lstStyle/>
        <a:p>
          <a:endParaRPr lang="zh-CN" altLang="en-US"/>
        </a:p>
      </dgm:t>
    </dgm:pt>
    <dgm:pt modelId="{CB994E22-5F71-47D7-AC69-1875F0630F8D}" type="pres">
      <dgm:prSet presAssocID="{55C77395-9E22-46F2-983F-03E16695E1BA}" presName="LevelTwoTextNode" presStyleLbl="node2" presStyleIdx="0" presStyleCnt="2" custScaleY="117856">
        <dgm:presLayoutVars>
          <dgm:chPref val="3"/>
        </dgm:presLayoutVars>
      </dgm:prSet>
      <dgm:spPr/>
      <dgm:t>
        <a:bodyPr/>
        <a:lstStyle/>
        <a:p>
          <a:endParaRPr lang="zh-CN" altLang="en-US"/>
        </a:p>
      </dgm:t>
    </dgm:pt>
    <dgm:pt modelId="{66834707-F2E9-4260-ACC9-52402A908385}" type="pres">
      <dgm:prSet presAssocID="{55C77395-9E22-46F2-983F-03E16695E1BA}" presName="level3hierChild" presStyleCnt="0"/>
      <dgm:spPr/>
      <dgm:t>
        <a:bodyPr/>
        <a:lstStyle/>
        <a:p>
          <a:endParaRPr lang="zh-CN" altLang="en-US"/>
        </a:p>
      </dgm:t>
    </dgm:pt>
    <dgm:pt modelId="{E6618F5C-FC15-429B-9A52-FB9919303C17}" type="pres">
      <dgm:prSet presAssocID="{85A4CC27-7C45-484D-82AB-55EBFC9F1DB5}" presName="conn2-1" presStyleLbl="parChTrans1D3" presStyleIdx="0" presStyleCnt="4"/>
      <dgm:spPr/>
      <dgm:t>
        <a:bodyPr/>
        <a:lstStyle/>
        <a:p>
          <a:endParaRPr lang="zh-CN" altLang="en-US"/>
        </a:p>
      </dgm:t>
    </dgm:pt>
    <dgm:pt modelId="{5DBA905C-A301-49B6-82DA-17AD96197637}" type="pres">
      <dgm:prSet presAssocID="{85A4CC27-7C45-484D-82AB-55EBFC9F1DB5}" presName="connTx" presStyleLbl="parChTrans1D3" presStyleIdx="0" presStyleCnt="4"/>
      <dgm:spPr/>
      <dgm:t>
        <a:bodyPr/>
        <a:lstStyle/>
        <a:p>
          <a:endParaRPr lang="zh-CN" altLang="en-US"/>
        </a:p>
      </dgm:t>
    </dgm:pt>
    <dgm:pt modelId="{757E4DAA-AC32-4382-AAC7-4E7C3DA17FA2}" type="pres">
      <dgm:prSet presAssocID="{75B007B7-0CA7-4BDD-9497-5B47774EA02D}" presName="root2" presStyleCnt="0"/>
      <dgm:spPr/>
      <dgm:t>
        <a:bodyPr/>
        <a:lstStyle/>
        <a:p>
          <a:endParaRPr lang="zh-CN" altLang="en-US"/>
        </a:p>
      </dgm:t>
    </dgm:pt>
    <dgm:pt modelId="{BD0DD2C9-26B2-4EC8-BD37-D6147B460FB9}" type="pres">
      <dgm:prSet presAssocID="{75B007B7-0CA7-4BDD-9497-5B47774EA02D}" presName="LevelTwoTextNode" presStyleLbl="node3" presStyleIdx="0" presStyleCnt="4">
        <dgm:presLayoutVars>
          <dgm:chPref val="3"/>
        </dgm:presLayoutVars>
      </dgm:prSet>
      <dgm:spPr/>
      <dgm:t>
        <a:bodyPr/>
        <a:lstStyle/>
        <a:p>
          <a:endParaRPr lang="zh-CN" altLang="en-US"/>
        </a:p>
      </dgm:t>
    </dgm:pt>
    <dgm:pt modelId="{F0961209-B5E8-42DE-9AB3-B66FD839A6EC}" type="pres">
      <dgm:prSet presAssocID="{75B007B7-0CA7-4BDD-9497-5B47774EA02D}" presName="level3hierChild" presStyleCnt="0"/>
      <dgm:spPr/>
      <dgm:t>
        <a:bodyPr/>
        <a:lstStyle/>
        <a:p>
          <a:endParaRPr lang="zh-CN" altLang="en-US"/>
        </a:p>
      </dgm:t>
    </dgm:pt>
    <dgm:pt modelId="{36ABAF7A-4523-4742-B39B-7C93BBECE71F}" type="pres">
      <dgm:prSet presAssocID="{00BAFED4-6734-46F5-834F-A93DDFA0AFCC}" presName="conn2-1" presStyleLbl="parChTrans1D3" presStyleIdx="1" presStyleCnt="4"/>
      <dgm:spPr/>
      <dgm:t>
        <a:bodyPr/>
        <a:lstStyle/>
        <a:p>
          <a:endParaRPr lang="zh-CN" altLang="en-US"/>
        </a:p>
      </dgm:t>
    </dgm:pt>
    <dgm:pt modelId="{B58CF3BB-2BB0-435A-BEC9-9E4FF165A573}" type="pres">
      <dgm:prSet presAssocID="{00BAFED4-6734-46F5-834F-A93DDFA0AFCC}" presName="connTx" presStyleLbl="parChTrans1D3" presStyleIdx="1" presStyleCnt="4"/>
      <dgm:spPr/>
      <dgm:t>
        <a:bodyPr/>
        <a:lstStyle/>
        <a:p>
          <a:endParaRPr lang="zh-CN" altLang="en-US"/>
        </a:p>
      </dgm:t>
    </dgm:pt>
    <dgm:pt modelId="{9D8EA3AB-D660-4607-AF75-D86CB942430A}" type="pres">
      <dgm:prSet presAssocID="{87B0EAE2-DA7B-4861-A536-A3414384A16F}" presName="root2" presStyleCnt="0"/>
      <dgm:spPr/>
      <dgm:t>
        <a:bodyPr/>
        <a:lstStyle/>
        <a:p>
          <a:endParaRPr lang="zh-CN" altLang="en-US"/>
        </a:p>
      </dgm:t>
    </dgm:pt>
    <dgm:pt modelId="{88597657-EC19-434D-8A85-2A5980E5C383}" type="pres">
      <dgm:prSet presAssocID="{87B0EAE2-DA7B-4861-A536-A3414384A16F}" presName="LevelTwoTextNode" presStyleLbl="node3" presStyleIdx="1" presStyleCnt="4">
        <dgm:presLayoutVars>
          <dgm:chPref val="3"/>
        </dgm:presLayoutVars>
      </dgm:prSet>
      <dgm:spPr/>
      <dgm:t>
        <a:bodyPr/>
        <a:lstStyle/>
        <a:p>
          <a:endParaRPr lang="zh-CN" altLang="en-US"/>
        </a:p>
      </dgm:t>
    </dgm:pt>
    <dgm:pt modelId="{D8C8D76A-5574-4CFC-93DE-6C24564425EA}" type="pres">
      <dgm:prSet presAssocID="{87B0EAE2-DA7B-4861-A536-A3414384A16F}" presName="level3hierChild" presStyleCnt="0"/>
      <dgm:spPr/>
      <dgm:t>
        <a:bodyPr/>
        <a:lstStyle/>
        <a:p>
          <a:endParaRPr lang="zh-CN" altLang="en-US"/>
        </a:p>
      </dgm:t>
    </dgm:pt>
    <dgm:pt modelId="{38FF9986-BC97-42EE-937E-274C6FAC4515}" type="pres">
      <dgm:prSet presAssocID="{AC8A2C14-92E9-4527-A905-0F05E438D62D}" presName="conn2-1" presStyleLbl="parChTrans1D2" presStyleIdx="1" presStyleCnt="2"/>
      <dgm:spPr/>
      <dgm:t>
        <a:bodyPr/>
        <a:lstStyle/>
        <a:p>
          <a:endParaRPr lang="zh-CN" altLang="en-US"/>
        </a:p>
      </dgm:t>
    </dgm:pt>
    <dgm:pt modelId="{972AF506-1043-4067-8CA7-76A487C9DB70}" type="pres">
      <dgm:prSet presAssocID="{AC8A2C14-92E9-4527-A905-0F05E438D62D}" presName="connTx" presStyleLbl="parChTrans1D2" presStyleIdx="1" presStyleCnt="2"/>
      <dgm:spPr/>
      <dgm:t>
        <a:bodyPr/>
        <a:lstStyle/>
        <a:p>
          <a:endParaRPr lang="zh-CN" altLang="en-US"/>
        </a:p>
      </dgm:t>
    </dgm:pt>
    <dgm:pt modelId="{EBE24285-DED2-4BAA-82C3-02810B37C854}" type="pres">
      <dgm:prSet presAssocID="{7857D771-195E-499A-A33C-D43B0A5ED675}" presName="root2" presStyleCnt="0"/>
      <dgm:spPr/>
      <dgm:t>
        <a:bodyPr/>
        <a:lstStyle/>
        <a:p>
          <a:endParaRPr lang="zh-CN" altLang="en-US"/>
        </a:p>
      </dgm:t>
    </dgm:pt>
    <dgm:pt modelId="{ABBB0E82-731B-415F-922E-A3B0FF4EDCC4}" type="pres">
      <dgm:prSet presAssocID="{7857D771-195E-499A-A33C-D43B0A5ED675}" presName="LevelTwoTextNode" presStyleLbl="node2" presStyleIdx="1" presStyleCnt="2" custScaleY="121944">
        <dgm:presLayoutVars>
          <dgm:chPref val="3"/>
        </dgm:presLayoutVars>
      </dgm:prSet>
      <dgm:spPr/>
      <dgm:t>
        <a:bodyPr/>
        <a:lstStyle/>
        <a:p>
          <a:endParaRPr lang="zh-CN" altLang="en-US"/>
        </a:p>
      </dgm:t>
    </dgm:pt>
    <dgm:pt modelId="{08DA508E-6C6E-4207-B419-A6DB8556F8F3}" type="pres">
      <dgm:prSet presAssocID="{7857D771-195E-499A-A33C-D43B0A5ED675}" presName="level3hierChild" presStyleCnt="0"/>
      <dgm:spPr/>
      <dgm:t>
        <a:bodyPr/>
        <a:lstStyle/>
        <a:p>
          <a:endParaRPr lang="zh-CN" altLang="en-US"/>
        </a:p>
      </dgm:t>
    </dgm:pt>
    <dgm:pt modelId="{911AFD28-09DA-48A4-8479-4B79810524D0}" type="pres">
      <dgm:prSet presAssocID="{F6E7A273-FF3C-4B06-86B3-B15973A0985F}" presName="conn2-1" presStyleLbl="parChTrans1D3" presStyleIdx="2" presStyleCnt="4"/>
      <dgm:spPr/>
      <dgm:t>
        <a:bodyPr/>
        <a:lstStyle/>
        <a:p>
          <a:endParaRPr lang="zh-CN" altLang="en-US"/>
        </a:p>
      </dgm:t>
    </dgm:pt>
    <dgm:pt modelId="{B5B5B046-79CD-4BBB-801A-0F1769B21D6E}" type="pres">
      <dgm:prSet presAssocID="{F6E7A273-FF3C-4B06-86B3-B15973A0985F}" presName="connTx" presStyleLbl="parChTrans1D3" presStyleIdx="2" presStyleCnt="4"/>
      <dgm:spPr/>
      <dgm:t>
        <a:bodyPr/>
        <a:lstStyle/>
        <a:p>
          <a:endParaRPr lang="zh-CN" altLang="en-US"/>
        </a:p>
      </dgm:t>
    </dgm:pt>
    <dgm:pt modelId="{746D6B0D-3EC7-4E41-972C-EA054DF05D0A}" type="pres">
      <dgm:prSet presAssocID="{BD316248-44C6-491D-85E6-DF88A0F718EB}" presName="root2" presStyleCnt="0"/>
      <dgm:spPr/>
      <dgm:t>
        <a:bodyPr/>
        <a:lstStyle/>
        <a:p>
          <a:endParaRPr lang="zh-CN" altLang="en-US"/>
        </a:p>
      </dgm:t>
    </dgm:pt>
    <dgm:pt modelId="{6B84357C-BB17-406A-BEC5-98E76AB2B230}" type="pres">
      <dgm:prSet presAssocID="{BD316248-44C6-491D-85E6-DF88A0F718EB}" presName="LevelTwoTextNode" presStyleLbl="node3" presStyleIdx="2" presStyleCnt="4" custLinFactNeighborX="239" custLinFactNeighborY="1000">
        <dgm:presLayoutVars>
          <dgm:chPref val="3"/>
        </dgm:presLayoutVars>
      </dgm:prSet>
      <dgm:spPr/>
      <dgm:t>
        <a:bodyPr/>
        <a:lstStyle/>
        <a:p>
          <a:endParaRPr lang="zh-CN" altLang="en-US"/>
        </a:p>
      </dgm:t>
    </dgm:pt>
    <dgm:pt modelId="{22C81B32-CA38-474B-935D-D3AA738BFDFA}" type="pres">
      <dgm:prSet presAssocID="{BD316248-44C6-491D-85E6-DF88A0F718EB}" presName="level3hierChild" presStyleCnt="0"/>
      <dgm:spPr/>
      <dgm:t>
        <a:bodyPr/>
        <a:lstStyle/>
        <a:p>
          <a:endParaRPr lang="zh-CN" altLang="en-US"/>
        </a:p>
      </dgm:t>
    </dgm:pt>
    <dgm:pt modelId="{AA941E39-7936-4FAD-8D27-8F930ABE7C46}" type="pres">
      <dgm:prSet presAssocID="{2015D961-4F30-4A2F-B286-2EB5F0A02FD3}" presName="conn2-1" presStyleLbl="parChTrans1D4" presStyleIdx="0" presStyleCnt="2"/>
      <dgm:spPr/>
      <dgm:t>
        <a:bodyPr/>
        <a:lstStyle/>
        <a:p>
          <a:endParaRPr lang="zh-CN" altLang="en-US"/>
        </a:p>
      </dgm:t>
    </dgm:pt>
    <dgm:pt modelId="{A1F72C73-5623-4688-8515-106091C5252A}" type="pres">
      <dgm:prSet presAssocID="{2015D961-4F30-4A2F-B286-2EB5F0A02FD3}" presName="connTx" presStyleLbl="parChTrans1D4" presStyleIdx="0" presStyleCnt="2"/>
      <dgm:spPr/>
      <dgm:t>
        <a:bodyPr/>
        <a:lstStyle/>
        <a:p>
          <a:endParaRPr lang="zh-CN" altLang="en-US"/>
        </a:p>
      </dgm:t>
    </dgm:pt>
    <dgm:pt modelId="{BFE259A9-95E0-46D0-BE7B-E64F95802132}" type="pres">
      <dgm:prSet presAssocID="{EB821227-E77D-4842-BC3D-56ED48F11EEC}" presName="root2" presStyleCnt="0"/>
      <dgm:spPr/>
      <dgm:t>
        <a:bodyPr/>
        <a:lstStyle/>
        <a:p>
          <a:endParaRPr lang="zh-CN" altLang="en-US"/>
        </a:p>
      </dgm:t>
    </dgm:pt>
    <dgm:pt modelId="{F02EBA84-10E8-49E2-B5C5-FB547CFAD4EE}" type="pres">
      <dgm:prSet presAssocID="{EB821227-E77D-4842-BC3D-56ED48F11EEC}" presName="LevelTwoTextNode" presStyleLbl="node4" presStyleIdx="0" presStyleCnt="2" custScaleY="211536">
        <dgm:presLayoutVars>
          <dgm:chPref val="3"/>
        </dgm:presLayoutVars>
      </dgm:prSet>
      <dgm:spPr/>
      <dgm:t>
        <a:bodyPr/>
        <a:lstStyle/>
        <a:p>
          <a:endParaRPr lang="zh-CN" altLang="en-US"/>
        </a:p>
      </dgm:t>
    </dgm:pt>
    <dgm:pt modelId="{FCD9B485-051C-4F6C-8F40-CC8C74D77B90}" type="pres">
      <dgm:prSet presAssocID="{EB821227-E77D-4842-BC3D-56ED48F11EEC}" presName="level3hierChild" presStyleCnt="0"/>
      <dgm:spPr/>
      <dgm:t>
        <a:bodyPr/>
        <a:lstStyle/>
        <a:p>
          <a:endParaRPr lang="zh-CN" altLang="en-US"/>
        </a:p>
      </dgm:t>
    </dgm:pt>
    <dgm:pt modelId="{6760F061-3903-433F-928F-0E004756BFEC}" type="pres">
      <dgm:prSet presAssocID="{2CF635C5-CC93-4F4C-AC4F-D3405DBEB9E7}" presName="conn2-1" presStyleLbl="parChTrans1D3" presStyleIdx="3" presStyleCnt="4"/>
      <dgm:spPr/>
      <dgm:t>
        <a:bodyPr/>
        <a:lstStyle/>
        <a:p>
          <a:endParaRPr lang="zh-CN" altLang="en-US"/>
        </a:p>
      </dgm:t>
    </dgm:pt>
    <dgm:pt modelId="{11A652AD-5978-4C7C-A846-733CD1EF4975}" type="pres">
      <dgm:prSet presAssocID="{2CF635C5-CC93-4F4C-AC4F-D3405DBEB9E7}" presName="connTx" presStyleLbl="parChTrans1D3" presStyleIdx="3" presStyleCnt="4"/>
      <dgm:spPr/>
      <dgm:t>
        <a:bodyPr/>
        <a:lstStyle/>
        <a:p>
          <a:endParaRPr lang="zh-CN" altLang="en-US"/>
        </a:p>
      </dgm:t>
    </dgm:pt>
    <dgm:pt modelId="{543E73B4-C158-4B2E-8431-6FB1E7C924FD}" type="pres">
      <dgm:prSet presAssocID="{AD4D1C7E-2A94-4187-BEAE-338B1C204594}" presName="root2" presStyleCnt="0"/>
      <dgm:spPr/>
      <dgm:t>
        <a:bodyPr/>
        <a:lstStyle/>
        <a:p>
          <a:endParaRPr lang="zh-CN" altLang="en-US"/>
        </a:p>
      </dgm:t>
    </dgm:pt>
    <dgm:pt modelId="{673563FB-F039-47EF-88F2-8AEE9573F71E}" type="pres">
      <dgm:prSet presAssocID="{AD4D1C7E-2A94-4187-BEAE-338B1C204594}" presName="LevelTwoTextNode" presStyleLbl="node3" presStyleIdx="3" presStyleCnt="4">
        <dgm:presLayoutVars>
          <dgm:chPref val="3"/>
        </dgm:presLayoutVars>
      </dgm:prSet>
      <dgm:spPr/>
      <dgm:t>
        <a:bodyPr/>
        <a:lstStyle/>
        <a:p>
          <a:endParaRPr lang="zh-CN" altLang="en-US"/>
        </a:p>
      </dgm:t>
    </dgm:pt>
    <dgm:pt modelId="{D1289109-AA0E-45B9-AD72-4AE1A2595028}" type="pres">
      <dgm:prSet presAssocID="{AD4D1C7E-2A94-4187-BEAE-338B1C204594}" presName="level3hierChild" presStyleCnt="0"/>
      <dgm:spPr/>
      <dgm:t>
        <a:bodyPr/>
        <a:lstStyle/>
        <a:p>
          <a:endParaRPr lang="zh-CN" altLang="en-US"/>
        </a:p>
      </dgm:t>
    </dgm:pt>
    <dgm:pt modelId="{7F74B53F-1843-4753-AA7D-EF57FAB80BD5}" type="pres">
      <dgm:prSet presAssocID="{73842854-F840-41C7-8E0E-155EEC62201C}" presName="conn2-1" presStyleLbl="parChTrans1D4" presStyleIdx="1" presStyleCnt="2"/>
      <dgm:spPr/>
      <dgm:t>
        <a:bodyPr/>
        <a:lstStyle/>
        <a:p>
          <a:endParaRPr lang="zh-CN" altLang="en-US"/>
        </a:p>
      </dgm:t>
    </dgm:pt>
    <dgm:pt modelId="{99FA1943-7355-48FD-A705-380501018D4F}" type="pres">
      <dgm:prSet presAssocID="{73842854-F840-41C7-8E0E-155EEC62201C}" presName="connTx" presStyleLbl="parChTrans1D4" presStyleIdx="1" presStyleCnt="2"/>
      <dgm:spPr/>
      <dgm:t>
        <a:bodyPr/>
        <a:lstStyle/>
        <a:p>
          <a:endParaRPr lang="zh-CN" altLang="en-US"/>
        </a:p>
      </dgm:t>
    </dgm:pt>
    <dgm:pt modelId="{573ED18D-D243-46BA-B72C-BB9A540B565F}" type="pres">
      <dgm:prSet presAssocID="{3BDB0E17-FBF8-49CA-A3F7-50FE29C74202}" presName="root2" presStyleCnt="0"/>
      <dgm:spPr/>
      <dgm:t>
        <a:bodyPr/>
        <a:lstStyle/>
        <a:p>
          <a:endParaRPr lang="zh-CN" altLang="en-US"/>
        </a:p>
      </dgm:t>
    </dgm:pt>
    <dgm:pt modelId="{271EEF6A-90F0-4634-B00C-81AC55777FA6}" type="pres">
      <dgm:prSet presAssocID="{3BDB0E17-FBF8-49CA-A3F7-50FE29C74202}" presName="LevelTwoTextNode" presStyleLbl="node4" presStyleIdx="1" presStyleCnt="2" custScaleY="193783">
        <dgm:presLayoutVars>
          <dgm:chPref val="3"/>
        </dgm:presLayoutVars>
      </dgm:prSet>
      <dgm:spPr/>
      <dgm:t>
        <a:bodyPr/>
        <a:lstStyle/>
        <a:p>
          <a:endParaRPr lang="zh-CN" altLang="en-US"/>
        </a:p>
      </dgm:t>
    </dgm:pt>
    <dgm:pt modelId="{BAB4F9AB-19EA-4B57-A8B9-E586C2C6938E}" type="pres">
      <dgm:prSet presAssocID="{3BDB0E17-FBF8-49CA-A3F7-50FE29C74202}" presName="level3hierChild" presStyleCnt="0"/>
      <dgm:spPr/>
      <dgm:t>
        <a:bodyPr/>
        <a:lstStyle/>
        <a:p>
          <a:endParaRPr lang="zh-CN" altLang="en-US"/>
        </a:p>
      </dgm:t>
    </dgm:pt>
  </dgm:ptLst>
  <dgm:cxnLst>
    <dgm:cxn modelId="{B2E9A6E9-F4D7-4063-A548-D8F5AFC31C02}" type="presOf" srcId="{7857D771-195E-499A-A33C-D43B0A5ED675}" destId="{ABBB0E82-731B-415F-922E-A3B0FF4EDCC4}" srcOrd="0" destOrd="0" presId="urn:microsoft.com/office/officeart/2005/8/layout/hierarchy2#3"/>
    <dgm:cxn modelId="{72429E35-5924-474C-A806-0B46A2661970}" type="presOf" srcId="{85A4CC27-7C45-484D-82AB-55EBFC9F1DB5}" destId="{E6618F5C-FC15-429B-9A52-FB9919303C17}" srcOrd="0" destOrd="0" presId="urn:microsoft.com/office/officeart/2005/8/layout/hierarchy2#3"/>
    <dgm:cxn modelId="{19A657F2-848F-4AF4-BA21-6D7EDAA65B5C}" type="presOf" srcId="{55C77395-9E22-46F2-983F-03E16695E1BA}" destId="{CB994E22-5F71-47D7-AC69-1875F0630F8D}" srcOrd="0" destOrd="0" presId="urn:microsoft.com/office/officeart/2005/8/layout/hierarchy2#3"/>
    <dgm:cxn modelId="{6929A712-50BA-4AA1-9C28-D263927D3725}" srcId="{248AF1C6-95DA-4A22-9881-072B234CE4A0}" destId="{C6CD881B-608E-4B8B-8045-6FB31CEE270A}" srcOrd="0" destOrd="0" parTransId="{58CBB073-2834-4228-9229-93FA328508C0}" sibTransId="{7F01A40C-A7C3-4C37-80E7-BEAD04E8AD11}"/>
    <dgm:cxn modelId="{1AA3C48D-6FAD-431E-AD6E-8C4175275083}" type="presOf" srcId="{2CF635C5-CC93-4F4C-AC4F-D3405DBEB9E7}" destId="{6760F061-3903-433F-928F-0E004756BFEC}" srcOrd="0" destOrd="0" presId="urn:microsoft.com/office/officeart/2005/8/layout/hierarchy2#3"/>
    <dgm:cxn modelId="{D3FDCFD4-ED70-47FC-BAE6-5A19680ED17E}" srcId="{55C77395-9E22-46F2-983F-03E16695E1BA}" destId="{87B0EAE2-DA7B-4861-A536-A3414384A16F}" srcOrd="1" destOrd="0" parTransId="{00BAFED4-6734-46F5-834F-A93DDFA0AFCC}" sibTransId="{62A57FE8-B634-42A4-B68F-8F2B20B6BE83}"/>
    <dgm:cxn modelId="{17C54D7B-F35A-42F5-8FC9-8DC5D5FE668B}" type="presOf" srcId="{00BAFED4-6734-46F5-834F-A93DDFA0AFCC}" destId="{36ABAF7A-4523-4742-B39B-7C93BBECE71F}" srcOrd="0" destOrd="0" presId="urn:microsoft.com/office/officeart/2005/8/layout/hierarchy2#3"/>
    <dgm:cxn modelId="{858AB0E6-BD0F-4A1D-BFBF-25AEB9034E59}" type="presOf" srcId="{3BDB0E17-FBF8-49CA-A3F7-50FE29C74202}" destId="{271EEF6A-90F0-4634-B00C-81AC55777FA6}" srcOrd="0" destOrd="0" presId="urn:microsoft.com/office/officeart/2005/8/layout/hierarchy2#3"/>
    <dgm:cxn modelId="{00208103-4F1A-4654-A00B-68A07AEC9DC7}" srcId="{BD316248-44C6-491D-85E6-DF88A0F718EB}" destId="{EB821227-E77D-4842-BC3D-56ED48F11EEC}" srcOrd="0" destOrd="0" parTransId="{2015D961-4F30-4A2F-B286-2EB5F0A02FD3}" sibTransId="{0497F0F1-2F96-4A7F-BDC6-7BB7CBCC85CE}"/>
    <dgm:cxn modelId="{F647C243-CC6C-48C7-ADD7-5C1CD86525C1}" type="presOf" srcId="{248AF1C6-95DA-4A22-9881-072B234CE4A0}" destId="{28C73F57-AA17-4636-B0E8-DAB6BA8A7271}" srcOrd="0" destOrd="0" presId="urn:microsoft.com/office/officeart/2005/8/layout/hierarchy2#3"/>
    <dgm:cxn modelId="{AD3E3ADC-8BDB-446A-AE44-8E16FB3C3922}" type="presOf" srcId="{85A4CC27-7C45-484D-82AB-55EBFC9F1DB5}" destId="{5DBA905C-A301-49B6-82DA-17AD96197637}" srcOrd="1" destOrd="0" presId="urn:microsoft.com/office/officeart/2005/8/layout/hierarchy2#3"/>
    <dgm:cxn modelId="{D8E31206-E037-48E7-8BBD-632506196D56}" srcId="{7857D771-195E-499A-A33C-D43B0A5ED675}" destId="{BD316248-44C6-491D-85E6-DF88A0F718EB}" srcOrd="0" destOrd="0" parTransId="{F6E7A273-FF3C-4B06-86B3-B15973A0985F}" sibTransId="{E82B802A-911A-49E5-BF5D-AC0158ABA75A}"/>
    <dgm:cxn modelId="{5F65FB1F-742B-4114-8E62-FE74C893CB44}" type="presOf" srcId="{AD4D1C7E-2A94-4187-BEAE-338B1C204594}" destId="{673563FB-F039-47EF-88F2-8AEE9573F71E}" srcOrd="0" destOrd="0" presId="urn:microsoft.com/office/officeart/2005/8/layout/hierarchy2#3"/>
    <dgm:cxn modelId="{2790EB47-3C5C-468E-B50B-DBF1E3BFB037}" type="presOf" srcId="{E5C9C69E-22F7-48C4-9F5B-E1A197051E0D}" destId="{5E73AB93-502F-4330-8860-127ADE6CF51E}" srcOrd="1" destOrd="0" presId="urn:microsoft.com/office/officeart/2005/8/layout/hierarchy2#3"/>
    <dgm:cxn modelId="{8748078C-C7DD-4602-903F-28479D9336DE}" type="presOf" srcId="{AC8A2C14-92E9-4527-A905-0F05E438D62D}" destId="{38FF9986-BC97-42EE-937E-274C6FAC4515}" srcOrd="0" destOrd="0" presId="urn:microsoft.com/office/officeart/2005/8/layout/hierarchy2#3"/>
    <dgm:cxn modelId="{7752A0C3-EF63-476C-859A-1352761FFFD5}" type="presOf" srcId="{C6CD881B-608E-4B8B-8045-6FB31CEE270A}" destId="{00923E0D-0F7D-4E0B-80D9-3BB127F7DBD5}" srcOrd="0" destOrd="0" presId="urn:microsoft.com/office/officeart/2005/8/layout/hierarchy2#3"/>
    <dgm:cxn modelId="{C6C880E9-D6C0-4150-B254-BB1F5A6DC431}" type="presOf" srcId="{2015D961-4F30-4A2F-B286-2EB5F0A02FD3}" destId="{AA941E39-7936-4FAD-8D27-8F930ABE7C46}" srcOrd="0" destOrd="0" presId="urn:microsoft.com/office/officeart/2005/8/layout/hierarchy2#3"/>
    <dgm:cxn modelId="{BAE7552A-B431-4621-A970-1AFAC3807F77}" type="presOf" srcId="{75B007B7-0CA7-4BDD-9497-5B47774EA02D}" destId="{BD0DD2C9-26B2-4EC8-BD37-D6147B460FB9}" srcOrd="0" destOrd="0" presId="urn:microsoft.com/office/officeart/2005/8/layout/hierarchy2#3"/>
    <dgm:cxn modelId="{9A227259-4E1E-440A-B170-E8C3007FFB3A}" type="presOf" srcId="{73842854-F840-41C7-8E0E-155EEC62201C}" destId="{99FA1943-7355-48FD-A705-380501018D4F}" srcOrd="1" destOrd="0" presId="urn:microsoft.com/office/officeart/2005/8/layout/hierarchy2#3"/>
    <dgm:cxn modelId="{E7987C0D-52F3-488E-A827-6263BFE8233B}" type="presOf" srcId="{F6E7A273-FF3C-4B06-86B3-B15973A0985F}" destId="{B5B5B046-79CD-4BBB-801A-0F1769B21D6E}" srcOrd="1" destOrd="0" presId="urn:microsoft.com/office/officeart/2005/8/layout/hierarchy2#3"/>
    <dgm:cxn modelId="{4C1A38E0-4224-4218-AAA1-C56F8E6CDAED}" type="presOf" srcId="{EB821227-E77D-4842-BC3D-56ED48F11EEC}" destId="{F02EBA84-10E8-49E2-B5C5-FB547CFAD4EE}" srcOrd="0" destOrd="0" presId="urn:microsoft.com/office/officeart/2005/8/layout/hierarchy2#3"/>
    <dgm:cxn modelId="{DED17E84-80A5-409F-8FCC-55CFB5DF059C}" type="presOf" srcId="{BD316248-44C6-491D-85E6-DF88A0F718EB}" destId="{6B84357C-BB17-406A-BEC5-98E76AB2B230}" srcOrd="0" destOrd="0" presId="urn:microsoft.com/office/officeart/2005/8/layout/hierarchy2#3"/>
    <dgm:cxn modelId="{5F03231F-FD74-4647-B9A0-22EFD1867F5E}" type="presOf" srcId="{2015D961-4F30-4A2F-B286-2EB5F0A02FD3}" destId="{A1F72C73-5623-4688-8515-106091C5252A}" srcOrd="1" destOrd="0" presId="urn:microsoft.com/office/officeart/2005/8/layout/hierarchy2#3"/>
    <dgm:cxn modelId="{AABD7869-4AAC-43BF-AB61-EAF7A8CCD765}" type="presOf" srcId="{E5C9C69E-22F7-48C4-9F5B-E1A197051E0D}" destId="{E6FF0E47-22B0-44D5-BA10-6F44CF8D9310}" srcOrd="0" destOrd="0" presId="urn:microsoft.com/office/officeart/2005/8/layout/hierarchy2#3"/>
    <dgm:cxn modelId="{A46917C2-79A3-423E-90AA-6A227E4A3FAE}" type="presOf" srcId="{87B0EAE2-DA7B-4861-A536-A3414384A16F}" destId="{88597657-EC19-434D-8A85-2A5980E5C383}" srcOrd="0" destOrd="0" presId="urn:microsoft.com/office/officeart/2005/8/layout/hierarchy2#3"/>
    <dgm:cxn modelId="{DF661A4A-E7DF-451F-98CC-8F8A80F2DA54}" srcId="{55C77395-9E22-46F2-983F-03E16695E1BA}" destId="{75B007B7-0CA7-4BDD-9497-5B47774EA02D}" srcOrd="0" destOrd="0" parTransId="{85A4CC27-7C45-484D-82AB-55EBFC9F1DB5}" sibTransId="{D4EBC867-965E-417B-972A-E9ED4C96C53A}"/>
    <dgm:cxn modelId="{152C6B37-F7B5-4C61-9329-12E2D8B1AA9D}" type="presOf" srcId="{AC8A2C14-92E9-4527-A905-0F05E438D62D}" destId="{972AF506-1043-4067-8CA7-76A487C9DB70}" srcOrd="1" destOrd="0" presId="urn:microsoft.com/office/officeart/2005/8/layout/hierarchy2#3"/>
    <dgm:cxn modelId="{10DCBACA-DE88-4B6E-9FF5-8F57530DBDBD}" srcId="{AD4D1C7E-2A94-4187-BEAE-338B1C204594}" destId="{3BDB0E17-FBF8-49CA-A3F7-50FE29C74202}" srcOrd="0" destOrd="0" parTransId="{73842854-F840-41C7-8E0E-155EEC62201C}" sibTransId="{092E8E11-0192-4A84-B41B-8051F7A11810}"/>
    <dgm:cxn modelId="{6A45659E-53BF-40E7-A95A-B914BE25D826}" srcId="{7857D771-195E-499A-A33C-D43B0A5ED675}" destId="{AD4D1C7E-2A94-4187-BEAE-338B1C204594}" srcOrd="1" destOrd="0" parTransId="{2CF635C5-CC93-4F4C-AC4F-D3405DBEB9E7}" sibTransId="{6C31B4BA-4F90-4849-B7E5-E47CC23ED28C}"/>
    <dgm:cxn modelId="{197A3EE3-12CF-447D-87FD-71F1EB087626}" type="presOf" srcId="{73842854-F840-41C7-8E0E-155EEC62201C}" destId="{7F74B53F-1843-4753-AA7D-EF57FAB80BD5}" srcOrd="0" destOrd="0" presId="urn:microsoft.com/office/officeart/2005/8/layout/hierarchy2#3"/>
    <dgm:cxn modelId="{68CB651E-7B71-4E56-95D1-E33E7A98CD45}" type="presOf" srcId="{00BAFED4-6734-46F5-834F-A93DDFA0AFCC}" destId="{B58CF3BB-2BB0-435A-BEC9-9E4FF165A573}" srcOrd="1" destOrd="0" presId="urn:microsoft.com/office/officeart/2005/8/layout/hierarchy2#3"/>
    <dgm:cxn modelId="{D74B08B9-4358-496F-8CD9-386A9CA670C3}" type="presOf" srcId="{F6E7A273-FF3C-4B06-86B3-B15973A0985F}" destId="{911AFD28-09DA-48A4-8479-4B79810524D0}" srcOrd="0" destOrd="0" presId="urn:microsoft.com/office/officeart/2005/8/layout/hierarchy2#3"/>
    <dgm:cxn modelId="{42BED06A-1DDB-4256-A8B1-0BE18B16A4C1}" srcId="{C6CD881B-608E-4B8B-8045-6FB31CEE270A}" destId="{7857D771-195E-499A-A33C-D43B0A5ED675}" srcOrd="1" destOrd="0" parTransId="{AC8A2C14-92E9-4527-A905-0F05E438D62D}" sibTransId="{C31926FC-E686-4D54-9DD4-C3E98F621595}"/>
    <dgm:cxn modelId="{E0D36697-10B5-486E-8820-98A38F3975B7}" type="presOf" srcId="{2CF635C5-CC93-4F4C-AC4F-D3405DBEB9E7}" destId="{11A652AD-5978-4C7C-A846-733CD1EF4975}" srcOrd="1" destOrd="0" presId="urn:microsoft.com/office/officeart/2005/8/layout/hierarchy2#3"/>
    <dgm:cxn modelId="{B80F6312-C27A-4E61-A09F-939DCE15114E}" srcId="{C6CD881B-608E-4B8B-8045-6FB31CEE270A}" destId="{55C77395-9E22-46F2-983F-03E16695E1BA}" srcOrd="0" destOrd="0" parTransId="{E5C9C69E-22F7-48C4-9F5B-E1A197051E0D}" sibTransId="{740E5867-BACF-424A-8A94-F2DF5DC63F48}"/>
    <dgm:cxn modelId="{839CDDE5-DD02-460F-81B8-1A2D7B1B8796}" type="presParOf" srcId="{28C73F57-AA17-4636-B0E8-DAB6BA8A7271}" destId="{ABE4B059-0665-4004-A506-330F749228BB}" srcOrd="0" destOrd="0" presId="urn:microsoft.com/office/officeart/2005/8/layout/hierarchy2#3"/>
    <dgm:cxn modelId="{92E95077-EB8C-4D54-93E7-94012EB894B3}" type="presParOf" srcId="{ABE4B059-0665-4004-A506-330F749228BB}" destId="{00923E0D-0F7D-4E0B-80D9-3BB127F7DBD5}" srcOrd="0" destOrd="0" presId="urn:microsoft.com/office/officeart/2005/8/layout/hierarchy2#3"/>
    <dgm:cxn modelId="{928B71B4-B4BB-4C2E-8F02-83BA4E83B34B}" type="presParOf" srcId="{ABE4B059-0665-4004-A506-330F749228BB}" destId="{0084864A-CD18-432C-8365-64A6BF1B24C2}" srcOrd="1" destOrd="0" presId="urn:microsoft.com/office/officeart/2005/8/layout/hierarchy2#3"/>
    <dgm:cxn modelId="{878F754A-954E-4F7D-8367-285BBAC93A0A}" type="presParOf" srcId="{0084864A-CD18-432C-8365-64A6BF1B24C2}" destId="{E6FF0E47-22B0-44D5-BA10-6F44CF8D9310}" srcOrd="0" destOrd="0" presId="urn:microsoft.com/office/officeart/2005/8/layout/hierarchy2#3"/>
    <dgm:cxn modelId="{4924A56C-BBFE-4AAC-A3E3-9BEAC00C0B1D}" type="presParOf" srcId="{E6FF0E47-22B0-44D5-BA10-6F44CF8D9310}" destId="{5E73AB93-502F-4330-8860-127ADE6CF51E}" srcOrd="0" destOrd="0" presId="urn:microsoft.com/office/officeart/2005/8/layout/hierarchy2#3"/>
    <dgm:cxn modelId="{A079D121-952E-470F-9365-4A6B74687D52}" type="presParOf" srcId="{0084864A-CD18-432C-8365-64A6BF1B24C2}" destId="{41C77520-C236-4760-B235-43ED06795C09}" srcOrd="1" destOrd="0" presId="urn:microsoft.com/office/officeart/2005/8/layout/hierarchy2#3"/>
    <dgm:cxn modelId="{16490239-947A-4848-9380-B916E2E946CA}" type="presParOf" srcId="{41C77520-C236-4760-B235-43ED06795C09}" destId="{CB994E22-5F71-47D7-AC69-1875F0630F8D}" srcOrd="0" destOrd="0" presId="urn:microsoft.com/office/officeart/2005/8/layout/hierarchy2#3"/>
    <dgm:cxn modelId="{4B197502-1A44-4E3D-8BA1-F4F919B2812B}" type="presParOf" srcId="{41C77520-C236-4760-B235-43ED06795C09}" destId="{66834707-F2E9-4260-ACC9-52402A908385}" srcOrd="1" destOrd="0" presId="urn:microsoft.com/office/officeart/2005/8/layout/hierarchy2#3"/>
    <dgm:cxn modelId="{66A6DD78-8168-4644-86D3-1E6E7A2607F2}" type="presParOf" srcId="{66834707-F2E9-4260-ACC9-52402A908385}" destId="{E6618F5C-FC15-429B-9A52-FB9919303C17}" srcOrd="0" destOrd="0" presId="urn:microsoft.com/office/officeart/2005/8/layout/hierarchy2#3"/>
    <dgm:cxn modelId="{1D023418-E684-4B4B-A18F-4DCEB6F53ECF}" type="presParOf" srcId="{E6618F5C-FC15-429B-9A52-FB9919303C17}" destId="{5DBA905C-A301-49B6-82DA-17AD96197637}" srcOrd="0" destOrd="0" presId="urn:microsoft.com/office/officeart/2005/8/layout/hierarchy2#3"/>
    <dgm:cxn modelId="{80DD8BC6-87AA-42AF-ADFE-215105CD4CC3}" type="presParOf" srcId="{66834707-F2E9-4260-ACC9-52402A908385}" destId="{757E4DAA-AC32-4382-AAC7-4E7C3DA17FA2}" srcOrd="1" destOrd="0" presId="urn:microsoft.com/office/officeart/2005/8/layout/hierarchy2#3"/>
    <dgm:cxn modelId="{1B2F0E06-10CC-4844-AAA1-EFFC532D2079}" type="presParOf" srcId="{757E4DAA-AC32-4382-AAC7-4E7C3DA17FA2}" destId="{BD0DD2C9-26B2-4EC8-BD37-D6147B460FB9}" srcOrd="0" destOrd="0" presId="urn:microsoft.com/office/officeart/2005/8/layout/hierarchy2#3"/>
    <dgm:cxn modelId="{D57242B3-A9C0-4B0D-A007-B239DFB2992B}" type="presParOf" srcId="{757E4DAA-AC32-4382-AAC7-4E7C3DA17FA2}" destId="{F0961209-B5E8-42DE-9AB3-B66FD839A6EC}" srcOrd="1" destOrd="0" presId="urn:microsoft.com/office/officeart/2005/8/layout/hierarchy2#3"/>
    <dgm:cxn modelId="{8DA2CB00-111F-4015-933C-E0EE7BD4407D}" type="presParOf" srcId="{66834707-F2E9-4260-ACC9-52402A908385}" destId="{36ABAF7A-4523-4742-B39B-7C93BBECE71F}" srcOrd="2" destOrd="0" presId="urn:microsoft.com/office/officeart/2005/8/layout/hierarchy2#3"/>
    <dgm:cxn modelId="{363EA981-6E32-498F-9D32-7CC42E8024DC}" type="presParOf" srcId="{36ABAF7A-4523-4742-B39B-7C93BBECE71F}" destId="{B58CF3BB-2BB0-435A-BEC9-9E4FF165A573}" srcOrd="0" destOrd="0" presId="urn:microsoft.com/office/officeart/2005/8/layout/hierarchy2#3"/>
    <dgm:cxn modelId="{6AB0E933-DD59-48FC-98DD-30CC3B1C47D1}" type="presParOf" srcId="{66834707-F2E9-4260-ACC9-52402A908385}" destId="{9D8EA3AB-D660-4607-AF75-D86CB942430A}" srcOrd="3" destOrd="0" presId="urn:microsoft.com/office/officeart/2005/8/layout/hierarchy2#3"/>
    <dgm:cxn modelId="{C420D5A6-6B65-47A8-A1DE-8DAD7D1469EB}" type="presParOf" srcId="{9D8EA3AB-D660-4607-AF75-D86CB942430A}" destId="{88597657-EC19-434D-8A85-2A5980E5C383}" srcOrd="0" destOrd="0" presId="urn:microsoft.com/office/officeart/2005/8/layout/hierarchy2#3"/>
    <dgm:cxn modelId="{4AEE64F4-00CD-4E16-BC12-C77095AECE33}" type="presParOf" srcId="{9D8EA3AB-D660-4607-AF75-D86CB942430A}" destId="{D8C8D76A-5574-4CFC-93DE-6C24564425EA}" srcOrd="1" destOrd="0" presId="urn:microsoft.com/office/officeart/2005/8/layout/hierarchy2#3"/>
    <dgm:cxn modelId="{0B775F35-8448-40A9-AA03-7BC23791C451}" type="presParOf" srcId="{0084864A-CD18-432C-8365-64A6BF1B24C2}" destId="{38FF9986-BC97-42EE-937E-274C6FAC4515}" srcOrd="2" destOrd="0" presId="urn:microsoft.com/office/officeart/2005/8/layout/hierarchy2#3"/>
    <dgm:cxn modelId="{C4D3CCA1-E265-4B07-B8CD-CA5E615712B4}" type="presParOf" srcId="{38FF9986-BC97-42EE-937E-274C6FAC4515}" destId="{972AF506-1043-4067-8CA7-76A487C9DB70}" srcOrd="0" destOrd="0" presId="urn:microsoft.com/office/officeart/2005/8/layout/hierarchy2#3"/>
    <dgm:cxn modelId="{EEC291A3-E9E7-49C3-9AB7-3C9CD71D49C5}" type="presParOf" srcId="{0084864A-CD18-432C-8365-64A6BF1B24C2}" destId="{EBE24285-DED2-4BAA-82C3-02810B37C854}" srcOrd="3" destOrd="0" presId="urn:microsoft.com/office/officeart/2005/8/layout/hierarchy2#3"/>
    <dgm:cxn modelId="{C0C2E504-B3F0-437B-8DBB-16CFA0F52D9C}" type="presParOf" srcId="{EBE24285-DED2-4BAA-82C3-02810B37C854}" destId="{ABBB0E82-731B-415F-922E-A3B0FF4EDCC4}" srcOrd="0" destOrd="0" presId="urn:microsoft.com/office/officeart/2005/8/layout/hierarchy2#3"/>
    <dgm:cxn modelId="{B0215F65-2BC5-4B65-A44D-84B2F07BB7C8}" type="presParOf" srcId="{EBE24285-DED2-4BAA-82C3-02810B37C854}" destId="{08DA508E-6C6E-4207-B419-A6DB8556F8F3}" srcOrd="1" destOrd="0" presId="urn:microsoft.com/office/officeart/2005/8/layout/hierarchy2#3"/>
    <dgm:cxn modelId="{F34E9912-2180-4067-843F-391965B2CDEC}" type="presParOf" srcId="{08DA508E-6C6E-4207-B419-A6DB8556F8F3}" destId="{911AFD28-09DA-48A4-8479-4B79810524D0}" srcOrd="0" destOrd="0" presId="urn:microsoft.com/office/officeart/2005/8/layout/hierarchy2#3"/>
    <dgm:cxn modelId="{F531B5C8-92CD-48DB-A3FE-D5CD5EB029F0}" type="presParOf" srcId="{911AFD28-09DA-48A4-8479-4B79810524D0}" destId="{B5B5B046-79CD-4BBB-801A-0F1769B21D6E}" srcOrd="0" destOrd="0" presId="urn:microsoft.com/office/officeart/2005/8/layout/hierarchy2#3"/>
    <dgm:cxn modelId="{B3B9CE18-8210-4DF2-80A6-CD2682FA4205}" type="presParOf" srcId="{08DA508E-6C6E-4207-B419-A6DB8556F8F3}" destId="{746D6B0D-3EC7-4E41-972C-EA054DF05D0A}" srcOrd="1" destOrd="0" presId="urn:microsoft.com/office/officeart/2005/8/layout/hierarchy2#3"/>
    <dgm:cxn modelId="{D3F993BE-A181-4D6C-80C4-EC46C40811B2}" type="presParOf" srcId="{746D6B0D-3EC7-4E41-972C-EA054DF05D0A}" destId="{6B84357C-BB17-406A-BEC5-98E76AB2B230}" srcOrd="0" destOrd="0" presId="urn:microsoft.com/office/officeart/2005/8/layout/hierarchy2#3"/>
    <dgm:cxn modelId="{814A2F53-403A-414F-ACBC-29E2B364750F}" type="presParOf" srcId="{746D6B0D-3EC7-4E41-972C-EA054DF05D0A}" destId="{22C81B32-CA38-474B-935D-D3AA738BFDFA}" srcOrd="1" destOrd="0" presId="urn:microsoft.com/office/officeart/2005/8/layout/hierarchy2#3"/>
    <dgm:cxn modelId="{111AAF5F-E572-4117-A6A5-20068EF8D1B5}" type="presParOf" srcId="{22C81B32-CA38-474B-935D-D3AA738BFDFA}" destId="{AA941E39-7936-4FAD-8D27-8F930ABE7C46}" srcOrd="0" destOrd="0" presId="urn:microsoft.com/office/officeart/2005/8/layout/hierarchy2#3"/>
    <dgm:cxn modelId="{9A3709BC-57CD-4ACF-8EDD-28E9DAFAAA0E}" type="presParOf" srcId="{AA941E39-7936-4FAD-8D27-8F930ABE7C46}" destId="{A1F72C73-5623-4688-8515-106091C5252A}" srcOrd="0" destOrd="0" presId="urn:microsoft.com/office/officeart/2005/8/layout/hierarchy2#3"/>
    <dgm:cxn modelId="{1E531CA9-9191-4302-A187-346F024CC8F4}" type="presParOf" srcId="{22C81B32-CA38-474B-935D-D3AA738BFDFA}" destId="{BFE259A9-95E0-46D0-BE7B-E64F95802132}" srcOrd="1" destOrd="0" presId="urn:microsoft.com/office/officeart/2005/8/layout/hierarchy2#3"/>
    <dgm:cxn modelId="{C64315FF-355F-4FBC-9ED4-C99B2A02141F}" type="presParOf" srcId="{BFE259A9-95E0-46D0-BE7B-E64F95802132}" destId="{F02EBA84-10E8-49E2-B5C5-FB547CFAD4EE}" srcOrd="0" destOrd="0" presId="urn:microsoft.com/office/officeart/2005/8/layout/hierarchy2#3"/>
    <dgm:cxn modelId="{F5D52242-20EA-4D83-B7F9-B7D9CCCB8118}" type="presParOf" srcId="{BFE259A9-95E0-46D0-BE7B-E64F95802132}" destId="{FCD9B485-051C-4F6C-8F40-CC8C74D77B90}" srcOrd="1" destOrd="0" presId="urn:microsoft.com/office/officeart/2005/8/layout/hierarchy2#3"/>
    <dgm:cxn modelId="{6672DB95-9591-44C4-832F-3CA80CF72C2F}" type="presParOf" srcId="{08DA508E-6C6E-4207-B419-A6DB8556F8F3}" destId="{6760F061-3903-433F-928F-0E004756BFEC}" srcOrd="2" destOrd="0" presId="urn:microsoft.com/office/officeart/2005/8/layout/hierarchy2#3"/>
    <dgm:cxn modelId="{89F6D2CB-4CD6-4E9D-9277-778DD0058AC4}" type="presParOf" srcId="{6760F061-3903-433F-928F-0E004756BFEC}" destId="{11A652AD-5978-4C7C-A846-733CD1EF4975}" srcOrd="0" destOrd="0" presId="urn:microsoft.com/office/officeart/2005/8/layout/hierarchy2#3"/>
    <dgm:cxn modelId="{14FCC8F3-A9B9-49D1-BE6B-3284B68C24E6}" type="presParOf" srcId="{08DA508E-6C6E-4207-B419-A6DB8556F8F3}" destId="{543E73B4-C158-4B2E-8431-6FB1E7C924FD}" srcOrd="3" destOrd="0" presId="urn:microsoft.com/office/officeart/2005/8/layout/hierarchy2#3"/>
    <dgm:cxn modelId="{041256BB-9F9B-459C-AAF0-A02511494557}" type="presParOf" srcId="{543E73B4-C158-4B2E-8431-6FB1E7C924FD}" destId="{673563FB-F039-47EF-88F2-8AEE9573F71E}" srcOrd="0" destOrd="0" presId="urn:microsoft.com/office/officeart/2005/8/layout/hierarchy2#3"/>
    <dgm:cxn modelId="{295FF1B1-AC53-45A0-9821-4871E5811451}" type="presParOf" srcId="{543E73B4-C158-4B2E-8431-6FB1E7C924FD}" destId="{D1289109-AA0E-45B9-AD72-4AE1A2595028}" srcOrd="1" destOrd="0" presId="urn:microsoft.com/office/officeart/2005/8/layout/hierarchy2#3"/>
    <dgm:cxn modelId="{1B86BA90-65F5-4458-AC1F-598A8A2E0F96}" type="presParOf" srcId="{D1289109-AA0E-45B9-AD72-4AE1A2595028}" destId="{7F74B53F-1843-4753-AA7D-EF57FAB80BD5}" srcOrd="0" destOrd="0" presId="urn:microsoft.com/office/officeart/2005/8/layout/hierarchy2#3"/>
    <dgm:cxn modelId="{3D6815A7-3971-4E36-A5B7-9539A1D7B823}" type="presParOf" srcId="{7F74B53F-1843-4753-AA7D-EF57FAB80BD5}" destId="{99FA1943-7355-48FD-A705-380501018D4F}" srcOrd="0" destOrd="0" presId="urn:microsoft.com/office/officeart/2005/8/layout/hierarchy2#3"/>
    <dgm:cxn modelId="{8E3F2465-D30D-424D-A2B6-5894EB65283C}" type="presParOf" srcId="{D1289109-AA0E-45B9-AD72-4AE1A2595028}" destId="{573ED18D-D243-46BA-B72C-BB9A540B565F}" srcOrd="1" destOrd="0" presId="urn:microsoft.com/office/officeart/2005/8/layout/hierarchy2#3"/>
    <dgm:cxn modelId="{1B1B04F0-209B-4B52-8ACE-D88CECDE66DF}" type="presParOf" srcId="{573ED18D-D243-46BA-B72C-BB9A540B565F}" destId="{271EEF6A-90F0-4634-B00C-81AC55777FA6}" srcOrd="0" destOrd="0" presId="urn:microsoft.com/office/officeart/2005/8/layout/hierarchy2#3"/>
    <dgm:cxn modelId="{2E7CD22B-FF11-4300-97E4-A5BFB32561EE}" type="presParOf" srcId="{573ED18D-D243-46BA-B72C-BB9A540B565F}" destId="{BAB4F9AB-19EA-4B57-A8B9-E586C2C6938E}" srcOrd="1" destOrd="0" presId="urn:microsoft.com/office/officeart/2005/8/layout/hierarchy2#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CE847B-E4D5-429A-BAFD-CB1C216EC674}" type="doc">
      <dgm:prSet loTypeId="urn:microsoft.com/office/officeart/2005/8/layout/hierarchy2#4" loCatId="hierarchy" qsTypeId="urn:microsoft.com/office/officeart/2005/8/quickstyle/simple1#6" qsCatId="simple" csTypeId="urn:microsoft.com/office/officeart/2005/8/colors/colorful5#2" csCatId="colorful" phldr="1"/>
      <dgm:spPr/>
      <dgm:t>
        <a:bodyPr/>
        <a:lstStyle/>
        <a:p>
          <a:endParaRPr lang="zh-CN" altLang="en-US"/>
        </a:p>
      </dgm:t>
    </dgm:pt>
    <dgm:pt modelId="{DB400DB4-A01D-4DA1-AC1C-75988215D943}">
      <dgm:prSet phldrT="[文本]" phldr="0" custT="1"/>
      <dgm:spPr/>
      <dgm:t>
        <a:bodyPr vert="horz" wrap="square"/>
        <a:p>
          <a:pPr>
            <a:lnSpc>
              <a:spcPct val="100000"/>
            </a:lnSpc>
            <a:spcBef>
              <a:spcPct val="0"/>
            </a:spcBef>
            <a:spcAft>
              <a:spcPct val="35000"/>
            </a:spcAft>
          </a:pPr>
          <a:r>
            <a:rPr lang="zh-CN" altLang="en-US" sz="2400" b="1" dirty="0" smtClean="0">
              <a:solidFill>
                <a:schemeClr val="tx1"/>
              </a:solidFill>
            </a:rPr>
            <a:t>基本特征：联系</a:t>
          </a:r>
          <a:r>
            <a:rPr lang="zh-CN" altLang="en-US" sz="2400" b="1" dirty="0" smtClean="0">
              <a:solidFill>
                <a:schemeClr val="tx1"/>
              </a:solidFill>
            </a:rPr>
            <a:t>与</a:t>
          </a:r>
          <a:r>
            <a:rPr lang="zh-CN" altLang="en-US" sz="2400" b="1" dirty="0" smtClean="0">
              <a:solidFill>
                <a:schemeClr val="tx1"/>
              </a:solidFill>
            </a:rPr>
            <a:t>发展</a:t>
          </a:r>
          <a:r>
            <a:rPr lang="zh-CN" altLang="en-US" sz="2400" b="1" dirty="0">
              <a:solidFill>
                <a:schemeClr val="tx1"/>
              </a:solidFill>
            </a:rPr>
            <a:t/>
          </a:r>
          <a:endParaRPr lang="zh-CN" altLang="en-US" sz="2400" b="1" dirty="0">
            <a:solidFill>
              <a:schemeClr val="tx1"/>
            </a:solidFill>
          </a:endParaRPr>
        </a:p>
      </dgm:t>
    </dgm:pt>
    <dgm:pt modelId="{27719637-4162-4E3B-ADE3-DBD8623E4649}" cxnId="{5F22061D-292E-4A21-AD66-54E0029FE128}" type="parTrans">
      <dgm:prSet/>
      <dgm:spPr/>
      <dgm:t>
        <a:bodyPr/>
        <a:lstStyle/>
        <a:p>
          <a:endParaRPr lang="zh-CN" altLang="en-US"/>
        </a:p>
      </dgm:t>
    </dgm:pt>
    <dgm:pt modelId="{CF097722-C265-4C68-BB2A-FD217894D3C5}" cxnId="{5F22061D-292E-4A21-AD66-54E0029FE128}" type="sibTrans">
      <dgm:prSet/>
      <dgm:spPr/>
      <dgm:t>
        <a:bodyPr/>
        <a:lstStyle/>
        <a:p>
          <a:endParaRPr lang="zh-CN" altLang="en-US"/>
        </a:p>
      </dgm:t>
    </dgm:pt>
    <dgm:pt modelId="{7F845F18-6F51-40BB-B5E6-8EF9DA8D155F}">
      <dgm:prSet phldrT="[文本]" custT="1"/>
      <dgm:spPr/>
      <dgm:t>
        <a:bodyPr/>
        <a:lstStyle/>
        <a:p>
          <a:r>
            <a:rPr lang="zh-CN" altLang="en-US" sz="2400" b="1" dirty="0" smtClean="0">
              <a:solidFill>
                <a:schemeClr val="accent4">
                  <a:lumMod val="40000"/>
                  <a:lumOff val="60000"/>
                </a:schemeClr>
              </a:solidFill>
            </a:rPr>
            <a:t>基本环节</a:t>
          </a:r>
          <a:endParaRPr lang="zh-CN" altLang="en-US" sz="2400" b="1" dirty="0">
            <a:solidFill>
              <a:schemeClr val="accent4">
                <a:lumMod val="40000"/>
                <a:lumOff val="60000"/>
              </a:schemeClr>
            </a:solidFill>
          </a:endParaRPr>
        </a:p>
      </dgm:t>
    </dgm:pt>
    <dgm:pt modelId="{37A8E3A1-B169-42AC-851E-B10C9BC58145}" cxnId="{2C267497-268E-416C-80CB-497E555D7980}" type="parTrans">
      <dgm:prSet/>
      <dgm:spPr/>
      <dgm:t>
        <a:bodyPr/>
        <a:lstStyle/>
        <a:p>
          <a:endParaRPr lang="zh-CN" altLang="en-US"/>
        </a:p>
      </dgm:t>
    </dgm:pt>
    <dgm:pt modelId="{2CF4E46F-A52D-4EA8-865E-04C395FDF9F2}" cxnId="{2C267497-268E-416C-80CB-497E555D7980}" type="sibTrans">
      <dgm:prSet/>
      <dgm:spPr/>
      <dgm:t>
        <a:bodyPr/>
        <a:lstStyle/>
        <a:p>
          <a:endParaRPr lang="zh-CN" altLang="en-US"/>
        </a:p>
      </dgm:t>
    </dgm:pt>
    <dgm:pt modelId="{8F506722-C955-49D8-B9BA-E30A0810EC06}">
      <dgm:prSet phldrT="[文本]" custT="1"/>
      <dgm:spPr>
        <a:solidFill>
          <a:schemeClr val="bg1"/>
        </a:solidFill>
      </dgm:spPr>
      <dgm:t>
        <a:bodyPr/>
        <a:lstStyle/>
        <a:p>
          <a:r>
            <a:rPr lang="zh-CN" altLang="en-US" sz="2000" b="1" dirty="0" smtClean="0">
              <a:solidFill>
                <a:srgbClr val="000000"/>
              </a:solidFill>
            </a:rPr>
            <a:t>内容与形式</a:t>
          </a:r>
          <a:endParaRPr lang="zh-CN" altLang="en-US" sz="2000" b="1" dirty="0">
            <a:solidFill>
              <a:srgbClr val="000000"/>
            </a:solidFill>
          </a:endParaRPr>
        </a:p>
      </dgm:t>
    </dgm:pt>
    <dgm:pt modelId="{583B6340-7120-4587-B35C-DD9407D22AC6}" cxnId="{FA5E90FB-C779-4E57-9DE5-901BBE245D2B}" type="parTrans">
      <dgm:prSet/>
      <dgm:spPr/>
      <dgm:t>
        <a:bodyPr/>
        <a:lstStyle/>
        <a:p>
          <a:endParaRPr lang="zh-CN" altLang="en-US"/>
        </a:p>
      </dgm:t>
    </dgm:pt>
    <dgm:pt modelId="{667EF35F-931E-4559-978D-A4123C608F1A}" cxnId="{FA5E90FB-C779-4E57-9DE5-901BBE245D2B}" type="sibTrans">
      <dgm:prSet/>
      <dgm:spPr/>
      <dgm:t>
        <a:bodyPr/>
        <a:lstStyle/>
        <a:p>
          <a:endParaRPr lang="zh-CN" altLang="en-US"/>
        </a:p>
      </dgm:t>
    </dgm:pt>
    <dgm:pt modelId="{5F53D994-8012-4670-B48C-1DB0EF1AD3ED}">
      <dgm:prSet custT="1"/>
      <dgm:spPr>
        <a:solidFill>
          <a:schemeClr val="bg1"/>
        </a:solidFill>
      </dgm:spPr>
      <dgm:t>
        <a:bodyPr/>
        <a:lstStyle/>
        <a:p>
          <a:r>
            <a:rPr lang="zh-CN" altLang="en-US" sz="2000" b="1" dirty="0" smtClean="0">
              <a:solidFill>
                <a:srgbClr val="000000"/>
              </a:solidFill>
            </a:rPr>
            <a:t>本质与现象</a:t>
          </a:r>
        </a:p>
      </dgm:t>
    </dgm:pt>
    <dgm:pt modelId="{66A34D74-17C8-471F-873B-5C679EADEA43}" cxnId="{30EA0C8D-71B0-4A8F-A7D5-324D1BD7FD4F}" type="parTrans">
      <dgm:prSet/>
      <dgm:spPr/>
      <dgm:t>
        <a:bodyPr/>
        <a:lstStyle/>
        <a:p>
          <a:endParaRPr lang="zh-CN" altLang="en-US"/>
        </a:p>
      </dgm:t>
    </dgm:pt>
    <dgm:pt modelId="{9F4F7053-892B-40B6-9DD6-86B1DA94B95C}" cxnId="{30EA0C8D-71B0-4A8F-A7D5-324D1BD7FD4F}" type="sibTrans">
      <dgm:prSet/>
      <dgm:spPr/>
      <dgm:t>
        <a:bodyPr/>
        <a:lstStyle/>
        <a:p>
          <a:endParaRPr lang="zh-CN" altLang="en-US"/>
        </a:p>
      </dgm:t>
    </dgm:pt>
    <dgm:pt modelId="{4143BB45-60A4-4AD1-BABC-EC0D9BE91618}">
      <dgm:prSet custT="1"/>
      <dgm:spPr>
        <a:solidFill>
          <a:schemeClr val="bg1"/>
        </a:solidFill>
      </dgm:spPr>
      <dgm:t>
        <a:bodyPr/>
        <a:lstStyle/>
        <a:p>
          <a:r>
            <a:rPr lang="zh-CN" altLang="en-US" sz="2000" b="1" dirty="0" smtClean="0">
              <a:solidFill>
                <a:srgbClr val="000000"/>
              </a:solidFill>
            </a:rPr>
            <a:t>原因与结果</a:t>
          </a:r>
        </a:p>
      </dgm:t>
    </dgm:pt>
    <dgm:pt modelId="{5BD2EE8F-D804-4C86-BB93-38DED9B35CD9}" cxnId="{8E387CE9-2BB3-45B8-8077-F3878B44CADB}" type="parTrans">
      <dgm:prSet/>
      <dgm:spPr/>
      <dgm:t>
        <a:bodyPr/>
        <a:lstStyle/>
        <a:p>
          <a:endParaRPr lang="zh-CN" altLang="en-US"/>
        </a:p>
      </dgm:t>
    </dgm:pt>
    <dgm:pt modelId="{4F357943-32F5-4C8F-BB2C-C7A96ABF20EA}" cxnId="{8E387CE9-2BB3-45B8-8077-F3878B44CADB}" type="sibTrans">
      <dgm:prSet/>
      <dgm:spPr/>
      <dgm:t>
        <a:bodyPr/>
        <a:lstStyle/>
        <a:p>
          <a:endParaRPr lang="zh-CN" altLang="en-US"/>
        </a:p>
      </dgm:t>
    </dgm:pt>
    <dgm:pt modelId="{7E40B20D-0777-4E50-843E-2AE7545FF269}">
      <dgm:prSet custT="1"/>
      <dgm:spPr>
        <a:solidFill>
          <a:schemeClr val="bg1"/>
        </a:solidFill>
      </dgm:spPr>
      <dgm:t>
        <a:bodyPr/>
        <a:lstStyle/>
        <a:p>
          <a:r>
            <a:rPr lang="zh-CN" altLang="en-US" sz="2000" b="1" dirty="0" smtClean="0">
              <a:solidFill>
                <a:srgbClr val="000000"/>
              </a:solidFill>
            </a:rPr>
            <a:t>必然与偶然</a:t>
          </a:r>
        </a:p>
      </dgm:t>
    </dgm:pt>
    <dgm:pt modelId="{560CEE0B-2DB3-42EA-9E84-368FAE4748DB}" cxnId="{78CF0F6E-DF64-4BF6-825C-267A7BEFE797}" type="parTrans">
      <dgm:prSet/>
      <dgm:spPr/>
      <dgm:t>
        <a:bodyPr/>
        <a:lstStyle/>
        <a:p>
          <a:endParaRPr lang="zh-CN" altLang="en-US"/>
        </a:p>
      </dgm:t>
    </dgm:pt>
    <dgm:pt modelId="{064C543B-9AD2-4F1B-AD8E-E8F1EDB125C4}" cxnId="{78CF0F6E-DF64-4BF6-825C-267A7BEFE797}" type="sibTrans">
      <dgm:prSet/>
      <dgm:spPr/>
      <dgm:t>
        <a:bodyPr/>
        <a:lstStyle/>
        <a:p>
          <a:endParaRPr lang="zh-CN" altLang="en-US"/>
        </a:p>
      </dgm:t>
    </dgm:pt>
    <dgm:pt modelId="{D6B4B3E7-F127-488E-AE54-421DB30E253A}">
      <dgm:prSet phldrT="[文本]" custT="1"/>
      <dgm:spPr>
        <a:solidFill>
          <a:schemeClr val="bg1"/>
        </a:solidFill>
      </dgm:spPr>
      <dgm:t>
        <a:bodyPr/>
        <a:lstStyle/>
        <a:p>
          <a:r>
            <a:rPr lang="zh-CN" altLang="en-US" sz="2000" b="1" dirty="0" smtClean="0">
              <a:solidFill>
                <a:srgbClr val="000000"/>
              </a:solidFill>
            </a:rPr>
            <a:t>现实与可能</a:t>
          </a:r>
        </a:p>
      </dgm:t>
    </dgm:pt>
    <dgm:pt modelId="{98E06830-4D70-4D71-A60D-7F701F5E72D0}" cxnId="{7EDBD7BE-D0F7-4385-A4BE-203F9D1C6C79}" type="parTrans">
      <dgm:prSet/>
      <dgm:spPr/>
      <dgm:t>
        <a:bodyPr/>
        <a:lstStyle/>
        <a:p>
          <a:endParaRPr lang="zh-CN" altLang="en-US"/>
        </a:p>
      </dgm:t>
    </dgm:pt>
    <dgm:pt modelId="{5E59D4D7-3028-4213-985C-66A2216C15E9}" cxnId="{7EDBD7BE-D0F7-4385-A4BE-203F9D1C6C79}" type="sibTrans">
      <dgm:prSet/>
      <dgm:spPr/>
      <dgm:t>
        <a:bodyPr/>
        <a:lstStyle/>
        <a:p>
          <a:endParaRPr lang="zh-CN" altLang="en-US"/>
        </a:p>
      </dgm:t>
    </dgm:pt>
    <dgm:pt modelId="{3216FEA8-0711-431F-9C7D-F58301BA2BA1}">
      <dgm:prSet phldrT="[文本]" custT="1"/>
      <dgm:spPr/>
      <dgm:t>
        <a:bodyPr/>
        <a:lstStyle/>
        <a:p>
          <a:r>
            <a:rPr lang="zh-CN" altLang="en-US" sz="2400" b="1" dirty="0" smtClean="0">
              <a:solidFill>
                <a:schemeClr val="accent4">
                  <a:lumMod val="40000"/>
                  <a:lumOff val="60000"/>
                </a:schemeClr>
              </a:solidFill>
            </a:rPr>
            <a:t>基本规律</a:t>
          </a:r>
          <a:endParaRPr lang="zh-CN" altLang="en-US" sz="2400" b="1" dirty="0">
            <a:solidFill>
              <a:schemeClr val="accent4">
                <a:lumMod val="40000"/>
                <a:lumOff val="60000"/>
              </a:schemeClr>
            </a:solidFill>
          </a:endParaRPr>
        </a:p>
      </dgm:t>
    </dgm:pt>
    <dgm:pt modelId="{38C76626-3AE2-4FB8-923B-B6DF306A4FBC}" cxnId="{CD65204B-8F9D-402A-BCDE-29BC5CCF888F}" type="parTrans">
      <dgm:prSet/>
      <dgm:spPr/>
      <dgm:t>
        <a:bodyPr/>
        <a:lstStyle/>
        <a:p>
          <a:endParaRPr lang="zh-CN" altLang="en-US"/>
        </a:p>
      </dgm:t>
    </dgm:pt>
    <dgm:pt modelId="{D9CD0903-4F75-4902-A486-5EAF7046E750}" cxnId="{CD65204B-8F9D-402A-BCDE-29BC5CCF888F}" type="sibTrans">
      <dgm:prSet/>
      <dgm:spPr/>
      <dgm:t>
        <a:bodyPr/>
        <a:lstStyle/>
        <a:p>
          <a:endParaRPr lang="zh-CN" altLang="en-US"/>
        </a:p>
      </dgm:t>
    </dgm:pt>
    <dgm:pt modelId="{4739B4C0-64CF-44EE-9C95-18915B83D810}">
      <dgm:prSet phldrT="[文本]" custT="1"/>
      <dgm:spPr>
        <a:solidFill>
          <a:schemeClr val="bg1"/>
        </a:solidFill>
      </dgm:spPr>
      <dgm:t>
        <a:bodyPr/>
        <a:lstStyle/>
        <a:p>
          <a:r>
            <a:rPr lang="zh-CN" altLang="en-US" sz="2000" b="1" dirty="0" smtClean="0">
              <a:solidFill>
                <a:srgbClr val="000000"/>
              </a:solidFill>
            </a:rPr>
            <a:t>对立统一规律：事物发展的动力、源泉</a:t>
          </a:r>
          <a:endParaRPr lang="zh-CN" altLang="en-US" sz="2000" b="1" dirty="0">
            <a:solidFill>
              <a:srgbClr val="000000"/>
            </a:solidFill>
          </a:endParaRPr>
        </a:p>
      </dgm:t>
    </dgm:pt>
    <dgm:pt modelId="{14A500DA-E252-4F26-B70D-597F694D09ED}" cxnId="{0E5045F7-E11C-4A12-9C18-04C52DDEE468}" type="parTrans">
      <dgm:prSet/>
      <dgm:spPr/>
      <dgm:t>
        <a:bodyPr/>
        <a:lstStyle/>
        <a:p>
          <a:endParaRPr lang="zh-CN" altLang="en-US"/>
        </a:p>
      </dgm:t>
    </dgm:pt>
    <dgm:pt modelId="{AA94AC70-2686-49BF-80F5-7EA0E9E9FD45}" cxnId="{0E5045F7-E11C-4A12-9C18-04C52DDEE468}" type="sibTrans">
      <dgm:prSet/>
      <dgm:spPr/>
      <dgm:t>
        <a:bodyPr/>
        <a:lstStyle/>
        <a:p>
          <a:endParaRPr lang="zh-CN" altLang="en-US"/>
        </a:p>
      </dgm:t>
    </dgm:pt>
    <dgm:pt modelId="{CF32DD6F-11E5-4C3E-84BB-2D40BC565763}">
      <dgm:prSet custT="1"/>
      <dgm:spPr>
        <a:solidFill>
          <a:schemeClr val="bg1"/>
        </a:solidFill>
      </dgm:spPr>
      <dgm:t>
        <a:bodyPr/>
        <a:lstStyle/>
        <a:p>
          <a:r>
            <a:rPr lang="zh-CN" altLang="en-US" sz="2000" b="1" dirty="0" smtClean="0">
              <a:solidFill>
                <a:srgbClr val="000000"/>
              </a:solidFill>
            </a:rPr>
            <a:t>量变质变规律：事物发展的动态、状态</a:t>
          </a:r>
        </a:p>
      </dgm:t>
    </dgm:pt>
    <dgm:pt modelId="{080C3C36-6CAE-442D-B8CE-44690C976CAD}" cxnId="{3F8E0D37-AEFC-4176-BDFE-832822F29E70}" type="parTrans">
      <dgm:prSet/>
      <dgm:spPr/>
      <dgm:t>
        <a:bodyPr/>
        <a:lstStyle/>
        <a:p>
          <a:endParaRPr lang="zh-CN" altLang="en-US"/>
        </a:p>
      </dgm:t>
    </dgm:pt>
    <dgm:pt modelId="{10D12F6D-357F-4E04-B52B-A0F96755B4A1}" cxnId="{3F8E0D37-AEFC-4176-BDFE-832822F29E70}" type="sibTrans">
      <dgm:prSet/>
      <dgm:spPr/>
      <dgm:t>
        <a:bodyPr/>
        <a:lstStyle/>
        <a:p>
          <a:endParaRPr lang="zh-CN" altLang="en-US"/>
        </a:p>
      </dgm:t>
    </dgm:pt>
    <dgm:pt modelId="{CA812878-15AC-4E68-B012-31A59DDF327E}">
      <dgm:prSet custT="1"/>
      <dgm:spPr>
        <a:solidFill>
          <a:schemeClr val="bg1"/>
        </a:solidFill>
      </dgm:spPr>
      <dgm:t>
        <a:bodyPr/>
        <a:lstStyle/>
        <a:p>
          <a:r>
            <a:rPr lang="zh-CN" altLang="en-US" sz="2000" b="1" dirty="0" smtClean="0">
              <a:solidFill>
                <a:srgbClr val="000000"/>
              </a:solidFill>
            </a:rPr>
            <a:t>否定之否定规律：事物发展的动向、趋势</a:t>
          </a:r>
        </a:p>
      </dgm:t>
    </dgm:pt>
    <dgm:pt modelId="{3F3D0FD5-14ED-4FB8-8DC8-8A4184CEE93D}" cxnId="{66FCEA7A-41D4-4325-85F8-CCE016833A80}" type="parTrans">
      <dgm:prSet/>
      <dgm:spPr/>
      <dgm:t>
        <a:bodyPr/>
        <a:lstStyle/>
        <a:p>
          <a:endParaRPr lang="zh-CN" altLang="en-US"/>
        </a:p>
      </dgm:t>
    </dgm:pt>
    <dgm:pt modelId="{32BE9BBD-0FC1-4D5A-9654-43996AAF8FEA}" cxnId="{66FCEA7A-41D4-4325-85F8-CCE016833A80}" type="sibTrans">
      <dgm:prSet/>
      <dgm:spPr/>
      <dgm:t>
        <a:bodyPr/>
        <a:lstStyle/>
        <a:p>
          <a:endParaRPr lang="zh-CN" altLang="en-US"/>
        </a:p>
      </dgm:t>
    </dgm:pt>
    <dgm:pt modelId="{49AE80F9-DBF8-4BFE-A8F0-A70DA42675CD}" type="pres">
      <dgm:prSet presAssocID="{B4CE847B-E4D5-429A-BAFD-CB1C216EC674}" presName="diagram" presStyleCnt="0">
        <dgm:presLayoutVars>
          <dgm:chPref val="1"/>
          <dgm:dir/>
          <dgm:animOne val="branch"/>
          <dgm:animLvl val="lvl"/>
          <dgm:resizeHandles val="exact"/>
        </dgm:presLayoutVars>
      </dgm:prSet>
      <dgm:spPr/>
      <dgm:t>
        <a:bodyPr/>
        <a:lstStyle/>
        <a:p>
          <a:endParaRPr lang="zh-CN" altLang="en-US"/>
        </a:p>
      </dgm:t>
    </dgm:pt>
    <dgm:pt modelId="{FECA0D58-1792-4CA4-ABF4-C8CC7E351C2A}" type="pres">
      <dgm:prSet presAssocID="{DB400DB4-A01D-4DA1-AC1C-75988215D943}" presName="root1" presStyleCnt="0"/>
      <dgm:spPr/>
    </dgm:pt>
    <dgm:pt modelId="{30EB93A3-5DA2-4995-80B4-BBBB72ACAA95}" type="pres">
      <dgm:prSet presAssocID="{DB400DB4-A01D-4DA1-AC1C-75988215D943}" presName="LevelOneTextNode" presStyleLbl="node0" presStyleIdx="0" presStyleCnt="1" custScaleX="80842" custScaleY="379726" custLinFactNeighborX="-84318" custLinFactNeighborY="-67583">
        <dgm:presLayoutVars>
          <dgm:chPref val="3"/>
        </dgm:presLayoutVars>
      </dgm:prSet>
      <dgm:spPr/>
      <dgm:t>
        <a:bodyPr/>
        <a:lstStyle/>
        <a:p>
          <a:endParaRPr lang="zh-CN" altLang="en-US"/>
        </a:p>
      </dgm:t>
    </dgm:pt>
    <dgm:pt modelId="{6ADBCBAA-17EB-4E48-8513-EC5C4A41666F}" type="pres">
      <dgm:prSet presAssocID="{DB400DB4-A01D-4DA1-AC1C-75988215D943}" presName="level2hierChild" presStyleCnt="0"/>
      <dgm:spPr/>
    </dgm:pt>
    <dgm:pt modelId="{A0B9CF5B-81FC-4CAA-B5F8-02FC41107F17}" type="pres">
      <dgm:prSet presAssocID="{37A8E3A1-B169-42AC-851E-B10C9BC58145}" presName="conn2-1" presStyleLbl="parChTrans1D2" presStyleIdx="0" presStyleCnt="2"/>
      <dgm:spPr/>
      <dgm:t>
        <a:bodyPr/>
        <a:lstStyle/>
        <a:p>
          <a:endParaRPr lang="zh-CN" altLang="en-US"/>
        </a:p>
      </dgm:t>
    </dgm:pt>
    <dgm:pt modelId="{2D93678D-C089-4121-98BE-78C1D01D4714}" type="pres">
      <dgm:prSet presAssocID="{37A8E3A1-B169-42AC-851E-B10C9BC58145}" presName="connTx" presStyleCnt="0"/>
      <dgm:spPr/>
      <dgm:t>
        <a:bodyPr/>
        <a:lstStyle/>
        <a:p>
          <a:endParaRPr lang="zh-CN" altLang="en-US"/>
        </a:p>
      </dgm:t>
    </dgm:pt>
    <dgm:pt modelId="{BD6F6413-9463-446C-912B-8E59699C64F0}" type="pres">
      <dgm:prSet presAssocID="{7F845F18-6F51-40BB-B5E6-8EF9DA8D155F}" presName="root2" presStyleCnt="0"/>
      <dgm:spPr/>
    </dgm:pt>
    <dgm:pt modelId="{E0B00510-7083-4008-9C69-4BEE810EF629}" type="pres">
      <dgm:prSet presAssocID="{7F845F18-6F51-40BB-B5E6-8EF9DA8D155F}" presName="LevelTwoTextNode" presStyleLbl="node2" presStyleIdx="0" presStyleCnt="2" custScaleX="60770" custScaleY="153247" custLinFactY="100000" custLinFactNeighborX="-28140" custLinFactNeighborY="190030">
        <dgm:presLayoutVars>
          <dgm:chPref val="3"/>
        </dgm:presLayoutVars>
      </dgm:prSet>
      <dgm:spPr/>
      <dgm:t>
        <a:bodyPr/>
        <a:lstStyle/>
        <a:p>
          <a:endParaRPr lang="zh-CN" altLang="en-US"/>
        </a:p>
      </dgm:t>
    </dgm:pt>
    <dgm:pt modelId="{080DA7D8-C5AE-4C8C-B9FA-4CD9AECCB21D}" type="pres">
      <dgm:prSet presAssocID="{7F845F18-6F51-40BB-B5E6-8EF9DA8D155F}" presName="level3hierChild" presStyleCnt="0"/>
      <dgm:spPr/>
    </dgm:pt>
    <dgm:pt modelId="{48A976DF-2FF3-448B-A61F-2FA25ED1FA15}" type="pres">
      <dgm:prSet presAssocID="{583B6340-7120-4587-B35C-DD9407D22AC6}" presName="conn2-1" presStyleLbl="parChTrans1D3" presStyleIdx="0" presStyleCnt="8"/>
      <dgm:spPr/>
      <dgm:t>
        <a:bodyPr/>
        <a:lstStyle/>
        <a:p>
          <a:endParaRPr lang="zh-CN" altLang="en-US"/>
        </a:p>
      </dgm:t>
    </dgm:pt>
    <dgm:pt modelId="{92A91135-D7B8-4E21-B1BC-9944CFFE1047}" type="pres">
      <dgm:prSet presAssocID="{583B6340-7120-4587-B35C-DD9407D22AC6}" presName="connTx" presStyleCnt="0"/>
      <dgm:spPr/>
      <dgm:t>
        <a:bodyPr/>
        <a:lstStyle/>
        <a:p>
          <a:endParaRPr lang="zh-CN" altLang="en-US"/>
        </a:p>
      </dgm:t>
    </dgm:pt>
    <dgm:pt modelId="{854858ED-7997-47AB-BCAE-B0CC98D0F44C}" type="pres">
      <dgm:prSet presAssocID="{8F506722-C955-49D8-B9BA-E30A0810EC06}" presName="root2" presStyleCnt="0"/>
      <dgm:spPr/>
    </dgm:pt>
    <dgm:pt modelId="{7271273A-B338-43D0-930E-3419BF6A6F15}" type="pres">
      <dgm:prSet presAssocID="{8F506722-C955-49D8-B9BA-E30A0810EC06}" presName="LevelTwoTextNode" presStyleLbl="node3" presStyleIdx="0" presStyleCnt="8" custScaleX="159103" custScaleY="81378" custLinFactY="100000" custLinFactNeighborX="6840" custLinFactNeighborY="174445">
        <dgm:presLayoutVars>
          <dgm:chPref val="3"/>
        </dgm:presLayoutVars>
      </dgm:prSet>
      <dgm:spPr/>
      <dgm:t>
        <a:bodyPr/>
        <a:lstStyle/>
        <a:p>
          <a:endParaRPr lang="zh-CN" altLang="en-US"/>
        </a:p>
      </dgm:t>
    </dgm:pt>
    <dgm:pt modelId="{B59BD757-A418-47C7-B4EC-EF78095185F2}" type="pres">
      <dgm:prSet presAssocID="{8F506722-C955-49D8-B9BA-E30A0810EC06}" presName="level3hierChild" presStyleCnt="0"/>
      <dgm:spPr/>
    </dgm:pt>
    <dgm:pt modelId="{BE52383F-7E87-4CD9-BFA9-A862A03F7513}" type="pres">
      <dgm:prSet presAssocID="{66A34D74-17C8-471F-873B-5C679EADEA43}" presName="conn2-1" presStyleLbl="parChTrans1D3" presStyleIdx="1" presStyleCnt="8"/>
      <dgm:spPr/>
      <dgm:t>
        <a:bodyPr/>
        <a:lstStyle/>
        <a:p>
          <a:endParaRPr lang="zh-CN" altLang="en-US"/>
        </a:p>
      </dgm:t>
    </dgm:pt>
    <dgm:pt modelId="{67FA60A2-4AD3-49B8-8E39-B1327163823F}" type="pres">
      <dgm:prSet presAssocID="{66A34D74-17C8-471F-873B-5C679EADEA43}" presName="connTx" presStyleCnt="0"/>
      <dgm:spPr/>
      <dgm:t>
        <a:bodyPr/>
        <a:lstStyle/>
        <a:p>
          <a:endParaRPr lang="zh-CN" altLang="en-US"/>
        </a:p>
      </dgm:t>
    </dgm:pt>
    <dgm:pt modelId="{9DF46160-AC25-4C2F-BCF2-18C0FC9DAD87}" type="pres">
      <dgm:prSet presAssocID="{5F53D994-8012-4670-B48C-1DB0EF1AD3ED}" presName="root2" presStyleCnt="0"/>
      <dgm:spPr/>
    </dgm:pt>
    <dgm:pt modelId="{CE8B370D-7DB7-4768-BE07-EB87B68469AF}" type="pres">
      <dgm:prSet presAssocID="{5F53D994-8012-4670-B48C-1DB0EF1AD3ED}" presName="LevelTwoTextNode" presStyleLbl="node3" presStyleIdx="1" presStyleCnt="8" custScaleX="159103" custScaleY="77533" custLinFactY="100000" custLinFactNeighborX="6840" custLinFactNeighborY="185341">
        <dgm:presLayoutVars>
          <dgm:chPref val="3"/>
        </dgm:presLayoutVars>
      </dgm:prSet>
      <dgm:spPr/>
      <dgm:t>
        <a:bodyPr/>
        <a:lstStyle/>
        <a:p>
          <a:endParaRPr lang="zh-CN" altLang="en-US"/>
        </a:p>
      </dgm:t>
    </dgm:pt>
    <dgm:pt modelId="{8BDD7E2D-2271-49C1-8A22-09DBCC2B58E9}" type="pres">
      <dgm:prSet presAssocID="{5F53D994-8012-4670-B48C-1DB0EF1AD3ED}" presName="level3hierChild" presStyleCnt="0"/>
      <dgm:spPr/>
    </dgm:pt>
    <dgm:pt modelId="{49B5D9A8-DB31-4BFD-A660-93A11E0628CB}" type="pres">
      <dgm:prSet presAssocID="{5BD2EE8F-D804-4C86-BB93-38DED9B35CD9}" presName="conn2-1" presStyleLbl="parChTrans1D3" presStyleIdx="2" presStyleCnt="8"/>
      <dgm:spPr/>
      <dgm:t>
        <a:bodyPr/>
        <a:lstStyle/>
        <a:p>
          <a:endParaRPr lang="zh-CN" altLang="en-US"/>
        </a:p>
      </dgm:t>
    </dgm:pt>
    <dgm:pt modelId="{ECD1CEC4-A87C-4459-8A7A-99D04676C295}" type="pres">
      <dgm:prSet presAssocID="{5BD2EE8F-D804-4C86-BB93-38DED9B35CD9}" presName="connTx" presStyleCnt="0"/>
      <dgm:spPr/>
      <dgm:t>
        <a:bodyPr/>
        <a:lstStyle/>
        <a:p>
          <a:endParaRPr lang="zh-CN" altLang="en-US"/>
        </a:p>
      </dgm:t>
    </dgm:pt>
    <dgm:pt modelId="{5A7DA8B8-77A5-4C05-9D60-26698055F29F}" type="pres">
      <dgm:prSet presAssocID="{4143BB45-60A4-4AD1-BABC-EC0D9BE91618}" presName="root2" presStyleCnt="0"/>
      <dgm:spPr/>
    </dgm:pt>
    <dgm:pt modelId="{68E0C921-C84E-474F-BDA1-C37CA8E53B57}" type="pres">
      <dgm:prSet presAssocID="{4143BB45-60A4-4AD1-BABC-EC0D9BE91618}" presName="LevelTwoTextNode" presStyleLbl="node3" presStyleIdx="2" presStyleCnt="8" custScaleX="160129" custScaleY="69880" custLinFactY="100000" custLinFactNeighborX="6840" custLinFactNeighborY="190330">
        <dgm:presLayoutVars>
          <dgm:chPref val="3"/>
        </dgm:presLayoutVars>
      </dgm:prSet>
      <dgm:spPr/>
      <dgm:t>
        <a:bodyPr/>
        <a:lstStyle/>
        <a:p>
          <a:endParaRPr lang="zh-CN" altLang="en-US"/>
        </a:p>
      </dgm:t>
    </dgm:pt>
    <dgm:pt modelId="{5E5B76C9-5718-4FD9-8191-C94672812CA9}" type="pres">
      <dgm:prSet presAssocID="{4143BB45-60A4-4AD1-BABC-EC0D9BE91618}" presName="level3hierChild" presStyleCnt="0"/>
      <dgm:spPr/>
    </dgm:pt>
    <dgm:pt modelId="{5C4FB74C-E19C-44F4-95FD-15992747E3C9}" type="pres">
      <dgm:prSet presAssocID="{560CEE0B-2DB3-42EA-9E84-368FAE4748DB}" presName="conn2-1" presStyleLbl="parChTrans1D3" presStyleIdx="3" presStyleCnt="8"/>
      <dgm:spPr/>
      <dgm:t>
        <a:bodyPr/>
        <a:lstStyle/>
        <a:p>
          <a:endParaRPr lang="zh-CN" altLang="en-US"/>
        </a:p>
      </dgm:t>
    </dgm:pt>
    <dgm:pt modelId="{6A7C277E-0012-4AA6-83DA-73213BC63A2A}" type="pres">
      <dgm:prSet presAssocID="{560CEE0B-2DB3-42EA-9E84-368FAE4748DB}" presName="connTx" presStyleCnt="0"/>
      <dgm:spPr/>
      <dgm:t>
        <a:bodyPr/>
        <a:lstStyle/>
        <a:p>
          <a:endParaRPr lang="zh-CN" altLang="en-US"/>
        </a:p>
      </dgm:t>
    </dgm:pt>
    <dgm:pt modelId="{A7DD5DDB-7FB8-4EB7-A4B2-71E7A7C67CC8}" type="pres">
      <dgm:prSet presAssocID="{7E40B20D-0777-4E50-843E-2AE7545FF269}" presName="root2" presStyleCnt="0"/>
      <dgm:spPr/>
    </dgm:pt>
    <dgm:pt modelId="{D6306C7A-7076-44C8-A581-B95A42C5B47D}" type="pres">
      <dgm:prSet presAssocID="{7E40B20D-0777-4E50-843E-2AE7545FF269}" presName="LevelTwoTextNode" presStyleLbl="node3" presStyleIdx="3" presStyleCnt="8" custScaleX="159103" custScaleY="78379" custLinFactY="100000" custLinFactNeighborX="6840" custLinFactNeighborY="193219">
        <dgm:presLayoutVars>
          <dgm:chPref val="3"/>
        </dgm:presLayoutVars>
      </dgm:prSet>
      <dgm:spPr/>
      <dgm:t>
        <a:bodyPr/>
        <a:lstStyle/>
        <a:p>
          <a:endParaRPr lang="zh-CN" altLang="en-US"/>
        </a:p>
      </dgm:t>
    </dgm:pt>
    <dgm:pt modelId="{D44A6CD0-FEA1-4252-8760-231336C9E642}" type="pres">
      <dgm:prSet presAssocID="{7E40B20D-0777-4E50-843E-2AE7545FF269}" presName="level3hierChild" presStyleCnt="0"/>
      <dgm:spPr/>
    </dgm:pt>
    <dgm:pt modelId="{CCDABA2A-733B-4E05-8952-A2EBEC0C0CD8}" type="pres">
      <dgm:prSet presAssocID="{98E06830-4D70-4D71-A60D-7F701F5E72D0}" presName="conn2-1" presStyleLbl="parChTrans1D3" presStyleIdx="4" presStyleCnt="8"/>
      <dgm:spPr/>
      <dgm:t>
        <a:bodyPr/>
        <a:lstStyle/>
        <a:p>
          <a:endParaRPr lang="zh-CN" altLang="en-US"/>
        </a:p>
      </dgm:t>
    </dgm:pt>
    <dgm:pt modelId="{A6D214CA-C346-4649-B4E9-8F5056BDDC85}" type="pres">
      <dgm:prSet presAssocID="{98E06830-4D70-4D71-A60D-7F701F5E72D0}" presName="connTx" presStyleCnt="0"/>
      <dgm:spPr/>
      <dgm:t>
        <a:bodyPr/>
        <a:lstStyle/>
        <a:p>
          <a:endParaRPr lang="zh-CN" altLang="en-US"/>
        </a:p>
      </dgm:t>
    </dgm:pt>
    <dgm:pt modelId="{7DF87A20-19A8-4591-A278-7E98C2711D2A}" type="pres">
      <dgm:prSet presAssocID="{D6B4B3E7-F127-488E-AE54-421DB30E253A}" presName="root2" presStyleCnt="0"/>
      <dgm:spPr/>
    </dgm:pt>
    <dgm:pt modelId="{B850AB29-9E9A-49E6-9034-D9EAF9350B0E}" type="pres">
      <dgm:prSet presAssocID="{D6B4B3E7-F127-488E-AE54-421DB30E253A}" presName="LevelTwoTextNode" presStyleLbl="node3" presStyleIdx="4" presStyleCnt="8" custScaleX="160129" custScaleY="78574" custLinFactY="100000" custLinFactNeighborX="6840" custLinFactNeighborY="187610">
        <dgm:presLayoutVars>
          <dgm:chPref val="3"/>
        </dgm:presLayoutVars>
      </dgm:prSet>
      <dgm:spPr/>
      <dgm:t>
        <a:bodyPr/>
        <a:lstStyle/>
        <a:p>
          <a:endParaRPr lang="zh-CN" altLang="en-US"/>
        </a:p>
      </dgm:t>
    </dgm:pt>
    <dgm:pt modelId="{24FAD449-7E6D-451E-9984-0D698B342466}" type="pres">
      <dgm:prSet presAssocID="{D6B4B3E7-F127-488E-AE54-421DB30E253A}" presName="level3hierChild" presStyleCnt="0"/>
      <dgm:spPr/>
    </dgm:pt>
    <dgm:pt modelId="{E4051FFC-7F08-497B-9A68-F25E867868F2}" type="pres">
      <dgm:prSet presAssocID="{38C76626-3AE2-4FB8-923B-B6DF306A4FBC}" presName="conn2-1" presStyleLbl="parChTrans1D2" presStyleIdx="1" presStyleCnt="2"/>
      <dgm:spPr/>
      <dgm:t>
        <a:bodyPr/>
        <a:lstStyle/>
        <a:p>
          <a:endParaRPr lang="zh-CN" altLang="en-US"/>
        </a:p>
      </dgm:t>
    </dgm:pt>
    <dgm:pt modelId="{8A83BFFC-2B2B-4BDC-983E-E4679D791813}" type="pres">
      <dgm:prSet presAssocID="{38C76626-3AE2-4FB8-923B-B6DF306A4FBC}" presName="connTx" presStyleCnt="0"/>
      <dgm:spPr/>
      <dgm:t>
        <a:bodyPr/>
        <a:lstStyle/>
        <a:p>
          <a:endParaRPr lang="zh-CN" altLang="en-US"/>
        </a:p>
      </dgm:t>
    </dgm:pt>
    <dgm:pt modelId="{DEEDAAC1-7175-4E56-8B50-7BB551C4D642}" type="pres">
      <dgm:prSet presAssocID="{3216FEA8-0711-431F-9C7D-F58301BA2BA1}" presName="root2" presStyleCnt="0"/>
      <dgm:spPr/>
    </dgm:pt>
    <dgm:pt modelId="{881DA1B5-AD53-495B-8856-DCF9FACCBD7B}" type="pres">
      <dgm:prSet presAssocID="{3216FEA8-0711-431F-9C7D-F58301BA2BA1}" presName="LevelTwoTextNode" presStyleLbl="node2" presStyleIdx="1" presStyleCnt="2" custScaleX="66035" custScaleY="140235" custLinFactY="-200000" custLinFactNeighborX="-23027" custLinFactNeighborY="-259755">
        <dgm:presLayoutVars>
          <dgm:chPref val="3"/>
        </dgm:presLayoutVars>
      </dgm:prSet>
      <dgm:spPr/>
      <dgm:t>
        <a:bodyPr/>
        <a:lstStyle/>
        <a:p>
          <a:endParaRPr lang="zh-CN" altLang="en-US"/>
        </a:p>
      </dgm:t>
    </dgm:pt>
    <dgm:pt modelId="{B96ADFA4-6915-4139-BE08-B44989C5AB9A}" type="pres">
      <dgm:prSet presAssocID="{3216FEA8-0711-431F-9C7D-F58301BA2BA1}" presName="level3hierChild" presStyleCnt="0"/>
      <dgm:spPr/>
    </dgm:pt>
    <dgm:pt modelId="{7D7A8168-EFCA-4F92-878F-ED2C7DA67AD2}" type="pres">
      <dgm:prSet presAssocID="{14A500DA-E252-4F26-B70D-597F694D09ED}" presName="conn2-1" presStyleLbl="parChTrans1D3" presStyleIdx="5" presStyleCnt="8"/>
      <dgm:spPr/>
      <dgm:t>
        <a:bodyPr/>
        <a:lstStyle/>
        <a:p>
          <a:endParaRPr lang="zh-CN" altLang="en-US"/>
        </a:p>
      </dgm:t>
    </dgm:pt>
    <dgm:pt modelId="{308FCC5D-AB72-46AE-8730-3203DFB44B4C}" type="pres">
      <dgm:prSet presAssocID="{14A500DA-E252-4F26-B70D-597F694D09ED}" presName="connTx" presStyleCnt="0"/>
      <dgm:spPr/>
      <dgm:t>
        <a:bodyPr/>
        <a:lstStyle/>
        <a:p>
          <a:endParaRPr lang="zh-CN" altLang="en-US"/>
        </a:p>
      </dgm:t>
    </dgm:pt>
    <dgm:pt modelId="{470FCA5A-DD2A-4C96-BFCD-820E3E27A4DC}" type="pres">
      <dgm:prSet presAssocID="{4739B4C0-64CF-44EE-9C95-18915B83D810}" presName="root2" presStyleCnt="0"/>
      <dgm:spPr/>
    </dgm:pt>
    <dgm:pt modelId="{EE40A485-E4E9-4B01-BE2E-29A5A36A8EA5}" type="pres">
      <dgm:prSet presAssocID="{4739B4C0-64CF-44EE-9C95-18915B83D810}" presName="LevelTwoTextNode" presStyleLbl="node3" presStyleIdx="5" presStyleCnt="8" custScaleX="345424" custScaleY="80973" custLinFactY="-263047" custLinFactNeighborX="7351" custLinFactNeighborY="-300000">
        <dgm:presLayoutVars>
          <dgm:chPref val="3"/>
        </dgm:presLayoutVars>
      </dgm:prSet>
      <dgm:spPr/>
      <dgm:t>
        <a:bodyPr/>
        <a:lstStyle/>
        <a:p>
          <a:endParaRPr lang="zh-CN" altLang="en-US"/>
        </a:p>
      </dgm:t>
    </dgm:pt>
    <dgm:pt modelId="{02B09A6F-1A14-4DF0-923D-0CAF906728C5}" type="pres">
      <dgm:prSet presAssocID="{4739B4C0-64CF-44EE-9C95-18915B83D810}" presName="level3hierChild" presStyleCnt="0"/>
      <dgm:spPr/>
    </dgm:pt>
    <dgm:pt modelId="{D85E3186-C858-4C7B-BDD1-0917DC9B511B}" type="pres">
      <dgm:prSet presAssocID="{080C3C36-6CAE-442D-B8CE-44690C976CAD}" presName="conn2-1" presStyleLbl="parChTrans1D3" presStyleIdx="6" presStyleCnt="8"/>
      <dgm:spPr/>
      <dgm:t>
        <a:bodyPr/>
        <a:lstStyle/>
        <a:p>
          <a:endParaRPr lang="zh-CN" altLang="en-US"/>
        </a:p>
      </dgm:t>
    </dgm:pt>
    <dgm:pt modelId="{938DD37D-725B-4C36-B7DC-F266CD87F5A1}" type="pres">
      <dgm:prSet presAssocID="{080C3C36-6CAE-442D-B8CE-44690C976CAD}" presName="connTx" presStyleCnt="0"/>
      <dgm:spPr/>
      <dgm:t>
        <a:bodyPr/>
        <a:lstStyle/>
        <a:p>
          <a:endParaRPr lang="zh-CN" altLang="en-US"/>
        </a:p>
      </dgm:t>
    </dgm:pt>
    <dgm:pt modelId="{2087F2A9-1C43-41B1-8A61-465E6EB49384}" type="pres">
      <dgm:prSet presAssocID="{CF32DD6F-11E5-4C3E-84BB-2D40BC565763}" presName="root2" presStyleCnt="0"/>
      <dgm:spPr/>
    </dgm:pt>
    <dgm:pt modelId="{92E9F16B-C836-43C2-B269-8F6BDF527674}" type="pres">
      <dgm:prSet presAssocID="{CF32DD6F-11E5-4C3E-84BB-2D40BC565763}" presName="LevelTwoTextNode" presStyleLbl="node3" presStyleIdx="6" presStyleCnt="8" custScaleX="343169" custScaleY="56248" custLinFactY="-200000" custLinFactNeighborX="8995" custLinFactNeighborY="-279872">
        <dgm:presLayoutVars>
          <dgm:chPref val="3"/>
        </dgm:presLayoutVars>
      </dgm:prSet>
      <dgm:spPr/>
      <dgm:t>
        <a:bodyPr/>
        <a:lstStyle/>
        <a:p>
          <a:endParaRPr lang="zh-CN" altLang="en-US"/>
        </a:p>
      </dgm:t>
    </dgm:pt>
    <dgm:pt modelId="{B02B7778-1022-4182-AECE-5358DD8EDBDC}" type="pres">
      <dgm:prSet presAssocID="{CF32DD6F-11E5-4C3E-84BB-2D40BC565763}" presName="level3hierChild" presStyleCnt="0"/>
      <dgm:spPr/>
    </dgm:pt>
    <dgm:pt modelId="{34151F9D-EC54-4483-8EB9-0179BE2F0BD5}" type="pres">
      <dgm:prSet presAssocID="{3F3D0FD5-14ED-4FB8-8DC8-8A4184CEE93D}" presName="conn2-1" presStyleLbl="parChTrans1D3" presStyleIdx="7" presStyleCnt="8"/>
      <dgm:spPr/>
      <dgm:t>
        <a:bodyPr/>
        <a:lstStyle/>
        <a:p>
          <a:endParaRPr lang="zh-CN" altLang="en-US"/>
        </a:p>
      </dgm:t>
    </dgm:pt>
    <dgm:pt modelId="{3E8BB033-2055-4798-BAA2-D920BB304529}" type="pres">
      <dgm:prSet presAssocID="{3F3D0FD5-14ED-4FB8-8DC8-8A4184CEE93D}" presName="connTx" presStyleCnt="0"/>
      <dgm:spPr/>
      <dgm:t>
        <a:bodyPr/>
        <a:lstStyle/>
        <a:p>
          <a:endParaRPr lang="zh-CN" altLang="en-US"/>
        </a:p>
      </dgm:t>
    </dgm:pt>
    <dgm:pt modelId="{29EC84A7-C2F9-4111-A84B-1A0D6226DEA3}" type="pres">
      <dgm:prSet presAssocID="{CA812878-15AC-4E68-B012-31A59DDF327E}" presName="root2" presStyleCnt="0"/>
      <dgm:spPr/>
    </dgm:pt>
    <dgm:pt modelId="{707407E5-8570-4D65-BD3D-8D1606537DB4}" type="pres">
      <dgm:prSet presAssocID="{CA812878-15AC-4E68-B012-31A59DDF327E}" presName="LevelTwoTextNode" presStyleLbl="node3" presStyleIdx="7" presStyleCnt="8" custScaleX="338759" custScaleY="76960" custLinFactY="-200000" custLinFactNeighborX="8108" custLinFactNeighborY="-280298">
        <dgm:presLayoutVars>
          <dgm:chPref val="3"/>
        </dgm:presLayoutVars>
      </dgm:prSet>
      <dgm:spPr/>
      <dgm:t>
        <a:bodyPr/>
        <a:lstStyle/>
        <a:p>
          <a:endParaRPr lang="zh-CN" altLang="en-US"/>
        </a:p>
      </dgm:t>
    </dgm:pt>
    <dgm:pt modelId="{940C882E-00F1-430B-9752-AD95B0E5857F}" type="pres">
      <dgm:prSet presAssocID="{CA812878-15AC-4E68-B012-31A59DDF327E}" presName="level3hierChild" presStyleCnt="0"/>
      <dgm:spPr/>
    </dgm:pt>
  </dgm:ptLst>
  <dgm:cxnLst>
    <dgm:cxn modelId="{5F22061D-292E-4A21-AD66-54E0029FE128}" srcId="{B4CE847B-E4D5-429A-BAFD-CB1C216EC674}" destId="{DB400DB4-A01D-4DA1-AC1C-75988215D943}" srcOrd="0" destOrd="0" parTransId="{27719637-4162-4E3B-ADE3-DBD8623E4649}" sibTransId="{CF097722-C265-4C68-BB2A-FD217894D3C5}"/>
    <dgm:cxn modelId="{2C267497-268E-416C-80CB-497E555D7980}" srcId="{DB400DB4-A01D-4DA1-AC1C-75988215D943}" destId="{7F845F18-6F51-40BB-B5E6-8EF9DA8D155F}" srcOrd="0" destOrd="0" parTransId="{37A8E3A1-B169-42AC-851E-B10C9BC58145}" sibTransId="{2CF4E46F-A52D-4EA8-865E-04C395FDF9F2}"/>
    <dgm:cxn modelId="{FA5E90FB-C779-4E57-9DE5-901BBE245D2B}" srcId="{7F845F18-6F51-40BB-B5E6-8EF9DA8D155F}" destId="{8F506722-C955-49D8-B9BA-E30A0810EC06}" srcOrd="0" destOrd="0" parTransId="{583B6340-7120-4587-B35C-DD9407D22AC6}" sibTransId="{667EF35F-931E-4559-978D-A4123C608F1A}"/>
    <dgm:cxn modelId="{30EA0C8D-71B0-4A8F-A7D5-324D1BD7FD4F}" srcId="{7F845F18-6F51-40BB-B5E6-8EF9DA8D155F}" destId="{5F53D994-8012-4670-B48C-1DB0EF1AD3ED}" srcOrd="1" destOrd="0" parTransId="{66A34D74-17C8-471F-873B-5C679EADEA43}" sibTransId="{9F4F7053-892B-40B6-9DD6-86B1DA94B95C}"/>
    <dgm:cxn modelId="{8E387CE9-2BB3-45B8-8077-F3878B44CADB}" srcId="{7F845F18-6F51-40BB-B5E6-8EF9DA8D155F}" destId="{4143BB45-60A4-4AD1-BABC-EC0D9BE91618}" srcOrd="2" destOrd="0" parTransId="{5BD2EE8F-D804-4C86-BB93-38DED9B35CD9}" sibTransId="{4F357943-32F5-4C8F-BB2C-C7A96ABF20EA}"/>
    <dgm:cxn modelId="{78CF0F6E-DF64-4BF6-825C-267A7BEFE797}" srcId="{7F845F18-6F51-40BB-B5E6-8EF9DA8D155F}" destId="{7E40B20D-0777-4E50-843E-2AE7545FF269}" srcOrd="3" destOrd="0" parTransId="{560CEE0B-2DB3-42EA-9E84-368FAE4748DB}" sibTransId="{064C543B-9AD2-4F1B-AD8E-E8F1EDB125C4}"/>
    <dgm:cxn modelId="{7EDBD7BE-D0F7-4385-A4BE-203F9D1C6C79}" srcId="{7F845F18-6F51-40BB-B5E6-8EF9DA8D155F}" destId="{D6B4B3E7-F127-488E-AE54-421DB30E253A}" srcOrd="4" destOrd="0" parTransId="{98E06830-4D70-4D71-A60D-7F701F5E72D0}" sibTransId="{5E59D4D7-3028-4213-985C-66A2216C15E9}"/>
    <dgm:cxn modelId="{CD65204B-8F9D-402A-BCDE-29BC5CCF888F}" srcId="{DB400DB4-A01D-4DA1-AC1C-75988215D943}" destId="{3216FEA8-0711-431F-9C7D-F58301BA2BA1}" srcOrd="1" destOrd="0" parTransId="{38C76626-3AE2-4FB8-923B-B6DF306A4FBC}" sibTransId="{D9CD0903-4F75-4902-A486-5EAF7046E750}"/>
    <dgm:cxn modelId="{0E5045F7-E11C-4A12-9C18-04C52DDEE468}" srcId="{3216FEA8-0711-431F-9C7D-F58301BA2BA1}" destId="{4739B4C0-64CF-44EE-9C95-18915B83D810}" srcOrd="0" destOrd="1" parTransId="{14A500DA-E252-4F26-B70D-597F694D09ED}" sibTransId="{AA94AC70-2686-49BF-80F5-7EA0E9E9FD45}"/>
    <dgm:cxn modelId="{3F8E0D37-AEFC-4176-BDFE-832822F29E70}" srcId="{3216FEA8-0711-431F-9C7D-F58301BA2BA1}" destId="{CF32DD6F-11E5-4C3E-84BB-2D40BC565763}" srcOrd="1" destOrd="1" parTransId="{080C3C36-6CAE-442D-B8CE-44690C976CAD}" sibTransId="{10D12F6D-357F-4E04-B52B-A0F96755B4A1}"/>
    <dgm:cxn modelId="{66FCEA7A-41D4-4325-85F8-CCE016833A80}" srcId="{3216FEA8-0711-431F-9C7D-F58301BA2BA1}" destId="{CA812878-15AC-4E68-B012-31A59DDF327E}" srcOrd="2" destOrd="1" parTransId="{3F3D0FD5-14ED-4FB8-8DC8-8A4184CEE93D}" sibTransId="{32BE9BBD-0FC1-4D5A-9654-43996AAF8FEA}"/>
    <dgm:cxn modelId="{B14D7E39-3AE6-45FD-9CA8-CD96DA8BC999}" type="presOf" srcId="{B4CE847B-E4D5-429A-BAFD-CB1C216EC674}" destId="{49AE80F9-DBF8-4BFE-A8F0-A70DA42675CD}" srcOrd="0" destOrd="0" presId="urn:microsoft.com/office/officeart/2005/8/layout/hierarchy2#4"/>
    <dgm:cxn modelId="{98E645A3-7F36-47A6-BEBE-61B2E6BD7E03}" type="presParOf" srcId="{49AE80F9-DBF8-4BFE-A8F0-A70DA42675CD}" destId="{FECA0D58-1792-4CA4-ABF4-C8CC7E351C2A}" srcOrd="0" destOrd="0" presId="urn:microsoft.com/office/officeart/2005/8/layout/hierarchy2#4"/>
    <dgm:cxn modelId="{5D26D73F-29C9-4BD8-9CA3-C6A6B4C48185}" type="presParOf" srcId="{FECA0D58-1792-4CA4-ABF4-C8CC7E351C2A}" destId="{30EB93A3-5DA2-4995-80B4-BBBB72ACAA95}" srcOrd="0" destOrd="0" presId="urn:microsoft.com/office/officeart/2005/8/layout/hierarchy2#4"/>
    <dgm:cxn modelId="{BF6DE050-F491-4B28-87A4-13EA1D55F92A}" type="presOf" srcId="{DB400DB4-A01D-4DA1-AC1C-75988215D943}" destId="{30EB93A3-5DA2-4995-80B4-BBBB72ACAA95}" srcOrd="0" destOrd="0" presId="urn:microsoft.com/office/officeart/2005/8/layout/hierarchy2#4"/>
    <dgm:cxn modelId="{1270449A-27A7-4544-95D1-27B7BEA020CA}" type="presParOf" srcId="{FECA0D58-1792-4CA4-ABF4-C8CC7E351C2A}" destId="{6ADBCBAA-17EB-4E48-8513-EC5C4A41666F}" srcOrd="1" destOrd="0" presId="urn:microsoft.com/office/officeart/2005/8/layout/hierarchy2#4"/>
    <dgm:cxn modelId="{6A21CFB5-D7EA-4B77-99CE-46B63CBC5502}" type="presParOf" srcId="{6ADBCBAA-17EB-4E48-8513-EC5C4A41666F}" destId="{A0B9CF5B-81FC-4CAA-B5F8-02FC41107F17}" srcOrd="0" destOrd="1" presId="urn:microsoft.com/office/officeart/2005/8/layout/hierarchy2#4"/>
    <dgm:cxn modelId="{17C4D40D-5E6A-4DAE-8502-B1F337FDA238}" type="presOf" srcId="{37A8E3A1-B169-42AC-851E-B10C9BC58145}" destId="{A0B9CF5B-81FC-4CAA-B5F8-02FC41107F17}" srcOrd="0" destOrd="0" presId="urn:microsoft.com/office/officeart/2005/8/layout/hierarchy2#4"/>
    <dgm:cxn modelId="{636E298B-098E-42BA-A15B-4B9194449167}" type="presParOf" srcId="{A0B9CF5B-81FC-4CAA-B5F8-02FC41107F17}" destId="{2D93678D-C089-4121-98BE-78C1D01D4714}" srcOrd="0" destOrd="0" presId="urn:microsoft.com/office/officeart/2005/8/layout/hierarchy2#4"/>
    <dgm:cxn modelId="{B406F166-FB4F-4635-8FAC-CBE36FD4B38F}" type="presOf" srcId="{37A8E3A1-B169-42AC-851E-B10C9BC58145}" destId="{2D93678D-C089-4121-98BE-78C1D01D4714}" srcOrd="1" destOrd="0" presId="urn:microsoft.com/office/officeart/2005/8/layout/hierarchy2#4"/>
    <dgm:cxn modelId="{2DB2DB83-9274-47CF-BB90-9A6F93058AA8}" type="presParOf" srcId="{6ADBCBAA-17EB-4E48-8513-EC5C4A41666F}" destId="{BD6F6413-9463-446C-912B-8E59699C64F0}" srcOrd="1" destOrd="1" presId="urn:microsoft.com/office/officeart/2005/8/layout/hierarchy2#4"/>
    <dgm:cxn modelId="{7A2AA6E5-8ACE-4F7B-A69D-796DE246E755}" type="presParOf" srcId="{BD6F6413-9463-446C-912B-8E59699C64F0}" destId="{E0B00510-7083-4008-9C69-4BEE810EF629}" srcOrd="0" destOrd="1" presId="urn:microsoft.com/office/officeart/2005/8/layout/hierarchy2#4"/>
    <dgm:cxn modelId="{8251009F-06A4-4959-A602-64B846EA0C09}" type="presOf" srcId="{7F845F18-6F51-40BB-B5E6-8EF9DA8D155F}" destId="{E0B00510-7083-4008-9C69-4BEE810EF629}" srcOrd="0" destOrd="0" presId="urn:microsoft.com/office/officeart/2005/8/layout/hierarchy2#4"/>
    <dgm:cxn modelId="{264B09E3-F3D2-4E00-859F-E553C80B364C}" type="presParOf" srcId="{BD6F6413-9463-446C-912B-8E59699C64F0}" destId="{080DA7D8-C5AE-4C8C-B9FA-4CD9AECCB21D}" srcOrd="1" destOrd="1" presId="urn:microsoft.com/office/officeart/2005/8/layout/hierarchy2#4"/>
    <dgm:cxn modelId="{25FFC296-4FFE-4020-B36A-06CC764DED3E}" type="presParOf" srcId="{080DA7D8-C5AE-4C8C-B9FA-4CD9AECCB21D}" destId="{48A976DF-2FF3-448B-A61F-2FA25ED1FA15}" srcOrd="0" destOrd="1" presId="urn:microsoft.com/office/officeart/2005/8/layout/hierarchy2#4"/>
    <dgm:cxn modelId="{F3456DE5-50F6-4C6D-B03F-791D0C99047D}" type="presOf" srcId="{583B6340-7120-4587-B35C-DD9407D22AC6}" destId="{48A976DF-2FF3-448B-A61F-2FA25ED1FA15}" srcOrd="0" destOrd="0" presId="urn:microsoft.com/office/officeart/2005/8/layout/hierarchy2#4"/>
    <dgm:cxn modelId="{AEF3EDF2-21CA-4AD9-866C-DA3E6F8AD13B}" type="presParOf" srcId="{48A976DF-2FF3-448B-A61F-2FA25ED1FA15}" destId="{92A91135-D7B8-4E21-B1BC-9944CFFE1047}" srcOrd="0" destOrd="0" presId="urn:microsoft.com/office/officeart/2005/8/layout/hierarchy2#4"/>
    <dgm:cxn modelId="{0DA61B06-77CE-479D-ACC6-CF2E04E45E24}" type="presOf" srcId="{583B6340-7120-4587-B35C-DD9407D22AC6}" destId="{92A91135-D7B8-4E21-B1BC-9944CFFE1047}" srcOrd="1" destOrd="0" presId="urn:microsoft.com/office/officeart/2005/8/layout/hierarchy2#4"/>
    <dgm:cxn modelId="{A9DA6621-043F-4EF9-83A2-EEDDCD536C7C}" type="presParOf" srcId="{080DA7D8-C5AE-4C8C-B9FA-4CD9AECCB21D}" destId="{854858ED-7997-47AB-BCAE-B0CC98D0F44C}" srcOrd="1" destOrd="1" presId="urn:microsoft.com/office/officeart/2005/8/layout/hierarchy2#4"/>
    <dgm:cxn modelId="{71E5E831-5F2F-4F8F-A5FB-6EF6939F43C6}" type="presParOf" srcId="{854858ED-7997-47AB-BCAE-B0CC98D0F44C}" destId="{7271273A-B338-43D0-930E-3419BF6A6F15}" srcOrd="0" destOrd="1" presId="urn:microsoft.com/office/officeart/2005/8/layout/hierarchy2#4"/>
    <dgm:cxn modelId="{A340F19B-C27E-405A-B9E8-F395638F03C7}" type="presOf" srcId="{8F506722-C955-49D8-B9BA-E30A0810EC06}" destId="{7271273A-B338-43D0-930E-3419BF6A6F15}" srcOrd="0" destOrd="0" presId="urn:microsoft.com/office/officeart/2005/8/layout/hierarchy2#4"/>
    <dgm:cxn modelId="{1A774E6F-21E2-4648-92DE-D04A27110C7E}" type="presParOf" srcId="{854858ED-7997-47AB-BCAE-B0CC98D0F44C}" destId="{B59BD757-A418-47C7-B4EC-EF78095185F2}" srcOrd="1" destOrd="1" presId="urn:microsoft.com/office/officeart/2005/8/layout/hierarchy2#4"/>
    <dgm:cxn modelId="{9DE63976-1967-460B-A79D-5E7AF48F6D11}" type="presParOf" srcId="{080DA7D8-C5AE-4C8C-B9FA-4CD9AECCB21D}" destId="{BE52383F-7E87-4CD9-BFA9-A862A03F7513}" srcOrd="2" destOrd="1" presId="urn:microsoft.com/office/officeart/2005/8/layout/hierarchy2#4"/>
    <dgm:cxn modelId="{983A3B3B-270A-4DFA-813C-66884AE9801E}" type="presOf" srcId="{66A34D74-17C8-471F-873B-5C679EADEA43}" destId="{BE52383F-7E87-4CD9-BFA9-A862A03F7513}" srcOrd="0" destOrd="0" presId="urn:microsoft.com/office/officeart/2005/8/layout/hierarchy2#4"/>
    <dgm:cxn modelId="{64678FED-7D82-415B-88C5-505D861D525A}" type="presParOf" srcId="{BE52383F-7E87-4CD9-BFA9-A862A03F7513}" destId="{67FA60A2-4AD3-49B8-8E39-B1327163823F}" srcOrd="0" destOrd="2" presId="urn:microsoft.com/office/officeart/2005/8/layout/hierarchy2#4"/>
    <dgm:cxn modelId="{EE0FD8CE-1097-40C5-BE70-FBB7D6EA8BF7}" type="presOf" srcId="{66A34D74-17C8-471F-873B-5C679EADEA43}" destId="{67FA60A2-4AD3-49B8-8E39-B1327163823F}" srcOrd="1" destOrd="0" presId="urn:microsoft.com/office/officeart/2005/8/layout/hierarchy2#4"/>
    <dgm:cxn modelId="{1E644251-A9A1-4223-A69B-21BA204A5D33}" type="presParOf" srcId="{080DA7D8-C5AE-4C8C-B9FA-4CD9AECCB21D}" destId="{9DF46160-AC25-4C2F-BCF2-18C0FC9DAD87}" srcOrd="3" destOrd="1" presId="urn:microsoft.com/office/officeart/2005/8/layout/hierarchy2#4"/>
    <dgm:cxn modelId="{F19B26EC-9D8B-4B47-87C5-115C3539695F}" type="presParOf" srcId="{9DF46160-AC25-4C2F-BCF2-18C0FC9DAD87}" destId="{CE8B370D-7DB7-4768-BE07-EB87B68469AF}" srcOrd="0" destOrd="3" presId="urn:microsoft.com/office/officeart/2005/8/layout/hierarchy2#4"/>
    <dgm:cxn modelId="{00D54DB0-715A-4A85-B4AB-5AC5A317A6C0}" type="presOf" srcId="{5F53D994-8012-4670-B48C-1DB0EF1AD3ED}" destId="{CE8B370D-7DB7-4768-BE07-EB87B68469AF}" srcOrd="0" destOrd="0" presId="urn:microsoft.com/office/officeart/2005/8/layout/hierarchy2#4"/>
    <dgm:cxn modelId="{8B4AFCE9-5154-4746-B673-7CEE89778275}" type="presParOf" srcId="{9DF46160-AC25-4C2F-BCF2-18C0FC9DAD87}" destId="{8BDD7E2D-2271-49C1-8A22-09DBCC2B58E9}" srcOrd="1" destOrd="3" presId="urn:microsoft.com/office/officeart/2005/8/layout/hierarchy2#4"/>
    <dgm:cxn modelId="{C8B55D3B-EB49-4073-AE14-CD1FF3CC7740}" type="presParOf" srcId="{080DA7D8-C5AE-4C8C-B9FA-4CD9AECCB21D}" destId="{49B5D9A8-DB31-4BFD-A660-93A11E0628CB}" srcOrd="4" destOrd="1" presId="urn:microsoft.com/office/officeart/2005/8/layout/hierarchy2#4"/>
    <dgm:cxn modelId="{C33BA9E3-1E2B-4F62-95F7-27753D8878A2}" type="presOf" srcId="{5BD2EE8F-D804-4C86-BB93-38DED9B35CD9}" destId="{49B5D9A8-DB31-4BFD-A660-93A11E0628CB}" srcOrd="0" destOrd="0" presId="urn:microsoft.com/office/officeart/2005/8/layout/hierarchy2#4"/>
    <dgm:cxn modelId="{E71DC2CF-EB62-4BCE-94A1-E1EC991085F7}" type="presParOf" srcId="{49B5D9A8-DB31-4BFD-A660-93A11E0628CB}" destId="{ECD1CEC4-A87C-4459-8A7A-99D04676C295}" srcOrd="0" destOrd="4" presId="urn:microsoft.com/office/officeart/2005/8/layout/hierarchy2#4"/>
    <dgm:cxn modelId="{BC9E0779-14AB-49ED-85EA-098B6263A2AF}" type="presOf" srcId="{5BD2EE8F-D804-4C86-BB93-38DED9B35CD9}" destId="{ECD1CEC4-A87C-4459-8A7A-99D04676C295}" srcOrd="1" destOrd="0" presId="urn:microsoft.com/office/officeart/2005/8/layout/hierarchy2#4"/>
    <dgm:cxn modelId="{3662D639-9A5C-45C3-BAA0-730745CA13A2}" type="presParOf" srcId="{080DA7D8-C5AE-4C8C-B9FA-4CD9AECCB21D}" destId="{5A7DA8B8-77A5-4C05-9D60-26698055F29F}" srcOrd="5" destOrd="1" presId="urn:microsoft.com/office/officeart/2005/8/layout/hierarchy2#4"/>
    <dgm:cxn modelId="{FA146D7D-E3EF-46E1-9460-57E32C4B903C}" type="presParOf" srcId="{5A7DA8B8-77A5-4C05-9D60-26698055F29F}" destId="{68E0C921-C84E-474F-BDA1-C37CA8E53B57}" srcOrd="0" destOrd="5" presId="urn:microsoft.com/office/officeart/2005/8/layout/hierarchy2#4"/>
    <dgm:cxn modelId="{0DF298C5-3765-44BD-9103-DD7138DA0602}" type="presOf" srcId="{4143BB45-60A4-4AD1-BABC-EC0D9BE91618}" destId="{68E0C921-C84E-474F-BDA1-C37CA8E53B57}" srcOrd="0" destOrd="0" presId="urn:microsoft.com/office/officeart/2005/8/layout/hierarchy2#4"/>
    <dgm:cxn modelId="{F9865B46-CD96-4E8A-9BB4-1C2FF6E421E8}" type="presParOf" srcId="{5A7DA8B8-77A5-4C05-9D60-26698055F29F}" destId="{5E5B76C9-5718-4FD9-8191-C94672812CA9}" srcOrd="1" destOrd="5" presId="urn:microsoft.com/office/officeart/2005/8/layout/hierarchy2#4"/>
    <dgm:cxn modelId="{AC1CA73D-2436-4FA8-B8A5-C16DD71FE9DC}" type="presParOf" srcId="{080DA7D8-C5AE-4C8C-B9FA-4CD9AECCB21D}" destId="{5C4FB74C-E19C-44F4-95FD-15992747E3C9}" srcOrd="6" destOrd="1" presId="urn:microsoft.com/office/officeart/2005/8/layout/hierarchy2#4"/>
    <dgm:cxn modelId="{F5DBED5F-7FE9-46DE-B603-932156A86862}" type="presOf" srcId="{560CEE0B-2DB3-42EA-9E84-368FAE4748DB}" destId="{5C4FB74C-E19C-44F4-95FD-15992747E3C9}" srcOrd="0" destOrd="0" presId="urn:microsoft.com/office/officeart/2005/8/layout/hierarchy2#4"/>
    <dgm:cxn modelId="{FC646CFC-45E8-427F-A687-2267B69ABD3F}" type="presParOf" srcId="{5C4FB74C-E19C-44F4-95FD-15992747E3C9}" destId="{6A7C277E-0012-4AA6-83DA-73213BC63A2A}" srcOrd="0" destOrd="6" presId="urn:microsoft.com/office/officeart/2005/8/layout/hierarchy2#4"/>
    <dgm:cxn modelId="{EE63F36A-D12A-4F39-86C7-5CCF83BB8AF9}" type="presOf" srcId="{560CEE0B-2DB3-42EA-9E84-368FAE4748DB}" destId="{6A7C277E-0012-4AA6-83DA-73213BC63A2A}" srcOrd="1" destOrd="0" presId="urn:microsoft.com/office/officeart/2005/8/layout/hierarchy2#4"/>
    <dgm:cxn modelId="{086988AA-799A-4225-AC0A-CDB791CCEA42}" type="presParOf" srcId="{080DA7D8-C5AE-4C8C-B9FA-4CD9AECCB21D}" destId="{A7DD5DDB-7FB8-4EB7-A4B2-71E7A7C67CC8}" srcOrd="7" destOrd="1" presId="urn:microsoft.com/office/officeart/2005/8/layout/hierarchy2#4"/>
    <dgm:cxn modelId="{35A3587C-BAFA-46C6-883B-1294E4A7E9A0}" type="presParOf" srcId="{A7DD5DDB-7FB8-4EB7-A4B2-71E7A7C67CC8}" destId="{D6306C7A-7076-44C8-A581-B95A42C5B47D}" srcOrd="0" destOrd="7" presId="urn:microsoft.com/office/officeart/2005/8/layout/hierarchy2#4"/>
    <dgm:cxn modelId="{9A631C8E-A569-498A-93B4-B40077A68C4B}" type="presOf" srcId="{7E40B20D-0777-4E50-843E-2AE7545FF269}" destId="{D6306C7A-7076-44C8-A581-B95A42C5B47D}" srcOrd="0" destOrd="0" presId="urn:microsoft.com/office/officeart/2005/8/layout/hierarchy2#4"/>
    <dgm:cxn modelId="{348D7E03-8E8C-4D4C-B4F3-9CA3727E2966}" type="presParOf" srcId="{A7DD5DDB-7FB8-4EB7-A4B2-71E7A7C67CC8}" destId="{D44A6CD0-FEA1-4252-8760-231336C9E642}" srcOrd="1" destOrd="7" presId="urn:microsoft.com/office/officeart/2005/8/layout/hierarchy2#4"/>
    <dgm:cxn modelId="{6DD0D063-F262-4050-9F3D-910572F4AFDC}" type="presParOf" srcId="{080DA7D8-C5AE-4C8C-B9FA-4CD9AECCB21D}" destId="{CCDABA2A-733B-4E05-8952-A2EBEC0C0CD8}" srcOrd="8" destOrd="1" presId="urn:microsoft.com/office/officeart/2005/8/layout/hierarchy2#4"/>
    <dgm:cxn modelId="{D67636D4-5992-4105-85C4-338371109FFB}" type="presOf" srcId="{98E06830-4D70-4D71-A60D-7F701F5E72D0}" destId="{CCDABA2A-733B-4E05-8952-A2EBEC0C0CD8}" srcOrd="0" destOrd="0" presId="urn:microsoft.com/office/officeart/2005/8/layout/hierarchy2#4"/>
    <dgm:cxn modelId="{6CCE2469-86EA-4579-8DBD-578153DE5594}" type="presParOf" srcId="{CCDABA2A-733B-4E05-8952-A2EBEC0C0CD8}" destId="{A6D214CA-C346-4649-B4E9-8F5056BDDC85}" srcOrd="0" destOrd="8" presId="urn:microsoft.com/office/officeart/2005/8/layout/hierarchy2#4"/>
    <dgm:cxn modelId="{45553C2A-51B4-4540-8F7E-A1A56EE17467}" type="presOf" srcId="{98E06830-4D70-4D71-A60D-7F701F5E72D0}" destId="{A6D214CA-C346-4649-B4E9-8F5056BDDC85}" srcOrd="1" destOrd="0" presId="urn:microsoft.com/office/officeart/2005/8/layout/hierarchy2#4"/>
    <dgm:cxn modelId="{E6C90FFC-7075-4F3D-9104-ADE7D768730B}" type="presParOf" srcId="{080DA7D8-C5AE-4C8C-B9FA-4CD9AECCB21D}" destId="{7DF87A20-19A8-4591-A278-7E98C2711D2A}" srcOrd="9" destOrd="1" presId="urn:microsoft.com/office/officeart/2005/8/layout/hierarchy2#4"/>
    <dgm:cxn modelId="{B03E5AA5-3A9B-402E-A205-19025C894CE5}" type="presParOf" srcId="{7DF87A20-19A8-4591-A278-7E98C2711D2A}" destId="{B850AB29-9E9A-49E6-9034-D9EAF9350B0E}" srcOrd="0" destOrd="9" presId="urn:microsoft.com/office/officeart/2005/8/layout/hierarchy2#4"/>
    <dgm:cxn modelId="{5173047B-745A-4F6A-BDD2-0C275E902EFF}" type="presOf" srcId="{D6B4B3E7-F127-488E-AE54-421DB30E253A}" destId="{B850AB29-9E9A-49E6-9034-D9EAF9350B0E}" srcOrd="0" destOrd="0" presId="urn:microsoft.com/office/officeart/2005/8/layout/hierarchy2#4"/>
    <dgm:cxn modelId="{4FC9B932-A7D1-4C18-9FA6-94FD762A1544}" type="presParOf" srcId="{7DF87A20-19A8-4591-A278-7E98C2711D2A}" destId="{24FAD449-7E6D-451E-9984-0D698B342466}" srcOrd="1" destOrd="9" presId="urn:microsoft.com/office/officeart/2005/8/layout/hierarchy2#4"/>
    <dgm:cxn modelId="{EAE5D48E-696D-464B-AE28-1703429C9A4D}" type="presParOf" srcId="{6ADBCBAA-17EB-4E48-8513-EC5C4A41666F}" destId="{E4051FFC-7F08-497B-9A68-F25E867868F2}" srcOrd="2" destOrd="1" presId="urn:microsoft.com/office/officeart/2005/8/layout/hierarchy2#4"/>
    <dgm:cxn modelId="{4F4C20BB-ED1D-4356-89AF-2959B415AD4F}" type="presOf" srcId="{38C76626-3AE2-4FB8-923B-B6DF306A4FBC}" destId="{E4051FFC-7F08-497B-9A68-F25E867868F2}" srcOrd="0" destOrd="0" presId="urn:microsoft.com/office/officeart/2005/8/layout/hierarchy2#4"/>
    <dgm:cxn modelId="{EF45563A-3D6D-4016-AC21-6749E436F6CC}" type="presParOf" srcId="{E4051FFC-7F08-497B-9A68-F25E867868F2}" destId="{8A83BFFC-2B2B-4BDC-983E-E4679D791813}" srcOrd="0" destOrd="2" presId="urn:microsoft.com/office/officeart/2005/8/layout/hierarchy2#4"/>
    <dgm:cxn modelId="{CFBF27CC-E7D1-42A5-B598-B33DC3774A4F}" type="presOf" srcId="{38C76626-3AE2-4FB8-923B-B6DF306A4FBC}" destId="{8A83BFFC-2B2B-4BDC-983E-E4679D791813}" srcOrd="1" destOrd="0" presId="urn:microsoft.com/office/officeart/2005/8/layout/hierarchy2#4"/>
    <dgm:cxn modelId="{52969836-B56B-4D13-B894-CCABEDCE5D52}" type="presParOf" srcId="{6ADBCBAA-17EB-4E48-8513-EC5C4A41666F}" destId="{DEEDAAC1-7175-4E56-8B50-7BB551C4D642}" srcOrd="3" destOrd="1" presId="urn:microsoft.com/office/officeart/2005/8/layout/hierarchy2#4"/>
    <dgm:cxn modelId="{C6DA0E5B-8F6C-4E0E-9792-B11F25695A14}" type="presParOf" srcId="{DEEDAAC1-7175-4E56-8B50-7BB551C4D642}" destId="{881DA1B5-AD53-495B-8856-DCF9FACCBD7B}" srcOrd="0" destOrd="3" presId="urn:microsoft.com/office/officeart/2005/8/layout/hierarchy2#4"/>
    <dgm:cxn modelId="{C84406E9-EA67-4355-850E-B5C9B86583B1}" type="presOf" srcId="{3216FEA8-0711-431F-9C7D-F58301BA2BA1}" destId="{881DA1B5-AD53-495B-8856-DCF9FACCBD7B}" srcOrd="0" destOrd="0" presId="urn:microsoft.com/office/officeart/2005/8/layout/hierarchy2#4"/>
    <dgm:cxn modelId="{501CC045-4E7A-4ACF-8363-5977FEF74EDE}" type="presParOf" srcId="{DEEDAAC1-7175-4E56-8B50-7BB551C4D642}" destId="{B96ADFA4-6915-4139-BE08-B44989C5AB9A}" srcOrd="1" destOrd="3" presId="urn:microsoft.com/office/officeart/2005/8/layout/hierarchy2#4"/>
    <dgm:cxn modelId="{B182ABBC-C81A-417C-ACDC-B427B78A9DD2}" type="presParOf" srcId="{B96ADFA4-6915-4139-BE08-B44989C5AB9A}" destId="{7D7A8168-EFCA-4F92-878F-ED2C7DA67AD2}" srcOrd="0" destOrd="1" presId="urn:microsoft.com/office/officeart/2005/8/layout/hierarchy2#4"/>
    <dgm:cxn modelId="{C04D4DE3-49BE-48C6-8A15-9A6B4379A666}" type="presOf" srcId="{14A500DA-E252-4F26-B70D-597F694D09ED}" destId="{7D7A8168-EFCA-4F92-878F-ED2C7DA67AD2}" srcOrd="0" destOrd="0" presId="urn:microsoft.com/office/officeart/2005/8/layout/hierarchy2#4"/>
    <dgm:cxn modelId="{5D8146A4-AB30-4559-8956-1D7739C75A93}" type="presParOf" srcId="{7D7A8168-EFCA-4F92-878F-ED2C7DA67AD2}" destId="{308FCC5D-AB72-46AE-8730-3203DFB44B4C}" srcOrd="0" destOrd="0" presId="urn:microsoft.com/office/officeart/2005/8/layout/hierarchy2#4"/>
    <dgm:cxn modelId="{6EE8E51A-D2B7-4E95-82CA-1B90000161D2}" type="presOf" srcId="{14A500DA-E252-4F26-B70D-597F694D09ED}" destId="{308FCC5D-AB72-46AE-8730-3203DFB44B4C}" srcOrd="1" destOrd="0" presId="urn:microsoft.com/office/officeart/2005/8/layout/hierarchy2#4"/>
    <dgm:cxn modelId="{88CB34A7-4B72-4F14-B7B3-1DE4939A8AAD}" type="presParOf" srcId="{B96ADFA4-6915-4139-BE08-B44989C5AB9A}" destId="{470FCA5A-DD2A-4C96-BFCD-820E3E27A4DC}" srcOrd="1" destOrd="1" presId="urn:microsoft.com/office/officeart/2005/8/layout/hierarchy2#4"/>
    <dgm:cxn modelId="{3E2B61DA-C93D-475D-AB79-72480EB3FF37}" type="presParOf" srcId="{470FCA5A-DD2A-4C96-BFCD-820E3E27A4DC}" destId="{EE40A485-E4E9-4B01-BE2E-29A5A36A8EA5}" srcOrd="0" destOrd="1" presId="urn:microsoft.com/office/officeart/2005/8/layout/hierarchy2#4"/>
    <dgm:cxn modelId="{23B03758-53C0-4DFE-B403-AA5B3BA2A13C}" type="presOf" srcId="{4739B4C0-64CF-44EE-9C95-18915B83D810}" destId="{EE40A485-E4E9-4B01-BE2E-29A5A36A8EA5}" srcOrd="0" destOrd="0" presId="urn:microsoft.com/office/officeart/2005/8/layout/hierarchy2#4"/>
    <dgm:cxn modelId="{43CE5C16-EB89-46D1-9088-6980B596F5F6}" type="presParOf" srcId="{470FCA5A-DD2A-4C96-BFCD-820E3E27A4DC}" destId="{02B09A6F-1A14-4DF0-923D-0CAF906728C5}" srcOrd="1" destOrd="1" presId="urn:microsoft.com/office/officeart/2005/8/layout/hierarchy2#4"/>
    <dgm:cxn modelId="{B82F3933-74C1-4B14-97A7-153D9408B223}" type="presParOf" srcId="{B96ADFA4-6915-4139-BE08-B44989C5AB9A}" destId="{D85E3186-C858-4C7B-BDD1-0917DC9B511B}" srcOrd="2" destOrd="1" presId="urn:microsoft.com/office/officeart/2005/8/layout/hierarchy2#4"/>
    <dgm:cxn modelId="{2F5D4309-556A-4D6F-8FF0-9AE13BF7C022}" type="presOf" srcId="{080C3C36-6CAE-442D-B8CE-44690C976CAD}" destId="{D85E3186-C858-4C7B-BDD1-0917DC9B511B}" srcOrd="0" destOrd="0" presId="urn:microsoft.com/office/officeart/2005/8/layout/hierarchy2#4"/>
    <dgm:cxn modelId="{BB035FA8-C38D-48F7-9CA2-74A18EB18423}" type="presParOf" srcId="{D85E3186-C858-4C7B-BDD1-0917DC9B511B}" destId="{938DD37D-725B-4C36-B7DC-F266CD87F5A1}" srcOrd="0" destOrd="2" presId="urn:microsoft.com/office/officeart/2005/8/layout/hierarchy2#4"/>
    <dgm:cxn modelId="{9576A460-44CF-439A-A975-C7DF51A78E71}" type="presOf" srcId="{080C3C36-6CAE-442D-B8CE-44690C976CAD}" destId="{938DD37D-725B-4C36-B7DC-F266CD87F5A1}" srcOrd="1" destOrd="0" presId="urn:microsoft.com/office/officeart/2005/8/layout/hierarchy2#4"/>
    <dgm:cxn modelId="{2B0533F2-D9A0-48DF-8FFB-4FCC5EC2BB92}" type="presParOf" srcId="{B96ADFA4-6915-4139-BE08-B44989C5AB9A}" destId="{2087F2A9-1C43-41B1-8A61-465E6EB49384}" srcOrd="3" destOrd="1" presId="urn:microsoft.com/office/officeart/2005/8/layout/hierarchy2#4"/>
    <dgm:cxn modelId="{5C307BD7-7C6B-4A16-ADD6-600FE6912DF4}" type="presParOf" srcId="{2087F2A9-1C43-41B1-8A61-465E6EB49384}" destId="{92E9F16B-C836-43C2-B269-8F6BDF527674}" srcOrd="0" destOrd="3" presId="urn:microsoft.com/office/officeart/2005/8/layout/hierarchy2#4"/>
    <dgm:cxn modelId="{4F53EB7A-CD9E-4007-AC7B-D6D06BC9D762}" type="presOf" srcId="{CF32DD6F-11E5-4C3E-84BB-2D40BC565763}" destId="{92E9F16B-C836-43C2-B269-8F6BDF527674}" srcOrd="0" destOrd="0" presId="urn:microsoft.com/office/officeart/2005/8/layout/hierarchy2#4"/>
    <dgm:cxn modelId="{A58D4D49-3BD4-411F-8A0F-354260942718}" type="presParOf" srcId="{2087F2A9-1C43-41B1-8A61-465E6EB49384}" destId="{B02B7778-1022-4182-AECE-5358DD8EDBDC}" srcOrd="1" destOrd="3" presId="urn:microsoft.com/office/officeart/2005/8/layout/hierarchy2#4"/>
    <dgm:cxn modelId="{70FF2DCD-7F98-4A35-A674-A007C26B8A29}" type="presParOf" srcId="{B96ADFA4-6915-4139-BE08-B44989C5AB9A}" destId="{34151F9D-EC54-4483-8EB9-0179BE2F0BD5}" srcOrd="4" destOrd="1" presId="urn:microsoft.com/office/officeart/2005/8/layout/hierarchy2#4"/>
    <dgm:cxn modelId="{D7CB5FC0-248F-450C-85FF-E0E5A6136FB3}" type="presOf" srcId="{3F3D0FD5-14ED-4FB8-8DC8-8A4184CEE93D}" destId="{34151F9D-EC54-4483-8EB9-0179BE2F0BD5}" srcOrd="0" destOrd="0" presId="urn:microsoft.com/office/officeart/2005/8/layout/hierarchy2#4"/>
    <dgm:cxn modelId="{75EF6A35-232E-4814-AAC2-03DEB93B59FC}" type="presParOf" srcId="{34151F9D-EC54-4483-8EB9-0179BE2F0BD5}" destId="{3E8BB033-2055-4798-BAA2-D920BB304529}" srcOrd="0" destOrd="4" presId="urn:microsoft.com/office/officeart/2005/8/layout/hierarchy2#4"/>
    <dgm:cxn modelId="{E64A14FD-9F16-44B3-83D0-D2E76E07E89D}" type="presOf" srcId="{3F3D0FD5-14ED-4FB8-8DC8-8A4184CEE93D}" destId="{3E8BB033-2055-4798-BAA2-D920BB304529}" srcOrd="1" destOrd="0" presId="urn:microsoft.com/office/officeart/2005/8/layout/hierarchy2#4"/>
    <dgm:cxn modelId="{B61BB383-FAD3-43C3-BEDF-6EDD87244779}" type="presParOf" srcId="{B96ADFA4-6915-4139-BE08-B44989C5AB9A}" destId="{29EC84A7-C2F9-4111-A84B-1A0D6226DEA3}" srcOrd="5" destOrd="1" presId="urn:microsoft.com/office/officeart/2005/8/layout/hierarchy2#4"/>
    <dgm:cxn modelId="{CC28820F-54F3-4D8E-816F-376131C502DC}" type="presParOf" srcId="{29EC84A7-C2F9-4111-A84B-1A0D6226DEA3}" destId="{707407E5-8570-4D65-BD3D-8D1606537DB4}" srcOrd="0" destOrd="5" presId="urn:microsoft.com/office/officeart/2005/8/layout/hierarchy2#4"/>
    <dgm:cxn modelId="{AE3BD957-EF6A-47EE-8BB9-B287CF03385D}" type="presOf" srcId="{CA812878-15AC-4E68-B012-31A59DDF327E}" destId="{707407E5-8570-4D65-BD3D-8D1606537DB4}" srcOrd="0" destOrd="0" presId="urn:microsoft.com/office/officeart/2005/8/layout/hierarchy2#4"/>
    <dgm:cxn modelId="{F1CF3435-6105-46DB-9805-3802161D9C87}" type="presParOf" srcId="{29EC84A7-C2F9-4111-A84B-1A0D6226DEA3}" destId="{940C882E-00F1-430B-9752-AD95B0E5857F}" srcOrd="1" destOrd="5" presId="urn:microsoft.com/office/officeart/2005/8/layout/hierarchy2#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11CEDE-0CA9-462D-ABB3-FD79AE6F1A59}" type="doc">
      <dgm:prSet loTypeId="urn:microsoft.com/office/officeart/2005/8/layout/process1" loCatId="process" qsTypeId="urn:microsoft.com/office/officeart/2005/8/quickstyle/simple1#7" qsCatId="simple" csTypeId="urn:microsoft.com/office/officeart/2005/8/colors/colorful4#2" csCatId="colorful" phldr="1"/>
      <dgm:spPr/>
      <dgm:t>
        <a:bodyPr/>
        <a:lstStyle/>
        <a:p>
          <a:endParaRPr lang="zh-CN" altLang="en-US"/>
        </a:p>
      </dgm:t>
    </dgm:pt>
    <dgm:pt modelId="{D06D6B3B-B2BD-4B18-A4A7-C21D12B26923}">
      <dgm:prSet phldrT="[文本]"/>
      <dgm:spPr/>
      <dgm:t>
        <a:bodyPr/>
        <a:lstStyle/>
        <a:p>
          <a:r>
            <a:rPr lang="zh-CN" altLang="en-US" dirty="0"/>
            <a:t>联系</a:t>
          </a:r>
        </a:p>
      </dgm:t>
    </dgm:pt>
    <dgm:pt modelId="{0525C76A-FB61-42DF-B26F-B5A57A503278}" cxnId="{6ECC022A-F720-4FCC-8E4D-E810B30E88BA}" type="parTrans">
      <dgm:prSet/>
      <dgm:spPr/>
      <dgm:t>
        <a:bodyPr/>
        <a:lstStyle/>
        <a:p>
          <a:endParaRPr lang="zh-CN" altLang="en-US"/>
        </a:p>
      </dgm:t>
    </dgm:pt>
    <dgm:pt modelId="{490DB09A-DE33-44BE-B738-7FD641A7B456}" cxnId="{6ECC022A-F720-4FCC-8E4D-E810B30E88BA}" type="sibTrans">
      <dgm:prSet/>
      <dgm:spPr/>
      <dgm:t>
        <a:bodyPr/>
        <a:lstStyle/>
        <a:p>
          <a:endParaRPr lang="zh-CN" altLang="en-US"/>
        </a:p>
      </dgm:t>
    </dgm:pt>
    <dgm:pt modelId="{C9EAD9C7-A057-4497-A042-2456178AF87D}">
      <dgm:prSet phldrT="[文本]"/>
      <dgm:spPr/>
      <dgm:t>
        <a:bodyPr/>
        <a:lstStyle/>
        <a:p>
          <a:r>
            <a:rPr lang="zh-CN" altLang="en-US" dirty="0"/>
            <a:t>运动</a:t>
          </a:r>
        </a:p>
      </dgm:t>
    </dgm:pt>
    <dgm:pt modelId="{67CD05E2-25DC-488C-AFEC-D875FEA34F88}" cxnId="{811A282E-7EDF-4A70-864E-3B266AA9F712}" type="parTrans">
      <dgm:prSet/>
      <dgm:spPr/>
      <dgm:t>
        <a:bodyPr/>
        <a:lstStyle/>
        <a:p>
          <a:endParaRPr lang="zh-CN" altLang="en-US"/>
        </a:p>
      </dgm:t>
    </dgm:pt>
    <dgm:pt modelId="{F09A44CD-DF5F-4119-BC41-60ADAC8CE4C1}" cxnId="{811A282E-7EDF-4A70-864E-3B266AA9F712}" type="sibTrans">
      <dgm:prSet/>
      <dgm:spPr/>
      <dgm:t>
        <a:bodyPr/>
        <a:lstStyle/>
        <a:p>
          <a:endParaRPr lang="zh-CN" altLang="en-US"/>
        </a:p>
      </dgm:t>
    </dgm:pt>
    <dgm:pt modelId="{C8F65369-460A-4F37-8E75-49A58FF48715}">
      <dgm:prSet phldrT="[文本]"/>
      <dgm:spPr/>
      <dgm:t>
        <a:bodyPr/>
        <a:lstStyle/>
        <a:p>
          <a:r>
            <a:rPr lang="zh-CN" altLang="en-US" dirty="0"/>
            <a:t>变化</a:t>
          </a:r>
        </a:p>
      </dgm:t>
    </dgm:pt>
    <dgm:pt modelId="{7CCC964D-E126-49C5-9B6C-818BB11D6613}" cxnId="{E59CF234-7E29-44AD-AFDC-13B3691BD1AC}" type="parTrans">
      <dgm:prSet/>
      <dgm:spPr/>
      <dgm:t>
        <a:bodyPr/>
        <a:lstStyle/>
        <a:p>
          <a:endParaRPr lang="zh-CN" altLang="en-US"/>
        </a:p>
      </dgm:t>
    </dgm:pt>
    <dgm:pt modelId="{EB361407-52B7-43F9-9702-0D4B8A0484C6}" cxnId="{E59CF234-7E29-44AD-AFDC-13B3691BD1AC}" type="sibTrans">
      <dgm:prSet/>
      <dgm:spPr/>
      <dgm:t>
        <a:bodyPr/>
        <a:lstStyle/>
        <a:p>
          <a:endParaRPr lang="zh-CN" altLang="en-US" baseline="0" dirty="0">
            <a:solidFill>
              <a:schemeClr val="accent5">
                <a:lumMod val="75000"/>
              </a:schemeClr>
            </a:solidFill>
          </a:endParaRPr>
        </a:p>
      </dgm:t>
    </dgm:pt>
    <dgm:pt modelId="{9FD700BB-1538-44D6-B201-DE184B8E8735}">
      <dgm:prSet/>
      <dgm:spPr/>
      <dgm:t>
        <a:bodyPr/>
        <a:lstStyle/>
        <a:p>
          <a:r>
            <a:rPr lang="zh-CN" altLang="en-US" dirty="0">
              <a:solidFill>
                <a:srgbClr val="000000"/>
              </a:solidFill>
            </a:rPr>
            <a:t>发展</a:t>
          </a:r>
        </a:p>
      </dgm:t>
    </dgm:pt>
    <dgm:pt modelId="{1C0722A9-E81E-44E4-8604-A839FC53D12D}" cxnId="{FA37BC26-21EF-4149-AEDC-ACCB6960EE92}" type="parTrans">
      <dgm:prSet/>
      <dgm:spPr/>
      <dgm:t>
        <a:bodyPr/>
        <a:lstStyle/>
        <a:p>
          <a:endParaRPr lang="zh-CN" altLang="en-US"/>
        </a:p>
      </dgm:t>
    </dgm:pt>
    <dgm:pt modelId="{8A3CAB4B-B1E0-4E40-AA6F-220E2B8D5173}" cxnId="{FA37BC26-21EF-4149-AEDC-ACCB6960EE92}" type="sibTrans">
      <dgm:prSet/>
      <dgm:spPr/>
      <dgm:t>
        <a:bodyPr/>
        <a:lstStyle/>
        <a:p>
          <a:endParaRPr lang="zh-CN" altLang="en-US"/>
        </a:p>
      </dgm:t>
    </dgm:pt>
    <dgm:pt modelId="{DC09AD31-24D8-46CD-AAF4-2D4434256ADF}" type="pres">
      <dgm:prSet presAssocID="{D511CEDE-0CA9-462D-ABB3-FD79AE6F1A59}" presName="Name0" presStyleCnt="0">
        <dgm:presLayoutVars>
          <dgm:dir/>
          <dgm:resizeHandles val="exact"/>
        </dgm:presLayoutVars>
      </dgm:prSet>
      <dgm:spPr/>
      <dgm:t>
        <a:bodyPr/>
        <a:lstStyle/>
        <a:p>
          <a:endParaRPr lang="zh-CN" altLang="en-US"/>
        </a:p>
      </dgm:t>
    </dgm:pt>
    <dgm:pt modelId="{F0A7BE09-2AAA-4EE9-BE8F-1521759A5B59}" type="pres">
      <dgm:prSet presAssocID="{D06D6B3B-B2BD-4B18-A4A7-C21D12B26923}" presName="node" presStyleLbl="node1" presStyleIdx="0" presStyleCnt="4">
        <dgm:presLayoutVars>
          <dgm:bulletEnabled val="1"/>
        </dgm:presLayoutVars>
      </dgm:prSet>
      <dgm:spPr/>
      <dgm:t>
        <a:bodyPr/>
        <a:lstStyle/>
        <a:p>
          <a:endParaRPr lang="zh-CN" altLang="en-US"/>
        </a:p>
      </dgm:t>
    </dgm:pt>
    <dgm:pt modelId="{04DC9A75-965A-463D-B520-E333A0A6EA74}" type="pres">
      <dgm:prSet presAssocID="{490DB09A-DE33-44BE-B738-7FD641A7B456}" presName="sibTrans" presStyleLbl="sibTrans2D1" presStyleIdx="0" presStyleCnt="3"/>
      <dgm:spPr/>
      <dgm:t>
        <a:bodyPr/>
        <a:lstStyle/>
        <a:p>
          <a:endParaRPr lang="zh-CN" altLang="en-US"/>
        </a:p>
      </dgm:t>
    </dgm:pt>
    <dgm:pt modelId="{6DBC68A4-752B-45AF-B4FB-16B8F91BEE9F}" type="pres">
      <dgm:prSet presAssocID="{490DB09A-DE33-44BE-B738-7FD641A7B456}" presName="connectorText" presStyleLbl="sibTrans2D1" presStyleIdx="0" presStyleCnt="3"/>
      <dgm:spPr/>
      <dgm:t>
        <a:bodyPr/>
        <a:lstStyle/>
        <a:p>
          <a:endParaRPr lang="zh-CN" altLang="en-US"/>
        </a:p>
      </dgm:t>
    </dgm:pt>
    <dgm:pt modelId="{97D14975-13EA-4488-94EE-A256AF5338B5}" type="pres">
      <dgm:prSet presAssocID="{C9EAD9C7-A057-4497-A042-2456178AF87D}" presName="node" presStyleLbl="node1" presStyleIdx="1" presStyleCnt="4">
        <dgm:presLayoutVars>
          <dgm:bulletEnabled val="1"/>
        </dgm:presLayoutVars>
      </dgm:prSet>
      <dgm:spPr/>
      <dgm:t>
        <a:bodyPr/>
        <a:lstStyle/>
        <a:p>
          <a:endParaRPr lang="zh-CN" altLang="en-US"/>
        </a:p>
      </dgm:t>
    </dgm:pt>
    <dgm:pt modelId="{B6436498-BFD3-4E2D-992D-21E084E3549B}" type="pres">
      <dgm:prSet presAssocID="{F09A44CD-DF5F-4119-BC41-60ADAC8CE4C1}" presName="sibTrans" presStyleLbl="sibTrans2D1" presStyleIdx="1" presStyleCnt="3"/>
      <dgm:spPr/>
      <dgm:t>
        <a:bodyPr/>
        <a:lstStyle/>
        <a:p>
          <a:endParaRPr lang="zh-CN" altLang="en-US"/>
        </a:p>
      </dgm:t>
    </dgm:pt>
    <dgm:pt modelId="{61EDEC0B-48BD-477D-8B67-3BE423FDD5C0}" type="pres">
      <dgm:prSet presAssocID="{F09A44CD-DF5F-4119-BC41-60ADAC8CE4C1}" presName="connectorText" presStyleLbl="sibTrans2D1" presStyleIdx="1" presStyleCnt="3"/>
      <dgm:spPr/>
      <dgm:t>
        <a:bodyPr/>
        <a:lstStyle/>
        <a:p>
          <a:endParaRPr lang="zh-CN" altLang="en-US"/>
        </a:p>
      </dgm:t>
    </dgm:pt>
    <dgm:pt modelId="{76C04ED4-F8B7-446A-8A2F-FF6AC30C8D46}" type="pres">
      <dgm:prSet presAssocID="{C8F65369-460A-4F37-8E75-49A58FF48715}" presName="node" presStyleLbl="node1" presStyleIdx="2" presStyleCnt="4">
        <dgm:presLayoutVars>
          <dgm:bulletEnabled val="1"/>
        </dgm:presLayoutVars>
      </dgm:prSet>
      <dgm:spPr/>
      <dgm:t>
        <a:bodyPr/>
        <a:lstStyle/>
        <a:p>
          <a:endParaRPr lang="zh-CN" altLang="en-US"/>
        </a:p>
      </dgm:t>
    </dgm:pt>
    <dgm:pt modelId="{F667713C-F1E6-479A-AD08-1187986216D6}" type="pres">
      <dgm:prSet presAssocID="{EB361407-52B7-43F9-9702-0D4B8A0484C6}" presName="sibTrans" presStyleLbl="sibTrans2D1" presStyleIdx="2" presStyleCnt="3"/>
      <dgm:spPr/>
      <dgm:t>
        <a:bodyPr/>
        <a:lstStyle/>
        <a:p>
          <a:endParaRPr lang="zh-CN" altLang="en-US"/>
        </a:p>
      </dgm:t>
    </dgm:pt>
    <dgm:pt modelId="{B56D79D8-788A-4189-BAD8-DFB7B54F82C8}" type="pres">
      <dgm:prSet presAssocID="{EB361407-52B7-43F9-9702-0D4B8A0484C6}" presName="connectorText" presStyleLbl="sibTrans2D1" presStyleIdx="2" presStyleCnt="3"/>
      <dgm:spPr/>
      <dgm:t>
        <a:bodyPr/>
        <a:lstStyle/>
        <a:p>
          <a:endParaRPr lang="zh-CN" altLang="en-US"/>
        </a:p>
      </dgm:t>
    </dgm:pt>
    <dgm:pt modelId="{459E371D-DB7C-4793-A392-FE575714FB98}" type="pres">
      <dgm:prSet presAssocID="{9FD700BB-1538-44D6-B201-DE184B8E8735}" presName="node" presStyleLbl="node1" presStyleIdx="3" presStyleCnt="4">
        <dgm:presLayoutVars>
          <dgm:bulletEnabled val="1"/>
        </dgm:presLayoutVars>
      </dgm:prSet>
      <dgm:spPr/>
      <dgm:t>
        <a:bodyPr/>
        <a:lstStyle/>
        <a:p>
          <a:endParaRPr lang="zh-CN" altLang="en-US"/>
        </a:p>
      </dgm:t>
    </dgm:pt>
  </dgm:ptLst>
  <dgm:cxnLst>
    <dgm:cxn modelId="{6ECC022A-F720-4FCC-8E4D-E810B30E88BA}" srcId="{D511CEDE-0CA9-462D-ABB3-FD79AE6F1A59}" destId="{D06D6B3B-B2BD-4B18-A4A7-C21D12B26923}" srcOrd="0" destOrd="0" parTransId="{0525C76A-FB61-42DF-B26F-B5A57A503278}" sibTransId="{490DB09A-DE33-44BE-B738-7FD641A7B456}"/>
    <dgm:cxn modelId="{43AFEC04-8F70-46F6-A15F-FCB482B5855E}" type="presOf" srcId="{C8F65369-460A-4F37-8E75-49A58FF48715}" destId="{76C04ED4-F8B7-446A-8A2F-FF6AC30C8D46}" srcOrd="0" destOrd="0" presId="urn:microsoft.com/office/officeart/2005/8/layout/process1"/>
    <dgm:cxn modelId="{37E9EE4D-5F36-40AC-AF37-28345AAF0294}" type="presOf" srcId="{D06D6B3B-B2BD-4B18-A4A7-C21D12B26923}" destId="{F0A7BE09-2AAA-4EE9-BE8F-1521759A5B59}" srcOrd="0" destOrd="0" presId="urn:microsoft.com/office/officeart/2005/8/layout/process1"/>
    <dgm:cxn modelId="{7939A158-1EC8-4B13-AF76-6A45862214D2}" type="presOf" srcId="{C9EAD9C7-A057-4497-A042-2456178AF87D}" destId="{97D14975-13EA-4488-94EE-A256AF5338B5}" srcOrd="0" destOrd="0" presId="urn:microsoft.com/office/officeart/2005/8/layout/process1"/>
    <dgm:cxn modelId="{FA37BC26-21EF-4149-AEDC-ACCB6960EE92}" srcId="{D511CEDE-0CA9-462D-ABB3-FD79AE6F1A59}" destId="{9FD700BB-1538-44D6-B201-DE184B8E8735}" srcOrd="3" destOrd="0" parTransId="{1C0722A9-E81E-44E4-8604-A839FC53D12D}" sibTransId="{8A3CAB4B-B1E0-4E40-AA6F-220E2B8D5173}"/>
    <dgm:cxn modelId="{436795B9-A4D3-4CD8-B549-1DF5D6073D8D}" type="presOf" srcId="{F09A44CD-DF5F-4119-BC41-60ADAC8CE4C1}" destId="{61EDEC0B-48BD-477D-8B67-3BE423FDD5C0}" srcOrd="1" destOrd="0" presId="urn:microsoft.com/office/officeart/2005/8/layout/process1"/>
    <dgm:cxn modelId="{4AE26DCD-AAAA-4D73-91ED-B18814B6B48E}" type="presOf" srcId="{F09A44CD-DF5F-4119-BC41-60ADAC8CE4C1}" destId="{B6436498-BFD3-4E2D-992D-21E084E3549B}" srcOrd="0" destOrd="0" presId="urn:microsoft.com/office/officeart/2005/8/layout/process1"/>
    <dgm:cxn modelId="{1D61F832-7DE1-4BDA-B8C0-F8C754952D1B}" type="presOf" srcId="{D511CEDE-0CA9-462D-ABB3-FD79AE6F1A59}" destId="{DC09AD31-24D8-46CD-AAF4-2D4434256ADF}" srcOrd="0" destOrd="0" presId="urn:microsoft.com/office/officeart/2005/8/layout/process1"/>
    <dgm:cxn modelId="{1A5E6F70-A4E7-4117-ABF8-5349C18A239A}" type="presOf" srcId="{EB361407-52B7-43F9-9702-0D4B8A0484C6}" destId="{F667713C-F1E6-479A-AD08-1187986216D6}" srcOrd="0" destOrd="0" presId="urn:microsoft.com/office/officeart/2005/8/layout/process1"/>
    <dgm:cxn modelId="{E59CF234-7E29-44AD-AFDC-13B3691BD1AC}" srcId="{D511CEDE-0CA9-462D-ABB3-FD79AE6F1A59}" destId="{C8F65369-460A-4F37-8E75-49A58FF48715}" srcOrd="2" destOrd="0" parTransId="{7CCC964D-E126-49C5-9B6C-818BB11D6613}" sibTransId="{EB361407-52B7-43F9-9702-0D4B8A0484C6}"/>
    <dgm:cxn modelId="{5DE43E8F-06A9-45B2-97CC-E41D1413D825}" type="presOf" srcId="{EB361407-52B7-43F9-9702-0D4B8A0484C6}" destId="{B56D79D8-788A-4189-BAD8-DFB7B54F82C8}" srcOrd="1" destOrd="0" presId="urn:microsoft.com/office/officeart/2005/8/layout/process1"/>
    <dgm:cxn modelId="{9E87218E-9295-4CAA-BC0A-78461DE19C8B}" type="presOf" srcId="{490DB09A-DE33-44BE-B738-7FD641A7B456}" destId="{04DC9A75-965A-463D-B520-E333A0A6EA74}" srcOrd="0" destOrd="0" presId="urn:microsoft.com/office/officeart/2005/8/layout/process1"/>
    <dgm:cxn modelId="{66580FDE-55FB-42C3-BBD7-E4ED247B2B49}" type="presOf" srcId="{490DB09A-DE33-44BE-B738-7FD641A7B456}" destId="{6DBC68A4-752B-45AF-B4FB-16B8F91BEE9F}" srcOrd="1" destOrd="0" presId="urn:microsoft.com/office/officeart/2005/8/layout/process1"/>
    <dgm:cxn modelId="{811A282E-7EDF-4A70-864E-3B266AA9F712}" srcId="{D511CEDE-0CA9-462D-ABB3-FD79AE6F1A59}" destId="{C9EAD9C7-A057-4497-A042-2456178AF87D}" srcOrd="1" destOrd="0" parTransId="{67CD05E2-25DC-488C-AFEC-D875FEA34F88}" sibTransId="{F09A44CD-DF5F-4119-BC41-60ADAC8CE4C1}"/>
    <dgm:cxn modelId="{6B03E23D-60B8-4DC8-99C4-DA77AEEEEEA1}" type="presOf" srcId="{9FD700BB-1538-44D6-B201-DE184B8E8735}" destId="{459E371D-DB7C-4793-A392-FE575714FB98}" srcOrd="0" destOrd="0" presId="urn:microsoft.com/office/officeart/2005/8/layout/process1"/>
    <dgm:cxn modelId="{4AE7BD20-7DB5-403D-9B76-D2E59EAA27AA}" type="presParOf" srcId="{DC09AD31-24D8-46CD-AAF4-2D4434256ADF}" destId="{F0A7BE09-2AAA-4EE9-BE8F-1521759A5B59}" srcOrd="0" destOrd="0" presId="urn:microsoft.com/office/officeart/2005/8/layout/process1"/>
    <dgm:cxn modelId="{BDB2985A-0E5A-4F25-AB94-4F7D347A42CC}" type="presParOf" srcId="{DC09AD31-24D8-46CD-AAF4-2D4434256ADF}" destId="{04DC9A75-965A-463D-B520-E333A0A6EA74}" srcOrd="1" destOrd="0" presId="urn:microsoft.com/office/officeart/2005/8/layout/process1"/>
    <dgm:cxn modelId="{130CEE53-E397-459A-BD4A-B871AA9A2BC9}" type="presParOf" srcId="{04DC9A75-965A-463D-B520-E333A0A6EA74}" destId="{6DBC68A4-752B-45AF-B4FB-16B8F91BEE9F}" srcOrd="0" destOrd="0" presId="urn:microsoft.com/office/officeart/2005/8/layout/process1"/>
    <dgm:cxn modelId="{9572B295-462E-4680-90FE-E4833B6FBA4F}" type="presParOf" srcId="{DC09AD31-24D8-46CD-AAF4-2D4434256ADF}" destId="{97D14975-13EA-4488-94EE-A256AF5338B5}" srcOrd="2" destOrd="0" presId="urn:microsoft.com/office/officeart/2005/8/layout/process1"/>
    <dgm:cxn modelId="{1C286C69-288B-41D4-BEDC-C20698593FCE}" type="presParOf" srcId="{DC09AD31-24D8-46CD-AAF4-2D4434256ADF}" destId="{B6436498-BFD3-4E2D-992D-21E084E3549B}" srcOrd="3" destOrd="0" presId="urn:microsoft.com/office/officeart/2005/8/layout/process1"/>
    <dgm:cxn modelId="{42F91D81-7552-4A8A-A465-ADECD58A3054}" type="presParOf" srcId="{B6436498-BFD3-4E2D-992D-21E084E3549B}" destId="{61EDEC0B-48BD-477D-8B67-3BE423FDD5C0}" srcOrd="0" destOrd="0" presId="urn:microsoft.com/office/officeart/2005/8/layout/process1"/>
    <dgm:cxn modelId="{B9BE28FA-0E38-46D1-928C-A19106AC0537}" type="presParOf" srcId="{DC09AD31-24D8-46CD-AAF4-2D4434256ADF}" destId="{76C04ED4-F8B7-446A-8A2F-FF6AC30C8D46}" srcOrd="4" destOrd="0" presId="urn:microsoft.com/office/officeart/2005/8/layout/process1"/>
    <dgm:cxn modelId="{37EAA362-719D-4BFB-86B8-28C621DF0EF0}" type="presParOf" srcId="{DC09AD31-24D8-46CD-AAF4-2D4434256ADF}" destId="{F667713C-F1E6-479A-AD08-1187986216D6}" srcOrd="5" destOrd="0" presId="urn:microsoft.com/office/officeart/2005/8/layout/process1"/>
    <dgm:cxn modelId="{F512F783-58BA-466C-BD57-3E495ADDC70C}" type="presParOf" srcId="{F667713C-F1E6-479A-AD08-1187986216D6}" destId="{B56D79D8-788A-4189-BAD8-DFB7B54F82C8}" srcOrd="0" destOrd="0" presId="urn:microsoft.com/office/officeart/2005/8/layout/process1"/>
    <dgm:cxn modelId="{1E9215C3-2B48-4183-92B7-7036AE4F8CFE}" type="presParOf" srcId="{DC09AD31-24D8-46CD-AAF4-2D4434256ADF}" destId="{459E371D-DB7C-4793-A392-FE575714FB98}" srcOrd="6"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07E8A1-8943-4CA6-8B27-FDA49779646D}" type="doc">
      <dgm:prSet loTypeId="urn:microsoft.com/office/officeart/2005/8/layout/orgChart1#2" loCatId="hierarchy" qsTypeId="urn:microsoft.com/office/officeart/2005/8/quickstyle/simple1#8" qsCatId="simple" csTypeId="urn:microsoft.com/office/officeart/2005/8/colors/colorful3#2" csCatId="colorful" phldr="1"/>
      <dgm:spPr/>
      <dgm:t>
        <a:bodyPr/>
        <a:lstStyle/>
        <a:p>
          <a:endParaRPr lang="zh-CN" altLang="en-US"/>
        </a:p>
      </dgm:t>
    </dgm:pt>
    <dgm:pt modelId="{CC73E87A-EA6F-4B01-8134-47E1C81F7ED2}">
      <dgm:prSet phldrT="[文本]" custT="1"/>
      <dgm:spPr>
        <a:solidFill>
          <a:schemeClr val="bg1"/>
        </a:solidFill>
      </dgm:spPr>
      <dgm:t>
        <a:bodyPr/>
        <a:lstStyle/>
        <a:p>
          <a:r>
            <a:rPr lang="zh-CN" altLang="en-US" sz="2400" b="1" dirty="0">
              <a:solidFill>
                <a:srgbClr val="FF0000"/>
              </a:solidFill>
              <a:latin typeface="黑体" panose="02010609060101010101" pitchFamily="49" charset="-122"/>
              <a:ea typeface="黑体" panose="02010609060101010101" pitchFamily="49" charset="-122"/>
            </a:rPr>
            <a:t>唯物辩证法基本规律</a:t>
          </a:r>
        </a:p>
      </dgm:t>
    </dgm:pt>
    <dgm:pt modelId="{DD9256E5-2BDF-4BBA-BAF5-B1E5E7601E30}" cxnId="{1D6FFB02-28D4-45B1-8BCA-72062D220EA6}" type="parTrans">
      <dgm:prSet/>
      <dgm:spPr/>
      <dgm:t>
        <a:bodyPr/>
        <a:lstStyle/>
        <a:p>
          <a:endParaRPr lang="zh-CN" altLang="en-US"/>
        </a:p>
      </dgm:t>
    </dgm:pt>
    <dgm:pt modelId="{B56CE9B2-31EB-4C86-8AE2-9547875F0B59}" cxnId="{1D6FFB02-28D4-45B1-8BCA-72062D220EA6}" type="sibTrans">
      <dgm:prSet/>
      <dgm:spPr/>
      <dgm:t>
        <a:bodyPr/>
        <a:lstStyle/>
        <a:p>
          <a:endParaRPr lang="zh-CN" altLang="en-US"/>
        </a:p>
      </dgm:t>
    </dgm:pt>
    <dgm:pt modelId="{33A58575-823D-4F77-BC68-6CFA9059CF28}" type="asst">
      <dgm:prSet phldrT="[文本]" custT="1"/>
      <dgm:spPr/>
      <dgm:t>
        <a:bodyPr/>
        <a:lstStyle/>
        <a:p>
          <a:r>
            <a:rPr lang="zh-CN" altLang="en-US" sz="2400" b="1" dirty="0">
              <a:solidFill>
                <a:schemeClr val="tx1"/>
              </a:solidFill>
            </a:rPr>
            <a:t>对立统一规律</a:t>
          </a:r>
        </a:p>
      </dgm:t>
    </dgm:pt>
    <dgm:pt modelId="{46183505-C129-42B5-B172-4782D0EF0BE8}" cxnId="{369225DB-F989-4464-9813-FCB2A5CE2181}" type="parTrans">
      <dgm:prSet/>
      <dgm:spPr/>
      <dgm:t>
        <a:bodyPr/>
        <a:lstStyle/>
        <a:p>
          <a:endParaRPr lang="zh-CN" altLang="en-US" sz="1200"/>
        </a:p>
      </dgm:t>
    </dgm:pt>
    <dgm:pt modelId="{4DF6E7D3-899B-41C9-BCEB-95526573EE89}" cxnId="{369225DB-F989-4464-9813-FCB2A5CE2181}" type="sibTrans">
      <dgm:prSet/>
      <dgm:spPr/>
      <dgm:t>
        <a:bodyPr/>
        <a:lstStyle/>
        <a:p>
          <a:endParaRPr lang="zh-CN" altLang="en-US"/>
        </a:p>
      </dgm:t>
    </dgm:pt>
    <dgm:pt modelId="{1B17C599-E35B-4811-B0DC-490EDFB6B2B6}">
      <dgm:prSet phldrT="[文本]" custT="1"/>
      <dgm:spPr/>
      <dgm:t>
        <a:bodyPr/>
        <a:lstStyle/>
        <a:p>
          <a:r>
            <a:rPr lang="zh-CN" altLang="en-US" sz="2400" b="1" dirty="0">
              <a:solidFill>
                <a:schemeClr val="tx1"/>
              </a:solidFill>
            </a:rPr>
            <a:t>量变质变规律</a:t>
          </a:r>
        </a:p>
      </dgm:t>
    </dgm:pt>
    <dgm:pt modelId="{2E8DF55A-EDD2-4F2E-9091-55C3B30EB2EB}" cxnId="{47DCC0B0-C4D3-4346-B549-14E721852C0F}" type="parTrans">
      <dgm:prSet/>
      <dgm:spPr/>
      <dgm:t>
        <a:bodyPr/>
        <a:lstStyle/>
        <a:p>
          <a:endParaRPr lang="zh-CN" altLang="en-US" sz="1200"/>
        </a:p>
      </dgm:t>
    </dgm:pt>
    <dgm:pt modelId="{488403AB-4F75-4725-AE07-AD88A6EB2A44}" cxnId="{47DCC0B0-C4D3-4346-B549-14E721852C0F}" type="sibTrans">
      <dgm:prSet/>
      <dgm:spPr/>
      <dgm:t>
        <a:bodyPr/>
        <a:lstStyle/>
        <a:p>
          <a:endParaRPr lang="zh-CN" altLang="en-US"/>
        </a:p>
      </dgm:t>
    </dgm:pt>
    <dgm:pt modelId="{ACC82081-4471-41BB-B1E8-D79EE16644AE}">
      <dgm:prSet phldrT="[文本]" custT="1"/>
      <dgm:spPr/>
      <dgm:t>
        <a:bodyPr/>
        <a:lstStyle/>
        <a:p>
          <a:r>
            <a:rPr lang="zh-CN" altLang="en-US" sz="2400" b="1" dirty="0">
              <a:solidFill>
                <a:schemeClr val="tx1"/>
              </a:solidFill>
            </a:rPr>
            <a:t>否定之否定规律</a:t>
          </a:r>
        </a:p>
      </dgm:t>
    </dgm:pt>
    <dgm:pt modelId="{CADA5D65-F923-4E00-AD9E-91791DBE03E6}" cxnId="{75C12364-7343-448E-B087-043A42F9635F}" type="parTrans">
      <dgm:prSet/>
      <dgm:spPr/>
      <dgm:t>
        <a:bodyPr/>
        <a:lstStyle/>
        <a:p>
          <a:endParaRPr lang="zh-CN" altLang="en-US" sz="1200"/>
        </a:p>
      </dgm:t>
    </dgm:pt>
    <dgm:pt modelId="{D3AE1FDA-19B1-4CD5-9D2D-6CF1CFA8BBF5}" cxnId="{75C12364-7343-448E-B087-043A42F9635F}" type="sibTrans">
      <dgm:prSet/>
      <dgm:spPr/>
      <dgm:t>
        <a:bodyPr/>
        <a:lstStyle/>
        <a:p>
          <a:endParaRPr lang="zh-CN" altLang="en-US"/>
        </a:p>
      </dgm:t>
    </dgm:pt>
    <dgm:pt modelId="{DA561A6E-59B3-491D-8912-123626189915}" type="pres">
      <dgm:prSet presAssocID="{6507E8A1-8943-4CA6-8B27-FDA49779646D}" presName="hierChild1" presStyleCnt="0">
        <dgm:presLayoutVars>
          <dgm:orgChart val="1"/>
          <dgm:chPref val="1"/>
          <dgm:dir/>
          <dgm:animOne val="branch"/>
          <dgm:animLvl val="lvl"/>
          <dgm:resizeHandles/>
        </dgm:presLayoutVars>
      </dgm:prSet>
      <dgm:spPr/>
      <dgm:t>
        <a:bodyPr/>
        <a:lstStyle/>
        <a:p>
          <a:endParaRPr lang="zh-CN" altLang="en-US"/>
        </a:p>
      </dgm:t>
    </dgm:pt>
    <dgm:pt modelId="{2E8107FE-7C8E-4ABE-A325-9D591DB1C6D5}" type="pres">
      <dgm:prSet presAssocID="{CC73E87A-EA6F-4B01-8134-47E1C81F7ED2}" presName="hierRoot1" presStyleCnt="0">
        <dgm:presLayoutVars>
          <dgm:hierBranch val="init"/>
        </dgm:presLayoutVars>
      </dgm:prSet>
      <dgm:spPr/>
    </dgm:pt>
    <dgm:pt modelId="{17336285-D599-4254-9974-5210CBCABDD9}" type="pres">
      <dgm:prSet presAssocID="{CC73E87A-EA6F-4B01-8134-47E1C81F7ED2}" presName="rootComposite1" presStyleCnt="0"/>
      <dgm:spPr/>
    </dgm:pt>
    <dgm:pt modelId="{08A312A1-C219-418E-9873-BED88B4E0072}" type="pres">
      <dgm:prSet presAssocID="{CC73E87A-EA6F-4B01-8134-47E1C81F7ED2}" presName="rootText1" presStyleLbl="node0" presStyleIdx="0" presStyleCnt="1" custScaleX="145428" custScaleY="49293" custLinFactNeighborX="1027" custLinFactNeighborY="-87693">
        <dgm:presLayoutVars>
          <dgm:chPref val="3"/>
        </dgm:presLayoutVars>
      </dgm:prSet>
      <dgm:spPr/>
      <dgm:t>
        <a:bodyPr/>
        <a:lstStyle/>
        <a:p>
          <a:endParaRPr lang="zh-CN" altLang="en-US"/>
        </a:p>
      </dgm:t>
    </dgm:pt>
    <dgm:pt modelId="{EBCAD705-9BF1-4410-8D44-FB931345FA2B}" type="pres">
      <dgm:prSet presAssocID="{CC73E87A-EA6F-4B01-8134-47E1C81F7ED2}" presName="rootConnector1" presStyleLbl="node1" presStyleIdx="0" presStyleCnt="0"/>
      <dgm:spPr/>
      <dgm:t>
        <a:bodyPr/>
        <a:lstStyle/>
        <a:p>
          <a:endParaRPr lang="zh-CN" altLang="en-US"/>
        </a:p>
      </dgm:t>
    </dgm:pt>
    <dgm:pt modelId="{25702D99-811E-4273-9E58-BC8682DCF553}" type="pres">
      <dgm:prSet presAssocID="{CC73E87A-EA6F-4B01-8134-47E1C81F7ED2}" presName="hierChild2" presStyleCnt="0"/>
      <dgm:spPr/>
    </dgm:pt>
    <dgm:pt modelId="{D6EF10C8-AC4F-4032-B277-F7B39EA3F0BD}" type="pres">
      <dgm:prSet presAssocID="{2E8DF55A-EDD2-4F2E-9091-55C3B30EB2EB}" presName="Name37" presStyleLbl="parChTrans1D2" presStyleIdx="0" presStyleCnt="3"/>
      <dgm:spPr/>
      <dgm:t>
        <a:bodyPr/>
        <a:lstStyle/>
        <a:p>
          <a:endParaRPr lang="zh-CN" altLang="en-US"/>
        </a:p>
      </dgm:t>
    </dgm:pt>
    <dgm:pt modelId="{7E6D3C40-34D1-49A0-ABAB-8A9139FD49F4}" type="pres">
      <dgm:prSet presAssocID="{1B17C599-E35B-4811-B0DC-490EDFB6B2B6}" presName="hierRoot2" presStyleCnt="0">
        <dgm:presLayoutVars>
          <dgm:hierBranch val="init"/>
        </dgm:presLayoutVars>
      </dgm:prSet>
      <dgm:spPr/>
    </dgm:pt>
    <dgm:pt modelId="{AEF44A08-29F1-4395-B9EC-AC7BCB5FD78A}" type="pres">
      <dgm:prSet presAssocID="{1B17C599-E35B-4811-B0DC-490EDFB6B2B6}" presName="rootComposite" presStyleCnt="0"/>
      <dgm:spPr/>
    </dgm:pt>
    <dgm:pt modelId="{01042643-282D-411C-9267-F83514D62E69}" type="pres">
      <dgm:prSet presAssocID="{1B17C599-E35B-4811-B0DC-490EDFB6B2B6}" presName="rootText" presStyleLbl="node2" presStyleIdx="0" presStyleCnt="2" custScaleY="42176" custLinFactNeighborX="1700" custLinFactNeighborY="69020">
        <dgm:presLayoutVars>
          <dgm:chPref val="3"/>
        </dgm:presLayoutVars>
      </dgm:prSet>
      <dgm:spPr/>
      <dgm:t>
        <a:bodyPr/>
        <a:lstStyle/>
        <a:p>
          <a:endParaRPr lang="zh-CN" altLang="en-US"/>
        </a:p>
      </dgm:t>
    </dgm:pt>
    <dgm:pt modelId="{D20801A9-46EB-4E9D-8D80-D9AE7F63DC92}" type="pres">
      <dgm:prSet presAssocID="{1B17C599-E35B-4811-B0DC-490EDFB6B2B6}" presName="rootConnector" presStyleLbl="node2" presStyleIdx="0" presStyleCnt="2"/>
      <dgm:spPr/>
      <dgm:t>
        <a:bodyPr/>
        <a:lstStyle/>
        <a:p>
          <a:endParaRPr lang="zh-CN" altLang="en-US"/>
        </a:p>
      </dgm:t>
    </dgm:pt>
    <dgm:pt modelId="{14A55DE6-A169-4169-AAA8-9FEDB82C9F3D}" type="pres">
      <dgm:prSet presAssocID="{1B17C599-E35B-4811-B0DC-490EDFB6B2B6}" presName="hierChild4" presStyleCnt="0"/>
      <dgm:spPr/>
    </dgm:pt>
    <dgm:pt modelId="{42686552-CA08-4505-81D8-56670909E854}" type="pres">
      <dgm:prSet presAssocID="{1B17C599-E35B-4811-B0DC-490EDFB6B2B6}" presName="hierChild5" presStyleCnt="0"/>
      <dgm:spPr/>
    </dgm:pt>
    <dgm:pt modelId="{7DCFAF35-4B81-4D8A-904E-C454F8E948E6}" type="pres">
      <dgm:prSet presAssocID="{CADA5D65-F923-4E00-AD9E-91791DBE03E6}" presName="Name37" presStyleLbl="parChTrans1D2" presStyleIdx="1" presStyleCnt="3"/>
      <dgm:spPr/>
      <dgm:t>
        <a:bodyPr/>
        <a:lstStyle/>
        <a:p>
          <a:endParaRPr lang="zh-CN" altLang="en-US"/>
        </a:p>
      </dgm:t>
    </dgm:pt>
    <dgm:pt modelId="{3E43CB3E-9050-42C8-8007-89C0861051E2}" type="pres">
      <dgm:prSet presAssocID="{ACC82081-4471-41BB-B1E8-D79EE16644AE}" presName="hierRoot2" presStyleCnt="0">
        <dgm:presLayoutVars>
          <dgm:hierBranch val="init"/>
        </dgm:presLayoutVars>
      </dgm:prSet>
      <dgm:spPr/>
    </dgm:pt>
    <dgm:pt modelId="{90FBC671-A51B-4A9D-948F-DB3689F9510C}" type="pres">
      <dgm:prSet presAssocID="{ACC82081-4471-41BB-B1E8-D79EE16644AE}" presName="rootComposite" presStyleCnt="0"/>
      <dgm:spPr/>
    </dgm:pt>
    <dgm:pt modelId="{57A536FF-6533-42EA-B06E-D44A927988CE}" type="pres">
      <dgm:prSet presAssocID="{ACC82081-4471-41BB-B1E8-D79EE16644AE}" presName="rootText" presStyleLbl="node2" presStyleIdx="1" presStyleCnt="2" custScaleY="40495" custLinFactNeighborX="2308" custLinFactNeighborY="69020">
        <dgm:presLayoutVars>
          <dgm:chPref val="3"/>
        </dgm:presLayoutVars>
      </dgm:prSet>
      <dgm:spPr/>
      <dgm:t>
        <a:bodyPr/>
        <a:lstStyle/>
        <a:p>
          <a:endParaRPr lang="zh-CN" altLang="en-US"/>
        </a:p>
      </dgm:t>
    </dgm:pt>
    <dgm:pt modelId="{80BEBE74-89A3-492A-A0DD-5E1512C69636}" type="pres">
      <dgm:prSet presAssocID="{ACC82081-4471-41BB-B1E8-D79EE16644AE}" presName="rootConnector" presStyleLbl="node2" presStyleIdx="1" presStyleCnt="2"/>
      <dgm:spPr/>
      <dgm:t>
        <a:bodyPr/>
        <a:lstStyle/>
        <a:p>
          <a:endParaRPr lang="zh-CN" altLang="en-US"/>
        </a:p>
      </dgm:t>
    </dgm:pt>
    <dgm:pt modelId="{D3B4E4D7-438E-466F-92CE-B89F310EE637}" type="pres">
      <dgm:prSet presAssocID="{ACC82081-4471-41BB-B1E8-D79EE16644AE}" presName="hierChild4" presStyleCnt="0"/>
      <dgm:spPr/>
    </dgm:pt>
    <dgm:pt modelId="{1014BE3A-2429-402D-A74A-1F583E60A3F2}" type="pres">
      <dgm:prSet presAssocID="{ACC82081-4471-41BB-B1E8-D79EE16644AE}" presName="hierChild5" presStyleCnt="0"/>
      <dgm:spPr/>
    </dgm:pt>
    <dgm:pt modelId="{13E56896-5261-4F68-B058-231A243F5F08}" type="pres">
      <dgm:prSet presAssocID="{CC73E87A-EA6F-4B01-8134-47E1C81F7ED2}" presName="hierChild3" presStyleCnt="0"/>
      <dgm:spPr/>
    </dgm:pt>
    <dgm:pt modelId="{9573D278-3089-4081-829E-C6BED764BDDD}" type="pres">
      <dgm:prSet presAssocID="{46183505-C129-42B5-B172-4782D0EF0BE8}" presName="Name111" presStyleLbl="parChTrans1D2" presStyleIdx="2" presStyleCnt="3"/>
      <dgm:spPr/>
      <dgm:t>
        <a:bodyPr/>
        <a:lstStyle/>
        <a:p>
          <a:endParaRPr lang="zh-CN" altLang="en-US"/>
        </a:p>
      </dgm:t>
    </dgm:pt>
    <dgm:pt modelId="{242A9A50-FB7D-4648-B60A-63423E2B22A7}" type="pres">
      <dgm:prSet presAssocID="{33A58575-823D-4F77-BC68-6CFA9059CF28}" presName="hierRoot3" presStyleCnt="0">
        <dgm:presLayoutVars>
          <dgm:hierBranch val="init"/>
        </dgm:presLayoutVars>
      </dgm:prSet>
      <dgm:spPr/>
    </dgm:pt>
    <dgm:pt modelId="{E5E7145A-3CE0-4B62-9FEC-34BC47C06CC9}" type="pres">
      <dgm:prSet presAssocID="{33A58575-823D-4F77-BC68-6CFA9059CF28}" presName="rootComposite3" presStyleCnt="0"/>
      <dgm:spPr/>
    </dgm:pt>
    <dgm:pt modelId="{E93760FF-DEA8-4F62-814C-1F649FC7E1EF}" type="pres">
      <dgm:prSet presAssocID="{33A58575-823D-4F77-BC68-6CFA9059CF28}" presName="rootText3" presStyleLbl="asst1" presStyleIdx="0" presStyleCnt="1">
        <dgm:presLayoutVars>
          <dgm:chPref val="3"/>
        </dgm:presLayoutVars>
      </dgm:prSet>
      <dgm:spPr/>
      <dgm:t>
        <a:bodyPr/>
        <a:lstStyle/>
        <a:p>
          <a:endParaRPr lang="zh-CN" altLang="en-US"/>
        </a:p>
      </dgm:t>
    </dgm:pt>
    <dgm:pt modelId="{830F1BB0-4DF5-4739-A24C-BFD50450A75F}" type="pres">
      <dgm:prSet presAssocID="{33A58575-823D-4F77-BC68-6CFA9059CF28}" presName="rootConnector3" presStyleLbl="asst1" presStyleIdx="0" presStyleCnt="1"/>
      <dgm:spPr/>
      <dgm:t>
        <a:bodyPr/>
        <a:lstStyle/>
        <a:p>
          <a:endParaRPr lang="zh-CN" altLang="en-US"/>
        </a:p>
      </dgm:t>
    </dgm:pt>
    <dgm:pt modelId="{1A6CF563-699A-4EB0-B85C-861D23A2C1A3}" type="pres">
      <dgm:prSet presAssocID="{33A58575-823D-4F77-BC68-6CFA9059CF28}" presName="hierChild6" presStyleCnt="0"/>
      <dgm:spPr/>
    </dgm:pt>
    <dgm:pt modelId="{821DE461-32F2-4AA6-A540-5F0F478C7354}" type="pres">
      <dgm:prSet presAssocID="{33A58575-823D-4F77-BC68-6CFA9059CF28}" presName="hierChild7" presStyleCnt="0"/>
      <dgm:spPr/>
    </dgm:pt>
  </dgm:ptLst>
  <dgm:cxnLst>
    <dgm:cxn modelId="{1A0E2F2C-E813-4789-9B3A-537B0406A76D}" type="presOf" srcId="{2E8DF55A-EDD2-4F2E-9091-55C3B30EB2EB}" destId="{D6EF10C8-AC4F-4032-B277-F7B39EA3F0BD}" srcOrd="0" destOrd="0" presId="urn:microsoft.com/office/officeart/2005/8/layout/orgChart1#2"/>
    <dgm:cxn modelId="{B0546EAC-9ECC-4FB7-B79D-BEE8B94ADA00}" type="presOf" srcId="{ACC82081-4471-41BB-B1E8-D79EE16644AE}" destId="{80BEBE74-89A3-492A-A0DD-5E1512C69636}" srcOrd="1" destOrd="0" presId="urn:microsoft.com/office/officeart/2005/8/layout/orgChart1#2"/>
    <dgm:cxn modelId="{369225DB-F989-4464-9813-FCB2A5CE2181}" srcId="{CC73E87A-EA6F-4B01-8134-47E1C81F7ED2}" destId="{33A58575-823D-4F77-BC68-6CFA9059CF28}" srcOrd="0" destOrd="0" parTransId="{46183505-C129-42B5-B172-4782D0EF0BE8}" sibTransId="{4DF6E7D3-899B-41C9-BCEB-95526573EE89}"/>
    <dgm:cxn modelId="{EC3B700C-9877-47E3-940B-FEB437BB4E76}" type="presOf" srcId="{CC73E87A-EA6F-4B01-8134-47E1C81F7ED2}" destId="{08A312A1-C219-418E-9873-BED88B4E0072}" srcOrd="0" destOrd="0" presId="urn:microsoft.com/office/officeart/2005/8/layout/orgChart1#2"/>
    <dgm:cxn modelId="{DE05EB81-84A4-424E-9B69-C3F00909B73F}" type="presOf" srcId="{1B17C599-E35B-4811-B0DC-490EDFB6B2B6}" destId="{01042643-282D-411C-9267-F83514D62E69}" srcOrd="0" destOrd="0" presId="urn:microsoft.com/office/officeart/2005/8/layout/orgChart1#2"/>
    <dgm:cxn modelId="{75C12364-7343-448E-B087-043A42F9635F}" srcId="{CC73E87A-EA6F-4B01-8134-47E1C81F7ED2}" destId="{ACC82081-4471-41BB-B1E8-D79EE16644AE}" srcOrd="2" destOrd="0" parTransId="{CADA5D65-F923-4E00-AD9E-91791DBE03E6}" sibTransId="{D3AE1FDA-19B1-4CD5-9D2D-6CF1CFA8BBF5}"/>
    <dgm:cxn modelId="{41C8CB45-3A6B-4A51-A107-5DA637ACA906}" type="presOf" srcId="{46183505-C129-42B5-B172-4782D0EF0BE8}" destId="{9573D278-3089-4081-829E-C6BED764BDDD}" srcOrd="0" destOrd="0" presId="urn:microsoft.com/office/officeart/2005/8/layout/orgChart1#2"/>
    <dgm:cxn modelId="{CF033B18-3DFB-45AF-B2D4-DEBDB722053C}" type="presOf" srcId="{CADA5D65-F923-4E00-AD9E-91791DBE03E6}" destId="{7DCFAF35-4B81-4D8A-904E-C454F8E948E6}" srcOrd="0" destOrd="0" presId="urn:microsoft.com/office/officeart/2005/8/layout/orgChart1#2"/>
    <dgm:cxn modelId="{1EA6CB1F-166F-446B-A472-27936F8AE1B4}" type="presOf" srcId="{33A58575-823D-4F77-BC68-6CFA9059CF28}" destId="{830F1BB0-4DF5-4739-A24C-BFD50450A75F}" srcOrd="1" destOrd="0" presId="urn:microsoft.com/office/officeart/2005/8/layout/orgChart1#2"/>
    <dgm:cxn modelId="{CB09E0FE-71DA-4D1C-8456-08222430E94C}" type="presOf" srcId="{ACC82081-4471-41BB-B1E8-D79EE16644AE}" destId="{57A536FF-6533-42EA-B06E-D44A927988CE}" srcOrd="0" destOrd="0" presId="urn:microsoft.com/office/officeart/2005/8/layout/orgChart1#2"/>
    <dgm:cxn modelId="{47DCC0B0-C4D3-4346-B549-14E721852C0F}" srcId="{CC73E87A-EA6F-4B01-8134-47E1C81F7ED2}" destId="{1B17C599-E35B-4811-B0DC-490EDFB6B2B6}" srcOrd="1" destOrd="0" parTransId="{2E8DF55A-EDD2-4F2E-9091-55C3B30EB2EB}" sibTransId="{488403AB-4F75-4725-AE07-AD88A6EB2A44}"/>
    <dgm:cxn modelId="{03987393-F139-410C-81B2-3AB083A2DEBD}" type="presOf" srcId="{1B17C599-E35B-4811-B0DC-490EDFB6B2B6}" destId="{D20801A9-46EB-4E9D-8D80-D9AE7F63DC92}" srcOrd="1" destOrd="0" presId="urn:microsoft.com/office/officeart/2005/8/layout/orgChart1#2"/>
    <dgm:cxn modelId="{1D6FFB02-28D4-45B1-8BCA-72062D220EA6}" srcId="{6507E8A1-8943-4CA6-8B27-FDA49779646D}" destId="{CC73E87A-EA6F-4B01-8134-47E1C81F7ED2}" srcOrd="0" destOrd="0" parTransId="{DD9256E5-2BDF-4BBA-BAF5-B1E5E7601E30}" sibTransId="{B56CE9B2-31EB-4C86-8AE2-9547875F0B59}"/>
    <dgm:cxn modelId="{FFFF6F81-3295-43FE-9E07-E02968AA080F}" type="presOf" srcId="{CC73E87A-EA6F-4B01-8134-47E1C81F7ED2}" destId="{EBCAD705-9BF1-4410-8D44-FB931345FA2B}" srcOrd="1" destOrd="0" presId="urn:microsoft.com/office/officeart/2005/8/layout/orgChart1#2"/>
    <dgm:cxn modelId="{C3A66687-8C82-4D0D-B991-45EA21BD8FF4}" type="presOf" srcId="{33A58575-823D-4F77-BC68-6CFA9059CF28}" destId="{E93760FF-DEA8-4F62-814C-1F649FC7E1EF}" srcOrd="0" destOrd="0" presId="urn:microsoft.com/office/officeart/2005/8/layout/orgChart1#2"/>
    <dgm:cxn modelId="{559F6A61-9653-43AE-AC8E-6FC14B1F5C2F}" type="presOf" srcId="{6507E8A1-8943-4CA6-8B27-FDA49779646D}" destId="{DA561A6E-59B3-491D-8912-123626189915}" srcOrd="0" destOrd="0" presId="urn:microsoft.com/office/officeart/2005/8/layout/orgChart1#2"/>
    <dgm:cxn modelId="{553906F3-A8B9-4ABB-80C6-2578AA8EEC35}" type="presParOf" srcId="{DA561A6E-59B3-491D-8912-123626189915}" destId="{2E8107FE-7C8E-4ABE-A325-9D591DB1C6D5}" srcOrd="0" destOrd="0" presId="urn:microsoft.com/office/officeart/2005/8/layout/orgChart1#2"/>
    <dgm:cxn modelId="{30490ADA-E7CB-43DB-9934-DBFFD25E62E9}" type="presParOf" srcId="{2E8107FE-7C8E-4ABE-A325-9D591DB1C6D5}" destId="{17336285-D599-4254-9974-5210CBCABDD9}" srcOrd="0" destOrd="0" presId="urn:microsoft.com/office/officeart/2005/8/layout/orgChart1#2"/>
    <dgm:cxn modelId="{1884D4F6-7FF8-49E9-B7CE-92540BE7FF96}" type="presParOf" srcId="{17336285-D599-4254-9974-5210CBCABDD9}" destId="{08A312A1-C219-418E-9873-BED88B4E0072}" srcOrd="0" destOrd="0" presId="urn:microsoft.com/office/officeart/2005/8/layout/orgChart1#2"/>
    <dgm:cxn modelId="{6FD1D5D0-D35D-4038-AC3A-683C4466258B}" type="presParOf" srcId="{17336285-D599-4254-9974-5210CBCABDD9}" destId="{EBCAD705-9BF1-4410-8D44-FB931345FA2B}" srcOrd="1" destOrd="0" presId="urn:microsoft.com/office/officeart/2005/8/layout/orgChart1#2"/>
    <dgm:cxn modelId="{48B12A4F-9735-4899-A9E9-2A2C67056E79}" type="presParOf" srcId="{2E8107FE-7C8E-4ABE-A325-9D591DB1C6D5}" destId="{25702D99-811E-4273-9E58-BC8682DCF553}" srcOrd="1" destOrd="0" presId="urn:microsoft.com/office/officeart/2005/8/layout/orgChart1#2"/>
    <dgm:cxn modelId="{0DDD00EE-3799-4DEB-909F-FA4755C0D67E}" type="presParOf" srcId="{25702D99-811E-4273-9E58-BC8682DCF553}" destId="{D6EF10C8-AC4F-4032-B277-F7B39EA3F0BD}" srcOrd="0" destOrd="0" presId="urn:microsoft.com/office/officeart/2005/8/layout/orgChart1#2"/>
    <dgm:cxn modelId="{1687BE5D-40DF-44F7-98AD-541B47077938}" type="presParOf" srcId="{25702D99-811E-4273-9E58-BC8682DCF553}" destId="{7E6D3C40-34D1-49A0-ABAB-8A9139FD49F4}" srcOrd="1" destOrd="0" presId="urn:microsoft.com/office/officeart/2005/8/layout/orgChart1#2"/>
    <dgm:cxn modelId="{B3B32164-5730-48FA-BA03-BD40BF52C686}" type="presParOf" srcId="{7E6D3C40-34D1-49A0-ABAB-8A9139FD49F4}" destId="{AEF44A08-29F1-4395-B9EC-AC7BCB5FD78A}" srcOrd="0" destOrd="0" presId="urn:microsoft.com/office/officeart/2005/8/layout/orgChart1#2"/>
    <dgm:cxn modelId="{A018D747-5118-4321-920B-F49D7816DF05}" type="presParOf" srcId="{AEF44A08-29F1-4395-B9EC-AC7BCB5FD78A}" destId="{01042643-282D-411C-9267-F83514D62E69}" srcOrd="0" destOrd="0" presId="urn:microsoft.com/office/officeart/2005/8/layout/orgChart1#2"/>
    <dgm:cxn modelId="{1772BA88-14D2-4B3E-B1D5-5C6D82D4A714}" type="presParOf" srcId="{AEF44A08-29F1-4395-B9EC-AC7BCB5FD78A}" destId="{D20801A9-46EB-4E9D-8D80-D9AE7F63DC92}" srcOrd="1" destOrd="0" presId="urn:microsoft.com/office/officeart/2005/8/layout/orgChart1#2"/>
    <dgm:cxn modelId="{FD4B49F2-83FE-4547-B81C-5255CD39A4F0}" type="presParOf" srcId="{7E6D3C40-34D1-49A0-ABAB-8A9139FD49F4}" destId="{14A55DE6-A169-4169-AAA8-9FEDB82C9F3D}" srcOrd="1" destOrd="0" presId="urn:microsoft.com/office/officeart/2005/8/layout/orgChart1#2"/>
    <dgm:cxn modelId="{A1C794C9-CC30-442D-AC20-EC168F9695E0}" type="presParOf" srcId="{7E6D3C40-34D1-49A0-ABAB-8A9139FD49F4}" destId="{42686552-CA08-4505-81D8-56670909E854}" srcOrd="2" destOrd="0" presId="urn:microsoft.com/office/officeart/2005/8/layout/orgChart1#2"/>
    <dgm:cxn modelId="{8493F33A-69B6-4BE3-B3E9-8D161942CE3D}" type="presParOf" srcId="{25702D99-811E-4273-9E58-BC8682DCF553}" destId="{7DCFAF35-4B81-4D8A-904E-C454F8E948E6}" srcOrd="2" destOrd="0" presId="urn:microsoft.com/office/officeart/2005/8/layout/orgChart1#2"/>
    <dgm:cxn modelId="{88601B99-1BC5-49F2-9BFF-61A9DB495CAD}" type="presParOf" srcId="{25702D99-811E-4273-9E58-BC8682DCF553}" destId="{3E43CB3E-9050-42C8-8007-89C0861051E2}" srcOrd="3" destOrd="0" presId="urn:microsoft.com/office/officeart/2005/8/layout/orgChart1#2"/>
    <dgm:cxn modelId="{B8292FA8-DB50-44D0-92A3-9F4F04F08511}" type="presParOf" srcId="{3E43CB3E-9050-42C8-8007-89C0861051E2}" destId="{90FBC671-A51B-4A9D-948F-DB3689F9510C}" srcOrd="0" destOrd="0" presId="urn:microsoft.com/office/officeart/2005/8/layout/orgChart1#2"/>
    <dgm:cxn modelId="{33B71695-78DB-4576-9CB4-7FA4E051B79D}" type="presParOf" srcId="{90FBC671-A51B-4A9D-948F-DB3689F9510C}" destId="{57A536FF-6533-42EA-B06E-D44A927988CE}" srcOrd="0" destOrd="0" presId="urn:microsoft.com/office/officeart/2005/8/layout/orgChart1#2"/>
    <dgm:cxn modelId="{528FEFBC-AA7B-4673-BD6A-BA7BEE95523D}" type="presParOf" srcId="{90FBC671-A51B-4A9D-948F-DB3689F9510C}" destId="{80BEBE74-89A3-492A-A0DD-5E1512C69636}" srcOrd="1" destOrd="0" presId="urn:microsoft.com/office/officeart/2005/8/layout/orgChart1#2"/>
    <dgm:cxn modelId="{589CFFE4-F80C-445A-A06F-6366F5188B7A}" type="presParOf" srcId="{3E43CB3E-9050-42C8-8007-89C0861051E2}" destId="{D3B4E4D7-438E-466F-92CE-B89F310EE637}" srcOrd="1" destOrd="0" presId="urn:microsoft.com/office/officeart/2005/8/layout/orgChart1#2"/>
    <dgm:cxn modelId="{8611A7F2-0CEA-4995-A0F6-D2627D30AF9E}" type="presParOf" srcId="{3E43CB3E-9050-42C8-8007-89C0861051E2}" destId="{1014BE3A-2429-402D-A74A-1F583E60A3F2}" srcOrd="2" destOrd="0" presId="urn:microsoft.com/office/officeart/2005/8/layout/orgChart1#2"/>
    <dgm:cxn modelId="{F080E415-132E-4A82-B534-228345A00554}" type="presParOf" srcId="{2E8107FE-7C8E-4ABE-A325-9D591DB1C6D5}" destId="{13E56896-5261-4F68-B058-231A243F5F08}" srcOrd="2" destOrd="0" presId="urn:microsoft.com/office/officeart/2005/8/layout/orgChart1#2"/>
    <dgm:cxn modelId="{FEEDA95F-F9F4-4AB2-AFDF-FC79BCD1339C}" type="presParOf" srcId="{13E56896-5261-4F68-B058-231A243F5F08}" destId="{9573D278-3089-4081-829E-C6BED764BDDD}" srcOrd="0" destOrd="0" presId="urn:microsoft.com/office/officeart/2005/8/layout/orgChart1#2"/>
    <dgm:cxn modelId="{EDC74FFD-D8AA-4F76-8CDE-C940BE928BFD}" type="presParOf" srcId="{13E56896-5261-4F68-B058-231A243F5F08}" destId="{242A9A50-FB7D-4648-B60A-63423E2B22A7}" srcOrd="1" destOrd="0" presId="urn:microsoft.com/office/officeart/2005/8/layout/orgChart1#2"/>
    <dgm:cxn modelId="{23FBCCF0-70A3-4220-B120-9535FB5BA9A7}" type="presParOf" srcId="{242A9A50-FB7D-4648-B60A-63423E2B22A7}" destId="{E5E7145A-3CE0-4B62-9FEC-34BC47C06CC9}" srcOrd="0" destOrd="0" presId="urn:microsoft.com/office/officeart/2005/8/layout/orgChart1#2"/>
    <dgm:cxn modelId="{0DB899FF-FBC0-440F-84C4-1B8BB0D5B7CA}" type="presParOf" srcId="{E5E7145A-3CE0-4B62-9FEC-34BC47C06CC9}" destId="{E93760FF-DEA8-4F62-814C-1F649FC7E1EF}" srcOrd="0" destOrd="0" presId="urn:microsoft.com/office/officeart/2005/8/layout/orgChart1#2"/>
    <dgm:cxn modelId="{761D1E43-FD26-4992-96C1-DA9535DBAECE}" type="presParOf" srcId="{E5E7145A-3CE0-4B62-9FEC-34BC47C06CC9}" destId="{830F1BB0-4DF5-4739-A24C-BFD50450A75F}" srcOrd="1" destOrd="0" presId="urn:microsoft.com/office/officeart/2005/8/layout/orgChart1#2"/>
    <dgm:cxn modelId="{966E2D01-44F8-4D83-BC2F-9561C3CCAA5D}" type="presParOf" srcId="{242A9A50-FB7D-4648-B60A-63423E2B22A7}" destId="{1A6CF563-699A-4EB0-B85C-861D23A2C1A3}" srcOrd="1" destOrd="0" presId="urn:microsoft.com/office/officeart/2005/8/layout/orgChart1#2"/>
    <dgm:cxn modelId="{D1294DAC-BED2-4EC0-8CF2-86762D107EF7}" type="presParOf" srcId="{242A9A50-FB7D-4648-B60A-63423E2B22A7}" destId="{821DE461-32F2-4AA6-A540-5F0F478C7354}" srcOrd="2" destOrd="0" presId="urn:microsoft.com/office/officeart/2005/8/layout/orgChart1#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C2955F-E717-4DE2-B344-3785566CA190}" type="doc">
      <dgm:prSet loTypeId="urn:microsoft.com/office/officeart/2008/layout/HorizontalMultiLevelHierarchy" loCatId="hierarchy" qsTypeId="urn:microsoft.com/office/officeart/2005/8/quickstyle/simple1#1" qsCatId="simple" csTypeId="urn:microsoft.com/office/officeart/2005/8/colors/colorful3#1" csCatId="colorful" phldr="1"/>
      <dgm:spPr/>
      <dgm:t>
        <a:bodyPr/>
        <a:lstStyle/>
        <a:p>
          <a:endParaRPr lang="zh-CN" altLang="en-US"/>
        </a:p>
      </dgm:t>
    </dgm:pt>
    <dgm:pt modelId="{96726C14-4A4D-41E4-916D-9BA65E287ECD}">
      <dgm:prSet phldrT="[文本]"/>
      <dgm:spPr/>
      <dgm:t>
        <a:bodyPr vert="vert"/>
        <a:lstStyle/>
        <a:p>
          <a:r>
            <a:rPr lang="zh-CN" altLang="en-US" dirty="0"/>
            <a:t>唯物辩证法</a:t>
          </a:r>
        </a:p>
      </dgm:t>
    </dgm:pt>
    <dgm:pt modelId="{4B78DE78-948B-4672-86A3-0C7A285CD96F}" cxnId="{1466A3C3-980B-4017-8B7F-86F9F3701004}" type="parTrans">
      <dgm:prSet/>
      <dgm:spPr/>
      <dgm:t>
        <a:bodyPr/>
        <a:lstStyle/>
        <a:p>
          <a:endParaRPr lang="zh-CN" altLang="en-US"/>
        </a:p>
      </dgm:t>
    </dgm:pt>
    <dgm:pt modelId="{F1609167-ED25-43D6-B903-3891E3C87326}" cxnId="{1466A3C3-980B-4017-8B7F-86F9F3701004}" type="sibTrans">
      <dgm:prSet/>
      <dgm:spPr/>
      <dgm:t>
        <a:bodyPr/>
        <a:lstStyle/>
        <a:p>
          <a:endParaRPr lang="zh-CN" altLang="en-US"/>
        </a:p>
      </dgm:t>
    </dgm:pt>
    <dgm:pt modelId="{168AD7D9-85F4-4526-A8BD-C86BE55225A3}">
      <dgm:prSet phldrT="[文本]"/>
      <dgm:spPr/>
      <dgm:t>
        <a:bodyPr/>
        <a:lstStyle/>
        <a:p>
          <a:r>
            <a:rPr lang="zh-CN" altLang="en-US" dirty="0"/>
            <a:t>客观辩证法</a:t>
          </a:r>
        </a:p>
      </dgm:t>
    </dgm:pt>
    <dgm:pt modelId="{7B50C1BD-D5A3-4D10-B428-2F0584B20ADF}" cxnId="{8698AD79-5C78-4BB0-A56F-68E14AE9EF14}" type="parTrans">
      <dgm:prSet/>
      <dgm:spPr/>
      <dgm:t>
        <a:bodyPr/>
        <a:lstStyle/>
        <a:p>
          <a:endParaRPr lang="zh-CN" altLang="en-US"/>
        </a:p>
      </dgm:t>
    </dgm:pt>
    <dgm:pt modelId="{13E47F3E-9CEE-42C0-A584-AC17C9EBC57A}" cxnId="{8698AD79-5C78-4BB0-A56F-68E14AE9EF14}" type="sibTrans">
      <dgm:prSet/>
      <dgm:spPr/>
      <dgm:t>
        <a:bodyPr/>
        <a:lstStyle/>
        <a:p>
          <a:endParaRPr lang="zh-CN" altLang="en-US"/>
        </a:p>
      </dgm:t>
    </dgm:pt>
    <dgm:pt modelId="{48C6D753-DD7B-4ECE-A767-8A9B67EFABE9}">
      <dgm:prSet phldrT="[文本]"/>
      <dgm:spPr/>
      <dgm:t>
        <a:bodyPr/>
        <a:lstStyle/>
        <a:p>
          <a:r>
            <a:rPr lang="zh-CN" altLang="en-US" dirty="0"/>
            <a:t>主观辩证法</a:t>
          </a:r>
        </a:p>
      </dgm:t>
    </dgm:pt>
    <dgm:pt modelId="{7BEC71DF-8B0F-459E-9E3A-D514FCFE9DB1}" cxnId="{4162AD5E-A831-45A0-8469-43402AD1CC4B}" type="parTrans">
      <dgm:prSet/>
      <dgm:spPr/>
      <dgm:t>
        <a:bodyPr/>
        <a:lstStyle/>
        <a:p>
          <a:endParaRPr lang="zh-CN" altLang="en-US"/>
        </a:p>
      </dgm:t>
    </dgm:pt>
    <dgm:pt modelId="{BD41C7D0-EAEA-4154-AA53-8022F18B8F0E}" cxnId="{4162AD5E-A831-45A0-8469-43402AD1CC4B}" type="sibTrans">
      <dgm:prSet/>
      <dgm:spPr/>
      <dgm:t>
        <a:bodyPr/>
        <a:lstStyle/>
        <a:p>
          <a:endParaRPr lang="zh-CN" altLang="en-US"/>
        </a:p>
      </dgm:t>
    </dgm:pt>
    <dgm:pt modelId="{BDEBD6E2-4470-4A9E-ADA2-E99878BBD6BE}" type="pres">
      <dgm:prSet presAssocID="{3DC2955F-E717-4DE2-B344-3785566CA190}" presName="Name0" presStyleCnt="0">
        <dgm:presLayoutVars>
          <dgm:chPref val="1"/>
          <dgm:dir/>
          <dgm:animOne val="branch"/>
          <dgm:animLvl val="lvl"/>
          <dgm:resizeHandles val="exact"/>
        </dgm:presLayoutVars>
      </dgm:prSet>
      <dgm:spPr/>
      <dgm:t>
        <a:bodyPr/>
        <a:lstStyle/>
        <a:p>
          <a:endParaRPr lang="zh-CN" altLang="en-US"/>
        </a:p>
      </dgm:t>
    </dgm:pt>
    <dgm:pt modelId="{AB862E86-5565-433A-96AF-4F4C7AD4ABDA}" type="pres">
      <dgm:prSet presAssocID="{96726C14-4A4D-41E4-916D-9BA65E287ECD}" presName="root1" presStyleCnt="0"/>
      <dgm:spPr/>
    </dgm:pt>
    <dgm:pt modelId="{8C707C6E-5DCE-4D21-8205-0E61481BCB10}" type="pres">
      <dgm:prSet presAssocID="{96726C14-4A4D-41E4-916D-9BA65E287ECD}" presName="LevelOneTextNode" presStyleLbl="node0" presStyleIdx="0" presStyleCnt="1" custScaleX="95158" custScaleY="70761">
        <dgm:presLayoutVars>
          <dgm:chPref val="3"/>
        </dgm:presLayoutVars>
      </dgm:prSet>
      <dgm:spPr/>
      <dgm:t>
        <a:bodyPr/>
        <a:lstStyle/>
        <a:p>
          <a:endParaRPr lang="zh-CN" altLang="en-US"/>
        </a:p>
      </dgm:t>
    </dgm:pt>
    <dgm:pt modelId="{CFD708B8-DEEA-4846-AAAD-AE843DEF1F43}" type="pres">
      <dgm:prSet presAssocID="{96726C14-4A4D-41E4-916D-9BA65E287ECD}" presName="level2hierChild" presStyleCnt="0"/>
      <dgm:spPr/>
    </dgm:pt>
    <dgm:pt modelId="{A982A40E-7342-4B57-85AB-FDFCCCBDA60B}" type="pres">
      <dgm:prSet presAssocID="{7B50C1BD-D5A3-4D10-B428-2F0584B20ADF}" presName="conn2-1" presStyleLbl="parChTrans1D2" presStyleIdx="0" presStyleCnt="2"/>
      <dgm:spPr/>
      <dgm:t>
        <a:bodyPr/>
        <a:lstStyle/>
        <a:p>
          <a:endParaRPr lang="zh-CN" altLang="en-US"/>
        </a:p>
      </dgm:t>
    </dgm:pt>
    <dgm:pt modelId="{909E8DF9-6420-47F5-82BC-DC9BB40C5197}" type="pres">
      <dgm:prSet presAssocID="{7B50C1BD-D5A3-4D10-B428-2F0584B20ADF}" presName="connTx" presStyleLbl="parChTrans1D2" presStyleIdx="0" presStyleCnt="2"/>
      <dgm:spPr/>
      <dgm:t>
        <a:bodyPr/>
        <a:lstStyle/>
        <a:p>
          <a:endParaRPr lang="zh-CN" altLang="en-US"/>
        </a:p>
      </dgm:t>
    </dgm:pt>
    <dgm:pt modelId="{404F1ED1-1CC6-4A73-BD80-658A241A15E4}" type="pres">
      <dgm:prSet presAssocID="{168AD7D9-85F4-4526-A8BD-C86BE55225A3}" presName="root2" presStyleCnt="0"/>
      <dgm:spPr/>
    </dgm:pt>
    <dgm:pt modelId="{D5D9DBC0-C529-4BF5-AA11-38F351B5CBE8}" type="pres">
      <dgm:prSet presAssocID="{168AD7D9-85F4-4526-A8BD-C86BE55225A3}" presName="LevelTwoTextNode" presStyleLbl="node2" presStyleIdx="0" presStyleCnt="2" custLinFactNeighborX="-1493" custLinFactNeighborY="-47919">
        <dgm:presLayoutVars>
          <dgm:chPref val="3"/>
        </dgm:presLayoutVars>
      </dgm:prSet>
      <dgm:spPr/>
      <dgm:t>
        <a:bodyPr/>
        <a:lstStyle/>
        <a:p>
          <a:endParaRPr lang="zh-CN" altLang="en-US"/>
        </a:p>
      </dgm:t>
    </dgm:pt>
    <dgm:pt modelId="{108CBA88-05D7-4B15-9E11-3C66B6894EA9}" type="pres">
      <dgm:prSet presAssocID="{168AD7D9-85F4-4526-A8BD-C86BE55225A3}" presName="level3hierChild" presStyleCnt="0"/>
      <dgm:spPr/>
    </dgm:pt>
    <dgm:pt modelId="{849CE146-8845-47B8-94A1-5F9ECEEF32E0}" type="pres">
      <dgm:prSet presAssocID="{7BEC71DF-8B0F-459E-9E3A-D514FCFE9DB1}" presName="conn2-1" presStyleLbl="parChTrans1D2" presStyleIdx="1" presStyleCnt="2"/>
      <dgm:spPr/>
      <dgm:t>
        <a:bodyPr/>
        <a:lstStyle/>
        <a:p>
          <a:endParaRPr lang="zh-CN" altLang="en-US"/>
        </a:p>
      </dgm:t>
    </dgm:pt>
    <dgm:pt modelId="{41F10DDE-F24A-40ED-84DD-8058B5958CEC}" type="pres">
      <dgm:prSet presAssocID="{7BEC71DF-8B0F-459E-9E3A-D514FCFE9DB1}" presName="connTx" presStyleLbl="parChTrans1D2" presStyleIdx="1" presStyleCnt="2"/>
      <dgm:spPr/>
      <dgm:t>
        <a:bodyPr/>
        <a:lstStyle/>
        <a:p>
          <a:endParaRPr lang="zh-CN" altLang="en-US"/>
        </a:p>
      </dgm:t>
    </dgm:pt>
    <dgm:pt modelId="{DE48F119-2DBB-4240-B59C-0F939F0D7D2B}" type="pres">
      <dgm:prSet presAssocID="{48C6D753-DD7B-4ECE-A767-8A9B67EFABE9}" presName="root2" presStyleCnt="0"/>
      <dgm:spPr/>
    </dgm:pt>
    <dgm:pt modelId="{FFB3FDF2-DE38-4DE7-8F1D-898352C19E2F}" type="pres">
      <dgm:prSet presAssocID="{48C6D753-DD7B-4ECE-A767-8A9B67EFABE9}" presName="LevelTwoTextNode" presStyleLbl="node2" presStyleIdx="1" presStyleCnt="2" custScaleY="101516" custLinFactNeighborX="-1493" custLinFactNeighborY="26723">
        <dgm:presLayoutVars>
          <dgm:chPref val="3"/>
        </dgm:presLayoutVars>
      </dgm:prSet>
      <dgm:spPr/>
      <dgm:t>
        <a:bodyPr/>
        <a:lstStyle/>
        <a:p>
          <a:endParaRPr lang="zh-CN" altLang="en-US"/>
        </a:p>
      </dgm:t>
    </dgm:pt>
    <dgm:pt modelId="{389B4743-22DD-4178-9BE5-1DC66E9DE4E6}" type="pres">
      <dgm:prSet presAssocID="{48C6D753-DD7B-4ECE-A767-8A9B67EFABE9}" presName="level3hierChild" presStyleCnt="0"/>
      <dgm:spPr/>
    </dgm:pt>
  </dgm:ptLst>
  <dgm:cxnLst>
    <dgm:cxn modelId="{AFBE482B-35E0-4565-99E5-4F6A8ECC4BC7}" type="presOf" srcId="{3DC2955F-E717-4DE2-B344-3785566CA190}" destId="{BDEBD6E2-4470-4A9E-ADA2-E99878BBD6BE}" srcOrd="0" destOrd="0" presId="urn:microsoft.com/office/officeart/2008/layout/HorizontalMultiLevelHierarchy"/>
    <dgm:cxn modelId="{1466A3C3-980B-4017-8B7F-86F9F3701004}" srcId="{3DC2955F-E717-4DE2-B344-3785566CA190}" destId="{96726C14-4A4D-41E4-916D-9BA65E287ECD}" srcOrd="0" destOrd="0" parTransId="{4B78DE78-948B-4672-86A3-0C7A285CD96F}" sibTransId="{F1609167-ED25-43D6-B903-3891E3C87326}"/>
    <dgm:cxn modelId="{142BD6E7-A307-4F5A-BD23-C0230D24D270}" type="presOf" srcId="{7BEC71DF-8B0F-459E-9E3A-D514FCFE9DB1}" destId="{41F10DDE-F24A-40ED-84DD-8058B5958CEC}" srcOrd="1" destOrd="0" presId="urn:microsoft.com/office/officeart/2008/layout/HorizontalMultiLevelHierarchy"/>
    <dgm:cxn modelId="{4162AD5E-A831-45A0-8469-43402AD1CC4B}" srcId="{96726C14-4A4D-41E4-916D-9BA65E287ECD}" destId="{48C6D753-DD7B-4ECE-A767-8A9B67EFABE9}" srcOrd="1" destOrd="0" parTransId="{7BEC71DF-8B0F-459E-9E3A-D514FCFE9DB1}" sibTransId="{BD41C7D0-EAEA-4154-AA53-8022F18B8F0E}"/>
    <dgm:cxn modelId="{F5906D8E-19CB-4142-9B40-0C6FDE3103FE}" type="presOf" srcId="{96726C14-4A4D-41E4-916D-9BA65E287ECD}" destId="{8C707C6E-5DCE-4D21-8205-0E61481BCB10}" srcOrd="0" destOrd="0" presId="urn:microsoft.com/office/officeart/2008/layout/HorizontalMultiLevelHierarchy"/>
    <dgm:cxn modelId="{0CEE3396-3A78-4CDF-BDD8-2A1C367F6941}" type="presOf" srcId="{48C6D753-DD7B-4ECE-A767-8A9B67EFABE9}" destId="{FFB3FDF2-DE38-4DE7-8F1D-898352C19E2F}" srcOrd="0" destOrd="0" presId="urn:microsoft.com/office/officeart/2008/layout/HorizontalMultiLevelHierarchy"/>
    <dgm:cxn modelId="{977E8552-30A5-417F-8458-2680A036FB61}" type="presOf" srcId="{7B50C1BD-D5A3-4D10-B428-2F0584B20ADF}" destId="{A982A40E-7342-4B57-85AB-FDFCCCBDA60B}" srcOrd="0" destOrd="0" presId="urn:microsoft.com/office/officeart/2008/layout/HorizontalMultiLevelHierarchy"/>
    <dgm:cxn modelId="{8698AD79-5C78-4BB0-A56F-68E14AE9EF14}" srcId="{96726C14-4A4D-41E4-916D-9BA65E287ECD}" destId="{168AD7D9-85F4-4526-A8BD-C86BE55225A3}" srcOrd="0" destOrd="0" parTransId="{7B50C1BD-D5A3-4D10-B428-2F0584B20ADF}" sibTransId="{13E47F3E-9CEE-42C0-A584-AC17C9EBC57A}"/>
    <dgm:cxn modelId="{DCB15058-32FF-4EAB-88B8-6044A26D8D0D}" type="presOf" srcId="{7BEC71DF-8B0F-459E-9E3A-D514FCFE9DB1}" destId="{849CE146-8845-47B8-94A1-5F9ECEEF32E0}" srcOrd="0" destOrd="0" presId="urn:microsoft.com/office/officeart/2008/layout/HorizontalMultiLevelHierarchy"/>
    <dgm:cxn modelId="{A5DBAC73-9330-478B-8C18-9C5E5895E10F}" type="presOf" srcId="{7B50C1BD-D5A3-4D10-B428-2F0584B20ADF}" destId="{909E8DF9-6420-47F5-82BC-DC9BB40C5197}" srcOrd="1" destOrd="0" presId="urn:microsoft.com/office/officeart/2008/layout/HorizontalMultiLevelHierarchy"/>
    <dgm:cxn modelId="{0E48254E-CD0F-438D-A331-8D4D9F39DA86}" type="presOf" srcId="{168AD7D9-85F4-4526-A8BD-C86BE55225A3}" destId="{D5D9DBC0-C529-4BF5-AA11-38F351B5CBE8}" srcOrd="0" destOrd="0" presId="urn:microsoft.com/office/officeart/2008/layout/HorizontalMultiLevelHierarchy"/>
    <dgm:cxn modelId="{BFD0BC6B-7AA1-4FCB-9C96-1812ECD586E7}" type="presParOf" srcId="{BDEBD6E2-4470-4A9E-ADA2-E99878BBD6BE}" destId="{AB862E86-5565-433A-96AF-4F4C7AD4ABDA}" srcOrd="0" destOrd="0" presId="urn:microsoft.com/office/officeart/2008/layout/HorizontalMultiLevelHierarchy"/>
    <dgm:cxn modelId="{8045130D-6F95-434D-8F7E-4930FF630DE6}" type="presParOf" srcId="{AB862E86-5565-433A-96AF-4F4C7AD4ABDA}" destId="{8C707C6E-5DCE-4D21-8205-0E61481BCB10}" srcOrd="0" destOrd="0" presId="urn:microsoft.com/office/officeart/2008/layout/HorizontalMultiLevelHierarchy"/>
    <dgm:cxn modelId="{1BAB4D95-CB1C-4FB9-A9E0-6CBD4D13C7B8}" type="presParOf" srcId="{AB862E86-5565-433A-96AF-4F4C7AD4ABDA}" destId="{CFD708B8-DEEA-4846-AAAD-AE843DEF1F43}" srcOrd="1" destOrd="0" presId="urn:microsoft.com/office/officeart/2008/layout/HorizontalMultiLevelHierarchy"/>
    <dgm:cxn modelId="{0505BF1C-741A-4C3A-9213-CC7E12A7498B}" type="presParOf" srcId="{CFD708B8-DEEA-4846-AAAD-AE843DEF1F43}" destId="{A982A40E-7342-4B57-85AB-FDFCCCBDA60B}" srcOrd="0" destOrd="0" presId="urn:microsoft.com/office/officeart/2008/layout/HorizontalMultiLevelHierarchy"/>
    <dgm:cxn modelId="{C0503E78-8137-4867-818B-6DC28995A24F}" type="presParOf" srcId="{A982A40E-7342-4B57-85AB-FDFCCCBDA60B}" destId="{909E8DF9-6420-47F5-82BC-DC9BB40C5197}" srcOrd="0" destOrd="0" presId="urn:microsoft.com/office/officeart/2008/layout/HorizontalMultiLevelHierarchy"/>
    <dgm:cxn modelId="{2C00D12F-A4A5-4A69-9FAD-825C1F67F033}" type="presParOf" srcId="{CFD708B8-DEEA-4846-AAAD-AE843DEF1F43}" destId="{404F1ED1-1CC6-4A73-BD80-658A241A15E4}" srcOrd="1" destOrd="0" presId="urn:microsoft.com/office/officeart/2008/layout/HorizontalMultiLevelHierarchy"/>
    <dgm:cxn modelId="{C4812961-FE40-401A-A75C-89746B825DCC}" type="presParOf" srcId="{404F1ED1-1CC6-4A73-BD80-658A241A15E4}" destId="{D5D9DBC0-C529-4BF5-AA11-38F351B5CBE8}" srcOrd="0" destOrd="0" presId="urn:microsoft.com/office/officeart/2008/layout/HorizontalMultiLevelHierarchy"/>
    <dgm:cxn modelId="{5A5FB8A4-EE8E-4114-9C41-B6DD012BFFD0}" type="presParOf" srcId="{404F1ED1-1CC6-4A73-BD80-658A241A15E4}" destId="{108CBA88-05D7-4B15-9E11-3C66B6894EA9}" srcOrd="1" destOrd="0" presId="urn:microsoft.com/office/officeart/2008/layout/HorizontalMultiLevelHierarchy"/>
    <dgm:cxn modelId="{9AC939D0-7B65-4433-A413-EB0FE527FA72}" type="presParOf" srcId="{CFD708B8-DEEA-4846-AAAD-AE843DEF1F43}" destId="{849CE146-8845-47B8-94A1-5F9ECEEF32E0}" srcOrd="2" destOrd="0" presId="urn:microsoft.com/office/officeart/2008/layout/HorizontalMultiLevelHierarchy"/>
    <dgm:cxn modelId="{7DF4DE00-A24A-4042-97DF-18A5E2EB8453}" type="presParOf" srcId="{849CE146-8845-47B8-94A1-5F9ECEEF32E0}" destId="{41F10DDE-F24A-40ED-84DD-8058B5958CEC}" srcOrd="0" destOrd="0" presId="urn:microsoft.com/office/officeart/2008/layout/HorizontalMultiLevelHierarchy"/>
    <dgm:cxn modelId="{EA9652C1-B5D6-4448-964E-B9B97AC41E0D}" type="presParOf" srcId="{CFD708B8-DEEA-4846-AAAD-AE843DEF1F43}" destId="{DE48F119-2DBB-4240-B59C-0F939F0D7D2B}" srcOrd="3" destOrd="0" presId="urn:microsoft.com/office/officeart/2008/layout/HorizontalMultiLevelHierarchy"/>
    <dgm:cxn modelId="{F45419AD-6012-4730-9799-0BCFC33418E1}" type="presParOf" srcId="{DE48F119-2DBB-4240-B59C-0F939F0D7D2B}" destId="{FFB3FDF2-DE38-4DE7-8F1D-898352C19E2F}" srcOrd="0" destOrd="0" presId="urn:microsoft.com/office/officeart/2008/layout/HorizontalMultiLevelHierarchy"/>
    <dgm:cxn modelId="{EE8CDAEB-3C60-4BCA-983A-36AD3741F0DB}" type="presParOf" srcId="{DE48F119-2DBB-4240-B59C-0F939F0D7D2B}" destId="{389B4743-22DD-4178-9BE5-1DC66E9DE4E6}" srcOrd="1" destOrd="0" presId="urn:microsoft.com/office/officeart/2008/layout/HorizontalMultiLevelHierarchy"/>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95764" cy="4120013"/>
        <a:chOff x="0" y="0"/>
        <a:chExt cx="8495764" cy="4120013"/>
      </a:xfrm>
    </dsp:grpSpPr>
    <dsp:sp modelId="{497D5903-CF78-4732-9578-8E5285DE1E39}">
      <dsp:nvSpPr>
        <dsp:cNvPr id="3" name="圆角矩形 2"/>
        <dsp:cNvSpPr/>
      </dsp:nvSpPr>
      <dsp:spPr bwMode="white">
        <a:xfrm>
          <a:off x="443043" y="0"/>
          <a:ext cx="2354293" cy="1177147"/>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lIns="45719" tIns="30480" rIns="45719" bIns="3048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sz="2400" b="1" kern="1200" dirty="0">
              <a:ln>
                <a:solidFill>
                  <a:prstClr val="white"/>
                </a:solidFill>
              </a:ln>
              <a:solidFill>
                <a:prstClr val="black">
                  <a:lumMod val="75000"/>
                  <a:lumOff val="25000"/>
                </a:prstClr>
              </a:solidFill>
              <a:latin typeface="黑体" panose="02010609060101010101" pitchFamily="49" charset="-122"/>
              <a:ea typeface="黑体" panose="02010609060101010101" pitchFamily="49" charset="-122"/>
              <a:cs typeface="+mn-cs"/>
            </a:rPr>
            <a:t>古代朴素唯物主义唯物观</a:t>
          </a:r>
        </a:p>
      </dsp:txBody>
      <dsp:txXfrm>
        <a:off x="443043" y="0"/>
        <a:ext cx="2354293" cy="1177147"/>
      </dsp:txXfrm>
    </dsp:sp>
    <dsp:sp modelId="{1821058D-9BF9-4EF5-8E31-BC50FB9EAF9B}">
      <dsp:nvSpPr>
        <dsp:cNvPr id="5" name="任意多边形 4"/>
        <dsp:cNvSpPr/>
      </dsp:nvSpPr>
      <dsp:spPr bwMode="white">
        <a:xfrm>
          <a:off x="678472" y="1177147"/>
          <a:ext cx="235429" cy="882860"/>
        </a:xfrm>
        <a:custGeom>
          <a:avLst/>
          <a:gdLst/>
          <a:ahLst/>
          <a:cxnLst/>
          <a:pathLst>
            <a:path w="371" h="1390">
              <a:moveTo>
                <a:pt x="0" y="0"/>
              </a:moveTo>
              <a:lnTo>
                <a:pt x="0" y="1390"/>
              </a:lnTo>
              <a:lnTo>
                <a:pt x="371" y="1390"/>
              </a:lnTo>
            </a:path>
          </a:pathLst>
        </a:custGeom>
      </dsp:spPr>
      <dsp:style>
        <a:lnRef idx="2">
          <a:schemeClr val="accent4"/>
        </a:lnRef>
        <a:fillRef idx="0">
          <a:schemeClr val="accent2">
            <a:tint val="90000"/>
          </a:schemeClr>
        </a:fillRef>
        <a:effectRef idx="0">
          <a:scrgbClr r="0" g="0" b="0"/>
        </a:effectRef>
        <a:fontRef idx="minor"/>
      </dsp:style>
      <dsp:txXfrm>
        <a:off x="678472" y="1177147"/>
        <a:ext cx="235429" cy="882860"/>
      </dsp:txXfrm>
    </dsp:sp>
    <dsp:sp modelId="{36FD198C-15E6-46AC-B61D-03AB953565FB}">
      <dsp:nvSpPr>
        <dsp:cNvPr id="6" name="圆角矩形 5"/>
        <dsp:cNvSpPr/>
      </dsp:nvSpPr>
      <dsp:spPr bwMode="white">
        <a:xfrm>
          <a:off x="913902" y="1471433"/>
          <a:ext cx="1883435" cy="1177147"/>
        </a:xfrm>
        <a:prstGeom prst="roundRect">
          <a:avLst>
            <a:gd name="adj" fmla="val 10000"/>
          </a:avLst>
        </a:prstGeom>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vert="horz" wrap="square" lIns="45719" tIns="30480" rIns="45719"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a:solidFill>
                <a:schemeClr val="dk1"/>
              </a:solidFill>
              <a:latin typeface="华光楷体_CNKI" panose="02000500000000000000" charset="-122"/>
              <a:ea typeface="华光楷体_CNKI" panose="02000500000000000000" charset="-122"/>
            </a:rPr>
            <a:t>合理性</a:t>
          </a:r>
          <a:endParaRPr lang="en-US" altLang="zh-CN" sz="2400" b="1" dirty="0">
            <a:solidFill>
              <a:schemeClr val="dk1"/>
            </a:solidFill>
            <a:latin typeface="华光楷体_CNKI" panose="02000500000000000000" charset="-122"/>
            <a:ea typeface="华光楷体_CNKI" panose="02000500000000000000" charset="-122"/>
          </a:endParaRPr>
        </a:p>
        <a:p>
          <a:pPr lvl="0">
            <a:lnSpc>
              <a:spcPct val="100000"/>
            </a:lnSpc>
            <a:spcBef>
              <a:spcPct val="0"/>
            </a:spcBef>
            <a:spcAft>
              <a:spcPct val="35000"/>
            </a:spcAft>
          </a:pPr>
          <a:r>
            <a:rPr lang="zh-CN" altLang="en-US" sz="2400" b="1" dirty="0">
              <a:solidFill>
                <a:schemeClr val="dk1"/>
              </a:solidFill>
              <a:latin typeface="华光楷体_CNKI" panose="02000500000000000000" charset="-122"/>
              <a:ea typeface="华光楷体_CNKI" panose="02000500000000000000" charset="-122"/>
            </a:rPr>
            <a:t>进步性</a:t>
          </a:r>
          <a:endParaRPr sz="2400" b="1">
            <a:solidFill>
              <a:schemeClr val="dk1"/>
            </a:solidFill>
            <a:latin typeface="华光楷体_CNKI" panose="02000500000000000000" charset="-122"/>
            <a:ea typeface="华光楷体_CNKI" panose="02000500000000000000" charset="-122"/>
          </a:endParaRPr>
        </a:p>
      </dsp:txBody>
      <dsp:txXfrm>
        <a:off x="913902" y="1471433"/>
        <a:ext cx="1883435" cy="1177147"/>
      </dsp:txXfrm>
    </dsp:sp>
    <dsp:sp modelId="{414CB623-95DB-4607-A6C7-B48FEFDF1949}">
      <dsp:nvSpPr>
        <dsp:cNvPr id="7" name="任意多边形 6"/>
        <dsp:cNvSpPr/>
      </dsp:nvSpPr>
      <dsp:spPr bwMode="white">
        <a:xfrm>
          <a:off x="678472" y="1177147"/>
          <a:ext cx="235429" cy="2354293"/>
        </a:xfrm>
        <a:custGeom>
          <a:avLst/>
          <a:gdLst/>
          <a:ahLst/>
          <a:cxnLst/>
          <a:pathLst>
            <a:path w="371" h="3708">
              <a:moveTo>
                <a:pt x="0" y="0"/>
              </a:moveTo>
              <a:lnTo>
                <a:pt x="0" y="3708"/>
              </a:lnTo>
              <a:lnTo>
                <a:pt x="371" y="3708"/>
              </a:lnTo>
            </a:path>
          </a:pathLst>
        </a:custGeom>
      </dsp:spPr>
      <dsp:style>
        <a:lnRef idx="2">
          <a:schemeClr val="accent4"/>
        </a:lnRef>
        <a:fillRef idx="0">
          <a:schemeClr val="accent2">
            <a:tint val="90000"/>
          </a:schemeClr>
        </a:fillRef>
        <a:effectRef idx="0">
          <a:scrgbClr r="0" g="0" b="0"/>
        </a:effectRef>
        <a:fontRef idx="minor"/>
      </dsp:style>
      <dsp:txXfrm>
        <a:off x="678472" y="1177147"/>
        <a:ext cx="235429" cy="2354293"/>
      </dsp:txXfrm>
    </dsp:sp>
    <dsp:sp modelId="{A0EED1F8-BA2E-4211-A5A9-36DDC3B49A76}">
      <dsp:nvSpPr>
        <dsp:cNvPr id="8" name="圆角矩形 7"/>
        <dsp:cNvSpPr/>
      </dsp:nvSpPr>
      <dsp:spPr bwMode="white">
        <a:xfrm>
          <a:off x="913902" y="2942866"/>
          <a:ext cx="3045721" cy="1177147"/>
        </a:xfrm>
        <a:prstGeom prst="roundRect">
          <a:avLst>
            <a:gd name="adj" fmla="val 10000"/>
          </a:avLst>
        </a:prstGeom>
      </dsp:spPr>
      <dsp:style>
        <a:lnRef idx="2">
          <a:schemeClr val="accent3">
            <a:hueOff val="919999"/>
            <a:satOff val="33333"/>
            <a:lumOff val="-4836"/>
            <a:alpha val="100000"/>
          </a:schemeClr>
        </a:lnRef>
        <a:fillRef idx="1">
          <a:schemeClr val="lt1">
            <a:alpha val="90000"/>
          </a:schemeClr>
        </a:fillRef>
        <a:effectRef idx="0">
          <a:scrgbClr r="0" g="0" b="0"/>
        </a:effectRef>
        <a:fontRef idx="minor"/>
      </dsp:style>
      <dsp:txBody>
        <a:bodyPr vert="horz" wrap="square"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latin typeface="华光楷体_CNKI" panose="02000500000000000000" charset="-122"/>
              <a:ea typeface="华光楷体_CNKI" panose="02000500000000000000" charset="-122"/>
            </a:rPr>
            <a:t>物质等同于具体的物质形态，</a:t>
          </a:r>
          <a:endParaRPr lang="en-US" altLang="zh-CN" sz="1800" b="1" dirty="0">
            <a:solidFill>
              <a:schemeClr val="dk1"/>
            </a:solidFill>
            <a:latin typeface="华光楷体_CNKI" panose="02000500000000000000" charset="-122"/>
            <a:ea typeface="华光楷体_CNKI" panose="02000500000000000000" charset="-122"/>
          </a:endParaRPr>
        </a:p>
        <a:p>
          <a:pPr lvl="0">
            <a:lnSpc>
              <a:spcPct val="100000"/>
            </a:lnSpc>
            <a:spcBef>
              <a:spcPct val="0"/>
            </a:spcBef>
            <a:spcAft>
              <a:spcPct val="35000"/>
            </a:spcAft>
          </a:pPr>
          <a:r>
            <a:rPr lang="zh-CN" altLang="en-US" sz="1800" b="1" dirty="0">
              <a:solidFill>
                <a:schemeClr val="dk1"/>
              </a:solidFill>
              <a:latin typeface="华光楷体_CNKI" panose="02000500000000000000" charset="-122"/>
              <a:ea typeface="华光楷体_CNKI" panose="02000500000000000000" charset="-122"/>
            </a:rPr>
            <a:t>具有明显的局限性</a:t>
          </a:r>
          <a:endParaRPr sz="1800" b="1">
            <a:solidFill>
              <a:schemeClr val="dk1"/>
            </a:solidFill>
            <a:latin typeface="华光楷体_CNKI" panose="02000500000000000000" charset="-122"/>
            <a:ea typeface="华光楷体_CNKI" panose="02000500000000000000" charset="-122"/>
          </a:endParaRPr>
        </a:p>
      </dsp:txBody>
      <dsp:txXfrm>
        <a:off x="913902" y="2942866"/>
        <a:ext cx="3045721" cy="1177147"/>
      </dsp:txXfrm>
    </dsp:sp>
    <dsp:sp modelId="{3C4CEC6F-109A-4C19-881A-20EE37F4CB54}">
      <dsp:nvSpPr>
        <dsp:cNvPr id="9" name="圆角矩形 8"/>
        <dsp:cNvSpPr/>
      </dsp:nvSpPr>
      <dsp:spPr bwMode="white">
        <a:xfrm>
          <a:off x="4077337" y="0"/>
          <a:ext cx="2354293" cy="1177147"/>
        </a:xfrm>
        <a:prstGeom prst="roundRect">
          <a:avLst>
            <a:gd name="adj" fmla="val 10000"/>
          </a:avLst>
        </a:prstGeom>
      </dsp:spPr>
      <dsp:style>
        <a:lnRef idx="2">
          <a:schemeClr val="lt1"/>
        </a:lnRef>
        <a:fillRef idx="1">
          <a:schemeClr val="accent3">
            <a:hueOff val="2760000"/>
            <a:satOff val="100000"/>
            <a:lumOff val="-14509"/>
            <a:alpha val="100000"/>
          </a:schemeClr>
        </a:fillRef>
        <a:effectRef idx="0">
          <a:scrgbClr r="0" g="0" b="0"/>
        </a:effectRef>
        <a:fontRef idx="minor">
          <a:schemeClr val="lt1"/>
        </a:fontRef>
      </dsp:style>
      <dsp:txBody>
        <a:bodyPr lIns="45719" tIns="30480" rIns="45719" bIns="3048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b="1" dirty="0">
              <a:ln>
                <a:solidFill>
                  <a:schemeClr val="bg1"/>
                </a:solidFill>
              </a:ln>
              <a:solidFill>
                <a:schemeClr val="tx1">
                  <a:lumMod val="75000"/>
                  <a:lumOff val="25000"/>
                </a:schemeClr>
              </a:solidFill>
              <a:latin typeface="黑体" panose="02010609060101010101" pitchFamily="49" charset="-122"/>
              <a:ea typeface="黑体" panose="02010609060101010101" pitchFamily="49" charset="-122"/>
            </a:rPr>
            <a:t>近代形而上学唯物主义物质观</a:t>
          </a:r>
          <a:endParaRPr lang="zh-CN" altLang="en-US" dirty="0"/>
        </a:p>
      </dsp:txBody>
      <dsp:txXfrm>
        <a:off x="4077337" y="0"/>
        <a:ext cx="2354293" cy="1177147"/>
      </dsp:txXfrm>
    </dsp:sp>
    <dsp:sp modelId="{3692549D-59A3-4F3D-8130-DE8D0F98E5FA}">
      <dsp:nvSpPr>
        <dsp:cNvPr id="11" name="任意多边形 10"/>
        <dsp:cNvSpPr/>
      </dsp:nvSpPr>
      <dsp:spPr bwMode="white">
        <a:xfrm>
          <a:off x="4312766" y="1177147"/>
          <a:ext cx="235429" cy="882860"/>
        </a:xfrm>
        <a:custGeom>
          <a:avLst/>
          <a:gdLst/>
          <a:ahLst/>
          <a:cxnLst/>
          <a:pathLst>
            <a:path w="371" h="1390">
              <a:moveTo>
                <a:pt x="0" y="0"/>
              </a:moveTo>
              <a:lnTo>
                <a:pt x="0" y="1390"/>
              </a:lnTo>
              <a:lnTo>
                <a:pt x="371" y="1390"/>
              </a:lnTo>
            </a:path>
          </a:pathLst>
        </a:custGeom>
      </dsp:spPr>
      <dsp:style>
        <a:lnRef idx="2">
          <a:schemeClr val="accent4"/>
        </a:lnRef>
        <a:fillRef idx="0">
          <a:schemeClr val="accent2">
            <a:tint val="90000"/>
          </a:schemeClr>
        </a:fillRef>
        <a:effectRef idx="0">
          <a:scrgbClr r="0" g="0" b="0"/>
        </a:effectRef>
        <a:fontRef idx="minor"/>
      </dsp:style>
      <dsp:txXfrm>
        <a:off x="4312766" y="1177147"/>
        <a:ext cx="235429" cy="882860"/>
      </dsp:txXfrm>
    </dsp:sp>
    <dsp:sp modelId="{02B2C7FF-E5B7-4B07-816B-E5A7940A97D8}">
      <dsp:nvSpPr>
        <dsp:cNvPr id="12" name="圆角矩形 11"/>
        <dsp:cNvSpPr/>
      </dsp:nvSpPr>
      <dsp:spPr bwMode="white">
        <a:xfrm>
          <a:off x="4548196" y="1471433"/>
          <a:ext cx="2524838" cy="1177147"/>
        </a:xfrm>
        <a:prstGeom prst="roundRect">
          <a:avLst>
            <a:gd name="adj" fmla="val 10000"/>
          </a:avLst>
        </a:prstGeom>
      </dsp:spPr>
      <dsp:style>
        <a:lnRef idx="2">
          <a:schemeClr val="accent3">
            <a:hueOff val="1839999"/>
            <a:satOff val="66667"/>
            <a:lumOff val="-9672"/>
            <a:alpha val="100000"/>
          </a:schemeClr>
        </a:lnRef>
        <a:fillRef idx="1">
          <a:schemeClr val="lt1">
            <a:alpha val="90000"/>
          </a:schemeClr>
        </a:fillRef>
        <a:effectRef idx="0">
          <a:scrgbClr r="0" g="0" b="0"/>
        </a:effectRef>
        <a:fontRef idx="minor"/>
      </dsp:style>
      <dsp:txBody>
        <a:bodyPr vert="horz" wrap="square"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latin typeface="华光楷体_CNKI" panose="02000500000000000000" charset="-122"/>
              <a:ea typeface="华光楷体_CNKI" panose="02000500000000000000" charset="-122"/>
            </a:rPr>
            <a:t>物质概念建立在</a:t>
          </a:r>
          <a:endParaRPr lang="en-US" altLang="zh-CN" sz="1800" b="1" dirty="0">
            <a:solidFill>
              <a:schemeClr val="dk1"/>
            </a:solidFill>
            <a:latin typeface="华光楷体_CNKI" panose="02000500000000000000" charset="-122"/>
            <a:ea typeface="华光楷体_CNKI" panose="02000500000000000000" charset="-122"/>
          </a:endParaRPr>
        </a:p>
        <a:p>
          <a:pPr lvl="0">
            <a:lnSpc>
              <a:spcPct val="100000"/>
            </a:lnSpc>
            <a:spcBef>
              <a:spcPct val="0"/>
            </a:spcBef>
            <a:spcAft>
              <a:spcPct val="35000"/>
            </a:spcAft>
          </a:pPr>
          <a:r>
            <a:rPr lang="zh-CN" altLang="en-US" sz="1800" b="1" dirty="0">
              <a:solidFill>
                <a:schemeClr val="dk1"/>
              </a:solidFill>
              <a:latin typeface="华光楷体_CNKI" panose="02000500000000000000" charset="-122"/>
              <a:ea typeface="华光楷体_CNKI" panose="02000500000000000000" charset="-122"/>
            </a:rPr>
            <a:t>自然科学发现的基础上</a:t>
          </a:r>
          <a:endParaRPr sz="1700" b="1" dirty="0">
            <a:solidFill>
              <a:schemeClr val="dk1"/>
            </a:solidFill>
            <a:latin typeface="华光楷体_CNKI" panose="02000500000000000000" charset="-122"/>
            <a:ea typeface="华光楷体_CNKI" panose="02000500000000000000" charset="-122"/>
          </a:endParaRPr>
        </a:p>
      </dsp:txBody>
      <dsp:txXfrm>
        <a:off x="4548196" y="1471433"/>
        <a:ext cx="2524838" cy="1177147"/>
      </dsp:txXfrm>
    </dsp:sp>
    <dsp:sp modelId="{69B59CE5-61F2-40F0-9022-6954FE573F56}">
      <dsp:nvSpPr>
        <dsp:cNvPr id="13" name="任意多边形 12"/>
        <dsp:cNvSpPr/>
      </dsp:nvSpPr>
      <dsp:spPr bwMode="white">
        <a:xfrm>
          <a:off x="4312766" y="1177147"/>
          <a:ext cx="235429" cy="2354293"/>
        </a:xfrm>
        <a:custGeom>
          <a:avLst/>
          <a:gdLst/>
          <a:ahLst/>
          <a:cxnLst/>
          <a:pathLst>
            <a:path w="371" h="3708">
              <a:moveTo>
                <a:pt x="0" y="0"/>
              </a:moveTo>
              <a:lnTo>
                <a:pt x="0" y="3708"/>
              </a:lnTo>
              <a:lnTo>
                <a:pt x="371" y="3708"/>
              </a:lnTo>
            </a:path>
          </a:pathLst>
        </a:custGeom>
      </dsp:spPr>
      <dsp:style>
        <a:lnRef idx="2">
          <a:schemeClr val="accent4"/>
        </a:lnRef>
        <a:fillRef idx="0">
          <a:schemeClr val="accent2">
            <a:tint val="90000"/>
          </a:schemeClr>
        </a:fillRef>
        <a:effectRef idx="0">
          <a:scrgbClr r="0" g="0" b="0"/>
        </a:effectRef>
        <a:fontRef idx="minor"/>
      </dsp:style>
      <dsp:txXfrm>
        <a:off x="4312766" y="1177147"/>
        <a:ext cx="235429" cy="2354293"/>
      </dsp:txXfrm>
    </dsp:sp>
    <dsp:sp modelId="{312600F2-9020-4B15-9D1C-57D8C4534742}">
      <dsp:nvSpPr>
        <dsp:cNvPr id="14" name="圆角矩形 13"/>
        <dsp:cNvSpPr/>
      </dsp:nvSpPr>
      <dsp:spPr bwMode="white">
        <a:xfrm>
          <a:off x="4548196" y="2942866"/>
          <a:ext cx="3504525" cy="1177147"/>
        </a:xfrm>
        <a:prstGeom prst="roundRect">
          <a:avLst>
            <a:gd name="adj" fmla="val 10000"/>
          </a:avLst>
        </a:prstGeom>
      </dsp:spPr>
      <dsp:style>
        <a:lnRef idx="2">
          <a:schemeClr val="accent3">
            <a:hueOff val="2760000"/>
            <a:satOff val="100000"/>
            <a:lumOff val="-14509"/>
            <a:alpha val="100000"/>
          </a:schemeClr>
        </a:lnRef>
        <a:fillRef idx="1">
          <a:schemeClr val="lt1">
            <a:alpha val="90000"/>
          </a:schemeClr>
        </a:fillRef>
        <a:effectRef idx="0">
          <a:scrgbClr r="0" g="0" b="0"/>
        </a:effectRef>
        <a:fontRef idx="minor"/>
      </dsp:style>
      <dsp:txBody>
        <a:bodyPr vert="horz" wrap="square"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latin typeface="华光楷体_CNKI" panose="02000500000000000000" charset="-122"/>
              <a:ea typeface="华光楷体_CNKI" panose="02000500000000000000" charset="-122"/>
            </a:rPr>
            <a:t>没有正确理解</a:t>
          </a:r>
          <a:endParaRPr lang="en-US" altLang="zh-CN" sz="1800" b="1" dirty="0">
            <a:solidFill>
              <a:schemeClr val="dk1"/>
            </a:solidFill>
            <a:latin typeface="华光楷体_CNKI" panose="02000500000000000000" charset="-122"/>
            <a:ea typeface="华光楷体_CNKI" panose="02000500000000000000" charset="-122"/>
          </a:endParaRPr>
        </a:p>
        <a:p>
          <a:pPr lvl="0">
            <a:lnSpc>
              <a:spcPct val="100000"/>
            </a:lnSpc>
            <a:spcBef>
              <a:spcPct val="0"/>
            </a:spcBef>
            <a:spcAft>
              <a:spcPct val="35000"/>
            </a:spcAft>
          </a:pPr>
          <a:r>
            <a:rPr lang="zh-CN" altLang="en-US" sz="1800" b="1" dirty="0">
              <a:solidFill>
                <a:schemeClr val="dk1"/>
              </a:solidFill>
              <a:latin typeface="华光楷体_CNKI" panose="02000500000000000000" charset="-122"/>
              <a:ea typeface="华光楷体_CNKI" panose="02000500000000000000" charset="-122"/>
            </a:rPr>
            <a:t>哲学物质概念与自然科学物质</a:t>
          </a:r>
          <a:r>
            <a:rPr lang="zh-CN" altLang="en-US" sz="1800" b="1" dirty="0" smtClean="0">
              <a:solidFill>
                <a:schemeClr val="dk1"/>
              </a:solidFill>
              <a:latin typeface="华光楷体_CNKI" panose="02000500000000000000" charset="-122"/>
              <a:ea typeface="华光楷体_CNKI" panose="02000500000000000000" charset="-122"/>
            </a:rPr>
            <a:t>概念的</a:t>
          </a:r>
          <a:r>
            <a:rPr lang="zh-CN" altLang="en-US" sz="1800" b="1" dirty="0">
              <a:solidFill>
                <a:schemeClr val="dk1"/>
              </a:solidFill>
              <a:latin typeface="华光楷体_CNKI" panose="02000500000000000000" charset="-122"/>
              <a:ea typeface="华光楷体_CNKI" panose="02000500000000000000" charset="-122"/>
            </a:rPr>
            <a:t>共性与个性</a:t>
          </a:r>
          <a:endParaRPr sz="1800" b="1" dirty="0">
            <a:solidFill>
              <a:schemeClr val="dk1"/>
            </a:solidFill>
            <a:latin typeface="华光楷体_CNKI" panose="02000500000000000000" charset="-122"/>
            <a:ea typeface="华光楷体_CNKI" panose="02000500000000000000" charset="-122"/>
          </a:endParaRPr>
        </a:p>
      </dsp:txBody>
      <dsp:txXfrm>
        <a:off x="4548196" y="2942866"/>
        <a:ext cx="3504525" cy="1177147"/>
      </dsp:txXfrm>
    </dsp:sp>
    <dsp:sp modelId="{6581303F-FDE2-4FF4-A7DF-5A7F9E81709C}">
      <dsp:nvSpPr>
        <dsp:cNvPr id="4" name="圆角矩形 3" hidden="1"/>
        <dsp:cNvSpPr/>
      </dsp:nvSpPr>
      <dsp:spPr>
        <a:xfrm>
          <a:off x="443043" y="0"/>
          <a:ext cx="470859" cy="1177147"/>
        </a:xfrm>
        <a:prstGeom prst="roundRect">
          <a:avLst>
            <a:gd name="adj" fmla="val 10000"/>
          </a:avLst>
        </a:prstGeom>
      </dsp:spPr>
      <dsp:txXfrm>
        <a:off x="443043" y="0"/>
        <a:ext cx="470859" cy="1177147"/>
      </dsp:txXfrm>
    </dsp:sp>
    <dsp:sp modelId="{0D04A6C0-8037-4499-AC7B-686459043F3B}">
      <dsp:nvSpPr>
        <dsp:cNvPr id="10" name="圆角矩形 9" hidden="1"/>
        <dsp:cNvSpPr/>
      </dsp:nvSpPr>
      <dsp:spPr>
        <a:xfrm>
          <a:off x="4077337" y="0"/>
          <a:ext cx="470859" cy="1177147"/>
        </a:xfrm>
        <a:prstGeom prst="roundRect">
          <a:avLst>
            <a:gd name="adj" fmla="val 10000"/>
          </a:avLst>
        </a:prstGeom>
      </dsp:spPr>
      <dsp:txXfrm>
        <a:off x="4077337" y="0"/>
        <a:ext cx="470859" cy="1177147"/>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858048" cy="5281148"/>
        <a:chOff x="0" y="0"/>
        <a:chExt cx="6858048" cy="5281148"/>
      </a:xfrm>
    </dsp:grpSpPr>
    <dsp:sp modelId="{00923E0D-0F7D-4E0B-80D9-3BB127F7DBD5}">
      <dsp:nvSpPr>
        <dsp:cNvPr id="3" name="圆角矩形 2"/>
        <dsp:cNvSpPr/>
      </dsp:nvSpPr>
      <dsp:spPr bwMode="white">
        <a:xfrm>
          <a:off x="0" y="1993750"/>
          <a:ext cx="1318855" cy="659428"/>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a:solidFill>
                <a:srgbClr val="000000"/>
              </a:solidFill>
            </a:rPr>
            <a:t>世界</a:t>
          </a:r>
        </a:p>
      </dsp:txBody>
      <dsp:txXfrm>
        <a:off x="0" y="1993750"/>
        <a:ext cx="1318855" cy="659428"/>
      </dsp:txXfrm>
    </dsp:sp>
    <dsp:sp modelId="{E6FF0E47-22B0-44D5-BA10-6F44CF8D9310}">
      <dsp:nvSpPr>
        <dsp:cNvPr id="4" name="任意多边形 3"/>
        <dsp:cNvSpPr/>
      </dsp:nvSpPr>
      <dsp:spPr bwMode="white">
        <a:xfrm>
          <a:off x="1046143" y="1845065"/>
          <a:ext cx="1072967" cy="22476"/>
        </a:xfrm>
        <a:custGeom>
          <a:avLst/>
          <a:gdLst/>
          <a:ahLst/>
          <a:cxnLst/>
          <a:pathLst>
            <a:path w="1690" h="35">
              <a:moveTo>
                <a:pt x="429" y="753"/>
              </a:moveTo>
              <a:lnTo>
                <a:pt x="1260" y="-718"/>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046143" y="1845065"/>
        <a:ext cx="1072967" cy="22476"/>
      </dsp:txXfrm>
    </dsp:sp>
    <dsp:sp modelId="{CB994E22-5F71-47D7-AC69-1875F0630F8D}">
      <dsp:nvSpPr>
        <dsp:cNvPr id="5" name="圆角矩形 4"/>
        <dsp:cNvSpPr/>
      </dsp:nvSpPr>
      <dsp:spPr bwMode="white">
        <a:xfrm>
          <a:off x="1846398" y="1000554"/>
          <a:ext cx="1318855" cy="777175"/>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smtClean="0">
              <a:solidFill>
                <a:srgbClr val="000000"/>
              </a:solidFill>
            </a:rPr>
            <a:t>世界是什么</a:t>
          </a:r>
          <a:endParaRPr lang="en-US" altLang="zh-CN" sz="1800" b="1" dirty="0" smtClean="0">
            <a:solidFill>
              <a:srgbClr val="000000"/>
            </a:solidFill>
          </a:endParaRPr>
        </a:p>
        <a:p>
          <a:pPr lvl="0">
            <a:lnSpc>
              <a:spcPct val="100000"/>
            </a:lnSpc>
            <a:spcBef>
              <a:spcPct val="0"/>
            </a:spcBef>
            <a:spcAft>
              <a:spcPct val="35000"/>
            </a:spcAft>
          </a:pPr>
          <a:r>
            <a:rPr lang="zh-CN" altLang="en-US" sz="1800" b="1" dirty="0" smtClean="0">
              <a:solidFill>
                <a:srgbClr val="000000"/>
              </a:solidFill>
            </a:rPr>
            <a:t>（本原）</a:t>
          </a:r>
          <a:endParaRPr lang="zh-CN" altLang="en-US" sz="1800" b="1" dirty="0">
            <a:solidFill>
              <a:srgbClr val="000000"/>
            </a:solidFill>
          </a:endParaRPr>
        </a:p>
      </dsp:txBody>
      <dsp:txXfrm>
        <a:off x="1846398" y="1000554"/>
        <a:ext cx="1318855" cy="777175"/>
      </dsp:txXfrm>
    </dsp:sp>
    <dsp:sp modelId="{E6618F5C-FC15-429B-9A52-FB9919303C17}">
      <dsp:nvSpPr>
        <dsp:cNvPr id="6" name="任意多边形 5"/>
        <dsp:cNvSpPr/>
      </dsp:nvSpPr>
      <dsp:spPr bwMode="white">
        <a:xfrm>
          <a:off x="3104189" y="1188319"/>
          <a:ext cx="649670" cy="22476"/>
        </a:xfrm>
        <a:custGeom>
          <a:avLst/>
          <a:gdLst/>
          <a:ahLst/>
          <a:cxnLst/>
          <a:pathLst>
            <a:path w="1023" h="35">
              <a:moveTo>
                <a:pt x="96" y="316"/>
              </a:moveTo>
              <a:lnTo>
                <a:pt x="927" y="-28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104189" y="1188319"/>
        <a:ext cx="649670" cy="22476"/>
      </dsp:txXfrm>
    </dsp:sp>
    <dsp:sp modelId="{BD0DD2C9-26B2-4EC8-BD37-D6147B460FB9}">
      <dsp:nvSpPr>
        <dsp:cNvPr id="7" name="圆角矩形 6"/>
        <dsp:cNvSpPr/>
      </dsp:nvSpPr>
      <dsp:spPr bwMode="white">
        <a:xfrm>
          <a:off x="3692795" y="680257"/>
          <a:ext cx="1318855" cy="659428"/>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rgbClr val="000000"/>
              </a:solidFill>
            </a:rPr>
            <a:t>唯心主义</a:t>
          </a:r>
        </a:p>
      </dsp:txBody>
      <dsp:txXfrm>
        <a:off x="3692795" y="680257"/>
        <a:ext cx="1318855" cy="659428"/>
      </dsp:txXfrm>
    </dsp:sp>
    <dsp:sp modelId="{36ABAF7A-4523-4742-B39B-7C93BBECE71F}">
      <dsp:nvSpPr>
        <dsp:cNvPr id="8" name="任意多边形 7"/>
        <dsp:cNvSpPr/>
      </dsp:nvSpPr>
      <dsp:spPr bwMode="white">
        <a:xfrm>
          <a:off x="3104189" y="1567489"/>
          <a:ext cx="649670" cy="22476"/>
        </a:xfrm>
        <a:custGeom>
          <a:avLst/>
          <a:gdLst/>
          <a:ahLst/>
          <a:cxnLst/>
          <a:pathLst>
            <a:path w="1023" h="35">
              <a:moveTo>
                <a:pt x="96" y="-281"/>
              </a:moveTo>
              <a:lnTo>
                <a:pt x="927" y="316"/>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104189" y="1567489"/>
        <a:ext cx="649670" cy="22476"/>
      </dsp:txXfrm>
    </dsp:sp>
    <dsp:sp modelId="{88597657-EC19-434D-8A85-2A5980E5C383}">
      <dsp:nvSpPr>
        <dsp:cNvPr id="9" name="圆角矩形 8"/>
        <dsp:cNvSpPr/>
      </dsp:nvSpPr>
      <dsp:spPr bwMode="white">
        <a:xfrm>
          <a:off x="3692795" y="1438599"/>
          <a:ext cx="1318855" cy="659428"/>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rgbClr val="000000"/>
              </a:solidFill>
            </a:rPr>
            <a:t>唯物主义</a:t>
          </a:r>
        </a:p>
      </dsp:txBody>
      <dsp:txXfrm>
        <a:off x="3692795" y="1438599"/>
        <a:ext cx="1318855" cy="659428"/>
      </dsp:txXfrm>
    </dsp:sp>
    <dsp:sp modelId="{38FF9986-BC97-42EE-937E-274C6FAC4515}">
      <dsp:nvSpPr>
        <dsp:cNvPr id="10" name="任意多边形 9"/>
        <dsp:cNvSpPr/>
      </dsp:nvSpPr>
      <dsp:spPr bwMode="white">
        <a:xfrm>
          <a:off x="1052001" y="2772648"/>
          <a:ext cx="1061251" cy="22476"/>
        </a:xfrm>
        <a:custGeom>
          <a:avLst/>
          <a:gdLst/>
          <a:ahLst/>
          <a:cxnLst/>
          <a:pathLst>
            <a:path w="1671" h="35">
              <a:moveTo>
                <a:pt x="420" y="-707"/>
              </a:moveTo>
              <a:lnTo>
                <a:pt x="1251" y="743"/>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052001" y="2772648"/>
        <a:ext cx="1061251" cy="22476"/>
      </dsp:txXfrm>
    </dsp:sp>
    <dsp:sp modelId="{ABBB0E82-731B-415F-922E-A3B0FF4EDCC4}">
      <dsp:nvSpPr>
        <dsp:cNvPr id="11" name="圆角矩形 10"/>
        <dsp:cNvSpPr/>
      </dsp:nvSpPr>
      <dsp:spPr bwMode="white">
        <a:xfrm>
          <a:off x="1846398" y="2842242"/>
          <a:ext cx="1318855" cy="804133"/>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1" dirty="0" smtClean="0">
              <a:solidFill>
                <a:srgbClr val="000000"/>
              </a:solidFill>
            </a:rPr>
            <a:t>世界怎么样</a:t>
          </a:r>
          <a:endParaRPr lang="en-US" altLang="zh-CN" sz="1600" b="1" dirty="0" smtClean="0">
            <a:solidFill>
              <a:srgbClr val="000000"/>
            </a:solidFill>
          </a:endParaRPr>
        </a:p>
        <a:p>
          <a:pPr lvl="0">
            <a:lnSpc>
              <a:spcPct val="100000"/>
            </a:lnSpc>
            <a:spcBef>
              <a:spcPct val="0"/>
            </a:spcBef>
            <a:spcAft>
              <a:spcPct val="35000"/>
            </a:spcAft>
          </a:pPr>
          <a:r>
            <a:rPr lang="zh-CN" altLang="en-US" sz="1600" b="1" dirty="0" smtClean="0">
              <a:solidFill>
                <a:srgbClr val="000000"/>
              </a:solidFill>
            </a:rPr>
            <a:t>（存在状态）</a:t>
          </a:r>
          <a:endParaRPr lang="zh-CN" altLang="en-US" sz="1600" b="1" dirty="0">
            <a:solidFill>
              <a:srgbClr val="000000"/>
            </a:solidFill>
          </a:endParaRPr>
        </a:p>
      </dsp:txBody>
      <dsp:txXfrm>
        <a:off x="1846398" y="2842242"/>
        <a:ext cx="1318855" cy="804133"/>
      </dsp:txXfrm>
    </dsp:sp>
    <dsp:sp modelId="{911AFD28-09DA-48A4-8479-4B79810524D0}">
      <dsp:nvSpPr>
        <dsp:cNvPr id="12" name="任意多边形 11"/>
        <dsp:cNvSpPr/>
      </dsp:nvSpPr>
      <dsp:spPr bwMode="white">
        <a:xfrm>
          <a:off x="2986967" y="2877541"/>
          <a:ext cx="887266" cy="22476"/>
        </a:xfrm>
        <a:custGeom>
          <a:avLst/>
          <a:gdLst/>
          <a:ahLst/>
          <a:cxnLst/>
          <a:pathLst>
            <a:path w="1397" h="35">
              <a:moveTo>
                <a:pt x="281" y="578"/>
              </a:moveTo>
              <a:lnTo>
                <a:pt x="1117" y="-542"/>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986967" y="2877541"/>
        <a:ext cx="887266" cy="22476"/>
      </dsp:txXfrm>
    </dsp:sp>
    <dsp:sp modelId="{6B84357C-BB17-406A-BEC5-98E76AB2B230}">
      <dsp:nvSpPr>
        <dsp:cNvPr id="13" name="圆角矩形 12"/>
        <dsp:cNvSpPr/>
      </dsp:nvSpPr>
      <dsp:spPr bwMode="white">
        <a:xfrm>
          <a:off x="3695947" y="2203535"/>
          <a:ext cx="1318855" cy="659428"/>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rgbClr val="000000"/>
              </a:solidFill>
            </a:rPr>
            <a:t>形而上学</a:t>
          </a:r>
        </a:p>
      </dsp:txBody>
      <dsp:txXfrm>
        <a:off x="3695947" y="2203535"/>
        <a:ext cx="1318855" cy="659428"/>
      </dsp:txXfrm>
    </dsp:sp>
    <dsp:sp modelId="{AA941E39-7936-4FAD-8D27-8F930ABE7C46}">
      <dsp:nvSpPr>
        <dsp:cNvPr id="14" name="任意多边形 13"/>
        <dsp:cNvSpPr/>
      </dsp:nvSpPr>
      <dsp:spPr bwMode="white">
        <a:xfrm>
          <a:off x="5014782" y="2518714"/>
          <a:ext cx="524432" cy="22476"/>
        </a:xfrm>
        <a:custGeom>
          <a:avLst/>
          <a:gdLst/>
          <a:ahLst/>
          <a:cxnLst/>
          <a:pathLst>
            <a:path w="826" h="35">
              <a:moveTo>
                <a:pt x="0" y="23"/>
              </a:moveTo>
              <a:lnTo>
                <a:pt x="826" y="13"/>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014782" y="2518714"/>
        <a:ext cx="524432" cy="22476"/>
      </dsp:txXfrm>
    </dsp:sp>
    <dsp:sp modelId="{F02EBA84-10E8-49E2-B5C5-FB547CFAD4EE}">
      <dsp:nvSpPr>
        <dsp:cNvPr id="15" name="圆角矩形 14"/>
        <dsp:cNvSpPr/>
      </dsp:nvSpPr>
      <dsp:spPr bwMode="white">
        <a:xfrm>
          <a:off x="5539193" y="1829191"/>
          <a:ext cx="1318855" cy="1394927"/>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1" dirty="0" smtClean="0">
              <a:solidFill>
                <a:srgbClr val="000000"/>
              </a:solidFill>
            </a:rPr>
            <a:t>用孤立的、静止</a:t>
          </a:r>
          <a:r>
            <a:rPr lang="zh-CN" altLang="en-US" sz="1600" b="1" dirty="0" smtClean="0">
              <a:solidFill>
                <a:srgbClr val="000000"/>
              </a:solidFill>
            </a:rPr>
            <a:t>的，从而</a:t>
          </a:r>
          <a:r>
            <a:rPr lang="zh-CN" altLang="en-US" sz="1600" b="1" dirty="0" smtClean="0">
              <a:solidFill>
                <a:srgbClr val="000000"/>
              </a:solidFill>
            </a:rPr>
            <a:t>是片面的观点看世界，否认矛盾</a:t>
          </a:r>
          <a:endParaRPr lang="zh-CN" altLang="en-US" sz="1600" b="1" dirty="0">
            <a:solidFill>
              <a:srgbClr val="000000"/>
            </a:solidFill>
          </a:endParaRPr>
        </a:p>
      </dsp:txBody>
      <dsp:txXfrm>
        <a:off x="5539193" y="1829191"/>
        <a:ext cx="1318855" cy="1394927"/>
      </dsp:txXfrm>
    </dsp:sp>
    <dsp:sp modelId="{6760F061-3903-433F-928F-0E004756BFEC}">
      <dsp:nvSpPr>
        <dsp:cNvPr id="16" name="任意多边形 15"/>
        <dsp:cNvSpPr/>
      </dsp:nvSpPr>
      <dsp:spPr bwMode="white">
        <a:xfrm>
          <a:off x="2983679" y="3591897"/>
          <a:ext cx="890689" cy="22476"/>
        </a:xfrm>
        <a:custGeom>
          <a:avLst/>
          <a:gdLst/>
          <a:ahLst/>
          <a:cxnLst/>
          <a:pathLst>
            <a:path w="1403" h="35">
              <a:moveTo>
                <a:pt x="286" y="-547"/>
              </a:moveTo>
              <a:lnTo>
                <a:pt x="1117" y="583"/>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983679" y="3591897"/>
        <a:ext cx="890689" cy="22476"/>
      </dsp:txXfrm>
    </dsp:sp>
    <dsp:sp modelId="{673563FB-F039-47EF-88F2-8AEE9573F71E}">
      <dsp:nvSpPr>
        <dsp:cNvPr id="17" name="圆角矩形 16"/>
        <dsp:cNvSpPr/>
      </dsp:nvSpPr>
      <dsp:spPr bwMode="white">
        <a:xfrm>
          <a:off x="3692795" y="3632248"/>
          <a:ext cx="1318855" cy="659428"/>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辩证法</a:t>
          </a:r>
          <a:endParaRPr lang="zh-CN" altLang="en-US" sz="2000" b="1" dirty="0">
            <a:solidFill>
              <a:srgbClr val="000000"/>
            </a:solidFill>
          </a:endParaRPr>
        </a:p>
      </dsp:txBody>
      <dsp:txXfrm>
        <a:off x="3692795" y="3632248"/>
        <a:ext cx="1318855" cy="659428"/>
      </dsp:txXfrm>
    </dsp:sp>
    <dsp:sp modelId="{7F74B53F-1843-4753-AA7D-EF57FAB80BD5}">
      <dsp:nvSpPr>
        <dsp:cNvPr id="18" name="任意多边形 17"/>
        <dsp:cNvSpPr/>
      </dsp:nvSpPr>
      <dsp:spPr bwMode="white">
        <a:xfrm>
          <a:off x="5011650" y="3950724"/>
          <a:ext cx="527542" cy="22476"/>
        </a:xfrm>
        <a:custGeom>
          <a:avLst/>
          <a:gdLst/>
          <a:ahLst/>
          <a:cxnLst/>
          <a:pathLst>
            <a:path w="831" h="35">
              <a:moveTo>
                <a:pt x="0" y="18"/>
              </a:moveTo>
              <a:lnTo>
                <a:pt x="831" y="18"/>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011650" y="3950724"/>
        <a:ext cx="527542" cy="22476"/>
      </dsp:txXfrm>
    </dsp:sp>
    <dsp:sp modelId="{271EEF6A-90F0-4634-B00C-81AC55777FA6}">
      <dsp:nvSpPr>
        <dsp:cNvPr id="19" name="圆角矩形 18"/>
        <dsp:cNvSpPr/>
      </dsp:nvSpPr>
      <dsp:spPr bwMode="white">
        <a:xfrm>
          <a:off x="5539193" y="3323032"/>
          <a:ext cx="1318855" cy="1277859"/>
        </a:xfrm>
        <a:prstGeom prst="roundRect">
          <a:avLst>
            <a:gd name="adj" fmla="val 10000"/>
          </a:avLst>
        </a:prstGeom>
        <a:solidFill>
          <a:schemeClr val="bg1"/>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1" dirty="0" smtClean="0">
              <a:solidFill>
                <a:srgbClr val="000000"/>
              </a:solidFill>
            </a:rPr>
            <a:t>用联系的、发展</a:t>
          </a:r>
          <a:r>
            <a:rPr lang="zh-CN" altLang="en-US" sz="1600" b="1" dirty="0" smtClean="0">
              <a:solidFill>
                <a:srgbClr val="000000"/>
              </a:solidFill>
            </a:rPr>
            <a:t>的，从而</a:t>
          </a:r>
          <a:r>
            <a:rPr lang="zh-CN" altLang="en-US" sz="1600" b="1" dirty="0" smtClean="0">
              <a:solidFill>
                <a:srgbClr val="000000"/>
              </a:solidFill>
            </a:rPr>
            <a:t>是全面的观点看世界，承认矛盾</a:t>
          </a:r>
          <a:endParaRPr lang="zh-CN" altLang="en-US" sz="1600" b="1" dirty="0">
            <a:solidFill>
              <a:srgbClr val="000000"/>
            </a:solidFill>
          </a:endParaRPr>
        </a:p>
      </dsp:txBody>
      <dsp:txXfrm>
        <a:off x="5539193" y="3323032"/>
        <a:ext cx="1318855" cy="1277859"/>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05810" cy="5572164"/>
        <a:chOff x="0" y="0"/>
        <a:chExt cx="8405810" cy="5572164"/>
      </a:xfrm>
    </dsp:grpSpPr>
    <dsp:sp modelId="{30EB93A3-5DA2-4995-80B4-BBBB72ACAA95}">
      <dsp:nvSpPr>
        <dsp:cNvPr id="3" name="圆角矩形 2"/>
        <dsp:cNvSpPr/>
      </dsp:nvSpPr>
      <dsp:spPr bwMode="white">
        <a:xfrm>
          <a:off x="0" y="1241605"/>
          <a:ext cx="1187387" cy="2788659"/>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vert="horz" wrap="square"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smtClean="0">
              <a:solidFill>
                <a:schemeClr val="tx1"/>
              </a:solidFill>
            </a:rPr>
            <a:t>基本特征：联系</a:t>
          </a:r>
          <a:r>
            <a:rPr lang="zh-CN" altLang="en-US" sz="2400" b="1" dirty="0" smtClean="0">
              <a:solidFill>
                <a:schemeClr val="tx1"/>
              </a:solidFill>
            </a:rPr>
            <a:t>与</a:t>
          </a:r>
          <a:r>
            <a:rPr lang="zh-CN" altLang="en-US" sz="2400" b="1" dirty="0" smtClean="0">
              <a:solidFill>
                <a:schemeClr val="tx1"/>
              </a:solidFill>
            </a:rPr>
            <a:t>发展</a:t>
          </a:r>
          <a:endParaRPr lang="zh-CN" altLang="en-US" sz="2400" b="1" dirty="0">
            <a:solidFill>
              <a:schemeClr val="tx1"/>
            </a:solidFill>
          </a:endParaRPr>
        </a:p>
      </dsp:txBody>
      <dsp:txXfrm>
        <a:off x="0" y="1241605"/>
        <a:ext cx="1187387" cy="2788659"/>
      </dsp:txXfrm>
    </dsp:sp>
    <dsp:sp modelId="{A0B9CF5B-81FC-4CAA-B5F8-02FC41107F17}">
      <dsp:nvSpPr>
        <dsp:cNvPr id="4" name="任意多边形 3"/>
        <dsp:cNvSpPr/>
      </dsp:nvSpPr>
      <dsp:spPr bwMode="white">
        <a:xfrm>
          <a:off x="604601" y="3288270"/>
          <a:ext cx="1339767" cy="23723"/>
        </a:xfrm>
        <a:custGeom>
          <a:avLst/>
          <a:gdLst/>
          <a:ahLst/>
          <a:cxnLst/>
          <a:pathLst>
            <a:path w="2110" h="37">
              <a:moveTo>
                <a:pt x="918" y="-1027"/>
              </a:moveTo>
              <a:lnTo>
                <a:pt x="1192" y="1065"/>
              </a:lnTo>
            </a:path>
          </a:pathLst>
        </a:custGeom>
      </dsp:spPr>
      <dsp:style>
        <a:lnRef idx="2">
          <a:schemeClr val="accent6"/>
        </a:lnRef>
        <a:fillRef idx="0">
          <a:schemeClr val="accent6">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604601" y="3288270"/>
        <a:ext cx="1339767" cy="23723"/>
      </dsp:txXfrm>
    </dsp:sp>
    <dsp:sp modelId="{E0B00510-7083-4008-9C69-4BEE810EF629}">
      <dsp:nvSpPr>
        <dsp:cNvPr id="5" name="圆角矩形 4"/>
        <dsp:cNvSpPr/>
      </dsp:nvSpPr>
      <dsp:spPr bwMode="white">
        <a:xfrm>
          <a:off x="1361583" y="3401616"/>
          <a:ext cx="892574" cy="1125426"/>
        </a:xfrm>
        <a:prstGeom prst="roundRect">
          <a:avLst>
            <a:gd name="adj" fmla="val 10000"/>
          </a:avLst>
        </a:prstGeom>
      </dsp:spPr>
      <dsp:style>
        <a:lnRef idx="2">
          <a:schemeClr val="lt1"/>
        </a:lnRef>
        <a:fillRef idx="1">
          <a:schemeClr val="accent6">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smtClean="0">
              <a:solidFill>
                <a:schemeClr val="accent4">
                  <a:lumMod val="40000"/>
                  <a:lumOff val="60000"/>
                </a:schemeClr>
              </a:solidFill>
            </a:rPr>
            <a:t>基本环节</a:t>
          </a:r>
          <a:endParaRPr lang="zh-CN" altLang="en-US" sz="2400" b="1" dirty="0">
            <a:solidFill>
              <a:schemeClr val="accent4">
                <a:lumMod val="40000"/>
                <a:lumOff val="60000"/>
              </a:schemeClr>
            </a:solidFill>
          </a:endParaRPr>
        </a:p>
      </dsp:txBody>
      <dsp:txXfrm>
        <a:off x="1361583" y="3401616"/>
        <a:ext cx="892574" cy="1125426"/>
      </dsp:txXfrm>
    </dsp:sp>
    <dsp:sp modelId="{48A976DF-2FF3-448B-A61F-2FA25ED1FA15}">
      <dsp:nvSpPr>
        <dsp:cNvPr id="6" name="任意多边形 5"/>
        <dsp:cNvSpPr/>
      </dsp:nvSpPr>
      <dsp:spPr bwMode="white">
        <a:xfrm>
          <a:off x="1893449" y="3226276"/>
          <a:ext cx="1822704" cy="23723"/>
        </a:xfrm>
        <a:custGeom>
          <a:avLst/>
          <a:gdLst/>
          <a:ahLst/>
          <a:cxnLst/>
          <a:pathLst>
            <a:path w="2870" h="37">
              <a:moveTo>
                <a:pt x="568" y="1162"/>
              </a:moveTo>
              <a:lnTo>
                <a:pt x="2302" y="-1125"/>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1893449" y="3226276"/>
        <a:ext cx="1822704" cy="23723"/>
      </dsp:txXfrm>
    </dsp:sp>
    <dsp:sp modelId="{7271273A-B338-43D0-930E-3419BF6A6F15}">
      <dsp:nvSpPr>
        <dsp:cNvPr id="7" name="圆角矩形 6"/>
        <dsp:cNvSpPr/>
      </dsp:nvSpPr>
      <dsp:spPr bwMode="white">
        <a:xfrm>
          <a:off x="3355444" y="2213132"/>
          <a:ext cx="2336864" cy="597630"/>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内容与形式</a:t>
          </a:r>
          <a:endParaRPr lang="zh-CN" altLang="en-US" sz="2000" b="1" dirty="0">
            <a:solidFill>
              <a:srgbClr val="000000"/>
            </a:solidFill>
          </a:endParaRPr>
        </a:p>
      </dsp:txBody>
      <dsp:txXfrm>
        <a:off x="3355444" y="2213132"/>
        <a:ext cx="2336864" cy="597630"/>
      </dsp:txXfrm>
    </dsp:sp>
    <dsp:sp modelId="{BE52383F-7E87-4CD9-BFA9-A862A03F7513}">
      <dsp:nvSpPr>
        <dsp:cNvPr id="8" name="任意多边形 7"/>
        <dsp:cNvSpPr/>
      </dsp:nvSpPr>
      <dsp:spPr bwMode="white">
        <a:xfrm>
          <a:off x="2157989" y="3613120"/>
          <a:ext cx="1293623" cy="23723"/>
        </a:xfrm>
        <a:custGeom>
          <a:avLst/>
          <a:gdLst/>
          <a:ahLst/>
          <a:cxnLst/>
          <a:pathLst>
            <a:path w="2037" h="37">
              <a:moveTo>
                <a:pt x="151" y="553"/>
              </a:moveTo>
              <a:lnTo>
                <a:pt x="1886" y="-516"/>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157989" y="3613120"/>
        <a:ext cx="1293623" cy="23723"/>
      </dsp:txXfrm>
    </dsp:sp>
    <dsp:sp modelId="{CE8B370D-7DB7-4768-BE07-EB87B68469AF}">
      <dsp:nvSpPr>
        <dsp:cNvPr id="9" name="圆角矩形 8"/>
        <dsp:cNvSpPr/>
      </dsp:nvSpPr>
      <dsp:spPr bwMode="white">
        <a:xfrm>
          <a:off x="3355444" y="3000938"/>
          <a:ext cx="2336864" cy="569392"/>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本质与现象</a:t>
          </a:r>
        </a:p>
      </dsp:txBody>
      <dsp:txXfrm>
        <a:off x="3355444" y="3000938"/>
        <a:ext cx="2336864" cy="569392"/>
      </dsp:txXfrm>
    </dsp:sp>
    <dsp:sp modelId="{49B5D9A8-DB31-4BFD-A660-93A11E0628CB}">
      <dsp:nvSpPr>
        <dsp:cNvPr id="10" name="任意多边形 9"/>
        <dsp:cNvSpPr/>
      </dsp:nvSpPr>
      <dsp:spPr bwMode="white">
        <a:xfrm>
          <a:off x="2254137" y="3957164"/>
          <a:ext cx="1101327" cy="23723"/>
        </a:xfrm>
        <a:custGeom>
          <a:avLst/>
          <a:gdLst/>
          <a:ahLst/>
          <a:cxnLst/>
          <a:pathLst>
            <a:path w="1734" h="37">
              <a:moveTo>
                <a:pt x="0" y="11"/>
              </a:moveTo>
              <a:lnTo>
                <a:pt x="1734" y="26"/>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254137" y="3957164"/>
        <a:ext cx="1101327" cy="23723"/>
      </dsp:txXfrm>
    </dsp:sp>
    <dsp:sp modelId="{68E0C921-C84E-474F-BDA1-C37CA8E53B57}">
      <dsp:nvSpPr>
        <dsp:cNvPr id="11" name="圆角矩形 10"/>
        <dsp:cNvSpPr/>
      </dsp:nvSpPr>
      <dsp:spPr bwMode="white">
        <a:xfrm>
          <a:off x="3355444" y="3717127"/>
          <a:ext cx="2351934" cy="513190"/>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原因与结果</a:t>
          </a:r>
        </a:p>
      </dsp:txBody>
      <dsp:txXfrm>
        <a:off x="3355444" y="3717127"/>
        <a:ext cx="2351934" cy="513190"/>
      </dsp:txXfrm>
    </dsp:sp>
    <dsp:sp modelId="{5C4FB74C-E19C-44F4-95FD-15992747E3C9}">
      <dsp:nvSpPr>
        <dsp:cNvPr id="12" name="任意多边形 11"/>
        <dsp:cNvSpPr/>
      </dsp:nvSpPr>
      <dsp:spPr bwMode="white">
        <a:xfrm>
          <a:off x="2156286" y="4295050"/>
          <a:ext cx="1297029" cy="23723"/>
        </a:xfrm>
        <a:custGeom>
          <a:avLst/>
          <a:gdLst/>
          <a:ahLst/>
          <a:cxnLst/>
          <a:pathLst>
            <a:path w="2043" h="37">
              <a:moveTo>
                <a:pt x="154" y="-521"/>
              </a:moveTo>
              <a:lnTo>
                <a:pt x="1888" y="558"/>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156286" y="4295050"/>
        <a:ext cx="1297029" cy="23723"/>
      </dsp:txXfrm>
    </dsp:sp>
    <dsp:sp modelId="{D6306C7A-7076-44C8-A581-B95A42C5B47D}">
      <dsp:nvSpPr>
        <dsp:cNvPr id="13" name="圆角矩形 12"/>
        <dsp:cNvSpPr/>
      </dsp:nvSpPr>
      <dsp:spPr bwMode="white">
        <a:xfrm>
          <a:off x="3355444" y="4361691"/>
          <a:ext cx="2336864" cy="575605"/>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必然与偶然</a:t>
          </a:r>
        </a:p>
      </dsp:txBody>
      <dsp:txXfrm>
        <a:off x="3355444" y="4361691"/>
        <a:ext cx="2336864" cy="575605"/>
      </dsp:txXfrm>
    </dsp:sp>
    <dsp:sp modelId="{CCDABA2A-733B-4E05-8952-A2EBEC0C0CD8}">
      <dsp:nvSpPr>
        <dsp:cNvPr id="14" name="任意多边形 13"/>
        <dsp:cNvSpPr/>
      </dsp:nvSpPr>
      <dsp:spPr bwMode="white">
        <a:xfrm>
          <a:off x="1945524" y="4612126"/>
          <a:ext cx="1718554" cy="23723"/>
        </a:xfrm>
        <a:custGeom>
          <a:avLst/>
          <a:gdLst/>
          <a:ahLst/>
          <a:cxnLst/>
          <a:pathLst>
            <a:path w="2706" h="37">
              <a:moveTo>
                <a:pt x="486" y="-1020"/>
              </a:moveTo>
              <a:lnTo>
                <a:pt x="2220" y="1058"/>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1945524" y="4612126"/>
        <a:ext cx="1718554" cy="23723"/>
      </dsp:txXfrm>
    </dsp:sp>
    <dsp:sp modelId="{B850AB29-9E9A-49E6-9034-D9EAF9350B0E}">
      <dsp:nvSpPr>
        <dsp:cNvPr id="15" name="圆角矩形 14"/>
        <dsp:cNvSpPr/>
      </dsp:nvSpPr>
      <dsp:spPr bwMode="white">
        <a:xfrm>
          <a:off x="3355444" y="4995127"/>
          <a:ext cx="2351934" cy="577037"/>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现实与可能</a:t>
          </a:r>
        </a:p>
      </dsp:txBody>
      <dsp:txXfrm>
        <a:off x="3355444" y="4995127"/>
        <a:ext cx="2351934" cy="577037"/>
      </dsp:txXfrm>
    </dsp:sp>
    <dsp:sp modelId="{E4051FFC-7F08-497B-9A68-F25E867868F2}">
      <dsp:nvSpPr>
        <dsp:cNvPr id="16" name="任意多边形 15"/>
        <dsp:cNvSpPr/>
      </dsp:nvSpPr>
      <dsp:spPr bwMode="white">
        <a:xfrm>
          <a:off x="534768" y="1856867"/>
          <a:ext cx="1554531" cy="23723"/>
        </a:xfrm>
        <a:custGeom>
          <a:avLst/>
          <a:gdLst/>
          <a:ahLst/>
          <a:cxnLst/>
          <a:pathLst>
            <a:path w="2448" h="37">
              <a:moveTo>
                <a:pt x="1028" y="1227"/>
              </a:moveTo>
              <a:lnTo>
                <a:pt x="1420" y="-1190"/>
              </a:lnTo>
            </a:path>
          </a:pathLst>
        </a:custGeom>
      </dsp:spPr>
      <dsp:style>
        <a:lnRef idx="2">
          <a:schemeClr val="accent6"/>
        </a:lnRef>
        <a:fillRef idx="0">
          <a:schemeClr val="accent6">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534768" y="1856867"/>
        <a:ext cx="1554531" cy="23723"/>
      </dsp:txXfrm>
    </dsp:sp>
    <dsp:sp modelId="{881DA1B5-AD53-495B-8856-DCF9FACCBD7B}">
      <dsp:nvSpPr>
        <dsp:cNvPr id="17" name="圆角矩形 16"/>
        <dsp:cNvSpPr/>
      </dsp:nvSpPr>
      <dsp:spPr bwMode="white">
        <a:xfrm>
          <a:off x="1436682" y="586589"/>
          <a:ext cx="969905" cy="1029868"/>
        </a:xfrm>
        <a:prstGeom prst="roundRect">
          <a:avLst>
            <a:gd name="adj" fmla="val 10000"/>
          </a:avLst>
        </a:prstGeom>
      </dsp:spPr>
      <dsp:style>
        <a:lnRef idx="2">
          <a:schemeClr val="lt1"/>
        </a:lnRef>
        <a:fillRef idx="1">
          <a:schemeClr val="accent6">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smtClean="0">
              <a:solidFill>
                <a:schemeClr val="accent4">
                  <a:lumMod val="40000"/>
                  <a:lumOff val="60000"/>
                </a:schemeClr>
              </a:solidFill>
            </a:rPr>
            <a:t>基本规律</a:t>
          </a:r>
          <a:endParaRPr lang="zh-CN" altLang="en-US" sz="2400" b="1" dirty="0">
            <a:solidFill>
              <a:schemeClr val="accent4">
                <a:lumMod val="40000"/>
                <a:lumOff val="60000"/>
              </a:schemeClr>
            </a:solidFill>
          </a:endParaRPr>
        </a:p>
      </dsp:txBody>
      <dsp:txXfrm>
        <a:off x="1436682" y="586589"/>
        <a:ext cx="969905" cy="1029868"/>
      </dsp:txXfrm>
    </dsp:sp>
    <dsp:sp modelId="{7D7A8168-EFCA-4F92-878F-ED2C7DA67AD2}">
      <dsp:nvSpPr>
        <dsp:cNvPr id="18" name="任意多边形 17"/>
        <dsp:cNvSpPr/>
      </dsp:nvSpPr>
      <dsp:spPr bwMode="white">
        <a:xfrm>
          <a:off x="2256323" y="687564"/>
          <a:ext cx="1226253" cy="23723"/>
        </a:xfrm>
        <a:custGeom>
          <a:avLst/>
          <a:gdLst/>
          <a:ahLst/>
          <a:cxnLst/>
          <a:pathLst>
            <a:path w="1931" h="37">
              <a:moveTo>
                <a:pt x="237" y="652"/>
              </a:moveTo>
              <a:lnTo>
                <a:pt x="1694" y="-615"/>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256323" y="687564"/>
        <a:ext cx="1226253" cy="23723"/>
      </dsp:txXfrm>
    </dsp:sp>
    <dsp:sp modelId="{EE40A485-E4E9-4B01-BE2E-29A5A36A8EA5}">
      <dsp:nvSpPr>
        <dsp:cNvPr id="19" name="圆角矩形 18"/>
        <dsp:cNvSpPr/>
      </dsp:nvSpPr>
      <dsp:spPr bwMode="white">
        <a:xfrm>
          <a:off x="3332311" y="0"/>
          <a:ext cx="5073499" cy="594655"/>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对立统一规律：事物发展的动力、源泉</a:t>
          </a:r>
          <a:endParaRPr lang="zh-CN" altLang="en-US" sz="2000" b="1" dirty="0">
            <a:solidFill>
              <a:srgbClr val="000000"/>
            </a:solidFill>
          </a:endParaRPr>
        </a:p>
      </dsp:txBody>
      <dsp:txXfrm>
        <a:off x="3332311" y="0"/>
        <a:ext cx="5073499" cy="594655"/>
      </dsp:txXfrm>
    </dsp:sp>
    <dsp:sp modelId="{D85E3186-C858-4C7B-BDD1-0917DC9B511B}">
      <dsp:nvSpPr>
        <dsp:cNvPr id="20" name="任意多边形 19"/>
        <dsp:cNvSpPr/>
      </dsp:nvSpPr>
      <dsp:spPr bwMode="white">
        <a:xfrm>
          <a:off x="2401997" y="1023161"/>
          <a:ext cx="968026" cy="23723"/>
        </a:xfrm>
        <a:custGeom>
          <a:avLst/>
          <a:gdLst/>
          <a:ahLst/>
          <a:cxnLst/>
          <a:pathLst>
            <a:path w="1524" h="37">
              <a:moveTo>
                <a:pt x="7" y="123"/>
              </a:moveTo>
              <a:lnTo>
                <a:pt x="1517" y="-86"/>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401997" y="1023161"/>
        <a:ext cx="968026" cy="23723"/>
      </dsp:txXfrm>
    </dsp:sp>
    <dsp:sp modelId="{92E9F16B-C836-43C2-B269-8F6BDF527674}">
      <dsp:nvSpPr>
        <dsp:cNvPr id="21" name="圆角矩形 20"/>
        <dsp:cNvSpPr/>
      </dsp:nvSpPr>
      <dsp:spPr bwMode="white">
        <a:xfrm>
          <a:off x="3365432" y="761982"/>
          <a:ext cx="5040378" cy="413078"/>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量变质变规律：事物发展的动态、状态</a:t>
          </a:r>
        </a:p>
      </dsp:txBody>
      <dsp:txXfrm>
        <a:off x="3365432" y="761982"/>
        <a:ext cx="5040378" cy="413078"/>
      </dsp:txXfrm>
    </dsp:sp>
    <dsp:sp modelId="{34151F9D-EC54-4483-8EB9-0179BE2F0BD5}">
      <dsp:nvSpPr>
        <dsp:cNvPr id="22" name="任意多边形 21"/>
        <dsp:cNvSpPr/>
      </dsp:nvSpPr>
      <dsp:spPr bwMode="white">
        <a:xfrm>
          <a:off x="2356633" y="1321241"/>
          <a:ext cx="1123526" cy="23723"/>
        </a:xfrm>
        <a:custGeom>
          <a:avLst/>
          <a:gdLst/>
          <a:ahLst/>
          <a:cxnLst/>
          <a:pathLst>
            <a:path w="1769" h="37">
              <a:moveTo>
                <a:pt x="79" y="-346"/>
              </a:moveTo>
              <a:lnTo>
                <a:pt x="1691" y="383"/>
              </a:lnTo>
            </a:path>
          </a:pathLst>
        </a:custGeom>
      </dsp:spPr>
      <dsp:style>
        <a:lnRef idx="2">
          <a:schemeClr val="accent1"/>
        </a:lnRef>
        <a:fillRef idx="0">
          <a:schemeClr val="accent6">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356633" y="1321241"/>
        <a:ext cx="1123526" cy="23723"/>
      </dsp:txXfrm>
    </dsp:sp>
    <dsp:sp modelId="{707407E5-8570-4D65-BD3D-8D1606537DB4}">
      <dsp:nvSpPr>
        <dsp:cNvPr id="23" name="圆角矩形 22"/>
        <dsp:cNvSpPr/>
      </dsp:nvSpPr>
      <dsp:spPr bwMode="white">
        <a:xfrm>
          <a:off x="3430205" y="1282090"/>
          <a:ext cx="4975605" cy="565184"/>
        </a:xfrm>
        <a:prstGeom prst="roundRect">
          <a:avLst>
            <a:gd name="adj" fmla="val 10000"/>
          </a:avLst>
        </a:prstGeom>
        <a:solidFill>
          <a:schemeClr val="bg1"/>
        </a:solidFill>
      </dsp:spPr>
      <dsp:style>
        <a:lnRef idx="2">
          <a:schemeClr val="lt1"/>
        </a:lnRef>
        <a:fillRef idx="1">
          <a:schemeClr val="accent1">
            <a:hueOff val="0"/>
            <a:satOff val="0"/>
            <a:lumOff val="0"/>
            <a:alpha val="100000"/>
          </a:schemeClr>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smtClean="0">
              <a:solidFill>
                <a:srgbClr val="000000"/>
              </a:solidFill>
            </a:rPr>
            <a:t>否定之否定规律：事物发展的动向、趋势</a:t>
          </a:r>
        </a:p>
      </dsp:txBody>
      <dsp:txXfrm>
        <a:off x="3430205" y="1282090"/>
        <a:ext cx="4975605" cy="565184"/>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95469" cy="3096164"/>
        <a:chOff x="0" y="0"/>
        <a:chExt cx="8495469" cy="3096164"/>
      </a:xfrm>
    </dsp:grpSpPr>
    <dsp:sp modelId="{F0A7BE09-2AAA-4EE9-BE8F-1521759A5B59}">
      <dsp:nvSpPr>
        <dsp:cNvPr id="3" name="圆角矩形 2"/>
        <dsp:cNvSpPr/>
      </dsp:nvSpPr>
      <dsp:spPr bwMode="white">
        <a:xfrm>
          <a:off x="0" y="1057959"/>
          <a:ext cx="1633744" cy="980246"/>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52400" tIns="152400" rIns="152400" bIns="152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联系</a:t>
          </a:r>
        </a:p>
      </dsp:txBody>
      <dsp:txXfrm>
        <a:off x="0" y="1057959"/>
        <a:ext cx="1633744" cy="980246"/>
      </dsp:txXfrm>
    </dsp:sp>
    <dsp:sp modelId="{04DC9A75-965A-463D-B520-E333A0A6EA74}">
      <dsp:nvSpPr>
        <dsp:cNvPr id="4" name="右箭头 3"/>
        <dsp:cNvSpPr/>
      </dsp:nvSpPr>
      <dsp:spPr bwMode="white">
        <a:xfrm>
          <a:off x="1787316" y="1345498"/>
          <a:ext cx="346354" cy="405169"/>
        </a:xfrm>
        <a:prstGeom prst="rightArrow">
          <a:avLst>
            <a:gd name="adj1" fmla="val 60000"/>
            <a:gd name="adj2" fmla="val 50000"/>
          </a:avLst>
        </a:prstGeom>
      </dsp:spPr>
      <dsp:style>
        <a:lnRef idx="0">
          <a:schemeClr val="lt1"/>
        </a:lnRef>
        <a:fillRef idx="1">
          <a:schemeClr val="accent4">
            <a:hueOff val="0"/>
            <a:satOff val="0"/>
            <a:lumOff val="0"/>
            <a:alpha val="10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1787316" y="1345498"/>
        <a:ext cx="346354" cy="405169"/>
      </dsp:txXfrm>
    </dsp:sp>
    <dsp:sp modelId="{97D14975-13EA-4488-94EE-A256AF5338B5}">
      <dsp:nvSpPr>
        <dsp:cNvPr id="5" name="圆角矩形 4"/>
        <dsp:cNvSpPr/>
      </dsp:nvSpPr>
      <dsp:spPr bwMode="white">
        <a:xfrm>
          <a:off x="2287242" y="1057959"/>
          <a:ext cx="1633744" cy="980246"/>
        </a:xfrm>
        <a:prstGeom prst="roundRect">
          <a:avLst>
            <a:gd name="adj" fmla="val 10000"/>
          </a:avLst>
        </a:prstGeom>
      </dsp:spPr>
      <dsp:style>
        <a:lnRef idx="2">
          <a:schemeClr val="lt1"/>
        </a:lnRef>
        <a:fillRef idx="1">
          <a:schemeClr val="accent4">
            <a:hueOff val="3259999"/>
            <a:satOff val="-13594"/>
            <a:lumOff val="3137"/>
            <a:alpha val="100000"/>
          </a:schemeClr>
        </a:fillRef>
        <a:effectRef idx="0">
          <a:scrgbClr r="0" g="0" b="0"/>
        </a:effectRef>
        <a:fontRef idx="minor">
          <a:schemeClr val="lt1"/>
        </a:fontRef>
      </dsp:style>
      <dsp:txBody>
        <a:bodyPr lIns="152400" tIns="152400" rIns="152400" bIns="152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运动</a:t>
          </a:r>
        </a:p>
      </dsp:txBody>
      <dsp:txXfrm>
        <a:off x="2287242" y="1057959"/>
        <a:ext cx="1633744" cy="980246"/>
      </dsp:txXfrm>
    </dsp:sp>
    <dsp:sp modelId="{B6436498-BFD3-4E2D-992D-21E084E3549B}">
      <dsp:nvSpPr>
        <dsp:cNvPr id="6" name="右箭头 5"/>
        <dsp:cNvSpPr/>
      </dsp:nvSpPr>
      <dsp:spPr bwMode="white">
        <a:xfrm>
          <a:off x="4074558" y="1345498"/>
          <a:ext cx="346354" cy="405169"/>
        </a:xfrm>
        <a:prstGeom prst="rightArrow">
          <a:avLst>
            <a:gd name="adj1" fmla="val 60000"/>
            <a:gd name="adj2" fmla="val 50000"/>
          </a:avLst>
        </a:prstGeom>
      </dsp:spPr>
      <dsp:style>
        <a:lnRef idx="0">
          <a:schemeClr val="lt1"/>
        </a:lnRef>
        <a:fillRef idx="1">
          <a:schemeClr val="accent4">
            <a:hueOff val="4890000"/>
            <a:satOff val="-20391"/>
            <a:lumOff val="4706"/>
            <a:alpha val="10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a:off x="4074558" y="1345498"/>
        <a:ext cx="346354" cy="405169"/>
      </dsp:txXfrm>
    </dsp:sp>
    <dsp:sp modelId="{76C04ED4-F8B7-446A-8A2F-FF6AC30C8D46}">
      <dsp:nvSpPr>
        <dsp:cNvPr id="7" name="圆角矩形 6"/>
        <dsp:cNvSpPr/>
      </dsp:nvSpPr>
      <dsp:spPr bwMode="white">
        <a:xfrm>
          <a:off x="4574483" y="1057959"/>
          <a:ext cx="1633744" cy="980246"/>
        </a:xfrm>
        <a:prstGeom prst="roundRect">
          <a:avLst>
            <a:gd name="adj" fmla="val 10000"/>
          </a:avLst>
        </a:prstGeom>
      </dsp:spPr>
      <dsp:style>
        <a:lnRef idx="2">
          <a:schemeClr val="lt1"/>
        </a:lnRef>
        <a:fillRef idx="1">
          <a:schemeClr val="accent4">
            <a:hueOff val="6519999"/>
            <a:satOff val="-27189"/>
            <a:lumOff val="6275"/>
            <a:alpha val="100000"/>
          </a:schemeClr>
        </a:fillRef>
        <a:effectRef idx="0">
          <a:scrgbClr r="0" g="0" b="0"/>
        </a:effectRef>
        <a:fontRef idx="minor">
          <a:schemeClr val="lt1"/>
        </a:fontRef>
      </dsp:style>
      <dsp:txBody>
        <a:bodyPr lIns="152400" tIns="152400" rIns="152400" bIns="152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变化</a:t>
          </a:r>
        </a:p>
      </dsp:txBody>
      <dsp:txXfrm>
        <a:off x="4574483" y="1057959"/>
        <a:ext cx="1633744" cy="980246"/>
      </dsp:txXfrm>
    </dsp:sp>
    <dsp:sp modelId="{F667713C-F1E6-479A-AD08-1187986216D6}">
      <dsp:nvSpPr>
        <dsp:cNvPr id="8" name="右箭头 7"/>
        <dsp:cNvSpPr/>
      </dsp:nvSpPr>
      <dsp:spPr bwMode="white">
        <a:xfrm>
          <a:off x="6361799" y="1345498"/>
          <a:ext cx="346354" cy="405169"/>
        </a:xfrm>
        <a:prstGeom prst="rightArrow">
          <a:avLst>
            <a:gd name="adj1" fmla="val 60000"/>
            <a:gd name="adj2" fmla="val 50000"/>
          </a:avLst>
        </a:prstGeom>
      </dsp:spPr>
      <dsp:style>
        <a:lnRef idx="0">
          <a:schemeClr val="lt1"/>
        </a:lnRef>
        <a:fillRef idx="1">
          <a:schemeClr val="accent4">
            <a:hueOff val="9780000"/>
            <a:satOff val="-40783"/>
            <a:lumOff val="9412"/>
            <a:alpha val="100000"/>
          </a:schemeClr>
        </a:fillRef>
        <a:effectRef idx="0">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baseline="0" dirty="0">
            <a:solidFill>
              <a:schemeClr val="accent5">
                <a:lumMod val="75000"/>
              </a:schemeClr>
            </a:solidFill>
          </a:endParaRPr>
        </a:p>
      </dsp:txBody>
      <dsp:txXfrm>
        <a:off x="6361799" y="1345498"/>
        <a:ext cx="346354" cy="405169"/>
      </dsp:txXfrm>
    </dsp:sp>
    <dsp:sp modelId="{459E371D-DB7C-4793-A392-FE575714FB98}">
      <dsp:nvSpPr>
        <dsp:cNvPr id="9" name="圆角矩形 8"/>
        <dsp:cNvSpPr/>
      </dsp:nvSpPr>
      <dsp:spPr bwMode="white">
        <a:xfrm>
          <a:off x="6861725" y="1057959"/>
          <a:ext cx="1633744" cy="980246"/>
        </a:xfrm>
        <a:prstGeom prst="roundRect">
          <a:avLst>
            <a:gd name="adj" fmla="val 10000"/>
          </a:avLst>
        </a:prstGeom>
      </dsp:spPr>
      <dsp:style>
        <a:lnRef idx="2">
          <a:schemeClr val="lt1"/>
        </a:lnRef>
        <a:fillRef idx="1">
          <a:schemeClr val="accent4">
            <a:hueOff val="9780000"/>
            <a:satOff val="-40783"/>
            <a:lumOff val="9412"/>
            <a:alpha val="100000"/>
          </a:schemeClr>
        </a:fillRef>
        <a:effectRef idx="0">
          <a:scrgbClr r="0" g="0" b="0"/>
        </a:effectRef>
        <a:fontRef idx="minor">
          <a:schemeClr val="lt1"/>
        </a:fontRef>
      </dsp:style>
      <dsp:txBody>
        <a:bodyPr lIns="152400" tIns="152400" rIns="152400" bIns="152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solidFill>
                <a:srgbClr val="000000"/>
              </a:solidFill>
            </a:rPr>
            <a:t>发展</a:t>
          </a:r>
        </a:p>
      </dsp:txBody>
      <dsp:txXfrm>
        <a:off x="6861725" y="1057959"/>
        <a:ext cx="1633744" cy="980246"/>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6643710"/>
        <a:chOff x="0" y="0"/>
        <a:chExt cx="6096000" cy="6643710"/>
      </a:xfrm>
    </dsp:grpSpPr>
    <dsp:sp modelId="{D6EF10C8-AC4F-4032-B277-F7B39EA3F0BD}">
      <dsp:nvSpPr>
        <dsp:cNvPr id="5" name="任意多边形 4"/>
        <dsp:cNvSpPr/>
      </dsp:nvSpPr>
      <dsp:spPr bwMode="white">
        <a:xfrm>
          <a:off x="1426078" y="892633"/>
          <a:ext cx="1650251" cy="4699064"/>
        </a:xfrm>
        <a:custGeom>
          <a:avLst/>
          <a:gdLst/>
          <a:ahLst/>
          <a:cxnLst/>
          <a:pathLst>
            <a:path w="2599" h="7400">
              <a:moveTo>
                <a:pt x="2599" y="0"/>
              </a:moveTo>
              <a:lnTo>
                <a:pt x="2599" y="6944"/>
              </a:lnTo>
              <a:lnTo>
                <a:pt x="0" y="6944"/>
              </a:lnTo>
              <a:lnTo>
                <a:pt x="0" y="7400"/>
              </a:lnTo>
            </a:path>
          </a:pathLst>
        </a:custGeom>
      </dsp:spPr>
      <dsp:style>
        <a:lnRef idx="2">
          <a:schemeClr val="accent4"/>
        </a:lnRef>
        <a:fillRef idx="0">
          <a:schemeClr val="accent2">
            <a:tint val="90000"/>
          </a:schemeClr>
        </a:fillRef>
        <a:effectRef idx="0">
          <a:scrgbClr r="0" g="0" b="0"/>
        </a:effectRef>
        <a:fontRef idx="minor"/>
      </dsp:style>
      <dsp:txXfrm>
        <a:off x="1426078" y="892633"/>
        <a:ext cx="1650251" cy="4699064"/>
      </dsp:txXfrm>
    </dsp:sp>
    <dsp:sp modelId="{7DCFAF35-4B81-4D8A-904E-C454F8E948E6}">
      <dsp:nvSpPr>
        <dsp:cNvPr id="8" name="任意多边形 7"/>
        <dsp:cNvSpPr/>
      </dsp:nvSpPr>
      <dsp:spPr bwMode="white">
        <a:xfrm>
          <a:off x="3076328" y="892633"/>
          <a:ext cx="1640486" cy="4699064"/>
        </a:xfrm>
        <a:custGeom>
          <a:avLst/>
          <a:gdLst/>
          <a:ahLst/>
          <a:cxnLst/>
          <a:pathLst>
            <a:path w="2583" h="7400">
              <a:moveTo>
                <a:pt x="0" y="0"/>
              </a:moveTo>
              <a:lnTo>
                <a:pt x="0" y="6944"/>
              </a:lnTo>
              <a:lnTo>
                <a:pt x="2583" y="6944"/>
              </a:lnTo>
              <a:lnTo>
                <a:pt x="2583" y="7400"/>
              </a:lnTo>
            </a:path>
          </a:pathLst>
        </a:custGeom>
      </dsp:spPr>
      <dsp:style>
        <a:lnRef idx="2">
          <a:schemeClr val="accent4"/>
        </a:lnRef>
        <a:fillRef idx="0">
          <a:schemeClr val="accent2">
            <a:tint val="90000"/>
          </a:schemeClr>
        </a:fillRef>
        <a:effectRef idx="0">
          <a:scrgbClr r="0" g="0" b="0"/>
        </a:effectRef>
        <a:fontRef idx="minor"/>
      </dsp:style>
      <dsp:txXfrm>
        <a:off x="3076328" y="892633"/>
        <a:ext cx="1640486" cy="4699064"/>
      </dsp:txXfrm>
    </dsp:sp>
    <dsp:sp modelId="{9573D278-3089-4081-829E-C6BED764BDDD}">
      <dsp:nvSpPr>
        <dsp:cNvPr id="11" name="任意多边形 10"/>
        <dsp:cNvSpPr/>
      </dsp:nvSpPr>
      <dsp:spPr bwMode="white">
        <a:xfrm>
          <a:off x="2758371" y="892633"/>
          <a:ext cx="317957" cy="2478300"/>
        </a:xfrm>
        <a:custGeom>
          <a:avLst/>
          <a:gdLst/>
          <a:ahLst/>
          <a:cxnLst/>
          <a:pathLst>
            <a:path w="501" h="3903">
              <a:moveTo>
                <a:pt x="501" y="0"/>
              </a:moveTo>
              <a:lnTo>
                <a:pt x="501" y="3903"/>
              </a:lnTo>
              <a:lnTo>
                <a:pt x="0" y="3903"/>
              </a:lnTo>
            </a:path>
          </a:pathLst>
        </a:custGeom>
      </dsp:spPr>
      <dsp:style>
        <a:lnRef idx="2">
          <a:schemeClr val="accent4"/>
        </a:lnRef>
        <a:fillRef idx="0">
          <a:schemeClr val="accent2">
            <a:tint val="90000"/>
          </a:schemeClr>
        </a:fillRef>
        <a:effectRef idx="0">
          <a:scrgbClr r="0" g="0" b="0"/>
        </a:effectRef>
        <a:fontRef idx="minor"/>
      </dsp:style>
      <dsp:txXfrm>
        <a:off x="2758371" y="892633"/>
        <a:ext cx="317957" cy="2478300"/>
      </dsp:txXfrm>
    </dsp:sp>
    <dsp:sp modelId="{08A312A1-C219-418E-9873-BED88B4E0072}">
      <dsp:nvSpPr>
        <dsp:cNvPr id="3" name="矩形 2"/>
        <dsp:cNvSpPr/>
      </dsp:nvSpPr>
      <dsp:spPr bwMode="white">
        <a:xfrm>
          <a:off x="1070607" y="212792"/>
          <a:ext cx="4011444" cy="679842"/>
        </a:xfrm>
        <a:prstGeom prst="rect">
          <a:avLst/>
        </a:prstGeom>
        <a:solidFill>
          <a:schemeClr val="bg1"/>
        </a:solidFill>
      </dsp:spPr>
      <dsp:style>
        <a:lnRef idx="2">
          <a:schemeClr val="lt1"/>
        </a:lnRef>
        <a:fillRef idx="1">
          <a:schemeClr val="accent2"/>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a:solidFill>
                <a:srgbClr val="FF0000"/>
              </a:solidFill>
              <a:latin typeface="黑体" panose="02010609060101010101" pitchFamily="49" charset="-122"/>
              <a:ea typeface="黑体" panose="02010609060101010101" pitchFamily="49" charset="-122"/>
            </a:rPr>
            <a:t>唯物辩证法基本规律</a:t>
          </a:r>
        </a:p>
      </dsp:txBody>
      <dsp:txXfrm>
        <a:off x="1070607" y="212792"/>
        <a:ext cx="4011444" cy="679842"/>
      </dsp:txXfrm>
    </dsp:sp>
    <dsp:sp modelId="{01042643-282D-411C-9267-F83514D62E69}">
      <dsp:nvSpPr>
        <dsp:cNvPr id="6" name="矩形 5"/>
        <dsp:cNvSpPr/>
      </dsp:nvSpPr>
      <dsp:spPr bwMode="white">
        <a:xfrm>
          <a:off x="46892" y="5591698"/>
          <a:ext cx="2758371" cy="581685"/>
        </a:xfrm>
        <a:prstGeom prst="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a:solidFill>
                <a:schemeClr val="tx1"/>
              </a:solidFill>
            </a:rPr>
            <a:t>量变质变规律</a:t>
          </a:r>
        </a:p>
      </dsp:txBody>
      <dsp:txXfrm>
        <a:off x="46892" y="5591698"/>
        <a:ext cx="2758371" cy="581685"/>
      </dsp:txXfrm>
    </dsp:sp>
    <dsp:sp modelId="{57A536FF-6533-42EA-B06E-D44A927988CE}">
      <dsp:nvSpPr>
        <dsp:cNvPr id="9" name="矩形 8"/>
        <dsp:cNvSpPr/>
      </dsp:nvSpPr>
      <dsp:spPr bwMode="white">
        <a:xfrm>
          <a:off x="3337629" y="5591698"/>
          <a:ext cx="2758371" cy="558501"/>
        </a:xfrm>
        <a:prstGeom prst="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a:solidFill>
                <a:schemeClr val="tx1"/>
              </a:solidFill>
            </a:rPr>
            <a:t>否定之否定规律</a:t>
          </a:r>
        </a:p>
      </dsp:txBody>
      <dsp:txXfrm>
        <a:off x="3337629" y="5591698"/>
        <a:ext cx="2758371" cy="558501"/>
      </dsp:txXfrm>
    </dsp:sp>
    <dsp:sp modelId="{E93760FF-DEA8-4F62-814C-1F649FC7E1EF}">
      <dsp:nvSpPr>
        <dsp:cNvPr id="12" name="矩形 11"/>
        <dsp:cNvSpPr/>
      </dsp:nvSpPr>
      <dsp:spPr bwMode="white">
        <a:xfrm>
          <a:off x="0" y="2681341"/>
          <a:ext cx="2758371" cy="1379186"/>
        </a:xfrm>
        <a:prstGeom prst="rect">
          <a:avLst/>
        </a:prstGeom>
      </dsp:spPr>
      <dsp:style>
        <a:lnRef idx="2">
          <a:schemeClr val="lt1">
            <a:shade val="80000"/>
          </a:schemeClr>
        </a:lnRef>
        <a:fillRef idx="1">
          <a:schemeClr val="accent4"/>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b="1" dirty="0">
              <a:solidFill>
                <a:schemeClr val="tx1"/>
              </a:solidFill>
            </a:rPr>
            <a:t>对立统一规律</a:t>
          </a:r>
        </a:p>
      </dsp:txBody>
      <dsp:txXfrm>
        <a:off x="0" y="2681341"/>
        <a:ext cx="2758371" cy="1379186"/>
      </dsp:txXfrm>
    </dsp:sp>
    <dsp:sp modelId="{EBCAD705-9BF1-4410-8D44-FB931345FA2B}">
      <dsp:nvSpPr>
        <dsp:cNvPr id="4" name="矩形 3" hidden="1"/>
        <dsp:cNvSpPr/>
      </dsp:nvSpPr>
      <dsp:spPr>
        <a:xfrm>
          <a:off x="1070607" y="212792"/>
          <a:ext cx="802289" cy="679842"/>
        </a:xfrm>
        <a:prstGeom prst="rect">
          <a:avLst/>
        </a:prstGeom>
      </dsp:spPr>
      <dsp:txXfrm>
        <a:off x="1070607" y="212792"/>
        <a:ext cx="802289" cy="679842"/>
      </dsp:txXfrm>
    </dsp:sp>
    <dsp:sp modelId="{D20801A9-46EB-4E9D-8D80-D9AE7F63DC92}">
      <dsp:nvSpPr>
        <dsp:cNvPr id="7" name="矩形 6" hidden="1"/>
        <dsp:cNvSpPr/>
      </dsp:nvSpPr>
      <dsp:spPr>
        <a:xfrm>
          <a:off x="46892" y="5591698"/>
          <a:ext cx="551674" cy="581685"/>
        </a:xfrm>
        <a:prstGeom prst="rect">
          <a:avLst/>
        </a:prstGeom>
      </dsp:spPr>
      <dsp:txXfrm>
        <a:off x="46892" y="5591698"/>
        <a:ext cx="551674" cy="581685"/>
      </dsp:txXfrm>
    </dsp:sp>
    <dsp:sp modelId="{80BEBE74-89A3-492A-A0DD-5E1512C69636}">
      <dsp:nvSpPr>
        <dsp:cNvPr id="10" name="矩形 9" hidden="1"/>
        <dsp:cNvSpPr/>
      </dsp:nvSpPr>
      <dsp:spPr>
        <a:xfrm>
          <a:off x="3337629" y="5591698"/>
          <a:ext cx="551674" cy="558501"/>
        </a:xfrm>
        <a:prstGeom prst="rect">
          <a:avLst/>
        </a:prstGeom>
      </dsp:spPr>
      <dsp:txXfrm>
        <a:off x="3337629" y="5591698"/>
        <a:ext cx="551674" cy="558501"/>
      </dsp:txXfrm>
    </dsp:sp>
    <dsp:sp modelId="{830F1BB0-4DF5-4739-A24C-BFD50450A75F}">
      <dsp:nvSpPr>
        <dsp:cNvPr id="13" name="矩形 12" hidden="1"/>
        <dsp:cNvSpPr/>
      </dsp:nvSpPr>
      <dsp:spPr>
        <a:xfrm>
          <a:off x="0" y="2681341"/>
          <a:ext cx="551674" cy="1379186"/>
        </a:xfrm>
        <a:prstGeom prst="rect">
          <a:avLst/>
        </a:prstGeom>
      </dsp:spPr>
      <dsp:txXfrm>
        <a:off x="0" y="2681341"/>
        <a:ext cx="551674" cy="1379186"/>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058339" cy="3220294"/>
        <a:chOff x="0" y="0"/>
        <a:chExt cx="3058339" cy="3220294"/>
      </a:xfrm>
    </dsp:grpSpPr>
    <dsp:sp modelId="{A982A40E-7342-4B57-85AB-FDFCCCBDA60B}">
      <dsp:nvSpPr>
        <dsp:cNvPr id="4" name="任意多边形 3"/>
        <dsp:cNvSpPr/>
      </dsp:nvSpPr>
      <dsp:spPr bwMode="white">
        <a:xfrm>
          <a:off x="616152" y="929904"/>
          <a:ext cx="371415" cy="680243"/>
        </a:xfrm>
        <a:custGeom>
          <a:avLst/>
          <a:gdLst/>
          <a:ahLst/>
          <a:cxnLst/>
          <a:pathLst>
            <a:path w="585" h="1071">
              <a:moveTo>
                <a:pt x="0" y="1071"/>
              </a:moveTo>
              <a:lnTo>
                <a:pt x="292" y="1071"/>
              </a:lnTo>
              <a:lnTo>
                <a:pt x="292" y="0"/>
              </a:lnTo>
              <a:lnTo>
                <a:pt x="585" y="0"/>
              </a:lnTo>
            </a:path>
          </a:pathLst>
        </a:custGeom>
      </dsp:spPr>
      <dsp:style>
        <a:lnRef idx="2">
          <a:schemeClr val="accent4"/>
        </a:lnRef>
        <a:fillRef idx="0">
          <a:schemeClr val="accent2">
            <a:tint val="90000"/>
          </a:schemeClr>
        </a:fillRef>
        <a:effectRef idx="0">
          <a:scrgbClr r="0" g="0" b="0"/>
        </a:effectRef>
        <a:fontRef idx="minor"/>
      </dsp:style>
      <dsp:txBody>
        <a:bodyPr lIns="12700" tIns="0" rIns="12700" bIns="0" anchor="ctr"/>
        <a:lstStyle>
          <a:lvl1pPr algn="ctr">
            <a:defRPr sz="4400"/>
          </a:lvl1pPr>
          <a:lvl2pPr marL="285750" indent="-285750" algn="ctr">
            <a:defRPr sz="3400"/>
          </a:lvl2pPr>
          <a:lvl3pPr marL="571500" indent="-285750" algn="ctr">
            <a:defRPr sz="3400"/>
          </a:lvl3pPr>
          <a:lvl4pPr marL="857250" indent="-285750" algn="ctr">
            <a:defRPr sz="3400"/>
          </a:lvl4pPr>
          <a:lvl5pPr marL="1143000" indent="-285750" algn="ctr">
            <a:defRPr sz="3400"/>
          </a:lvl5pPr>
          <a:lvl6pPr marL="1428750" indent="-285750" algn="ctr">
            <a:defRPr sz="3400"/>
          </a:lvl6pPr>
          <a:lvl7pPr marL="1714500" indent="-285750" algn="ctr">
            <a:defRPr sz="3400"/>
          </a:lvl7pPr>
          <a:lvl8pPr marL="2000250" indent="-285750" algn="ctr">
            <a:defRPr sz="3400"/>
          </a:lvl8pPr>
          <a:lvl9pPr marL="2286000" indent="-285750" algn="ctr">
            <a:defRPr sz="3400"/>
          </a:lvl9pPr>
        </a:lstStyle>
        <a:p>
          <a:pPr lvl="0">
            <a:lnSpc>
              <a:spcPct val="100000"/>
            </a:lnSpc>
            <a:spcBef>
              <a:spcPct val="0"/>
            </a:spcBef>
            <a:spcAft>
              <a:spcPct val="35000"/>
            </a:spcAft>
          </a:pPr>
          <a:endParaRPr lang="zh-CN" altLang="en-US">
            <a:solidFill>
              <a:schemeClr val="tx1"/>
            </a:solidFill>
          </a:endParaRPr>
        </a:p>
      </dsp:txBody>
      <dsp:txXfrm>
        <a:off x="616152" y="929904"/>
        <a:ext cx="371415" cy="680243"/>
      </dsp:txXfrm>
    </dsp:sp>
    <dsp:sp modelId="{849CE146-8845-47B8-94A1-5F9ECEEF32E0}">
      <dsp:nvSpPr>
        <dsp:cNvPr id="6" name="任意多边形 5"/>
        <dsp:cNvSpPr/>
      </dsp:nvSpPr>
      <dsp:spPr bwMode="white">
        <a:xfrm>
          <a:off x="616152" y="1610147"/>
          <a:ext cx="371415" cy="545916"/>
        </a:xfrm>
        <a:custGeom>
          <a:avLst/>
          <a:gdLst/>
          <a:ahLst/>
          <a:cxnLst/>
          <a:pathLst>
            <a:path w="585" h="860">
              <a:moveTo>
                <a:pt x="0" y="0"/>
              </a:moveTo>
              <a:lnTo>
                <a:pt x="292" y="0"/>
              </a:lnTo>
              <a:lnTo>
                <a:pt x="292" y="860"/>
              </a:lnTo>
              <a:lnTo>
                <a:pt x="585" y="860"/>
              </a:lnTo>
            </a:path>
          </a:pathLst>
        </a:custGeom>
      </dsp:spPr>
      <dsp:style>
        <a:lnRef idx="2">
          <a:schemeClr val="accent4"/>
        </a:lnRef>
        <a:fillRef idx="0">
          <a:schemeClr val="accent2">
            <a:tint val="90000"/>
          </a:schemeClr>
        </a:fillRef>
        <a:effectRef idx="0">
          <a:scrgbClr r="0" g="0" b="0"/>
        </a:effectRef>
        <a:fontRef idx="minor"/>
      </dsp:style>
      <dsp:txBody>
        <a:bodyPr lIns="12700" tIns="0" rIns="12700" bIns="0" anchor="ctr"/>
        <a:lstStyle>
          <a:lvl1pPr algn="ctr">
            <a:defRPr sz="3500"/>
          </a:lvl1pPr>
          <a:lvl2pPr marL="228600" indent="-228600" algn="ctr">
            <a:defRPr sz="2700"/>
          </a:lvl2pPr>
          <a:lvl3pPr marL="457200" indent="-228600" algn="ctr">
            <a:defRPr sz="2700"/>
          </a:lvl3pPr>
          <a:lvl4pPr marL="685800" indent="-228600" algn="ctr">
            <a:defRPr sz="2700"/>
          </a:lvl4pPr>
          <a:lvl5pPr marL="914400" indent="-228600" algn="ctr">
            <a:defRPr sz="2700"/>
          </a:lvl5pPr>
          <a:lvl6pPr marL="1143000" indent="-228600" algn="ctr">
            <a:defRPr sz="2700"/>
          </a:lvl6pPr>
          <a:lvl7pPr marL="1371600" indent="-228600" algn="ctr">
            <a:defRPr sz="2700"/>
          </a:lvl7pPr>
          <a:lvl8pPr marL="1600200" indent="-228600" algn="ctr">
            <a:defRPr sz="2700"/>
          </a:lvl8pPr>
          <a:lvl9pPr marL="1828800" indent="-228600" algn="ctr">
            <a:defRPr sz="2700"/>
          </a:lvl9pPr>
        </a:lstStyle>
        <a:p>
          <a:pPr lvl="0">
            <a:lnSpc>
              <a:spcPct val="100000"/>
            </a:lnSpc>
            <a:spcBef>
              <a:spcPct val="0"/>
            </a:spcBef>
            <a:spcAft>
              <a:spcPct val="35000"/>
            </a:spcAft>
          </a:pPr>
          <a:endParaRPr lang="zh-CN" altLang="en-US">
            <a:solidFill>
              <a:schemeClr val="tx1"/>
            </a:solidFill>
          </a:endParaRPr>
        </a:p>
      </dsp:txBody>
      <dsp:txXfrm>
        <a:off x="616152" y="1610147"/>
        <a:ext cx="371415" cy="545916"/>
      </dsp:txXfrm>
    </dsp:sp>
    <dsp:sp modelId="{8C707C6E-5DCE-4D21-8205-0E61481BCB10}">
      <dsp:nvSpPr>
        <dsp:cNvPr id="3" name="矩形 2"/>
        <dsp:cNvSpPr/>
      </dsp:nvSpPr>
      <dsp:spPr bwMode="white">
        <a:xfrm rot="16200000">
          <a:off x="-814319" y="1319032"/>
          <a:ext cx="2278712" cy="582230"/>
        </a:xfrm>
        <a:prstGeom prst="rect">
          <a:avLst/>
        </a:prstGeom>
      </dsp:spPr>
      <dsp:style>
        <a:lnRef idx="2">
          <a:schemeClr val="lt1"/>
        </a:lnRef>
        <a:fillRef idx="1">
          <a:schemeClr val="accent2"/>
        </a:fillRef>
        <a:effectRef idx="0">
          <a:scrgbClr r="0" g="0" b="0"/>
        </a:effectRef>
        <a:fontRef idx="minor">
          <a:schemeClr val="lt1"/>
        </a:fontRef>
      </dsp:style>
      <dsp:txBody>
        <a:bodyPr vert="vert" lIns="18415" tIns="18415" rIns="18415" bIns="1841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t>唯物辩证法</a:t>
          </a:r>
        </a:p>
      </dsp:txBody>
      <dsp:txXfrm rot="16200000">
        <a:off x="-814319" y="1319032"/>
        <a:ext cx="2278712" cy="582230"/>
      </dsp:txXfrm>
    </dsp:sp>
    <dsp:sp modelId="{D5D9DBC0-C529-4BF5-AA11-38F351B5CBE8}">
      <dsp:nvSpPr>
        <dsp:cNvPr id="5" name="矩形 4"/>
        <dsp:cNvSpPr/>
      </dsp:nvSpPr>
      <dsp:spPr bwMode="white">
        <a:xfrm>
          <a:off x="987567" y="623976"/>
          <a:ext cx="2006887" cy="611856"/>
        </a:xfrm>
        <a:prstGeom prst="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8415" tIns="18415" rIns="18415" bIns="1841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t>客观辩证法</a:t>
          </a:r>
        </a:p>
      </dsp:txBody>
      <dsp:txXfrm>
        <a:off x="987567" y="623976"/>
        <a:ext cx="2006887" cy="611856"/>
      </dsp:txXfrm>
    </dsp:sp>
    <dsp:sp modelId="{FFB3FDF2-DE38-4DE7-8F1D-898352C19E2F}">
      <dsp:nvSpPr>
        <dsp:cNvPr id="7" name="矩形 6"/>
        <dsp:cNvSpPr/>
      </dsp:nvSpPr>
      <dsp:spPr bwMode="white">
        <a:xfrm>
          <a:off x="987567" y="1845497"/>
          <a:ext cx="2006887" cy="621132"/>
        </a:xfrm>
        <a:prstGeom prst="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8415" tIns="18415" rIns="18415" bIns="1841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t>主观辩证法</a:t>
          </a:r>
        </a:p>
      </dsp:txBody>
      <dsp:txXfrm>
        <a:off x="987567" y="1845497"/>
        <a:ext cx="2006887" cy="62113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1">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3">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4">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2">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6936EE-5868-41D1-8F5A-AAA35BE992D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62F0C4-9653-494B-BD8A-5487A370713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仅标题">
    <p:spTree>
      <p:nvGrpSpPr>
        <p:cNvPr id="1" name=""/>
        <p:cNvGrpSpPr/>
        <p:nvPr/>
      </p:nvGrpSpPr>
      <p:grpSpPr>
        <a:xfrm>
          <a:off x="0" y="0"/>
          <a:ext cx="0" cy="0"/>
          <a:chOff x="0" y="0"/>
          <a:chExt cx="0" cy="0"/>
        </a:xfrm>
      </p:grpSpPr>
      <p:pic>
        <p:nvPicPr>
          <p:cNvPr id="16" name="图片 15"/>
          <p:cNvPicPr>
            <a:picLocks noChangeAspect="1"/>
          </p:cNvPicPr>
          <p:nvPr/>
        </p:nvPicPr>
        <p:blipFill>
          <a:blip r:embed="rId2" cstate="print">
            <a:extLst>
              <a:ext uri="{BEBA8EAE-BF5A-486C-A8C5-ECC9F3942E4B}">
                <a14:imgProps xmlns:a14="http://schemas.microsoft.com/office/drawing/2010/main">
                  <a14:imgLayer r:embed="rId3">
                    <a14:imgEffect>
                      <a14:backgroundRemoval t="423" b="98451" l="1574" r="98184">
                        <a14:foregroundMark x1="23002" y1="16197" x2="23002" y2="16197"/>
                        <a14:foregroundMark x1="33777" y1="21127" x2="33777" y2="21127"/>
                        <a14:foregroundMark x1="30266" y1="71831" x2="30266" y2="71831"/>
                        <a14:foregroundMark x1="67554" y1="70563" x2="67554" y2="70563"/>
                        <a14:foregroundMark x1="50484" y1="76761" x2="50484" y2="76761"/>
                        <a14:foregroundMark x1="50121" y1="82113" x2="50121" y2="82113"/>
                        <a14:foregroundMark x1="59564" y1="80282" x2="59564" y2="80282"/>
                        <a14:foregroundMark x1="42857" y1="82676" x2="42857" y2="82676"/>
                        <a14:foregroundMark x1="27119" y1="80000" x2="27119" y2="80000"/>
                        <a14:foregroundMark x1="36683" y1="86620" x2="36683" y2="86620"/>
                        <a14:foregroundMark x1="25182" y1="86479" x2="25182" y2="86479"/>
                        <a14:foregroundMark x1="23971" y1="80704" x2="23971" y2="80704"/>
                        <a14:foregroundMark x1="59685" y1="95352" x2="59685" y2="95352"/>
                        <a14:foregroundMark x1="42615" y1="70423" x2="42615" y2="70423"/>
                        <a14:foregroundMark x1="48305" y1="70704" x2="48305" y2="70704"/>
                        <a14:foregroundMark x1="52300" y1="69859" x2="52300" y2="69859"/>
                        <a14:foregroundMark x1="57385" y1="70423" x2="57385" y2="70423"/>
                      </a14:backgroundRemoval>
                    </a14:imgEffect>
                  </a14:imgLayer>
                </a14:imgProps>
              </a:ext>
              <a:ext uri="{28A0092B-C50C-407E-A947-70E740481C1C}">
                <a14:useLocalDpi xmlns:a14="http://schemas.microsoft.com/office/drawing/2010/main" val="0"/>
              </a:ext>
            </a:extLst>
          </a:blip>
          <a:stretch>
            <a:fillRect/>
          </a:stretch>
        </p:blipFill>
        <p:spPr>
          <a:xfrm>
            <a:off x="2047639" y="6256821"/>
            <a:ext cx="524977" cy="601603"/>
          </a:xfrm>
          <a:prstGeom prst="rect">
            <a:avLst/>
          </a:prstGeom>
        </p:spPr>
      </p:pic>
      <p:sp>
        <p:nvSpPr>
          <p:cNvPr id="17" name="矩形 16"/>
          <p:cNvSpPr/>
          <p:nvPr/>
        </p:nvSpPr>
        <p:spPr>
          <a:xfrm>
            <a:off x="3299277" y="6290948"/>
            <a:ext cx="4090160" cy="533191"/>
          </a:xfrm>
          <a:prstGeom prst="rect">
            <a:avLst/>
          </a:prstGeom>
          <a:noFill/>
          <a:ln>
            <a:noFill/>
          </a:ln>
        </p:spPr>
        <p:txBody>
          <a:bodyPr wrap="none" lIns="121889" tIns="60944" rIns="121889" bIns="60944">
            <a:spAutoFit/>
          </a:bodyPr>
          <a:lstStyle/>
          <a:p>
            <a:pPr algn="ctr"/>
            <a:r>
              <a:rPr lang="zh-CN" altLang="en-US" sz="2665" b="1" cap="none" spc="50" dirty="0">
                <a:ln w="9525" cmpd="sng">
                  <a:solidFill>
                    <a:schemeClr val="accent1"/>
                  </a:solidFill>
                  <a:prstDash val="solid"/>
                </a:ln>
                <a:solidFill>
                  <a:srgbClr val="70AD47">
                    <a:tint val="1000"/>
                  </a:srgbClr>
                </a:solidFill>
                <a:effectLst>
                  <a:glow rad="38100">
                    <a:schemeClr val="accent1">
                      <a:alpha val="40000"/>
                    </a:schemeClr>
                  </a:glow>
                </a:effectLst>
              </a:rPr>
              <a:t>马克思主义基本原理概论</a:t>
            </a:r>
            <a:endParaRPr lang="zh-CN" altLang="en-US" sz="2665"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cxnSp>
        <p:nvCxnSpPr>
          <p:cNvPr id="18" name="直接连接符 17"/>
          <p:cNvCxnSpPr/>
          <p:nvPr/>
        </p:nvCxnSpPr>
        <p:spPr>
          <a:xfrm>
            <a:off x="0" y="6212834"/>
            <a:ext cx="925260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3"/>
          <p:cNvGrpSpPr/>
          <p:nvPr/>
        </p:nvGrpSpPr>
        <p:grpSpPr bwMode="auto">
          <a:xfrm flipH="1">
            <a:off x="-1" y="330711"/>
            <a:ext cx="1797229" cy="676317"/>
            <a:chOff x="2370576" y="533400"/>
            <a:chExt cx="2417494" cy="675969"/>
          </a:xfrm>
          <a:solidFill>
            <a:srgbClr val="EE1C39"/>
          </a:solidFill>
        </p:grpSpPr>
        <p:sp>
          <p:nvSpPr>
            <p:cNvPr id="8" name="矩形 7"/>
            <p:cNvSpPr/>
            <p:nvPr/>
          </p:nvSpPr>
          <p:spPr>
            <a:xfrm>
              <a:off x="2738030" y="533400"/>
              <a:ext cx="2050040" cy="6759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900" dirty="0">
                <a:ea typeface="微软雅黑" panose="020B0503020204020204" charset="-122"/>
                <a:cs typeface="+mn-ea"/>
                <a:sym typeface="+mn-lt"/>
              </a:endParaRPr>
            </a:p>
          </p:txBody>
        </p:sp>
        <p:sp>
          <p:nvSpPr>
            <p:cNvPr id="11" name="椭圆 10"/>
            <p:cNvSpPr/>
            <p:nvPr/>
          </p:nvSpPr>
          <p:spPr>
            <a:xfrm>
              <a:off x="2370576" y="533400"/>
              <a:ext cx="623734" cy="6759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900" dirty="0">
                <a:ea typeface="微软雅黑" panose="020B0503020204020204" charset="-122"/>
                <a:cs typeface="+mn-ea"/>
                <a:sym typeface="+mn-lt"/>
              </a:endParaRPr>
            </a:p>
          </p:txBody>
        </p:sp>
      </p:grpSp>
    </p:spTree>
  </p:cSld>
  <p:clrMapOvr>
    <a:masterClrMapping/>
  </p:clrMapOvr>
  <p:transition spd="med" advClick="0" advTm="0">
    <p:push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5_仅标题">
    <p:spTree>
      <p:nvGrpSpPr>
        <p:cNvPr id="1" name=""/>
        <p:cNvGrpSpPr/>
        <p:nvPr/>
      </p:nvGrpSpPr>
      <p:grpSpPr>
        <a:xfrm>
          <a:off x="0" y="0"/>
          <a:ext cx="0" cy="0"/>
          <a:chOff x="0" y="0"/>
          <a:chExt cx="0" cy="0"/>
        </a:xfrm>
      </p:grpSpPr>
      <p:pic>
        <p:nvPicPr>
          <p:cNvPr id="16" name="图片 15"/>
          <p:cNvPicPr>
            <a:picLocks noChangeAspect="1"/>
          </p:cNvPicPr>
          <p:nvPr/>
        </p:nvPicPr>
        <p:blipFill>
          <a:blip r:embed="rId2" cstate="print">
            <a:extLst>
              <a:ext uri="{BEBA8EAE-BF5A-486C-A8C5-ECC9F3942E4B}">
                <a14:imgProps xmlns:a14="http://schemas.microsoft.com/office/drawing/2010/main">
                  <a14:imgLayer r:embed="rId3">
                    <a14:imgEffect>
                      <a14:backgroundRemoval t="423" b="98451" l="1574" r="98184">
                        <a14:foregroundMark x1="23002" y1="16197" x2="23002" y2="16197"/>
                        <a14:foregroundMark x1="33777" y1="21127" x2="33777" y2="21127"/>
                        <a14:foregroundMark x1="30266" y1="71831" x2="30266" y2="71831"/>
                        <a14:foregroundMark x1="67554" y1="70563" x2="67554" y2="70563"/>
                        <a14:foregroundMark x1="50484" y1="76761" x2="50484" y2="76761"/>
                        <a14:foregroundMark x1="50121" y1="82113" x2="50121" y2="82113"/>
                        <a14:foregroundMark x1="59564" y1="80282" x2="59564" y2="80282"/>
                        <a14:foregroundMark x1="42857" y1="82676" x2="42857" y2="82676"/>
                        <a14:foregroundMark x1="27119" y1="80000" x2="27119" y2="80000"/>
                        <a14:foregroundMark x1="36683" y1="86620" x2="36683" y2="86620"/>
                        <a14:foregroundMark x1="25182" y1="86479" x2="25182" y2="86479"/>
                        <a14:foregroundMark x1="23971" y1="80704" x2="23971" y2="80704"/>
                        <a14:foregroundMark x1="59685" y1="95352" x2="59685" y2="95352"/>
                        <a14:foregroundMark x1="42615" y1="70423" x2="42615" y2="70423"/>
                        <a14:foregroundMark x1="48305" y1="70704" x2="48305" y2="70704"/>
                        <a14:foregroundMark x1="52300" y1="69859" x2="52300" y2="69859"/>
                        <a14:foregroundMark x1="57385" y1="70423" x2="57385" y2="70423"/>
                      </a14:backgroundRemoval>
                    </a14:imgEffect>
                  </a14:imgLayer>
                </a14:imgProps>
              </a:ext>
              <a:ext uri="{28A0092B-C50C-407E-A947-70E740481C1C}">
                <a14:useLocalDpi xmlns:a14="http://schemas.microsoft.com/office/drawing/2010/main" val="0"/>
              </a:ext>
            </a:extLst>
          </a:blip>
          <a:stretch>
            <a:fillRect/>
          </a:stretch>
        </p:blipFill>
        <p:spPr>
          <a:xfrm>
            <a:off x="2047639" y="6256821"/>
            <a:ext cx="524977" cy="601603"/>
          </a:xfrm>
          <a:prstGeom prst="rect">
            <a:avLst/>
          </a:prstGeom>
        </p:spPr>
      </p:pic>
      <p:sp>
        <p:nvSpPr>
          <p:cNvPr id="17" name="矩形 16"/>
          <p:cNvSpPr/>
          <p:nvPr/>
        </p:nvSpPr>
        <p:spPr>
          <a:xfrm>
            <a:off x="3299277" y="6290948"/>
            <a:ext cx="4090160" cy="533191"/>
          </a:xfrm>
          <a:prstGeom prst="rect">
            <a:avLst/>
          </a:prstGeom>
          <a:noFill/>
          <a:ln>
            <a:noFill/>
          </a:ln>
        </p:spPr>
        <p:txBody>
          <a:bodyPr wrap="none" lIns="121889" tIns="60944" rIns="121889" bIns="60944">
            <a:spAutoFit/>
          </a:bodyPr>
          <a:lstStyle/>
          <a:p>
            <a:pPr algn="ctr"/>
            <a:r>
              <a:rPr lang="zh-CN" altLang="en-US" sz="2665" b="1" cap="none" spc="50" dirty="0">
                <a:ln w="9525" cmpd="sng">
                  <a:solidFill>
                    <a:schemeClr val="accent1"/>
                  </a:solidFill>
                  <a:prstDash val="solid"/>
                </a:ln>
                <a:solidFill>
                  <a:srgbClr val="70AD47">
                    <a:tint val="1000"/>
                  </a:srgbClr>
                </a:solidFill>
                <a:effectLst>
                  <a:glow rad="38100">
                    <a:schemeClr val="accent1">
                      <a:alpha val="40000"/>
                    </a:schemeClr>
                  </a:glow>
                </a:effectLst>
              </a:rPr>
              <a:t>马克思主义基本原理概论</a:t>
            </a:r>
            <a:endParaRPr lang="zh-CN" altLang="en-US" sz="2665"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cxnSp>
        <p:nvCxnSpPr>
          <p:cNvPr id="18" name="直接连接符 17"/>
          <p:cNvCxnSpPr/>
          <p:nvPr/>
        </p:nvCxnSpPr>
        <p:spPr>
          <a:xfrm>
            <a:off x="0" y="6212834"/>
            <a:ext cx="9252601"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advClick="0" advTm="0">
    <p:push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7"/>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5" name="Rectangle 48"/>
          <p:cNvSpPr>
            <a:spLocks noGrp="1" noChangeArrowheads="1"/>
          </p:cNvSpPr>
          <p:nvPr>
            <p:ph type="ftr" sz="quarter" idx="11"/>
          </p:nvPr>
        </p:nvSpPr>
        <p:spPr/>
        <p:txBody>
          <a:bodyPr/>
          <a:lstStyle>
            <a:lvl1pPr>
              <a:defRPr/>
            </a:lvl1pPr>
          </a:lstStyle>
          <a:p>
            <a:endParaRPr lang="zh-CN" altLang="en-US"/>
          </a:p>
        </p:txBody>
      </p:sp>
      <p:sp>
        <p:nvSpPr>
          <p:cNvPr id="6" name="Rectangle 49"/>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仅标题">
    <p:spTree>
      <p:nvGrpSpPr>
        <p:cNvPr id="1" name=""/>
        <p:cNvGrpSpPr/>
        <p:nvPr/>
      </p:nvGrpSpPr>
      <p:grpSpPr>
        <a:xfrm>
          <a:off x="0" y="0"/>
          <a:ext cx="0" cy="0"/>
          <a:chOff x="0" y="0"/>
          <a:chExt cx="0" cy="0"/>
        </a:xfrm>
      </p:grpSpPr>
      <p:pic>
        <p:nvPicPr>
          <p:cNvPr id="2" name="图片 49"/>
          <p:cNvPicPr>
            <a:picLocks noChangeAspect="1"/>
          </p:cNvPicPr>
          <p:nvPr/>
        </p:nvPicPr>
        <p:blipFill>
          <a:blip r:embed="rId2"/>
          <a:srcRect/>
          <a:stretch>
            <a:fillRect/>
          </a:stretch>
        </p:blipFill>
        <p:spPr bwMode="auto">
          <a:xfrm>
            <a:off x="2047876" y="6256338"/>
            <a:ext cx="523875" cy="601662"/>
          </a:xfrm>
          <a:prstGeom prst="rect">
            <a:avLst/>
          </a:prstGeom>
          <a:noFill/>
          <a:ln w="9525">
            <a:noFill/>
            <a:miter lim="800000"/>
            <a:headEnd/>
            <a:tailEnd/>
          </a:ln>
        </p:spPr>
      </p:pic>
      <p:sp>
        <p:nvSpPr>
          <p:cNvPr id="3" name="矩形 2"/>
          <p:cNvSpPr/>
          <p:nvPr/>
        </p:nvSpPr>
        <p:spPr>
          <a:xfrm>
            <a:off x="3275814" y="6290559"/>
            <a:ext cx="3094117" cy="400110"/>
          </a:xfrm>
          <a:prstGeom prst="rect">
            <a:avLst/>
          </a:prstGeom>
          <a:noFill/>
          <a:ln>
            <a:noFill/>
          </a:ln>
        </p:spPr>
        <p:txBody>
          <a:bodyPr wrap="none">
            <a:spAutoFit/>
          </a:bodyPr>
          <a:lstStyle/>
          <a:p>
            <a:pPr algn="ctr">
              <a:defRPr/>
            </a:pPr>
            <a:r>
              <a:rPr lang="zh-CN" altLang="en-US" sz="2000" b="1" spc="50" dirty="0">
                <a:ln w="9525" cmpd="sng">
                  <a:solidFill>
                    <a:schemeClr val="accent1"/>
                  </a:solidFill>
                  <a:prstDash val="solid"/>
                </a:ln>
                <a:solidFill>
                  <a:srgbClr val="70AD47">
                    <a:tint val="1000"/>
                  </a:srgbClr>
                </a:solidFill>
                <a:effectLst>
                  <a:glow rad="38100">
                    <a:schemeClr val="accent1">
                      <a:alpha val="40000"/>
                    </a:schemeClr>
                  </a:glow>
                </a:effectLst>
              </a:rPr>
              <a:t>马克思主义基本原理概论</a:t>
            </a:r>
            <a:endParaRPr lang="zh-CN" altLang="en-US" sz="20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cxnSp>
        <p:nvCxnSpPr>
          <p:cNvPr id="4" name="直接连接符 3"/>
          <p:cNvCxnSpPr/>
          <p:nvPr/>
        </p:nvCxnSpPr>
        <p:spPr>
          <a:xfrm>
            <a:off x="0" y="6211888"/>
            <a:ext cx="925195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5" name="组合 3"/>
          <p:cNvGrpSpPr/>
          <p:nvPr/>
        </p:nvGrpSpPr>
        <p:grpSpPr bwMode="auto">
          <a:xfrm flipH="1">
            <a:off x="-1" y="330693"/>
            <a:ext cx="1797166" cy="676275"/>
            <a:chOff x="2370576" y="533400"/>
            <a:chExt cx="2417494" cy="675969"/>
          </a:xfrm>
          <a:solidFill>
            <a:srgbClr val="EE1C39"/>
          </a:solidFill>
        </p:grpSpPr>
        <p:sp>
          <p:nvSpPr>
            <p:cNvPr id="6" name="矩形 5"/>
            <p:cNvSpPr/>
            <p:nvPr/>
          </p:nvSpPr>
          <p:spPr>
            <a:xfrm>
              <a:off x="2738030" y="533400"/>
              <a:ext cx="2050040" cy="6759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25" dirty="0">
                <a:ea typeface="微软雅黑" panose="020B0503020204020204" charset="-122"/>
                <a:cs typeface="+mn-ea"/>
                <a:sym typeface="+mn-lt"/>
              </a:endParaRPr>
            </a:p>
          </p:txBody>
        </p:sp>
        <p:sp>
          <p:nvSpPr>
            <p:cNvPr id="7" name="椭圆 6"/>
            <p:cNvSpPr/>
            <p:nvPr/>
          </p:nvSpPr>
          <p:spPr>
            <a:xfrm>
              <a:off x="2370576" y="533400"/>
              <a:ext cx="623734" cy="6759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25" dirty="0">
                <a:ea typeface="微软雅黑" panose="020B0503020204020204" charset="-122"/>
                <a:cs typeface="+mn-ea"/>
                <a:sym typeface="+mn-lt"/>
              </a:endParaRPr>
            </a:p>
          </p:txBody>
        </p:sp>
      </p:grpSp>
    </p:spTree>
  </p:cSld>
  <p:clrMapOvr>
    <a:masterClrMapping/>
  </p:clrMapOvr>
  <p:transition spd="med" advClick="0" advTm="0">
    <p:push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7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Click="0" advTm="0">
    <p:push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pic>
        <p:nvPicPr>
          <p:cNvPr id="20" name="图片 19"/>
          <p:cNvPicPr>
            <a:picLocks noChangeAspect="1"/>
          </p:cNvPicPr>
          <p:nvPr/>
        </p:nvPicPr>
        <p:blipFill>
          <a:blip r:embed="rId2" cstate="print">
            <a:extLst>
              <a:ext uri="{BEBA8EAE-BF5A-486C-A8C5-ECC9F3942E4B}">
                <a14:imgProps xmlns:a14="http://schemas.microsoft.com/office/drawing/2010/main">
                  <a14:imgLayer r:embed="rId3">
                    <a14:imgEffect>
                      <a14:backgroundRemoval t="423" b="98451" l="1574" r="98184">
                        <a14:foregroundMark x1="23002" y1="16197" x2="23002" y2="16197"/>
                        <a14:foregroundMark x1="33777" y1="21127" x2="33777" y2="21127"/>
                        <a14:foregroundMark x1="30266" y1="71831" x2="30266" y2="71831"/>
                        <a14:foregroundMark x1="67554" y1="70563" x2="67554" y2="70563"/>
                        <a14:foregroundMark x1="50484" y1="76761" x2="50484" y2="76761"/>
                        <a14:foregroundMark x1="50121" y1="82113" x2="50121" y2="82113"/>
                        <a14:foregroundMark x1="59564" y1="80282" x2="59564" y2="80282"/>
                        <a14:foregroundMark x1="42857" y1="82676" x2="42857" y2="82676"/>
                        <a14:foregroundMark x1="27119" y1="80000" x2="27119" y2="80000"/>
                        <a14:foregroundMark x1="36683" y1="86620" x2="36683" y2="86620"/>
                        <a14:foregroundMark x1="25182" y1="86479" x2="25182" y2="86479"/>
                        <a14:foregroundMark x1="23971" y1="80704" x2="23971" y2="80704"/>
                        <a14:foregroundMark x1="59685" y1="95352" x2="59685" y2="95352"/>
                        <a14:foregroundMark x1="42615" y1="70423" x2="42615" y2="70423"/>
                        <a14:foregroundMark x1="48305" y1="70704" x2="48305" y2="70704"/>
                        <a14:foregroundMark x1="52300" y1="69859" x2="52300" y2="69859"/>
                        <a14:foregroundMark x1="57385" y1="70423" x2="57385" y2="70423"/>
                      </a14:backgroundRemoval>
                    </a14:imgEffect>
                  </a14:imgLayer>
                </a14:imgProps>
              </a:ext>
              <a:ext uri="{28A0092B-C50C-407E-A947-70E740481C1C}">
                <a14:useLocalDpi xmlns:a14="http://schemas.microsoft.com/office/drawing/2010/main" val="0"/>
              </a:ext>
            </a:extLst>
          </a:blip>
          <a:stretch>
            <a:fillRect/>
          </a:stretch>
        </p:blipFill>
        <p:spPr>
          <a:xfrm>
            <a:off x="2047568" y="6256434"/>
            <a:ext cx="524959" cy="601566"/>
          </a:xfrm>
          <a:prstGeom prst="rect">
            <a:avLst/>
          </a:prstGeom>
        </p:spPr>
      </p:pic>
      <p:sp>
        <p:nvSpPr>
          <p:cNvPr id="21" name="矩形 20"/>
          <p:cNvSpPr/>
          <p:nvPr/>
        </p:nvSpPr>
        <p:spPr>
          <a:xfrm>
            <a:off x="3276082" y="6290560"/>
            <a:ext cx="4167042" cy="538579"/>
          </a:xfrm>
          <a:prstGeom prst="rect">
            <a:avLst/>
          </a:prstGeom>
          <a:noFill/>
          <a:ln>
            <a:noFill/>
          </a:ln>
        </p:spPr>
        <p:txBody>
          <a:bodyPr wrap="none" lIns="121890" tIns="60945" rIns="121890" bIns="60945">
            <a:spAutoFit/>
          </a:bodyPr>
          <a:lstStyle/>
          <a:p>
            <a:pPr algn="ctr"/>
            <a:r>
              <a:rPr lang="zh-CN" altLang="en-US" sz="2700" b="1" cap="none" spc="67" dirty="0">
                <a:ln w="9525" cmpd="sng">
                  <a:solidFill>
                    <a:schemeClr val="accent1"/>
                  </a:solidFill>
                  <a:prstDash val="solid"/>
                </a:ln>
                <a:solidFill>
                  <a:srgbClr val="70AD47">
                    <a:tint val="1000"/>
                  </a:srgbClr>
                </a:solidFill>
                <a:effectLst>
                  <a:glow rad="38100">
                    <a:schemeClr val="accent1">
                      <a:alpha val="40000"/>
                    </a:schemeClr>
                  </a:glow>
                </a:effectLst>
              </a:rPr>
              <a:t>马克思主义基本原理概论</a:t>
            </a:r>
            <a:endParaRPr lang="zh-CN" altLang="en-US" sz="2700" b="1" cap="none" spc="67" dirty="0">
              <a:ln w="9525" cmpd="sng">
                <a:solidFill>
                  <a:schemeClr val="accent1"/>
                </a:solidFill>
                <a:prstDash val="solid"/>
              </a:ln>
              <a:solidFill>
                <a:srgbClr val="70AD47">
                  <a:tint val="1000"/>
                </a:srgbClr>
              </a:solidFill>
              <a:effectLst>
                <a:glow rad="38100">
                  <a:schemeClr val="accent1">
                    <a:alpha val="40000"/>
                  </a:schemeClr>
                </a:glow>
              </a:effectLst>
            </a:endParaRPr>
          </a:p>
        </p:txBody>
      </p:sp>
      <p:cxnSp>
        <p:nvCxnSpPr>
          <p:cNvPr id="22" name="直接连接符 21"/>
          <p:cNvCxnSpPr/>
          <p:nvPr/>
        </p:nvCxnSpPr>
        <p:spPr>
          <a:xfrm>
            <a:off x="0" y="6212450"/>
            <a:ext cx="925227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3"/>
          <p:cNvGrpSpPr/>
          <p:nvPr/>
        </p:nvGrpSpPr>
        <p:grpSpPr bwMode="auto">
          <a:xfrm flipH="1">
            <a:off x="-1" y="330692"/>
            <a:ext cx="1797166" cy="676275"/>
            <a:chOff x="2370576" y="533400"/>
            <a:chExt cx="2417494" cy="675969"/>
          </a:xfrm>
          <a:solidFill>
            <a:srgbClr val="EE1C39"/>
          </a:solidFill>
        </p:grpSpPr>
        <p:sp>
          <p:nvSpPr>
            <p:cNvPr id="8" name="矩形 7"/>
            <p:cNvSpPr/>
            <p:nvPr/>
          </p:nvSpPr>
          <p:spPr>
            <a:xfrm>
              <a:off x="2738030" y="533400"/>
              <a:ext cx="2050040" cy="6759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900" dirty="0">
                <a:ea typeface="微软雅黑" panose="020B0503020204020204" charset="-122"/>
                <a:cs typeface="+mn-ea"/>
                <a:sym typeface="+mn-lt"/>
              </a:endParaRPr>
            </a:p>
          </p:txBody>
        </p:sp>
        <p:sp>
          <p:nvSpPr>
            <p:cNvPr id="9" name="椭圆 8"/>
            <p:cNvSpPr/>
            <p:nvPr/>
          </p:nvSpPr>
          <p:spPr>
            <a:xfrm>
              <a:off x="2370576" y="533400"/>
              <a:ext cx="623734" cy="6759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900" dirty="0">
                <a:ea typeface="微软雅黑" panose="020B0503020204020204" charset="-122"/>
                <a:cs typeface="+mn-ea"/>
                <a:sym typeface="+mn-lt"/>
              </a:endParaRPr>
            </a:p>
          </p:txBody>
        </p:sp>
      </p:grpSp>
    </p:spTree>
  </p:cSld>
  <p:clrMapOvr>
    <a:masterClrMapping/>
  </p:clrMapOvr>
  <p:transition spd="med" advClick="0" advTm="0">
    <p:push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形 6"/>
          <p:cNvPicPr>
            <a:picLocks noChangeAspect="1" noChangeArrowheads="1"/>
          </p:cNvPicPr>
          <p:nvPr userDrawn="1"/>
        </p:nvPicPr>
        <p:blipFill>
          <a:blip r:embed="rId2"/>
          <a:srcRect t="1648" r="38116" b="50000"/>
          <a:stretch>
            <a:fillRect/>
          </a:stretch>
        </p:blipFill>
        <p:spPr bwMode="auto">
          <a:xfrm>
            <a:off x="7329487" y="6259514"/>
            <a:ext cx="1814513" cy="598487"/>
          </a:xfrm>
          <a:prstGeom prst="rect">
            <a:avLst/>
          </a:prstGeom>
          <a:noFill/>
          <a:ln w="9525">
            <a:noFill/>
            <a:miter lim="800000"/>
            <a:headEnd/>
            <a:tailEnd/>
          </a:ln>
        </p:spPr>
      </p:pic>
      <p:pic>
        <p:nvPicPr>
          <p:cNvPr id="3" name="图形 7"/>
          <p:cNvPicPr>
            <a:picLocks noChangeAspect="1" noChangeArrowheads="1"/>
          </p:cNvPicPr>
          <p:nvPr userDrawn="1"/>
        </p:nvPicPr>
        <p:blipFill>
          <a:blip r:embed="rId3"/>
          <a:srcRect l="50000" t="45386"/>
          <a:stretch>
            <a:fillRect/>
          </a:stretch>
        </p:blipFill>
        <p:spPr bwMode="auto">
          <a:xfrm>
            <a:off x="1" y="1"/>
            <a:ext cx="1697831" cy="1096963"/>
          </a:xfrm>
          <a:prstGeom prst="rect">
            <a:avLst/>
          </a:prstGeom>
          <a:noFill/>
          <a:ln w="9525">
            <a:noFill/>
            <a:miter lim="800000"/>
            <a:headEnd/>
            <a:tailEnd/>
          </a:ln>
        </p:spPr>
      </p:pic>
      <p:pic>
        <p:nvPicPr>
          <p:cNvPr id="4" name="图形 8"/>
          <p:cNvPicPr>
            <a:picLocks noChangeAspect="1" noChangeArrowheads="1"/>
          </p:cNvPicPr>
          <p:nvPr userDrawn="1"/>
        </p:nvPicPr>
        <p:blipFill>
          <a:blip r:embed="rId4"/>
          <a:srcRect l="61852" t="57356" r="14601" b="10321"/>
          <a:stretch>
            <a:fillRect/>
          </a:stretch>
        </p:blipFill>
        <p:spPr bwMode="auto">
          <a:xfrm>
            <a:off x="7658100" y="5597526"/>
            <a:ext cx="1485900" cy="1260475"/>
          </a:xfrm>
          <a:prstGeom prst="rect">
            <a:avLst/>
          </a:prstGeom>
          <a:noFill/>
          <a:ln w="9525">
            <a:noFill/>
            <a:miter lim="800000"/>
            <a:headEnd/>
            <a:tailEnd/>
          </a:ln>
        </p:spPr>
      </p:pic>
      <p:pic>
        <p:nvPicPr>
          <p:cNvPr id="5" name="图形 9"/>
          <p:cNvPicPr>
            <a:picLocks noChangeAspect="1" noChangeArrowheads="1"/>
          </p:cNvPicPr>
          <p:nvPr userDrawn="1"/>
        </p:nvPicPr>
        <p:blipFill>
          <a:blip r:embed="rId5"/>
          <a:srcRect l="14601" t="10321" r="61852" b="57356"/>
          <a:stretch>
            <a:fillRect/>
          </a:stretch>
        </p:blipFill>
        <p:spPr bwMode="auto">
          <a:xfrm>
            <a:off x="0" y="1589"/>
            <a:ext cx="1485900" cy="1260475"/>
          </a:xfrm>
          <a:prstGeom prst="rect">
            <a:avLst/>
          </a:prstGeom>
          <a:noFill/>
          <a:ln w="9525">
            <a:noFill/>
            <a:miter lim="800000"/>
            <a:headEnd/>
            <a:tailEnd/>
          </a:ln>
        </p:spPr>
      </p:pic>
      <p:pic>
        <p:nvPicPr>
          <p:cNvPr id="6" name="图形 10"/>
          <p:cNvPicPr>
            <a:picLocks noChangeAspect="1"/>
          </p:cNvPicPr>
          <p:nvPr userDrawn="1"/>
        </p:nvPicPr>
        <p:blipFill rotWithShape="1">
          <a:blip r:embed="rId6"/>
          <a:srcRect l="19667" t="79832" r="58888" b="9883"/>
          <a:stretch>
            <a:fillRect/>
          </a:stretch>
        </p:blipFill>
        <p:spPr>
          <a:xfrm>
            <a:off x="1" y="6211888"/>
            <a:ext cx="2183606" cy="646112"/>
          </a:xfrm>
          <a:prstGeom prst="rect">
            <a:avLst/>
          </a:prstGeom>
        </p:spPr>
      </p:pic>
      <p:pic>
        <p:nvPicPr>
          <p:cNvPr id="7" name="图形 11"/>
          <p:cNvPicPr>
            <a:picLocks noChangeAspect="1" noChangeArrowheads="1"/>
          </p:cNvPicPr>
          <p:nvPr userDrawn="1"/>
        </p:nvPicPr>
        <p:blipFill>
          <a:blip r:embed="rId7"/>
          <a:srcRect l="58888" t="9883" r="19667" b="79832"/>
          <a:stretch>
            <a:fillRect/>
          </a:stretch>
        </p:blipFill>
        <p:spPr bwMode="auto">
          <a:xfrm>
            <a:off x="6960394" y="1"/>
            <a:ext cx="2183606" cy="646113"/>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2D6AE"/>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楷体" panose="02010609060101010101" pitchFamily="49" charset="-122"/>
                <a:ea typeface="楷体" panose="02010609060101010101" pitchFamily="49"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楷体" panose="02010609060101010101" pitchFamily="49" charset="-122"/>
                <a:ea typeface="楷体" panose="02010609060101010101" pitchFamily="49" charset="-122"/>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楷体" panose="02010609060101010101" pitchFamily="49" charset="-122"/>
                <a:ea typeface="楷体" panose="02010609060101010101" pitchFamily="49" charset="-122"/>
              </a:defRPr>
            </a:lvl1pPr>
          </a:lstStyle>
          <a:p>
            <a:fld id="{0C913308-F349-4B6D-A68A-DD1791B4A57B}" type="slidenum">
              <a:rPr lang="zh-CN" altLang="en-US" smtClean="0"/>
            </a:fld>
            <a:endParaRPr lang="zh-CN" altLang="en-US"/>
          </a:p>
        </p:txBody>
      </p:sp>
      <p:sp>
        <p:nvSpPr>
          <p:cNvPr id="7" name="图文框 6"/>
          <p:cNvSpPr/>
          <p:nvPr/>
        </p:nvSpPr>
        <p:spPr>
          <a:xfrm>
            <a:off x="114361" y="134257"/>
            <a:ext cx="8915279" cy="6589486"/>
          </a:xfrm>
          <a:prstGeom prst="frame">
            <a:avLst>
              <a:gd name="adj1" fmla="val 1927"/>
            </a:avLst>
          </a:prstGeom>
          <a:solidFill>
            <a:schemeClr val="bg1"/>
          </a:solidFill>
          <a:ln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楷体" panose="02010609060101010101" pitchFamily="49" charset="-122"/>
              <a:ea typeface="楷体" panose="02010609060101010101" pitchFamily="49"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www.bjlxtx.com/newjd_306.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slide" Target="slide1.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a1.att.hoodong.com/73/84/01200000007862115078473979073.jp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4294967295"/>
          </p:nvPr>
        </p:nvSpPr>
        <p:spPr>
          <a:xfrm>
            <a:off x="285720" y="2786058"/>
            <a:ext cx="8572500" cy="3505200"/>
          </a:xfrm>
        </p:spPr>
        <p:txBody>
          <a:bodyPr/>
          <a:lstStyle/>
          <a:p>
            <a:pPr eaLnBrk="1" hangingPunct="1">
              <a:lnSpc>
                <a:spcPct val="80000"/>
              </a:lnSpc>
              <a:buFontTx/>
              <a:buNone/>
            </a:pPr>
            <a:r>
              <a:rPr lang="zh-CN" altLang="en-US" b="1" dirty="0" smtClean="0">
                <a:solidFill>
                  <a:srgbClr val="0000CC"/>
                </a:solidFill>
                <a:latin typeface="华文新魏" pitchFamily="2" charset="-122"/>
                <a:ea typeface="华文新魏" pitchFamily="2" charset="-122"/>
              </a:rPr>
              <a:t>第</a:t>
            </a:r>
            <a:r>
              <a:rPr lang="zh-CN" b="1" dirty="0" smtClean="0">
                <a:solidFill>
                  <a:srgbClr val="0000CC"/>
                </a:solidFill>
                <a:latin typeface="华文新魏" pitchFamily="2" charset="-122"/>
                <a:ea typeface="华文新魏" pitchFamily="2" charset="-122"/>
              </a:rPr>
              <a:t>一</a:t>
            </a:r>
            <a:r>
              <a:rPr lang="zh-CN" altLang="en-US" b="1" dirty="0" smtClean="0">
                <a:solidFill>
                  <a:srgbClr val="0000CC"/>
                </a:solidFill>
                <a:latin typeface="华文新魏" pitchFamily="2" charset="-122"/>
                <a:ea typeface="华文新魏" pitchFamily="2" charset="-122"/>
              </a:rPr>
              <a:t>节</a:t>
            </a:r>
            <a:r>
              <a:rPr lang="zh-CN" b="1" dirty="0" smtClean="0">
                <a:solidFill>
                  <a:srgbClr val="0000CC"/>
                </a:solidFill>
                <a:latin typeface="华文新魏" pitchFamily="2" charset="-122"/>
                <a:ea typeface="华文新魏" pitchFamily="2" charset="-122"/>
              </a:rPr>
              <a:t>   </a:t>
            </a:r>
            <a:r>
              <a:rPr lang="zh-CN" altLang="en-US" b="1" dirty="0" smtClean="0">
                <a:solidFill>
                  <a:srgbClr val="0000CC"/>
                </a:solidFill>
                <a:latin typeface="华文新魏" pitchFamily="2" charset="-122"/>
                <a:ea typeface="华文新魏" pitchFamily="2" charset="-122"/>
              </a:rPr>
              <a:t>世界多样性与物质统一性</a:t>
            </a:r>
            <a:endParaRPr lang="en-US" altLang="zh-CN" b="1" dirty="0" smtClean="0">
              <a:solidFill>
                <a:srgbClr val="0000CC"/>
              </a:solidFill>
              <a:latin typeface="华文新魏" pitchFamily="2" charset="-122"/>
              <a:ea typeface="华文新魏" pitchFamily="2" charset="-122"/>
            </a:endParaRPr>
          </a:p>
          <a:p>
            <a:pPr eaLnBrk="1" hangingPunct="1">
              <a:lnSpc>
                <a:spcPct val="80000"/>
              </a:lnSpc>
              <a:buFontTx/>
              <a:buNone/>
            </a:pPr>
            <a:r>
              <a:rPr lang="zh-CN" b="1" dirty="0" smtClean="0">
                <a:solidFill>
                  <a:srgbClr val="0000CC"/>
                </a:solidFill>
                <a:latin typeface="华文新魏" pitchFamily="2" charset="-122"/>
                <a:ea typeface="华文新魏" pitchFamily="2" charset="-122"/>
              </a:rPr>
              <a:t> </a:t>
            </a:r>
            <a:endParaRPr lang="zh-CN" b="1" dirty="0" smtClean="0">
              <a:solidFill>
                <a:srgbClr val="0000CC"/>
              </a:solidFill>
              <a:latin typeface="华文新魏" pitchFamily="2" charset="-122"/>
              <a:ea typeface="华文新魏" pitchFamily="2" charset="-122"/>
            </a:endParaRPr>
          </a:p>
          <a:p>
            <a:pPr eaLnBrk="1" hangingPunct="1">
              <a:lnSpc>
                <a:spcPct val="80000"/>
              </a:lnSpc>
              <a:buFontTx/>
              <a:buNone/>
            </a:pPr>
            <a:r>
              <a:rPr lang="zh-CN" altLang="en-US" b="1" dirty="0" smtClean="0">
                <a:solidFill>
                  <a:srgbClr val="0000CC"/>
                </a:solidFill>
                <a:latin typeface="华文新魏" pitchFamily="2" charset="-122"/>
                <a:ea typeface="华文新魏" pitchFamily="2" charset="-122"/>
              </a:rPr>
              <a:t>第</a:t>
            </a:r>
            <a:r>
              <a:rPr lang="zh-CN" b="1" dirty="0" smtClean="0">
                <a:solidFill>
                  <a:srgbClr val="0000CC"/>
                </a:solidFill>
                <a:latin typeface="华文新魏" pitchFamily="2" charset="-122"/>
                <a:ea typeface="华文新魏" pitchFamily="2" charset="-122"/>
              </a:rPr>
              <a:t>二</a:t>
            </a:r>
            <a:r>
              <a:rPr lang="zh-CN" altLang="en-US" b="1" dirty="0" smtClean="0">
                <a:solidFill>
                  <a:srgbClr val="0000CC"/>
                </a:solidFill>
                <a:latin typeface="华文新魏" pitchFamily="2" charset="-122"/>
                <a:ea typeface="华文新魏" pitchFamily="2" charset="-122"/>
              </a:rPr>
              <a:t>节</a:t>
            </a:r>
            <a:r>
              <a:rPr lang="zh-CN" b="1" dirty="0" smtClean="0">
                <a:solidFill>
                  <a:srgbClr val="0000CC"/>
                </a:solidFill>
                <a:latin typeface="华文新魏" pitchFamily="2" charset="-122"/>
                <a:ea typeface="华文新魏" pitchFamily="2" charset="-122"/>
              </a:rPr>
              <a:t>   </a:t>
            </a:r>
            <a:r>
              <a:rPr lang="zh-CN" altLang="en-US" b="1" dirty="0" smtClean="0">
                <a:solidFill>
                  <a:srgbClr val="0000CC"/>
                </a:solidFill>
                <a:latin typeface="华文新魏" pitchFamily="2" charset="-122"/>
                <a:ea typeface="华文新魏" pitchFamily="2" charset="-122"/>
              </a:rPr>
              <a:t>事物</a:t>
            </a:r>
            <a:r>
              <a:rPr lang="zh-CN" b="1" dirty="0" smtClean="0">
                <a:solidFill>
                  <a:srgbClr val="0000CC"/>
                </a:solidFill>
                <a:latin typeface="华文新魏" pitchFamily="2" charset="-122"/>
                <a:ea typeface="华文新魏" pitchFamily="2" charset="-122"/>
              </a:rPr>
              <a:t>的</a:t>
            </a:r>
            <a:r>
              <a:rPr lang="zh-CN" altLang="en-US" b="1" dirty="0" smtClean="0">
                <a:solidFill>
                  <a:srgbClr val="0000CC"/>
                </a:solidFill>
                <a:latin typeface="华文新魏" pitchFamily="2" charset="-122"/>
                <a:ea typeface="华文新魏" pitchFamily="2" charset="-122"/>
              </a:rPr>
              <a:t>普遍联系与变化发展</a:t>
            </a:r>
            <a:endParaRPr lang="en-US" altLang="zh-CN" b="1" dirty="0" smtClean="0">
              <a:solidFill>
                <a:srgbClr val="0000CC"/>
              </a:solidFill>
              <a:latin typeface="华文新魏" pitchFamily="2" charset="-122"/>
              <a:ea typeface="华文新魏" pitchFamily="2" charset="-122"/>
            </a:endParaRPr>
          </a:p>
          <a:p>
            <a:pPr eaLnBrk="1" hangingPunct="1">
              <a:lnSpc>
                <a:spcPct val="80000"/>
              </a:lnSpc>
              <a:buFontTx/>
              <a:buNone/>
            </a:pPr>
            <a:endParaRPr lang="zh-CN" b="1" dirty="0" smtClean="0">
              <a:solidFill>
                <a:srgbClr val="0000CC"/>
              </a:solidFill>
              <a:latin typeface="华文新魏" pitchFamily="2" charset="-122"/>
              <a:ea typeface="华文新魏" pitchFamily="2" charset="-122"/>
            </a:endParaRPr>
          </a:p>
          <a:p>
            <a:pPr eaLnBrk="1" hangingPunct="1">
              <a:lnSpc>
                <a:spcPct val="80000"/>
              </a:lnSpc>
              <a:buFontTx/>
              <a:buNone/>
            </a:pPr>
            <a:r>
              <a:rPr lang="zh-CN" altLang="en-US" b="1" dirty="0" smtClean="0">
                <a:solidFill>
                  <a:srgbClr val="0000CC"/>
                </a:solidFill>
                <a:latin typeface="华文新魏" pitchFamily="2" charset="-122"/>
                <a:ea typeface="华文新魏" pitchFamily="2" charset="-122"/>
              </a:rPr>
              <a:t>第</a:t>
            </a:r>
            <a:r>
              <a:rPr lang="zh-CN" b="1" dirty="0" smtClean="0">
                <a:solidFill>
                  <a:srgbClr val="0000CC"/>
                </a:solidFill>
                <a:latin typeface="华文新魏" pitchFamily="2" charset="-122"/>
                <a:ea typeface="华文新魏" pitchFamily="2" charset="-122"/>
              </a:rPr>
              <a:t>三</a:t>
            </a:r>
            <a:r>
              <a:rPr lang="zh-CN" altLang="en-US" b="1" dirty="0" smtClean="0">
                <a:solidFill>
                  <a:srgbClr val="0000CC"/>
                </a:solidFill>
                <a:latin typeface="华文新魏" pitchFamily="2" charset="-122"/>
                <a:ea typeface="华文新魏" pitchFamily="2" charset="-122"/>
              </a:rPr>
              <a:t>节</a:t>
            </a:r>
            <a:r>
              <a:rPr lang="zh-CN" b="1" dirty="0" smtClean="0">
                <a:solidFill>
                  <a:srgbClr val="0000CC"/>
                </a:solidFill>
                <a:latin typeface="华文新魏" pitchFamily="2" charset="-122"/>
                <a:ea typeface="华文新魏" pitchFamily="2" charset="-122"/>
              </a:rPr>
              <a:t>   </a:t>
            </a:r>
            <a:r>
              <a:rPr lang="zh-CN" altLang="en-US" sz="2600" b="1" dirty="0" smtClean="0">
                <a:solidFill>
                  <a:srgbClr val="0000CC"/>
                </a:solidFill>
                <a:latin typeface="华文新魏" pitchFamily="2" charset="-122"/>
                <a:ea typeface="华文新魏" pitchFamily="2" charset="-122"/>
              </a:rPr>
              <a:t>唯物辩证法是认识世界和改造世界的根本方法</a:t>
            </a:r>
            <a:endParaRPr lang="zh-CN" sz="2600" b="1" dirty="0" smtClean="0">
              <a:solidFill>
                <a:srgbClr val="0000CC"/>
              </a:solidFill>
              <a:latin typeface="华文新魏" pitchFamily="2" charset="-122"/>
              <a:ea typeface="华文新魏" pitchFamily="2" charset="-122"/>
            </a:endParaRPr>
          </a:p>
        </p:txBody>
      </p:sp>
      <p:sp>
        <p:nvSpPr>
          <p:cNvPr id="4" name="Rectangle 2"/>
          <p:cNvSpPr txBox="1">
            <a:spLocks noChangeArrowheads="1"/>
          </p:cNvSpPr>
          <p:nvPr/>
        </p:nvSpPr>
        <p:spPr>
          <a:xfrm>
            <a:off x="285720" y="1000108"/>
            <a:ext cx="8572500" cy="785818"/>
          </a:xfrm>
          <a:prstGeom prst="rect">
            <a:avLst/>
          </a:prstGeom>
        </p:spPr>
        <p:txBody>
          <a:bodyPr vert="horz" lIns="91440" tIns="45720" rIns="91440" bIns="45720" rtlCol="0">
            <a:normAutofit fontScale="92500"/>
          </a:bodyPr>
          <a:lstStyle/>
          <a:p>
            <a:pPr marL="228600" marR="0" lvl="0" indent="-228600" algn="ctr" defTabSz="914400" rtl="0" eaLnBrk="1" fontAlgn="auto" latinLnBrk="0" hangingPunct="1">
              <a:lnSpc>
                <a:spcPct val="80000"/>
              </a:lnSpc>
              <a:spcBef>
                <a:spcPts val="1000"/>
              </a:spcBef>
              <a:spcAft>
                <a:spcPts val="0"/>
              </a:spcAft>
              <a:buClrTx/>
              <a:buSzTx/>
              <a:buFontTx/>
              <a:buNone/>
              <a:defRPr/>
            </a:pPr>
            <a:r>
              <a:rPr lang="zh-CN" altLang="en-US" sz="4800" b="1" dirty="0" smtClean="0">
                <a:solidFill>
                  <a:srgbClr val="0000CC"/>
                </a:solidFill>
                <a:latin typeface="华文新魏" pitchFamily="2" charset="-122"/>
                <a:ea typeface="华文新魏" pitchFamily="2" charset="-122"/>
              </a:rPr>
              <a:t>第一章 世界的物质性及发展规律</a:t>
            </a:r>
            <a:endParaRPr kumimoji="0" lang="en-US" altLang="zh-CN" sz="4800" b="1" i="0" u="none" strike="noStrike" kern="1200" cap="none" spc="0" normalizeH="0" baseline="0" noProof="0" dirty="0" smtClean="0">
              <a:ln>
                <a:noFill/>
              </a:ln>
              <a:solidFill>
                <a:srgbClr val="0000CC"/>
              </a:solidFill>
              <a:effectLst/>
              <a:uLnTx/>
              <a:uFillTx/>
              <a:latin typeface="华文新魏" pitchFamily="2" charset="-122"/>
              <a:ea typeface="华文新魏" pitchFamily="2" charset="-122"/>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文本框 697345"/>
          <p:cNvSpPr txBox="1">
            <a:spLocks noChangeArrowheads="1"/>
          </p:cNvSpPr>
          <p:nvPr/>
        </p:nvSpPr>
        <p:spPr bwMode="auto">
          <a:xfrm>
            <a:off x="214282" y="285728"/>
            <a:ext cx="1928826"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2400" b="1" dirty="0" smtClean="0">
                <a:solidFill>
                  <a:srgbClr val="990000"/>
                </a:solidFill>
                <a:latin typeface="Times New Roman" panose="02020603050405020304" pitchFamily="18" charset="0"/>
                <a:ea typeface="幼圆" pitchFamily="49" charset="-122"/>
              </a:rPr>
              <a:t>  学习目标</a:t>
            </a:r>
            <a:endParaRPr lang="zh-CN" altLang="en-US" sz="2400" b="1" dirty="0">
              <a:solidFill>
                <a:srgbClr val="990000"/>
              </a:solidFill>
              <a:latin typeface="Times New Roman" panose="02020603050405020304" pitchFamily="18" charset="0"/>
              <a:ea typeface="幼圆" pitchFamily="49" charset="-122"/>
            </a:endParaRPr>
          </a:p>
        </p:txBody>
      </p:sp>
      <p:sp>
        <p:nvSpPr>
          <p:cNvPr id="6147" name="矩形 697346"/>
          <p:cNvSpPr>
            <a:spLocks noRot="1" noChangeArrowheads="1"/>
          </p:cNvSpPr>
          <p:nvPr/>
        </p:nvSpPr>
        <p:spPr bwMode="auto">
          <a:xfrm>
            <a:off x="357158" y="857232"/>
            <a:ext cx="8401079" cy="1643074"/>
          </a:xfrm>
          <a:prstGeom prst="rect">
            <a:avLst/>
          </a:prstGeom>
          <a:solidFill>
            <a:srgbClr val="CCFFCC"/>
          </a:solidFill>
          <a:ln w="19050">
            <a:solidFill>
              <a:srgbClr val="FF0000"/>
            </a:solidFill>
            <a:miter lim="800000"/>
          </a:ln>
        </p:spPr>
        <p:txBody>
          <a:bodyPr/>
          <a:lstStyle/>
          <a:p>
            <a:pPr>
              <a:lnSpc>
                <a:spcPct val="125000"/>
              </a:lnSpc>
              <a:spcBef>
                <a:spcPct val="20000"/>
              </a:spcBef>
            </a:pPr>
            <a:r>
              <a:rPr lang="en-US" altLang="zh-CN" sz="2000" b="1" dirty="0">
                <a:solidFill>
                  <a:srgbClr val="0000FF"/>
                </a:solidFill>
                <a:latin typeface="华文隶书" pitchFamily="2" charset="-122"/>
                <a:ea typeface="华文隶书" pitchFamily="2" charset="-122"/>
              </a:rPr>
              <a:t>    </a:t>
            </a:r>
            <a:r>
              <a:rPr lang="en-US" altLang="zh-CN" sz="2000" b="1" dirty="0">
                <a:solidFill>
                  <a:srgbClr val="0000FF"/>
                </a:solidFill>
                <a:latin typeface="楷体" panose="02010609060101010101" pitchFamily="49" charset="-122"/>
                <a:ea typeface="楷体" panose="02010609060101010101" pitchFamily="49" charset="-122"/>
              </a:rPr>
              <a:t> </a:t>
            </a:r>
            <a:r>
              <a:rPr lang="zh-CN" altLang="en-US" sz="2000" b="1" dirty="0">
                <a:solidFill>
                  <a:srgbClr val="0000FF"/>
                </a:solidFill>
                <a:latin typeface="楷体" panose="02010609060101010101" pitchFamily="49" charset="-122"/>
                <a:ea typeface="楷体" panose="02010609060101010101" pitchFamily="49" charset="-122"/>
              </a:rPr>
              <a:t>学习和掌握辩证唯物主义基本原理，着重</a:t>
            </a:r>
            <a:r>
              <a:rPr lang="zh-CN" altLang="en-US" sz="2000" b="1" dirty="0" smtClean="0">
                <a:solidFill>
                  <a:srgbClr val="0000FF"/>
                </a:solidFill>
                <a:latin typeface="楷体" panose="02010609060101010101" pitchFamily="49" charset="-122"/>
                <a:ea typeface="楷体" panose="02010609060101010101" pitchFamily="49" charset="-122"/>
              </a:rPr>
              <a:t>把握马克思主义物质观，理解世界</a:t>
            </a:r>
            <a:r>
              <a:rPr lang="zh-CN" altLang="en-US" sz="2000" b="1" dirty="0">
                <a:solidFill>
                  <a:srgbClr val="0000FF"/>
                </a:solidFill>
                <a:latin typeface="楷体" panose="02010609060101010101" pitchFamily="49" charset="-122"/>
                <a:ea typeface="楷体" panose="02010609060101010101" pitchFamily="49" charset="-122"/>
              </a:rPr>
              <a:t>的物质统一性</a:t>
            </a:r>
            <a:r>
              <a:rPr lang="zh-CN" altLang="en-US" sz="2000" b="1" dirty="0" smtClean="0">
                <a:solidFill>
                  <a:srgbClr val="0000FF"/>
                </a:solidFill>
                <a:latin typeface="楷体" panose="02010609060101010101" pitchFamily="49" charset="-122"/>
                <a:ea typeface="楷体" panose="02010609060101010101" pitchFamily="49" charset="-122"/>
              </a:rPr>
              <a:t>，世界的二重分化，物质与意识的辩证关系，事物</a:t>
            </a:r>
            <a:r>
              <a:rPr lang="zh-CN" altLang="en-US" sz="2000" b="1" dirty="0">
                <a:solidFill>
                  <a:srgbClr val="0000FF"/>
                </a:solidFill>
                <a:latin typeface="楷体" panose="02010609060101010101" pitchFamily="49" charset="-122"/>
                <a:ea typeface="楷体" panose="02010609060101010101" pitchFamily="49" charset="-122"/>
              </a:rPr>
              <a:t>联系和发展的</a:t>
            </a:r>
            <a:r>
              <a:rPr lang="zh-CN" altLang="en-US" sz="2000" b="1" dirty="0" smtClean="0">
                <a:solidFill>
                  <a:srgbClr val="0000FF"/>
                </a:solidFill>
                <a:latin typeface="楷体" panose="02010609060101010101" pitchFamily="49" charset="-122"/>
                <a:ea typeface="楷体" panose="02010609060101010101" pitchFamily="49" charset="-122"/>
              </a:rPr>
              <a:t>基本规律、基本环节，坚持科学</a:t>
            </a:r>
            <a:r>
              <a:rPr lang="zh-CN" altLang="en-US" sz="2000" b="1" dirty="0">
                <a:solidFill>
                  <a:srgbClr val="0000FF"/>
                </a:solidFill>
                <a:latin typeface="楷体" panose="02010609060101010101" pitchFamily="49" charset="-122"/>
                <a:ea typeface="楷体" panose="02010609060101010101" pitchFamily="49" charset="-122"/>
              </a:rPr>
              <a:t>的世界观和方法论，运用唯物辩证法分析和解决问题，不断增强思维能力。</a:t>
            </a:r>
            <a:endParaRPr lang="zh-CN" altLang="en-US" sz="2000" b="1" dirty="0">
              <a:solidFill>
                <a:srgbClr val="0000FF"/>
              </a:solidFill>
              <a:latin typeface="楷体" panose="02010609060101010101" pitchFamily="49" charset="-122"/>
              <a:ea typeface="楷体" panose="02010609060101010101" pitchFamily="49" charset="-122"/>
            </a:endParaRPr>
          </a:p>
        </p:txBody>
      </p:sp>
      <p:sp>
        <p:nvSpPr>
          <p:cNvPr id="6148" name="文本框 697347"/>
          <p:cNvSpPr txBox="1">
            <a:spLocks noChangeArrowheads="1"/>
          </p:cNvSpPr>
          <p:nvPr/>
        </p:nvSpPr>
        <p:spPr bwMode="auto">
          <a:xfrm>
            <a:off x="214282" y="2714620"/>
            <a:ext cx="1909793"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400" b="1" dirty="0" smtClean="0">
                <a:solidFill>
                  <a:srgbClr val="990000"/>
                </a:solidFill>
                <a:latin typeface="Times New Roman" panose="02020603050405020304" pitchFamily="18" charset="0"/>
                <a:ea typeface="幼圆" pitchFamily="49" charset="-122"/>
              </a:rPr>
              <a:t>学习要点</a:t>
            </a:r>
            <a:endParaRPr lang="zh-CN" altLang="en-US" sz="2400" b="1" dirty="0">
              <a:solidFill>
                <a:srgbClr val="990000"/>
              </a:solidFill>
              <a:latin typeface="Times New Roman" panose="02020603050405020304" pitchFamily="18" charset="0"/>
              <a:ea typeface="幼圆" pitchFamily="49" charset="-122"/>
            </a:endParaRPr>
          </a:p>
        </p:txBody>
      </p:sp>
      <p:sp>
        <p:nvSpPr>
          <p:cNvPr id="6149" name="矩形 697348"/>
          <p:cNvSpPr>
            <a:spLocks noRot="1" noChangeArrowheads="1"/>
          </p:cNvSpPr>
          <p:nvPr/>
        </p:nvSpPr>
        <p:spPr bwMode="auto">
          <a:xfrm>
            <a:off x="357158" y="3286124"/>
            <a:ext cx="5572164" cy="3170235"/>
          </a:xfrm>
          <a:prstGeom prst="rect">
            <a:avLst/>
          </a:prstGeom>
          <a:solidFill>
            <a:srgbClr val="CCFFCC"/>
          </a:solidFill>
          <a:ln w="19050">
            <a:solidFill>
              <a:srgbClr val="FF0000"/>
            </a:solidFill>
            <a:miter lim="800000"/>
          </a:ln>
        </p:spPr>
        <p:txBody>
          <a:bodyPr/>
          <a:lstStyle/>
          <a:p>
            <a:pPr marL="342900" indent="-342900">
              <a:lnSpc>
                <a:spcPct val="125000"/>
              </a:lnSpc>
              <a:spcBef>
                <a:spcPct val="10000"/>
              </a:spcBef>
            </a:pPr>
            <a:r>
              <a:rPr lang="zh-CN" altLang="zh-CN" sz="2000" b="1" dirty="0">
                <a:solidFill>
                  <a:srgbClr val="0000FF"/>
                </a:solidFill>
                <a:latin typeface="楷体" panose="02010609060101010101" pitchFamily="49" charset="-122"/>
                <a:ea typeface="楷体" panose="02010609060101010101" pitchFamily="49" charset="-122"/>
              </a:rPr>
              <a:t>• </a:t>
            </a:r>
            <a:r>
              <a:rPr lang="zh-CN" altLang="en-US" sz="2000" b="1" dirty="0" smtClean="0">
                <a:solidFill>
                  <a:srgbClr val="0000FF"/>
                </a:solidFill>
                <a:latin typeface="楷体" panose="02010609060101010101" pitchFamily="49" charset="-122"/>
                <a:ea typeface="楷体" panose="02010609060101010101" pitchFamily="49" charset="-122"/>
              </a:rPr>
              <a:t>辩证唯物主义物质范畴</a:t>
            </a:r>
            <a:endParaRPr lang="en-US" altLang="zh-CN" sz="2000" b="1" dirty="0" smtClean="0">
              <a:solidFill>
                <a:srgbClr val="0000FF"/>
              </a:solidFill>
              <a:latin typeface="楷体" panose="02010609060101010101" pitchFamily="49" charset="-122"/>
              <a:ea typeface="楷体" panose="02010609060101010101" pitchFamily="49" charset="-122"/>
            </a:endParaRPr>
          </a:p>
          <a:p>
            <a:pPr marL="342900" indent="-342900">
              <a:lnSpc>
                <a:spcPct val="125000"/>
              </a:lnSpc>
              <a:spcBef>
                <a:spcPct val="10000"/>
              </a:spcBef>
            </a:pPr>
            <a:r>
              <a:rPr lang="zh-CN" altLang="zh-CN" sz="2000" b="1" dirty="0" smtClean="0">
                <a:solidFill>
                  <a:srgbClr val="0000FF"/>
                </a:solidFill>
                <a:latin typeface="楷体" panose="02010609060101010101" pitchFamily="49" charset="-122"/>
                <a:ea typeface="楷体" panose="02010609060101010101" pitchFamily="49" charset="-122"/>
              </a:rPr>
              <a:t>•</a:t>
            </a:r>
            <a:r>
              <a:rPr lang="en-US" altLang="zh-CN" sz="2000" b="1" dirty="0" smtClean="0">
                <a:solidFill>
                  <a:srgbClr val="0000FF"/>
                </a:solidFill>
                <a:latin typeface="楷体" panose="02010609060101010101" pitchFamily="49" charset="-122"/>
                <a:ea typeface="楷体" panose="02010609060101010101" pitchFamily="49" charset="-122"/>
              </a:rPr>
              <a:t> </a:t>
            </a:r>
            <a:r>
              <a:rPr lang="zh-CN" altLang="zh-CN" sz="2000" b="1" dirty="0" smtClean="0">
                <a:solidFill>
                  <a:srgbClr val="0000FF"/>
                </a:solidFill>
                <a:latin typeface="楷体" panose="02010609060101010101" pitchFamily="49" charset="-122"/>
                <a:ea typeface="楷体" panose="02010609060101010101" pitchFamily="49" charset="-122"/>
              </a:rPr>
              <a:t>世界</a:t>
            </a:r>
            <a:r>
              <a:rPr lang="zh-CN" altLang="zh-CN" sz="2000" b="1" dirty="0">
                <a:solidFill>
                  <a:srgbClr val="0000FF"/>
                </a:solidFill>
                <a:latin typeface="楷体" panose="02010609060101010101" pitchFamily="49" charset="-122"/>
                <a:ea typeface="楷体" panose="02010609060101010101" pitchFamily="49" charset="-122"/>
              </a:rPr>
              <a:t>的物质</a:t>
            </a:r>
            <a:r>
              <a:rPr lang="zh-CN" altLang="zh-CN" sz="2000" b="1" dirty="0" smtClean="0">
                <a:solidFill>
                  <a:srgbClr val="0000FF"/>
                </a:solidFill>
                <a:latin typeface="楷体" panose="02010609060101010101" pitchFamily="49" charset="-122"/>
                <a:ea typeface="楷体" panose="02010609060101010101" pitchFamily="49" charset="-122"/>
              </a:rPr>
              <a:t>统一性</a:t>
            </a:r>
            <a:endParaRPr lang="zh-CN" altLang="zh-CN" sz="2000" b="1" dirty="0">
              <a:solidFill>
                <a:srgbClr val="0000FF"/>
              </a:solidFill>
              <a:latin typeface="楷体" panose="02010609060101010101" pitchFamily="49" charset="-122"/>
              <a:ea typeface="楷体" panose="02010609060101010101" pitchFamily="49" charset="-122"/>
            </a:endParaRPr>
          </a:p>
          <a:p>
            <a:pPr marL="342900" indent="-342900">
              <a:lnSpc>
                <a:spcPct val="125000"/>
              </a:lnSpc>
              <a:spcBef>
                <a:spcPct val="10000"/>
              </a:spcBef>
            </a:pPr>
            <a:r>
              <a:rPr lang="zh-CN" altLang="zh-CN" sz="2000" b="1" dirty="0">
                <a:solidFill>
                  <a:srgbClr val="0000FF"/>
                </a:solidFill>
                <a:latin typeface="楷体" panose="02010609060101010101" pitchFamily="49" charset="-122"/>
                <a:ea typeface="楷体" panose="02010609060101010101" pitchFamily="49" charset="-122"/>
              </a:rPr>
              <a:t>• 主观能动性与客观规律性的辩证统一</a:t>
            </a:r>
            <a:endParaRPr lang="zh-CN" altLang="zh-CN" sz="2000" b="1" dirty="0">
              <a:solidFill>
                <a:srgbClr val="0000FF"/>
              </a:solidFill>
              <a:latin typeface="楷体" panose="02010609060101010101" pitchFamily="49" charset="-122"/>
              <a:ea typeface="楷体" panose="02010609060101010101" pitchFamily="49" charset="-122"/>
            </a:endParaRPr>
          </a:p>
          <a:p>
            <a:pPr marL="342900" indent="-342900">
              <a:lnSpc>
                <a:spcPct val="125000"/>
              </a:lnSpc>
              <a:spcBef>
                <a:spcPct val="10000"/>
              </a:spcBef>
            </a:pPr>
            <a:r>
              <a:rPr lang="zh-CN" altLang="zh-CN" sz="2000" b="1" dirty="0">
                <a:solidFill>
                  <a:srgbClr val="0000FF"/>
                </a:solidFill>
                <a:latin typeface="楷体" panose="02010609060101010101" pitchFamily="49" charset="-122"/>
                <a:ea typeface="楷体" panose="02010609060101010101" pitchFamily="49" charset="-122"/>
              </a:rPr>
              <a:t>• 联系和发展的</a:t>
            </a:r>
            <a:r>
              <a:rPr lang="zh-CN" altLang="zh-CN" sz="2000" b="1" dirty="0" smtClean="0">
                <a:solidFill>
                  <a:srgbClr val="0000FF"/>
                </a:solidFill>
                <a:latin typeface="楷体" panose="02010609060101010101" pitchFamily="49" charset="-122"/>
                <a:ea typeface="楷体" panose="02010609060101010101" pitchFamily="49" charset="-122"/>
              </a:rPr>
              <a:t>基本</a:t>
            </a:r>
            <a:r>
              <a:rPr lang="zh-CN" altLang="en-US" sz="2000" b="1" dirty="0" smtClean="0">
                <a:solidFill>
                  <a:srgbClr val="0000FF"/>
                </a:solidFill>
                <a:latin typeface="楷体" panose="02010609060101010101" pitchFamily="49" charset="-122"/>
                <a:ea typeface="楷体" panose="02010609060101010101" pitchFamily="49" charset="-122"/>
              </a:rPr>
              <a:t>规律</a:t>
            </a:r>
            <a:endParaRPr lang="zh-CN" altLang="zh-CN" sz="2000" b="1" dirty="0">
              <a:solidFill>
                <a:srgbClr val="0000FF"/>
              </a:solidFill>
              <a:latin typeface="楷体" panose="02010609060101010101" pitchFamily="49" charset="-122"/>
              <a:ea typeface="楷体" panose="02010609060101010101" pitchFamily="49" charset="-122"/>
            </a:endParaRPr>
          </a:p>
          <a:p>
            <a:pPr marL="342900" indent="-342900">
              <a:lnSpc>
                <a:spcPct val="125000"/>
              </a:lnSpc>
              <a:spcBef>
                <a:spcPct val="10000"/>
              </a:spcBef>
            </a:pPr>
            <a:r>
              <a:rPr lang="zh-CN" altLang="zh-CN" sz="2000" b="1" dirty="0">
                <a:solidFill>
                  <a:srgbClr val="0000FF"/>
                </a:solidFill>
                <a:latin typeface="楷体" panose="02010609060101010101" pitchFamily="49" charset="-122"/>
                <a:ea typeface="楷体" panose="02010609060101010101" pitchFamily="49" charset="-122"/>
              </a:rPr>
              <a:t>• 唯物辩证法是科学的认识方法</a:t>
            </a:r>
            <a:endParaRPr lang="zh-CN" altLang="zh-CN" sz="2000" b="1" dirty="0">
              <a:solidFill>
                <a:srgbClr val="0000FF"/>
              </a:solidFill>
              <a:latin typeface="楷体" panose="02010609060101010101" pitchFamily="49" charset="-122"/>
              <a:ea typeface="楷体" panose="02010609060101010101" pitchFamily="49" charset="-122"/>
            </a:endParaRPr>
          </a:p>
          <a:p>
            <a:pPr marL="342900" indent="-342900">
              <a:lnSpc>
                <a:spcPct val="125000"/>
              </a:lnSpc>
              <a:spcBef>
                <a:spcPct val="10000"/>
              </a:spcBef>
            </a:pPr>
            <a:r>
              <a:rPr lang="zh-CN" altLang="zh-CN" sz="2000" b="1" dirty="0">
                <a:solidFill>
                  <a:srgbClr val="0000FF"/>
                </a:solidFill>
                <a:latin typeface="楷体" panose="02010609060101010101" pitchFamily="49" charset="-122"/>
                <a:ea typeface="楷体" panose="02010609060101010101" pitchFamily="49" charset="-122"/>
              </a:rPr>
              <a:t>• 在实践中不断增强思维能力</a:t>
            </a:r>
            <a:endParaRPr lang="zh-CN" altLang="zh-CN" sz="2000"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7"/>
          <p:cNvSpPr/>
          <p:nvPr/>
        </p:nvSpPr>
        <p:spPr>
          <a:xfrm rot="10800000" flipV="1">
            <a:off x="357158" y="2643182"/>
            <a:ext cx="8501122" cy="2143140"/>
          </a:xfrm>
          <a:prstGeom prst="roundRect">
            <a:avLst>
              <a:gd name="adj" fmla="val 0"/>
            </a:avLst>
          </a:prstGeom>
          <a:solidFill>
            <a:schemeClr val="accent4">
              <a:lumMod val="60000"/>
              <a:lumOff val="4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3407" tIns="66705" rIns="133407" bIns="66705" rtlCol="0" anchor="ctr"/>
          <a:lstStyle/>
          <a:p>
            <a:pPr>
              <a:lnSpc>
                <a:spcPct val="125000"/>
              </a:lnSpc>
            </a:pPr>
            <a:r>
              <a:rPr lang="zh-CN" altLang="en-US" sz="2400" b="1" u="sng" dirty="0" smtClean="0">
                <a:solidFill>
                  <a:schemeClr val="tx1"/>
                </a:solidFill>
                <a:latin typeface="+mn-ea"/>
              </a:rPr>
              <a:t>理论化</a:t>
            </a:r>
            <a:r>
              <a:rPr lang="zh-CN" altLang="en-US" sz="2400" b="1" u="sng" dirty="0">
                <a:solidFill>
                  <a:schemeClr val="tx1"/>
                </a:solidFill>
                <a:latin typeface="+mn-ea"/>
              </a:rPr>
              <a:t>、系统化</a:t>
            </a:r>
            <a:r>
              <a:rPr lang="zh-CN" altLang="en-US" sz="2400" b="1" dirty="0">
                <a:solidFill>
                  <a:schemeClr val="tx1"/>
                </a:solidFill>
                <a:latin typeface="+mn-ea"/>
              </a:rPr>
              <a:t>的</a:t>
            </a:r>
            <a:r>
              <a:rPr lang="zh-CN" altLang="en-US" sz="2400" b="1" u="sng" dirty="0">
                <a:solidFill>
                  <a:schemeClr val="tx1"/>
                </a:solidFill>
                <a:latin typeface="+mn-ea"/>
              </a:rPr>
              <a:t>世界观</a:t>
            </a:r>
            <a:r>
              <a:rPr lang="zh-CN" altLang="en-US" sz="2400" b="1" dirty="0" smtClean="0">
                <a:solidFill>
                  <a:schemeClr val="tx1"/>
                </a:solidFill>
                <a:latin typeface="+mn-ea"/>
              </a:rPr>
              <a:t>，是</a:t>
            </a:r>
            <a:r>
              <a:rPr lang="zh-CN" altLang="en-US" sz="2400" b="1" dirty="0">
                <a:solidFill>
                  <a:schemeClr val="tx1"/>
                </a:solidFill>
                <a:latin typeface="+mn-ea"/>
              </a:rPr>
              <a:t>对于</a:t>
            </a:r>
            <a:r>
              <a:rPr lang="zh-CN" altLang="en-US" sz="2400" b="1" u="sng" dirty="0">
                <a:solidFill>
                  <a:schemeClr val="tx1"/>
                </a:solidFill>
                <a:latin typeface="+mn-ea"/>
              </a:rPr>
              <a:t>自然知识、社会知识和思维知识的概括和总结</a:t>
            </a:r>
            <a:r>
              <a:rPr lang="zh-CN" altLang="en-US" sz="2400" b="1" dirty="0" smtClean="0">
                <a:solidFill>
                  <a:schemeClr val="tx1"/>
                </a:solidFill>
                <a:latin typeface="+mn-ea"/>
              </a:rPr>
              <a:t>，是关于宇宙和人生的总体性认识，为人类安身立命提供不可或缺的思想基础。哲学既是世界观也是方法论，世界观决定方法论，方法论体现世界观。</a:t>
            </a:r>
            <a:endParaRPr lang="zh-CN" altLang="en-US" sz="2400" b="1" dirty="0">
              <a:solidFill>
                <a:schemeClr val="tx1"/>
              </a:solidFill>
              <a:latin typeface="+mn-ea"/>
            </a:endParaRPr>
          </a:p>
        </p:txBody>
      </p:sp>
      <p:grpSp>
        <p:nvGrpSpPr>
          <p:cNvPr id="13324" name="组合 731162"/>
          <p:cNvGrpSpPr/>
          <p:nvPr/>
        </p:nvGrpSpPr>
        <p:grpSpPr bwMode="auto">
          <a:xfrm>
            <a:off x="357158" y="1928802"/>
            <a:ext cx="3860165" cy="576156"/>
            <a:chOff x="1338" y="1109"/>
            <a:chExt cx="3696" cy="384"/>
          </a:xfrm>
        </p:grpSpPr>
        <p:sp>
          <p:nvSpPr>
            <p:cNvPr id="13325" name="圆角矩形 731163"/>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3" name="文本框 731164"/>
            <p:cNvSpPr txBox="1">
              <a:spLocks noChangeArrowheads="1"/>
            </p:cNvSpPr>
            <p:nvPr/>
          </p:nvSpPr>
          <p:spPr bwMode="auto">
            <a:xfrm>
              <a:off x="1439" y="1122"/>
              <a:ext cx="354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en-US" altLang="zh-CN" sz="2400" b="1" dirty="0">
                  <a:solidFill>
                    <a:schemeClr val="bg1"/>
                  </a:solidFill>
                  <a:latin typeface="楷体" panose="02010609060101010101" pitchFamily="49" charset="-122"/>
                  <a:ea typeface="楷体" panose="02010609060101010101" pitchFamily="49" charset="-122"/>
                </a:rPr>
                <a:t>1</a:t>
              </a:r>
              <a:r>
                <a:rPr lang="en-US" altLang="zh-CN" sz="2400" b="1" dirty="0" smtClean="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马克思主义的哲学定义</a:t>
              </a:r>
              <a:endParaRPr lang="zh-CN" altLang="en-US" sz="2400" b="1" dirty="0">
                <a:solidFill>
                  <a:schemeClr val="bg1"/>
                </a:solidFill>
                <a:latin typeface="楷体" panose="02010609060101010101" pitchFamily="49" charset="-122"/>
                <a:ea typeface="楷体" panose="02010609060101010101" pitchFamily="49" charset="-122"/>
              </a:endParaRPr>
            </a:p>
          </p:txBody>
        </p:sp>
      </p:grpSp>
      <p:sp>
        <p:nvSpPr>
          <p:cNvPr id="6" name="矩形 5"/>
          <p:cNvSpPr/>
          <p:nvPr/>
        </p:nvSpPr>
        <p:spPr>
          <a:xfrm>
            <a:off x="571472" y="428604"/>
            <a:ext cx="8162812" cy="584775"/>
          </a:xfrm>
          <a:prstGeom prst="rect">
            <a:avLst/>
          </a:prstGeom>
        </p:spPr>
        <p:txBody>
          <a:bodyPr wrap="none">
            <a:spAutoFit/>
          </a:bodyPr>
          <a:lstStyle/>
          <a:p>
            <a:pPr>
              <a:lnSpc>
                <a:spcPct val="80000"/>
              </a:lnSpc>
            </a:pPr>
            <a:r>
              <a:rPr lang="zh-CN" altLang="en-US" sz="4000" b="1" dirty="0" smtClean="0">
                <a:latin typeface="楷体" panose="02010609060101010101" pitchFamily="49" charset="-122"/>
                <a:ea typeface="楷体" panose="02010609060101010101" pitchFamily="49" charset="-122"/>
              </a:rPr>
              <a:t>第一节  世界多样性与物质统一性</a:t>
            </a:r>
            <a:endParaRPr lang="en-US" altLang="zh-CN" sz="4000" b="1" dirty="0" smtClean="0">
              <a:latin typeface="楷体" panose="02010609060101010101" pitchFamily="49" charset="-122"/>
              <a:ea typeface="楷体" panose="02010609060101010101" pitchFamily="49" charset="-122"/>
            </a:endParaRPr>
          </a:p>
        </p:txBody>
      </p:sp>
      <p:sp>
        <p:nvSpPr>
          <p:cNvPr id="7" name="矩形 702467"/>
          <p:cNvSpPr>
            <a:spLocks noChangeArrowheads="1"/>
          </p:cNvSpPr>
          <p:nvPr/>
        </p:nvSpPr>
        <p:spPr bwMode="auto">
          <a:xfrm>
            <a:off x="357158" y="1214422"/>
            <a:ext cx="4103688" cy="609600"/>
          </a:xfrm>
          <a:prstGeom prst="rect">
            <a:avLst/>
          </a:prstGeom>
          <a:solidFill>
            <a:srgbClr val="B7ECFF"/>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lnSpc>
                <a:spcPct val="120000"/>
              </a:lnSpc>
              <a:spcBef>
                <a:spcPct val="50000"/>
              </a:spcBef>
            </a:pPr>
            <a:r>
              <a:rPr lang="zh-CN" altLang="en-US" sz="2800" b="1" noProof="1">
                <a:solidFill>
                  <a:srgbClr val="FF0066"/>
                </a:solidFill>
                <a:latin typeface="华文新魏" pitchFamily="2" charset="-122"/>
                <a:ea typeface="华文新魏" pitchFamily="2" charset="-122"/>
              </a:rPr>
              <a:t>一、物</a:t>
            </a:r>
            <a:r>
              <a:rPr lang="zh-CN" altLang="en-US" sz="2800" b="1" noProof="1">
                <a:solidFill>
                  <a:srgbClr val="FF0000"/>
                </a:solidFill>
                <a:latin typeface="华文新魏" pitchFamily="2" charset="-122"/>
                <a:ea typeface="华文新魏" pitchFamily="2" charset="-122"/>
              </a:rPr>
              <a:t>质</a:t>
            </a:r>
            <a:r>
              <a:rPr lang="zh-CN" altLang="en-US" sz="2800" b="1" noProof="1">
                <a:solidFill>
                  <a:srgbClr val="FF0066"/>
                </a:solidFill>
                <a:latin typeface="华文新魏" pitchFamily="2" charset="-122"/>
                <a:ea typeface="华文新魏" pitchFamily="2" charset="-122"/>
              </a:rPr>
              <a:t>及其</a:t>
            </a:r>
            <a:r>
              <a:rPr lang="zh-CN" altLang="en-US" sz="2800" b="1" noProof="1" smtClean="0">
                <a:solidFill>
                  <a:srgbClr val="FF0066"/>
                </a:solidFill>
                <a:latin typeface="华文新魏" pitchFamily="2" charset="-122"/>
                <a:ea typeface="华文新魏" pitchFamily="2" charset="-122"/>
              </a:rPr>
              <a:t>存在方式</a:t>
            </a:r>
            <a:endParaRPr lang="zh-CN" altLang="en-US" sz="2800" b="1" noProof="1">
              <a:solidFill>
                <a:srgbClr val="FF0066"/>
              </a:solidFill>
              <a:latin typeface="华文新魏" pitchFamily="2" charset="-122"/>
              <a:ea typeface="华文新魏"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50">
        <p:wipe/>
      </p:transition>
    </mc:Choice>
    <mc:Fallback>
      <p:transition spd="slow">
        <p:wip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矩形 945160"/>
          <p:cNvSpPr>
            <a:spLocks noChangeArrowheads="1"/>
          </p:cNvSpPr>
          <p:nvPr/>
        </p:nvSpPr>
        <p:spPr bwMode="auto">
          <a:xfrm>
            <a:off x="285720" y="3500438"/>
            <a:ext cx="8643998" cy="1057284"/>
          </a:xfrm>
          <a:prstGeom prst="rect">
            <a:avLst/>
          </a:prstGeom>
          <a:solidFill>
            <a:srgbClr val="FFFF99"/>
          </a:solidFill>
          <a:ln w="28575">
            <a:solidFill>
              <a:srgbClr val="FF0000"/>
            </a:solidFill>
            <a:miter lim="800000"/>
          </a:ln>
          <a:effectLst/>
        </p:spPr>
        <p:txBody>
          <a:bodyPr/>
          <a:lstStyle/>
          <a:p>
            <a:pPr>
              <a:lnSpc>
                <a:spcPct val="125000"/>
              </a:lnSpc>
              <a:spcBef>
                <a:spcPct val="20000"/>
              </a:spcBef>
              <a:defRPr/>
            </a:pPr>
            <a:r>
              <a:rPr lang="zh-CN" altLang="en-US" sz="2000" b="1" dirty="0" smtClean="0">
                <a:solidFill>
                  <a:srgbClr val="0000CC"/>
                </a:solidFill>
                <a:latin typeface="楷体" panose="02010609060101010101" pitchFamily="49" charset="-122"/>
                <a:ea typeface="楷体" panose="02010609060101010101" pitchFamily="49" charset="-122"/>
              </a:rPr>
              <a:t>其一</a:t>
            </a:r>
            <a:r>
              <a:rPr lang="zh-CN" altLang="en-US" sz="2000" b="1" dirty="0">
                <a:solidFill>
                  <a:srgbClr val="0000CC"/>
                </a:solidFill>
                <a:latin typeface="楷体" panose="02010609060101010101" pitchFamily="49" charset="-122"/>
                <a:ea typeface="楷体" panose="02010609060101010101" pitchFamily="49" charset="-122"/>
              </a:rPr>
              <a:t>，存在和</a:t>
            </a:r>
            <a:r>
              <a:rPr lang="zh-CN" altLang="en-US" sz="2000" b="1" dirty="0" smtClean="0">
                <a:solidFill>
                  <a:srgbClr val="0000CC"/>
                </a:solidFill>
                <a:latin typeface="楷体" panose="02010609060101010101" pitchFamily="49" charset="-122"/>
                <a:ea typeface="楷体" panose="02010609060101010101" pitchFamily="49" charset="-122"/>
              </a:rPr>
              <a:t>思维、物质和意识谁为本原的问题，即何者</a:t>
            </a:r>
            <a:r>
              <a:rPr lang="zh-CN" altLang="en-US" sz="2000" b="1" dirty="0">
                <a:solidFill>
                  <a:srgbClr val="0000CC"/>
                </a:solidFill>
                <a:latin typeface="楷体" panose="02010609060101010101" pitchFamily="49" charset="-122"/>
                <a:ea typeface="楷体" panose="02010609060101010101" pitchFamily="49" charset="-122"/>
              </a:rPr>
              <a:t>为</a:t>
            </a:r>
            <a:r>
              <a:rPr lang="zh-CN" altLang="en-US" sz="2000" b="1" dirty="0" smtClean="0">
                <a:solidFill>
                  <a:srgbClr val="0000CC"/>
                </a:solidFill>
                <a:latin typeface="楷体" panose="02010609060101010101" pitchFamily="49" charset="-122"/>
                <a:ea typeface="楷体" panose="02010609060101010101" pitchFamily="49" charset="-122"/>
              </a:rPr>
              <a:t>第一性的</a:t>
            </a:r>
            <a:r>
              <a:rPr lang="zh-CN" altLang="en-US" sz="2000" b="1" dirty="0">
                <a:solidFill>
                  <a:srgbClr val="0000CC"/>
                </a:solidFill>
                <a:latin typeface="楷体" panose="02010609060101010101" pitchFamily="49" charset="-122"/>
                <a:ea typeface="楷体" panose="02010609060101010101" pitchFamily="49" charset="-122"/>
              </a:rPr>
              <a:t>问题。</a:t>
            </a:r>
            <a:endParaRPr lang="zh-CN" altLang="en-US" sz="2000" b="1" dirty="0">
              <a:solidFill>
                <a:srgbClr val="0000CC"/>
              </a:solidFill>
              <a:latin typeface="楷体" panose="02010609060101010101" pitchFamily="49" charset="-122"/>
              <a:ea typeface="楷体" panose="02010609060101010101" pitchFamily="49" charset="-122"/>
            </a:endParaRPr>
          </a:p>
          <a:p>
            <a:pPr>
              <a:lnSpc>
                <a:spcPct val="125000"/>
              </a:lnSpc>
              <a:spcBef>
                <a:spcPct val="20000"/>
              </a:spcBef>
              <a:defRPr/>
            </a:pPr>
            <a:r>
              <a:rPr lang="zh-CN" altLang="en-US" b="1" dirty="0" smtClean="0">
                <a:solidFill>
                  <a:srgbClr val="000000"/>
                </a:solidFill>
                <a:latin typeface="+mn-ea"/>
                <a:ea typeface="+mn-ea"/>
              </a:rPr>
              <a:t>对</a:t>
            </a:r>
            <a:r>
              <a:rPr lang="zh-CN" altLang="en-US" b="1" dirty="0">
                <a:solidFill>
                  <a:srgbClr val="000000"/>
                </a:solidFill>
                <a:latin typeface="+mn-ea"/>
                <a:ea typeface="+mn-ea"/>
              </a:rPr>
              <a:t>这一问题的不同回答</a:t>
            </a:r>
            <a:r>
              <a:rPr lang="zh-CN" altLang="en-US" b="1" dirty="0" smtClean="0">
                <a:solidFill>
                  <a:srgbClr val="000000"/>
                </a:solidFill>
                <a:latin typeface="+mn-ea"/>
                <a:ea typeface="+mn-ea"/>
              </a:rPr>
              <a:t>，</a:t>
            </a:r>
            <a:r>
              <a:rPr lang="zh-CN" altLang="en-US" b="1" dirty="0" smtClean="0">
                <a:solidFill>
                  <a:srgbClr val="000000"/>
                </a:solidFill>
                <a:latin typeface="+mn-ea"/>
              </a:rPr>
              <a:t>形成</a:t>
            </a:r>
            <a:r>
              <a:rPr lang="zh-CN" altLang="en-US" b="1" dirty="0" smtClean="0">
                <a:solidFill>
                  <a:srgbClr val="000000"/>
                </a:solidFill>
                <a:latin typeface="+mn-ea"/>
                <a:ea typeface="+mn-ea"/>
              </a:rPr>
              <a:t>了</a:t>
            </a:r>
            <a:r>
              <a:rPr lang="zh-CN" altLang="en-US" sz="2000" b="1" dirty="0" smtClean="0">
                <a:solidFill>
                  <a:srgbClr val="FF0000"/>
                </a:solidFill>
                <a:latin typeface="楷体" panose="02010609060101010101" pitchFamily="49" charset="-122"/>
                <a:ea typeface="楷体" panose="02010609060101010101" pitchFamily="49" charset="-122"/>
              </a:rPr>
              <a:t>唯物主义</a:t>
            </a:r>
            <a:r>
              <a:rPr lang="zh-CN" altLang="en-US" sz="2000" b="1" dirty="0">
                <a:solidFill>
                  <a:srgbClr val="FF0000"/>
                </a:solidFill>
                <a:latin typeface="楷体" panose="02010609060101010101" pitchFamily="49" charset="-122"/>
                <a:ea typeface="楷体" panose="02010609060101010101" pitchFamily="49" charset="-122"/>
              </a:rPr>
              <a:t>和</a:t>
            </a:r>
            <a:r>
              <a:rPr lang="zh-CN" altLang="en-US" sz="2000" b="1" dirty="0" smtClean="0">
                <a:solidFill>
                  <a:srgbClr val="FF0000"/>
                </a:solidFill>
                <a:latin typeface="楷体" panose="02010609060101010101" pitchFamily="49" charset="-122"/>
                <a:ea typeface="楷体" panose="02010609060101010101" pitchFamily="49" charset="-122"/>
              </a:rPr>
              <a:t>唯心主义两种根本对立的哲学派别。</a:t>
            </a: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41988" name="矩形 945161"/>
          <p:cNvSpPr>
            <a:spLocks noChangeArrowheads="1"/>
          </p:cNvSpPr>
          <p:nvPr/>
        </p:nvSpPr>
        <p:spPr bwMode="auto">
          <a:xfrm>
            <a:off x="285720" y="2786058"/>
            <a:ext cx="4949825" cy="538161"/>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defRPr/>
            </a:pPr>
            <a:r>
              <a:rPr lang="zh-CN" altLang="en-US" sz="2400" b="1" dirty="0">
                <a:solidFill>
                  <a:srgbClr val="FF0000"/>
                </a:solidFill>
                <a:latin typeface="+mn-ea"/>
                <a:ea typeface="+mn-ea"/>
              </a:rPr>
              <a:t>哲学基本</a:t>
            </a:r>
            <a:r>
              <a:rPr lang="zh-CN" altLang="en-US" sz="2400" b="1" dirty="0" smtClean="0">
                <a:solidFill>
                  <a:srgbClr val="FF0000"/>
                </a:solidFill>
                <a:latin typeface="+mn-ea"/>
                <a:ea typeface="+mn-ea"/>
              </a:rPr>
              <a:t>问题主要包括两方面内容</a:t>
            </a:r>
            <a:r>
              <a:rPr lang="zh-CN" altLang="en-US" sz="2400" b="1" dirty="0">
                <a:solidFill>
                  <a:srgbClr val="FF0000"/>
                </a:solidFill>
                <a:latin typeface="+mn-ea"/>
                <a:ea typeface="+mn-ea"/>
              </a:rPr>
              <a:t>：</a:t>
            </a:r>
            <a:endParaRPr lang="zh-CN" altLang="en-US" sz="2400" b="1" dirty="0">
              <a:solidFill>
                <a:srgbClr val="FF0000"/>
              </a:solidFill>
              <a:latin typeface="+mn-ea"/>
              <a:ea typeface="+mn-ea"/>
            </a:endParaRPr>
          </a:p>
        </p:txBody>
      </p:sp>
      <p:sp>
        <p:nvSpPr>
          <p:cNvPr id="41998" name="矩形 945169"/>
          <p:cNvSpPr>
            <a:spLocks noChangeArrowheads="1"/>
          </p:cNvSpPr>
          <p:nvPr/>
        </p:nvSpPr>
        <p:spPr bwMode="auto">
          <a:xfrm>
            <a:off x="285720" y="4714884"/>
            <a:ext cx="8643998" cy="1285884"/>
          </a:xfrm>
          <a:prstGeom prst="rect">
            <a:avLst/>
          </a:prstGeom>
          <a:solidFill>
            <a:srgbClr val="FFFF99"/>
          </a:solidFill>
          <a:ln w="28575">
            <a:solidFill>
              <a:srgbClr val="FF0000"/>
            </a:solidFill>
            <a:miter lim="800000"/>
          </a:ln>
          <a:effectLst/>
        </p:spPr>
        <p:txBody>
          <a:bodyPr/>
          <a:lstStyle/>
          <a:p>
            <a:pPr>
              <a:lnSpc>
                <a:spcPct val="125000"/>
              </a:lnSpc>
              <a:spcBef>
                <a:spcPct val="20000"/>
              </a:spcBef>
              <a:defRPr/>
            </a:pPr>
            <a:r>
              <a:rPr lang="zh-CN" altLang="en-US" sz="2000" b="1" dirty="0" smtClean="0">
                <a:solidFill>
                  <a:srgbClr val="0000CC"/>
                </a:solidFill>
                <a:latin typeface="楷体" panose="02010609060101010101" pitchFamily="49" charset="-122"/>
                <a:ea typeface="楷体" panose="02010609060101010101" pitchFamily="49" charset="-122"/>
              </a:rPr>
              <a:t>其二</a:t>
            </a:r>
            <a:r>
              <a:rPr lang="zh-CN" altLang="en-US" sz="2000" b="1" dirty="0">
                <a:solidFill>
                  <a:srgbClr val="0000CC"/>
                </a:solidFill>
                <a:latin typeface="楷体" panose="02010609060101010101" pitchFamily="49" charset="-122"/>
                <a:ea typeface="楷体" panose="02010609060101010101" pitchFamily="49" charset="-122"/>
              </a:rPr>
              <a:t>，</a:t>
            </a:r>
            <a:r>
              <a:rPr lang="zh-CN" altLang="zh-CN" sz="2000" b="1" dirty="0">
                <a:solidFill>
                  <a:srgbClr val="0000CC"/>
                </a:solidFill>
                <a:latin typeface="楷体" panose="02010609060101010101" pitchFamily="49" charset="-122"/>
                <a:ea typeface="楷体" panose="02010609060101010101" pitchFamily="49" charset="-122"/>
              </a:rPr>
              <a:t>存在和</a:t>
            </a:r>
            <a:r>
              <a:rPr lang="zh-CN" altLang="zh-CN" sz="2000" b="1" dirty="0" smtClean="0">
                <a:solidFill>
                  <a:srgbClr val="0000CC"/>
                </a:solidFill>
                <a:latin typeface="楷体" panose="02010609060101010101" pitchFamily="49" charset="-122"/>
                <a:ea typeface="楷体" panose="02010609060101010101" pitchFamily="49" charset="-122"/>
              </a:rPr>
              <a:t>思维</a:t>
            </a:r>
            <a:r>
              <a:rPr lang="zh-CN" altLang="en-US" sz="2000" b="1" dirty="0" smtClean="0">
                <a:solidFill>
                  <a:srgbClr val="0000CC"/>
                </a:solidFill>
                <a:latin typeface="楷体" panose="02010609060101010101" pitchFamily="49" charset="-122"/>
                <a:ea typeface="楷体" panose="02010609060101010101" pitchFamily="49" charset="-122"/>
              </a:rPr>
              <a:t>、物质和意识是否具有</a:t>
            </a:r>
            <a:r>
              <a:rPr lang="zh-CN" altLang="zh-CN" sz="2000" b="1" dirty="0" smtClean="0">
                <a:solidFill>
                  <a:srgbClr val="0000CC"/>
                </a:solidFill>
                <a:latin typeface="楷体" panose="02010609060101010101" pitchFamily="49" charset="-122"/>
                <a:ea typeface="楷体" panose="02010609060101010101" pitchFamily="49" charset="-122"/>
              </a:rPr>
              <a:t>同一性</a:t>
            </a:r>
            <a:r>
              <a:rPr lang="zh-CN" altLang="en-US" sz="2000" b="1" dirty="0" smtClean="0">
                <a:solidFill>
                  <a:srgbClr val="0000CC"/>
                </a:solidFill>
                <a:latin typeface="楷体" panose="02010609060101010101" pitchFamily="49" charset="-122"/>
                <a:ea typeface="楷体" panose="02010609060101010101" pitchFamily="49" charset="-122"/>
              </a:rPr>
              <a:t>的问题</a:t>
            </a:r>
            <a:r>
              <a:rPr lang="zh-CN" altLang="zh-CN" sz="2000" b="1" dirty="0" smtClean="0">
                <a:solidFill>
                  <a:srgbClr val="0000CC"/>
                </a:solidFill>
                <a:latin typeface="楷体" panose="02010609060101010101" pitchFamily="49" charset="-122"/>
                <a:ea typeface="楷体" panose="02010609060101010101" pitchFamily="49" charset="-122"/>
              </a:rPr>
              <a:t>，</a:t>
            </a:r>
            <a:r>
              <a:rPr lang="zh-CN" altLang="zh-CN" sz="2000" b="1" dirty="0">
                <a:solidFill>
                  <a:srgbClr val="0000CC"/>
                </a:solidFill>
                <a:latin typeface="楷体" panose="02010609060101010101" pitchFamily="49" charset="-122"/>
                <a:ea typeface="楷体" panose="02010609060101010101" pitchFamily="49" charset="-122"/>
              </a:rPr>
              <a:t>即思维能否</a:t>
            </a:r>
            <a:r>
              <a:rPr lang="zh-CN" altLang="zh-CN" sz="2000" b="1" dirty="0" smtClean="0">
                <a:solidFill>
                  <a:srgbClr val="0000CC"/>
                </a:solidFill>
                <a:latin typeface="楷体" panose="02010609060101010101" pitchFamily="49" charset="-122"/>
                <a:ea typeface="楷体" panose="02010609060101010101" pitchFamily="49" charset="-122"/>
              </a:rPr>
              <a:t>正确</a:t>
            </a:r>
            <a:r>
              <a:rPr lang="zh-CN" altLang="en-US" sz="2000" b="1" dirty="0" smtClean="0">
                <a:solidFill>
                  <a:srgbClr val="0000CC"/>
                </a:solidFill>
                <a:latin typeface="楷体" panose="02010609060101010101" pitchFamily="49" charset="-122"/>
                <a:ea typeface="楷体" panose="02010609060101010101" pitchFamily="49" charset="-122"/>
              </a:rPr>
              <a:t>地反映</a:t>
            </a:r>
            <a:r>
              <a:rPr lang="zh-CN" altLang="zh-CN" sz="2000" b="1" dirty="0" smtClean="0">
                <a:solidFill>
                  <a:srgbClr val="0000CC"/>
                </a:solidFill>
                <a:latin typeface="楷体" panose="02010609060101010101" pitchFamily="49" charset="-122"/>
                <a:ea typeface="楷体" panose="02010609060101010101" pitchFamily="49" charset="-122"/>
              </a:rPr>
              <a:t>存在</a:t>
            </a:r>
            <a:r>
              <a:rPr lang="zh-CN" altLang="en-US" sz="2000" b="1" dirty="0" smtClean="0">
                <a:solidFill>
                  <a:srgbClr val="0000CC"/>
                </a:solidFill>
                <a:latin typeface="楷体" panose="02010609060101010101" pitchFamily="49" charset="-122"/>
                <a:ea typeface="楷体" panose="02010609060101010101" pitchFamily="49" charset="-122"/>
              </a:rPr>
              <a:t>、人能否认识或彻底认识世界</a:t>
            </a:r>
            <a:r>
              <a:rPr lang="zh-CN" altLang="zh-CN" sz="2000" b="1" dirty="0" smtClean="0">
                <a:solidFill>
                  <a:srgbClr val="0000CC"/>
                </a:solidFill>
                <a:latin typeface="楷体" panose="02010609060101010101" pitchFamily="49" charset="-122"/>
                <a:ea typeface="楷体" panose="02010609060101010101" pitchFamily="49" charset="-122"/>
              </a:rPr>
              <a:t>的</a:t>
            </a:r>
            <a:r>
              <a:rPr lang="zh-CN" altLang="zh-CN" sz="2000" b="1" dirty="0">
                <a:solidFill>
                  <a:srgbClr val="0000CC"/>
                </a:solidFill>
                <a:latin typeface="楷体" panose="02010609060101010101" pitchFamily="49" charset="-122"/>
                <a:ea typeface="楷体" panose="02010609060101010101" pitchFamily="49" charset="-122"/>
              </a:rPr>
              <a:t>问题。</a:t>
            </a:r>
            <a:endParaRPr lang="zh-CN" altLang="zh-CN" sz="2000" b="1" dirty="0">
              <a:solidFill>
                <a:srgbClr val="0000CC"/>
              </a:solidFill>
              <a:latin typeface="楷体" panose="02010609060101010101" pitchFamily="49" charset="-122"/>
              <a:ea typeface="楷体" panose="02010609060101010101" pitchFamily="49" charset="-122"/>
            </a:endParaRPr>
          </a:p>
          <a:p>
            <a:pPr>
              <a:lnSpc>
                <a:spcPct val="125000"/>
              </a:lnSpc>
              <a:spcBef>
                <a:spcPct val="20000"/>
              </a:spcBef>
              <a:defRPr/>
            </a:pPr>
            <a:r>
              <a:rPr lang="zh-CN" altLang="zh-CN" b="1" dirty="0" smtClean="0">
                <a:solidFill>
                  <a:srgbClr val="000000"/>
                </a:solidFill>
                <a:latin typeface="+mn-ea"/>
                <a:ea typeface="+mn-ea"/>
              </a:rPr>
              <a:t>对</a:t>
            </a:r>
            <a:r>
              <a:rPr lang="zh-CN" altLang="zh-CN" b="1" dirty="0">
                <a:solidFill>
                  <a:srgbClr val="000000"/>
                </a:solidFill>
                <a:latin typeface="+mn-ea"/>
                <a:ea typeface="+mn-ea"/>
              </a:rPr>
              <a:t>这一问题的不同回答</a:t>
            </a:r>
            <a:r>
              <a:rPr lang="zh-CN" altLang="zh-CN" b="1" dirty="0" smtClean="0">
                <a:solidFill>
                  <a:srgbClr val="000000"/>
                </a:solidFill>
                <a:latin typeface="+mn-ea"/>
                <a:ea typeface="+mn-ea"/>
              </a:rPr>
              <a:t>，</a:t>
            </a:r>
            <a:r>
              <a:rPr lang="zh-CN" altLang="en-US" b="1" dirty="0" smtClean="0">
                <a:solidFill>
                  <a:srgbClr val="000000"/>
                </a:solidFill>
                <a:latin typeface="+mn-ea"/>
              </a:rPr>
              <a:t>产生</a:t>
            </a:r>
            <a:r>
              <a:rPr lang="zh-CN" altLang="zh-CN" b="1" dirty="0" smtClean="0">
                <a:solidFill>
                  <a:srgbClr val="000000"/>
                </a:solidFill>
                <a:latin typeface="+mn-ea"/>
                <a:ea typeface="+mn-ea"/>
              </a:rPr>
              <a:t>了</a:t>
            </a:r>
            <a:r>
              <a:rPr lang="zh-CN" altLang="zh-CN" sz="2000" b="1" dirty="0" smtClean="0">
                <a:solidFill>
                  <a:srgbClr val="FF0000"/>
                </a:solidFill>
                <a:latin typeface="楷体" panose="02010609060101010101" pitchFamily="49" charset="-122"/>
                <a:ea typeface="楷体" panose="02010609060101010101" pitchFamily="49" charset="-122"/>
              </a:rPr>
              <a:t>可知</a:t>
            </a:r>
            <a:r>
              <a:rPr lang="zh-CN" altLang="zh-CN" sz="2000" b="1" dirty="0">
                <a:solidFill>
                  <a:srgbClr val="FF0000"/>
                </a:solidFill>
                <a:latin typeface="楷体" panose="02010609060101010101" pitchFamily="49" charset="-122"/>
                <a:ea typeface="楷体" panose="02010609060101010101" pitchFamily="49" charset="-122"/>
              </a:rPr>
              <a:t>论和不可知论</a:t>
            </a:r>
            <a:r>
              <a:rPr lang="zh-CN" altLang="zh-CN" sz="2000" b="1" dirty="0" smtClean="0">
                <a:solidFill>
                  <a:srgbClr val="FF0000"/>
                </a:solidFill>
                <a:latin typeface="楷体" panose="02010609060101010101" pitchFamily="49" charset="-122"/>
                <a:ea typeface="楷体" panose="02010609060101010101" pitchFamily="49" charset="-122"/>
              </a:rPr>
              <a:t>的</a:t>
            </a:r>
            <a:r>
              <a:rPr lang="zh-CN" altLang="en-US" sz="2000" b="1" dirty="0" smtClean="0">
                <a:solidFill>
                  <a:srgbClr val="FF0000"/>
                </a:solidFill>
                <a:latin typeface="楷体" panose="02010609060101010101" pitchFamily="49" charset="-122"/>
                <a:ea typeface="楷体" panose="02010609060101010101" pitchFamily="49" charset="-122"/>
              </a:rPr>
              <a:t>理论分野</a:t>
            </a:r>
            <a:r>
              <a:rPr lang="zh-CN" altLang="zh-CN" sz="2000" b="1" dirty="0" smtClean="0">
                <a:solidFill>
                  <a:srgbClr val="FF0000"/>
                </a:solidFill>
                <a:latin typeface="楷体" panose="02010609060101010101" pitchFamily="49" charset="-122"/>
                <a:ea typeface="楷体" panose="02010609060101010101" pitchFamily="49" charset="-122"/>
              </a:rPr>
              <a:t>。</a:t>
            </a:r>
            <a:endParaRPr lang="zh-CN" altLang="zh-CN" sz="2000" b="1" dirty="0">
              <a:solidFill>
                <a:srgbClr val="FF0000"/>
              </a:solidFill>
              <a:latin typeface="楷体" panose="02010609060101010101" pitchFamily="49" charset="-122"/>
              <a:ea typeface="楷体" panose="02010609060101010101" pitchFamily="49" charset="-122"/>
            </a:endParaRPr>
          </a:p>
        </p:txBody>
      </p:sp>
      <p:sp>
        <p:nvSpPr>
          <p:cNvPr id="23559" name="矩形 940036" descr="白色大理石"/>
          <p:cNvSpPr>
            <a:spLocks noChangeArrowheads="1" noChangeShapeType="1" noTextEdit="1"/>
          </p:cNvSpPr>
          <p:nvPr/>
        </p:nvSpPr>
        <p:spPr bwMode="auto">
          <a:xfrm>
            <a:off x="285720" y="6215082"/>
            <a:ext cx="8662988" cy="360362"/>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b="1" kern="10" dirty="0">
                <a:ln w="9525">
                  <a:round/>
                </a:ln>
                <a:solidFill>
                  <a:srgbClr val="990000"/>
                </a:solidFill>
                <a:latin typeface="黑体" panose="02010609060101010101" pitchFamily="49" charset="-122"/>
                <a:ea typeface="黑体" panose="02010609060101010101" pitchFamily="49" charset="-122"/>
              </a:rPr>
              <a:t>对哲学基本问题的回答是解决其他一切哲学问题的前提和基础。</a:t>
            </a:r>
            <a:endParaRPr lang="zh-CN" altLang="en-US" sz="3600" b="1" kern="10" dirty="0">
              <a:ln w="9525">
                <a:round/>
              </a:ln>
              <a:solidFill>
                <a:srgbClr val="990000"/>
              </a:solidFill>
              <a:latin typeface="黑体" panose="02010609060101010101" pitchFamily="49" charset="-122"/>
              <a:ea typeface="黑体" panose="02010609060101010101" pitchFamily="49" charset="-122"/>
            </a:endParaRPr>
          </a:p>
        </p:txBody>
      </p:sp>
      <p:grpSp>
        <p:nvGrpSpPr>
          <p:cNvPr id="8" name="组合 733212"/>
          <p:cNvGrpSpPr/>
          <p:nvPr/>
        </p:nvGrpSpPr>
        <p:grpSpPr bwMode="auto">
          <a:xfrm>
            <a:off x="285720" y="285728"/>
            <a:ext cx="3811840" cy="623023"/>
            <a:chOff x="1338" y="1230"/>
            <a:chExt cx="3612" cy="263"/>
          </a:xfrm>
        </p:grpSpPr>
        <p:sp>
          <p:nvSpPr>
            <p:cNvPr id="9" name="圆角矩形 733213"/>
            <p:cNvSpPr>
              <a:spLocks noChangeArrowheads="1"/>
            </p:cNvSpPr>
            <p:nvPr/>
          </p:nvSpPr>
          <p:spPr bwMode="auto">
            <a:xfrm>
              <a:off x="1338" y="1230"/>
              <a:ext cx="3583" cy="26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10" name="文本框 733214"/>
            <p:cNvSpPr txBox="1">
              <a:spLocks noChangeArrowheads="1"/>
            </p:cNvSpPr>
            <p:nvPr/>
          </p:nvSpPr>
          <p:spPr bwMode="auto">
            <a:xfrm>
              <a:off x="1401" y="1230"/>
              <a:ext cx="354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en-US" altLang="zh-CN" sz="2400" b="1" dirty="0">
                  <a:solidFill>
                    <a:schemeClr val="bg1"/>
                  </a:solidFill>
                  <a:latin typeface="楷体" panose="02010609060101010101" pitchFamily="49" charset="-122"/>
                  <a:ea typeface="楷体" panose="02010609060101010101" pitchFamily="49" charset="-122"/>
                </a:rPr>
                <a:t>2</a:t>
              </a:r>
              <a:r>
                <a:rPr lang="en-US" altLang="zh-CN" sz="2400" b="1" dirty="0" smtClean="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哲学的基本问题</a:t>
              </a:r>
              <a:endParaRPr lang="zh-CN" altLang="en-US" sz="2400" b="1" dirty="0">
                <a:solidFill>
                  <a:schemeClr val="bg1"/>
                </a:solidFill>
                <a:latin typeface="楷体" panose="02010609060101010101" pitchFamily="49" charset="-122"/>
                <a:ea typeface="楷体" panose="02010609060101010101" pitchFamily="49" charset="-122"/>
              </a:endParaRPr>
            </a:p>
          </p:txBody>
        </p:sp>
      </p:grpSp>
      <p:sp>
        <p:nvSpPr>
          <p:cNvPr id="12" name="矩形 733204"/>
          <p:cNvSpPr>
            <a:spLocks noChangeArrowheads="1"/>
          </p:cNvSpPr>
          <p:nvPr/>
        </p:nvSpPr>
        <p:spPr bwMode="auto">
          <a:xfrm>
            <a:off x="285720" y="1071546"/>
            <a:ext cx="8572559" cy="150019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defRPr/>
            </a:pPr>
            <a:r>
              <a:rPr lang="zh-CN" altLang="en-US" sz="2200" b="1" dirty="0" smtClean="0">
                <a:solidFill>
                  <a:srgbClr val="FF0066"/>
                </a:solidFill>
                <a:latin typeface="+mn-ea"/>
              </a:rPr>
              <a:t>世界的两类现象： </a:t>
            </a:r>
            <a:r>
              <a:rPr lang="zh-CN" altLang="en-US" sz="2200" b="1" dirty="0" smtClean="0">
                <a:solidFill>
                  <a:srgbClr val="3333FF"/>
                </a:solidFill>
                <a:latin typeface="+mn-ea"/>
              </a:rPr>
              <a:t>物质现象、精神现象  </a:t>
            </a:r>
            <a:endParaRPr lang="en-US" altLang="zh-CN" sz="2200" b="1" dirty="0" smtClean="0">
              <a:solidFill>
                <a:srgbClr val="3333FF"/>
              </a:solidFill>
              <a:latin typeface="+mn-ea"/>
            </a:endParaRPr>
          </a:p>
          <a:p>
            <a:pPr>
              <a:lnSpc>
                <a:spcPct val="125000"/>
              </a:lnSpc>
              <a:spcBef>
                <a:spcPct val="20000"/>
              </a:spcBef>
              <a:defRPr/>
            </a:pPr>
            <a:r>
              <a:rPr lang="zh-CN" altLang="en-US" sz="2200" b="1" dirty="0" smtClean="0">
                <a:solidFill>
                  <a:srgbClr val="FF0066"/>
                </a:solidFill>
                <a:latin typeface="+mn-ea"/>
              </a:rPr>
              <a:t>人类的两类活动：</a:t>
            </a:r>
            <a:r>
              <a:rPr lang="zh-CN" altLang="en-US" sz="2200" b="1" dirty="0" smtClean="0">
                <a:solidFill>
                  <a:srgbClr val="3333FF"/>
                </a:solidFill>
                <a:latin typeface="+mn-ea"/>
              </a:rPr>
              <a:t> 认识世界、改造世界</a:t>
            </a:r>
            <a:endParaRPr lang="zh-CN" altLang="en-US" sz="2200" b="1" dirty="0" smtClean="0">
              <a:solidFill>
                <a:srgbClr val="3333FF"/>
              </a:solidFill>
              <a:latin typeface="+mn-ea"/>
            </a:endParaRPr>
          </a:p>
          <a:p>
            <a:pPr>
              <a:lnSpc>
                <a:spcPct val="125000"/>
              </a:lnSpc>
              <a:spcBef>
                <a:spcPct val="20000"/>
              </a:spcBef>
              <a:defRPr/>
            </a:pPr>
            <a:r>
              <a:rPr lang="zh-CN" altLang="en-US" sz="2200" b="1" dirty="0" smtClean="0">
                <a:solidFill>
                  <a:srgbClr val="3333FF"/>
                </a:solidFill>
                <a:latin typeface="+mn-ea"/>
                <a:ea typeface="+mn-ea"/>
              </a:rPr>
              <a:t>哲学的基本问题是</a:t>
            </a:r>
            <a:r>
              <a:rPr lang="zh-CN" altLang="en-US" sz="2200" b="1" dirty="0" smtClean="0">
                <a:solidFill>
                  <a:srgbClr val="FF0000"/>
                </a:solidFill>
                <a:latin typeface="+mn-ea"/>
                <a:ea typeface="+mn-ea"/>
              </a:rPr>
              <a:t>存在</a:t>
            </a:r>
            <a:r>
              <a:rPr lang="zh-CN" altLang="en-US" sz="2200" b="1" dirty="0">
                <a:solidFill>
                  <a:srgbClr val="FF0000"/>
                </a:solidFill>
                <a:latin typeface="+mn-ea"/>
                <a:ea typeface="+mn-ea"/>
              </a:rPr>
              <a:t>和</a:t>
            </a:r>
            <a:r>
              <a:rPr lang="zh-CN" altLang="en-US" sz="2200" b="1" dirty="0" smtClean="0">
                <a:solidFill>
                  <a:srgbClr val="FF0000"/>
                </a:solidFill>
                <a:latin typeface="+mn-ea"/>
                <a:ea typeface="+mn-ea"/>
              </a:rPr>
              <a:t>思维（又称物质</a:t>
            </a:r>
            <a:r>
              <a:rPr lang="zh-CN" altLang="en-US" sz="2200" b="1" dirty="0">
                <a:solidFill>
                  <a:srgbClr val="FF0000"/>
                </a:solidFill>
                <a:latin typeface="+mn-ea"/>
                <a:ea typeface="+mn-ea"/>
              </a:rPr>
              <a:t>和</a:t>
            </a:r>
            <a:r>
              <a:rPr lang="zh-CN" altLang="en-US" sz="2200" b="1" dirty="0" smtClean="0">
                <a:solidFill>
                  <a:srgbClr val="FF0000"/>
                </a:solidFill>
                <a:latin typeface="+mn-ea"/>
                <a:ea typeface="+mn-ea"/>
              </a:rPr>
              <a:t>精神）</a:t>
            </a:r>
            <a:r>
              <a:rPr lang="zh-CN" altLang="en-US" sz="2200" b="1" dirty="0" smtClean="0">
                <a:solidFill>
                  <a:srgbClr val="3333FF"/>
                </a:solidFill>
                <a:latin typeface="+mn-ea"/>
                <a:ea typeface="+mn-ea"/>
              </a:rPr>
              <a:t>的</a:t>
            </a:r>
            <a:r>
              <a:rPr lang="zh-CN" altLang="en-US" sz="2200" b="1" dirty="0">
                <a:solidFill>
                  <a:srgbClr val="3333FF"/>
                </a:solidFill>
                <a:latin typeface="+mn-ea"/>
                <a:ea typeface="+mn-ea"/>
              </a:rPr>
              <a:t>关系问题</a:t>
            </a:r>
            <a:r>
              <a:rPr lang="zh-CN" altLang="en-US" sz="2200" b="1" dirty="0" smtClean="0">
                <a:solidFill>
                  <a:srgbClr val="3333FF"/>
                </a:solidFill>
                <a:latin typeface="+mn-ea"/>
                <a:ea typeface="+mn-ea"/>
              </a:rPr>
              <a:t>。</a:t>
            </a:r>
            <a:endParaRPr lang="zh-CN" altLang="en-US" sz="2200" b="1" dirty="0">
              <a:solidFill>
                <a:srgbClr val="3333FF"/>
              </a:solidFill>
              <a:latin typeface="+mn-ea"/>
              <a:ea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5"/>
          <p:cNvSpPr>
            <a:spLocks noChangeArrowheads="1"/>
          </p:cNvSpPr>
          <p:nvPr/>
        </p:nvSpPr>
        <p:spPr bwMode="auto">
          <a:xfrm>
            <a:off x="356870" y="571500"/>
            <a:ext cx="8102600" cy="55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90000"/>
              </a:lnSpc>
            </a:pPr>
            <a:r>
              <a:rPr lang="zh-CN" altLang="en-US" sz="2800" b="1" dirty="0">
                <a:solidFill>
                  <a:srgbClr val="0000FF"/>
                </a:solidFill>
                <a:latin typeface="+mn-ea"/>
              </a:rPr>
              <a:t>（一</a:t>
            </a:r>
            <a:r>
              <a:rPr lang="zh-CN" altLang="en-US" sz="2800" b="1" dirty="0" smtClean="0">
                <a:solidFill>
                  <a:srgbClr val="0000FF"/>
                </a:solidFill>
                <a:latin typeface="+mn-ea"/>
              </a:rPr>
              <a:t>）哲学的物质范畴</a:t>
            </a:r>
            <a:endParaRPr lang="zh-CN" altLang="en-US" sz="2800" b="1" dirty="0">
              <a:solidFill>
                <a:srgbClr val="0000FF"/>
              </a:solidFill>
              <a:latin typeface="+mn-ea"/>
            </a:endParaRPr>
          </a:p>
        </p:txBody>
      </p:sp>
      <p:sp>
        <p:nvSpPr>
          <p:cNvPr id="9" name="矩形 750608"/>
          <p:cNvSpPr>
            <a:spLocks noChangeArrowheads="1"/>
          </p:cNvSpPr>
          <p:nvPr/>
        </p:nvSpPr>
        <p:spPr bwMode="auto">
          <a:xfrm>
            <a:off x="357158" y="1357298"/>
            <a:ext cx="8534400" cy="1214437"/>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defRPr/>
            </a:pPr>
            <a:r>
              <a:rPr lang="en-US" altLang="zh-CN" b="1" dirty="0">
                <a:solidFill>
                  <a:srgbClr val="3333FF"/>
                </a:solidFill>
                <a:latin typeface="幼圆" pitchFamily="49" charset="-122"/>
                <a:ea typeface="幼圆" pitchFamily="49" charset="-122"/>
              </a:rPr>
              <a:t>   </a:t>
            </a:r>
            <a:r>
              <a:rPr lang="zh-CN" altLang="en-US" sz="2400" b="1" dirty="0">
                <a:solidFill>
                  <a:srgbClr val="3333FF"/>
                </a:solidFill>
                <a:latin typeface="+mn-ea"/>
                <a:ea typeface="+mn-ea"/>
              </a:rPr>
              <a:t>对物质的正确理解是我们认识和把握世界本质和规律的前提。物质范畴是唯物主义世界观</a:t>
            </a:r>
            <a:r>
              <a:rPr lang="zh-CN" altLang="en-US" sz="2400" b="1" dirty="0" smtClean="0">
                <a:solidFill>
                  <a:srgbClr val="3333FF"/>
                </a:solidFill>
                <a:latin typeface="+mn-ea"/>
                <a:ea typeface="+mn-ea"/>
              </a:rPr>
              <a:t>的理论基石</a:t>
            </a:r>
            <a:r>
              <a:rPr lang="zh-CN" altLang="en-US" sz="2400" b="1" dirty="0">
                <a:solidFill>
                  <a:srgbClr val="3333FF"/>
                </a:solidFill>
                <a:latin typeface="+mn-ea"/>
                <a:ea typeface="+mn-ea"/>
              </a:rPr>
              <a:t>。</a:t>
            </a:r>
            <a:endParaRPr lang="zh-CN" altLang="en-US" sz="2400" b="1" dirty="0">
              <a:solidFill>
                <a:srgbClr val="3333FF"/>
              </a:solidFill>
              <a:latin typeface="+mn-ea"/>
              <a:ea typeface="+mn-ea"/>
            </a:endParaRPr>
          </a:p>
        </p:txBody>
      </p:sp>
      <p:sp>
        <p:nvSpPr>
          <p:cNvPr id="10" name="圆角矩形 6"/>
          <p:cNvSpPr>
            <a:spLocks noChangeArrowheads="1"/>
          </p:cNvSpPr>
          <p:nvPr/>
        </p:nvSpPr>
        <p:spPr bwMode="auto">
          <a:xfrm>
            <a:off x="356870" y="2781300"/>
            <a:ext cx="8558530" cy="1090930"/>
          </a:xfrm>
          <a:prstGeom prst="roundRect">
            <a:avLst>
              <a:gd name="adj" fmla="val 16667"/>
            </a:avLst>
          </a:prstGeom>
          <a:solidFill>
            <a:srgbClr val="FFFFCC"/>
          </a:solidFill>
          <a:ln w="28575">
            <a:solidFill>
              <a:srgbClr val="FF00FF"/>
            </a:solidFill>
            <a:round/>
          </a:ln>
        </p:spPr>
        <p:txBody>
          <a:bodyPr/>
          <a:lstStyle/>
          <a:p>
            <a:pPr>
              <a:lnSpc>
                <a:spcPct val="125000"/>
              </a:lnSpc>
              <a:defRPr/>
            </a:pPr>
            <a:r>
              <a:rPr lang="en-US" altLang="zh-CN" b="1" dirty="0">
                <a:solidFill>
                  <a:srgbClr val="0000FF"/>
                </a:solidFill>
                <a:latin typeface="楷体" panose="02010609060101010101" pitchFamily="49" charset="-122"/>
                <a:ea typeface="楷体" panose="02010609060101010101" pitchFamily="49" charset="-122"/>
              </a:rPr>
              <a:t>   </a:t>
            </a:r>
            <a:r>
              <a:rPr lang="zh-CN" altLang="en-US" sz="2400" b="1" dirty="0">
                <a:solidFill>
                  <a:srgbClr val="FF0000"/>
                </a:solidFill>
                <a:latin typeface="+mn-ea"/>
                <a:ea typeface="+mn-ea"/>
              </a:rPr>
              <a:t>从古到今，唯物主义对物质概念的理解，经历了从朴素到科学、从片面到比较全面的过程。</a:t>
            </a:r>
            <a:endParaRPr lang="zh-CN" altLang="en-US" sz="2400" b="1" dirty="0">
              <a:solidFill>
                <a:srgbClr val="FF0000"/>
              </a:solidFill>
              <a:latin typeface="+mn-ea"/>
              <a:ea typeface="+mn-ea"/>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nvGraphicFramePr>
        <p:xfrm>
          <a:off x="468273" y="1269219"/>
          <a:ext cx="8495764" cy="412001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Rectangle 4"/>
          <p:cNvSpPr>
            <a:spLocks noGrp="1" noChangeArrowheads="1"/>
          </p:cNvSpPr>
          <p:nvPr>
            <p:custDataLst>
              <p:tags r:id="rId6"/>
            </p:custDataLst>
          </p:nvPr>
        </p:nvSpPr>
        <p:spPr>
          <a:xfrm>
            <a:off x="500034" y="428604"/>
            <a:ext cx="8143932" cy="503238"/>
          </a:xfrm>
          <a:prstGeom prst="rect">
            <a:avLst/>
          </a:prstGeom>
          <a:solidFill>
            <a:srgbClr val="C00000"/>
          </a:solidFill>
          <a:ln w="12700" cmpd="sng">
            <a:solidFill>
              <a:schemeClr val="accent1">
                <a:shade val="50000"/>
              </a:schemeClr>
            </a:solidFill>
            <a:prstDash val="solid"/>
          </a:ln>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pPr algn="l" eaLnBrk="1" hangingPunct="1"/>
            <a:r>
              <a:rPr lang="zh-CN" altLang="en-US" sz="2800" b="1" dirty="0" smtClean="0">
                <a:solidFill>
                  <a:schemeClr val="bg1"/>
                </a:solidFill>
                <a:latin typeface="楷体_GB2312" pitchFamily="1" charset="-122"/>
                <a:ea typeface="楷体_GB2312" pitchFamily="1" charset="-122"/>
              </a:rPr>
              <a:t>正确理解两种</a:t>
            </a:r>
            <a:r>
              <a:rPr lang="zh-CN" altLang="en-US" sz="2800" b="1" dirty="0" smtClean="0">
                <a:solidFill>
                  <a:schemeClr val="bg1"/>
                </a:solidFill>
                <a:latin typeface="楷体_GB2312" pitchFamily="1" charset="-122"/>
                <a:ea typeface="楷体_GB2312" pitchFamily="1" charset="-122"/>
              </a:rPr>
              <a:t>旧唯物主义的物质观</a:t>
            </a:r>
            <a:endParaRPr lang="zh-CN" altLang="en-US" sz="2800" b="1" dirty="0" smtClean="0">
              <a:solidFill>
                <a:schemeClr val="bg1"/>
              </a:solidFill>
              <a:latin typeface="楷体_GB2312" pitchFamily="1" charset="-122"/>
              <a:ea typeface="楷体_GB2312" pitchFamily="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type="title" idx="4294967295"/>
          </p:nvPr>
        </p:nvSpPr>
        <p:spPr>
          <a:xfrm>
            <a:off x="500034" y="428604"/>
            <a:ext cx="8143932" cy="503238"/>
          </a:xfrm>
          <a:solidFill>
            <a:srgbClr val="C00000"/>
          </a:solidFill>
          <a:ln w="12700" cmpd="sng">
            <a:solidFill>
              <a:schemeClr val="accent1">
                <a:shade val="50000"/>
              </a:schemeClr>
            </a:solidFill>
            <a:prstDash val="solid"/>
          </a:ln>
          <a:effectLst/>
        </p:spPr>
        <p:txBody>
          <a:bodyPr>
            <a:normAutofit/>
          </a:bodyPr>
          <a:lstStyle/>
          <a:p>
            <a:pPr algn="l" eaLnBrk="1" hangingPunct="1"/>
            <a:r>
              <a:rPr lang="zh-CN" altLang="en-US" sz="2800" b="1" dirty="0" smtClean="0">
                <a:solidFill>
                  <a:schemeClr val="bg1"/>
                </a:solidFill>
                <a:latin typeface="楷体_GB2312" pitchFamily="1" charset="-122"/>
                <a:ea typeface="楷体_GB2312" pitchFamily="1" charset="-122"/>
              </a:rPr>
              <a:t>马克思主义（辩证唯物主义）的物质观</a:t>
            </a:r>
            <a:endParaRPr lang="zh-CN" altLang="en-US" sz="2800" b="1" dirty="0" smtClean="0">
              <a:solidFill>
                <a:schemeClr val="bg1"/>
              </a:solidFill>
              <a:latin typeface="楷体_GB2312" pitchFamily="1" charset="-122"/>
              <a:ea typeface="楷体_GB2312" pitchFamily="1" charset="-122"/>
            </a:endParaRPr>
          </a:p>
        </p:txBody>
      </p:sp>
      <p:sp>
        <p:nvSpPr>
          <p:cNvPr id="15365" name="Rectangle 5"/>
          <p:cNvSpPr>
            <a:spLocks noChangeArrowheads="1"/>
          </p:cNvSpPr>
          <p:nvPr/>
        </p:nvSpPr>
        <p:spPr bwMode="auto">
          <a:xfrm>
            <a:off x="428596" y="1071546"/>
            <a:ext cx="8286808"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6600FF"/>
                </a:solidFill>
                <a:latin typeface="楷体" panose="02010609060101010101" pitchFamily="49" charset="-122"/>
                <a:ea typeface="楷体" panose="02010609060101010101" pitchFamily="49" charset="-122"/>
              </a:rPr>
              <a:t>物质的定义： </a:t>
            </a:r>
            <a:endParaRPr lang="zh-CN" altLang="en-US" sz="2800" b="1" dirty="0">
              <a:solidFill>
                <a:srgbClr val="6600FF"/>
              </a:solidFill>
              <a:latin typeface="楷体" panose="02010609060101010101" pitchFamily="49" charset="-122"/>
              <a:ea typeface="楷体" panose="02010609060101010101" pitchFamily="49" charset="-122"/>
            </a:endParaRPr>
          </a:p>
          <a:p>
            <a:r>
              <a:rPr lang="zh-CN" altLang="en-US" sz="2800" b="1" dirty="0">
                <a:solidFill>
                  <a:schemeClr val="bg1"/>
                </a:solidFill>
                <a:latin typeface="楷体" panose="02010609060101010101" pitchFamily="49" charset="-122"/>
                <a:ea typeface="楷体" panose="02010609060101010101" pitchFamily="49" charset="-122"/>
              </a:rPr>
              <a:t>    </a:t>
            </a:r>
            <a:r>
              <a:rPr lang="zh-CN" altLang="en-US" sz="2800" b="1" dirty="0">
                <a:solidFill>
                  <a:srgbClr val="000000"/>
                </a:solidFill>
                <a:latin typeface="楷体" panose="02010609060101010101" pitchFamily="49" charset="-122"/>
                <a:ea typeface="楷体" panose="02010609060101010101" pitchFamily="49" charset="-122"/>
              </a:rPr>
              <a:t>“物质是标志客观实在的哲学范畴，这种客观实在是人通过感觉感知的，它不依赖于我们的感觉而存在，为我们的感觉所复写、摄影、反映。”</a:t>
            </a:r>
            <a:r>
              <a:rPr lang="zh-CN" altLang="en-US" dirty="0">
                <a:latin typeface="楷体" panose="02010609060101010101" pitchFamily="49" charset="-122"/>
                <a:ea typeface="楷体" panose="02010609060101010101" pitchFamily="49" charset="-122"/>
              </a:rPr>
              <a:t> </a:t>
            </a:r>
            <a:endParaRPr lang="zh-CN" altLang="en-US" sz="2800" b="1" dirty="0">
              <a:solidFill>
                <a:srgbClr val="000000"/>
              </a:solidFill>
              <a:latin typeface="楷体" panose="02010609060101010101" pitchFamily="49" charset="-122"/>
              <a:ea typeface="楷体" panose="02010609060101010101" pitchFamily="49" charset="-122"/>
            </a:endParaRPr>
          </a:p>
          <a:p>
            <a:r>
              <a:rPr lang="zh-CN" altLang="en-US" sz="2800" b="1" dirty="0">
                <a:solidFill>
                  <a:srgbClr val="000000"/>
                </a:solidFill>
                <a:latin typeface="楷体" panose="02010609060101010101" pitchFamily="49" charset="-122"/>
                <a:ea typeface="楷体" panose="02010609060101010101" pitchFamily="49" charset="-122"/>
              </a:rPr>
              <a:t>                                   </a:t>
            </a:r>
            <a:r>
              <a:rPr lang="en-US" altLang="zh-CN" sz="2800" b="1" dirty="0">
                <a:solidFill>
                  <a:srgbClr val="000000"/>
                </a:solidFill>
                <a:latin typeface="楷体" panose="02010609060101010101" pitchFamily="49" charset="-122"/>
                <a:ea typeface="楷体" panose="02010609060101010101" pitchFamily="49" charset="-122"/>
              </a:rPr>
              <a:t>—— </a:t>
            </a:r>
            <a:r>
              <a:rPr lang="zh-CN" altLang="en-US" sz="2800" b="1" dirty="0">
                <a:solidFill>
                  <a:srgbClr val="000000"/>
                </a:solidFill>
                <a:latin typeface="楷体" panose="02010609060101010101" pitchFamily="49" charset="-122"/>
                <a:ea typeface="楷体" panose="02010609060101010101" pitchFamily="49" charset="-122"/>
              </a:rPr>
              <a:t>列宁</a:t>
            </a:r>
            <a:endParaRPr lang="zh-CN" altLang="en-US" sz="2800" b="1" dirty="0">
              <a:solidFill>
                <a:srgbClr val="000000"/>
              </a:solidFill>
              <a:latin typeface="楷体" panose="02010609060101010101" pitchFamily="49" charset="-122"/>
              <a:ea typeface="楷体" panose="02010609060101010101" pitchFamily="49" charset="-122"/>
            </a:endParaRPr>
          </a:p>
        </p:txBody>
      </p:sp>
      <p:sp>
        <p:nvSpPr>
          <p:cNvPr id="15366" name="Rectangle 6"/>
          <p:cNvSpPr>
            <a:spLocks noChangeArrowheads="1"/>
          </p:cNvSpPr>
          <p:nvPr/>
        </p:nvSpPr>
        <p:spPr bwMode="auto">
          <a:xfrm>
            <a:off x="428596" y="3357562"/>
            <a:ext cx="8334404"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600" b="1" dirty="0" smtClean="0">
                <a:latin typeface="楷体" panose="02010609060101010101" pitchFamily="49" charset="-122"/>
                <a:ea typeface="楷体" panose="02010609060101010101" pitchFamily="49" charset="-122"/>
              </a:rPr>
              <a:t>定义解读：</a:t>
            </a:r>
            <a:endParaRPr lang="en-US" altLang="zh-CN" sz="2600" b="1" dirty="0" smtClean="0">
              <a:latin typeface="楷体" panose="02010609060101010101" pitchFamily="49" charset="-122"/>
              <a:ea typeface="楷体" panose="02010609060101010101" pitchFamily="49" charset="-122"/>
            </a:endParaRPr>
          </a:p>
          <a:p>
            <a:r>
              <a:rPr lang="en-US" altLang="zh-CN" sz="2600" b="1" dirty="0" smtClean="0">
                <a:latin typeface="楷体" panose="02010609060101010101" pitchFamily="49" charset="-122"/>
                <a:ea typeface="楷体" panose="02010609060101010101" pitchFamily="49" charset="-122"/>
              </a:rPr>
              <a:t>a</a:t>
            </a:r>
            <a:r>
              <a:rPr lang="en-US" altLang="zh-CN" sz="2600" b="1" dirty="0">
                <a:latin typeface="楷体" panose="02010609060101010101" pitchFamily="49" charset="-122"/>
                <a:ea typeface="楷体" panose="02010609060101010101" pitchFamily="49" charset="-122"/>
              </a:rPr>
              <a:t>.</a:t>
            </a:r>
            <a:r>
              <a:rPr lang="zh-CN" altLang="en-US" sz="2600" b="1" dirty="0">
                <a:latin typeface="楷体" panose="02010609060101010101" pitchFamily="49" charset="-122"/>
                <a:ea typeface="楷体" panose="02010609060101010101" pitchFamily="49" charset="-122"/>
              </a:rPr>
              <a:t>物质</a:t>
            </a:r>
            <a:r>
              <a:rPr lang="zh-CN" altLang="en-US" sz="2600" b="1" dirty="0" smtClean="0">
                <a:latin typeface="楷体" panose="02010609060101010101" pitchFamily="49" charset="-122"/>
                <a:ea typeface="楷体" panose="02010609060101010101" pitchFamily="49" charset="-122"/>
              </a:rPr>
              <a:t>是一个哲学</a:t>
            </a:r>
            <a:r>
              <a:rPr lang="zh-CN" altLang="en-US" sz="2600" b="1" dirty="0">
                <a:latin typeface="楷体" panose="02010609060101010101" pitchFamily="49" charset="-122"/>
                <a:ea typeface="楷体" panose="02010609060101010101" pitchFamily="49" charset="-122"/>
              </a:rPr>
              <a:t>范畴。</a:t>
            </a:r>
            <a:endParaRPr lang="zh-CN" altLang="en-US" sz="2600" b="1" dirty="0">
              <a:latin typeface="楷体" panose="02010609060101010101" pitchFamily="49" charset="-122"/>
              <a:ea typeface="楷体" panose="02010609060101010101" pitchFamily="49" charset="-122"/>
            </a:endParaRPr>
          </a:p>
          <a:p>
            <a:r>
              <a:rPr lang="en-US" altLang="zh-CN" sz="2600" b="1" dirty="0">
                <a:latin typeface="楷体" panose="02010609060101010101" pitchFamily="49" charset="-122"/>
                <a:ea typeface="楷体" panose="02010609060101010101" pitchFamily="49" charset="-122"/>
              </a:rPr>
              <a:t>b.</a:t>
            </a:r>
            <a:r>
              <a:rPr lang="zh-CN" altLang="en-US" sz="2600" b="1" dirty="0">
                <a:latin typeface="楷体" panose="02010609060101010101" pitchFamily="49" charset="-122"/>
                <a:ea typeface="楷体" panose="02010609060101010101" pitchFamily="49" charset="-122"/>
              </a:rPr>
              <a:t>物质的唯一特性是客观实在</a:t>
            </a:r>
            <a:r>
              <a:rPr lang="zh-CN" altLang="en-US" sz="2600" b="1" dirty="0" smtClean="0">
                <a:latin typeface="楷体" panose="02010609060101010101" pitchFamily="49" charset="-122"/>
                <a:ea typeface="楷体" panose="02010609060101010101" pitchFamily="49" charset="-122"/>
              </a:rPr>
              <a:t>性，相对比意识而言。</a:t>
            </a:r>
            <a:endParaRPr lang="zh-CN" altLang="en-US" sz="2600" b="1" dirty="0">
              <a:latin typeface="楷体" panose="02010609060101010101" pitchFamily="49" charset="-122"/>
              <a:ea typeface="楷体" panose="02010609060101010101" pitchFamily="49" charset="-122"/>
            </a:endParaRPr>
          </a:p>
          <a:p>
            <a:r>
              <a:rPr lang="en-US" altLang="zh-CN" sz="2600" b="1" dirty="0">
                <a:latin typeface="楷体" panose="02010609060101010101" pitchFamily="49" charset="-122"/>
                <a:ea typeface="楷体" panose="02010609060101010101" pitchFamily="49" charset="-122"/>
              </a:rPr>
              <a:t>c.</a:t>
            </a:r>
            <a:r>
              <a:rPr lang="zh-CN" altLang="en-US" sz="2600" b="1" dirty="0">
                <a:latin typeface="楷体" panose="02010609060101010101" pitchFamily="49" charset="-122"/>
                <a:ea typeface="楷体" panose="02010609060101010101" pitchFamily="49" charset="-122"/>
              </a:rPr>
              <a:t>物质存在于人的意识之外，可以为人的意识所反映，具有可知性。</a:t>
            </a:r>
            <a:endParaRPr lang="zh-CN" altLang="en-US" sz="2600" b="1" dirty="0">
              <a:latin typeface="楷体" panose="02010609060101010101" pitchFamily="49" charset="-122"/>
              <a:ea typeface="楷体" panose="02010609060101010101" pitchFamily="49" charset="-122"/>
            </a:endParaRPr>
          </a:p>
        </p:txBody>
      </p:sp>
      <p:sp>
        <p:nvSpPr>
          <p:cNvPr id="7" name="矩形 6"/>
          <p:cNvSpPr/>
          <p:nvPr/>
        </p:nvSpPr>
        <p:spPr>
          <a:xfrm>
            <a:off x="571472" y="5643578"/>
            <a:ext cx="7007046" cy="523220"/>
          </a:xfrm>
          <a:prstGeom prst="rect">
            <a:avLst/>
          </a:prstGeom>
        </p:spPr>
        <p:txBody>
          <a:bodyPr wrap="none">
            <a:spAutoFit/>
          </a:bodyPr>
          <a:lstStyle/>
          <a:p>
            <a:r>
              <a:rPr lang="zh-CN" altLang="en-US" sz="2800" b="1" dirty="0" smtClean="0">
                <a:solidFill>
                  <a:srgbClr val="6600FF"/>
                </a:solidFill>
                <a:latin typeface="楷体_GB2312" pitchFamily="1" charset="-122"/>
                <a:ea typeface="楷体_GB2312" pitchFamily="1" charset="-122"/>
              </a:rPr>
              <a:t>马克思主义物质观的理论意义（四个方面）</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5"/>
                                        </p:tgtEl>
                                        <p:attrNameLst>
                                          <p:attrName>style.visibility</p:attrName>
                                        </p:attrNameLst>
                                      </p:cBhvr>
                                      <p:to>
                                        <p:strVal val="visible"/>
                                      </p:to>
                                    </p:set>
                                    <p:animEffect transition="in" filter="blinds(horizontal)">
                                      <p:cBhvr>
                                        <p:cTn id="7" dur="500"/>
                                        <p:tgtEl>
                                          <p:spTgt spid="1536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6"/>
                                        </p:tgtEl>
                                        <p:attrNameLst>
                                          <p:attrName>style.visibility</p:attrName>
                                        </p:attrNameLst>
                                      </p:cBhvr>
                                      <p:to>
                                        <p:strVal val="visible"/>
                                      </p:to>
                                    </p:set>
                                    <p:animEffect transition="in" filter="blinds(horizontal)">
                                      <p:cBhvr>
                                        <p:cTn id="12"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autoUpdateAnimBg="0"/>
      <p:bldP spid="1536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4"/>
          <p:cNvSpPr>
            <a:spLocks noGrp="1" noChangeArrowheads="1"/>
          </p:cNvSpPr>
          <p:nvPr>
            <p:ph type="title" idx="4294967295"/>
          </p:nvPr>
        </p:nvSpPr>
        <p:spPr>
          <a:xfrm>
            <a:off x="357158" y="857232"/>
            <a:ext cx="8429624" cy="1066800"/>
          </a:xfrm>
          <a:effectLst/>
        </p:spPr>
        <p:txBody>
          <a:bodyPr>
            <a:scene3d>
              <a:camera prst="orthographicFront"/>
              <a:lightRig rig="threePt" dir="t"/>
            </a:scene3d>
          </a:bodyPr>
          <a:lstStyle/>
          <a:p>
            <a:pPr algn="l" eaLnBrk="1" hangingPunct="1"/>
            <a:r>
              <a:rPr lang="zh-CN" altLang="en-US" sz="2800" b="1" cap="none" dirty="0">
                <a:solidFill>
                  <a:schemeClr val="tx1"/>
                </a:solidFill>
                <a:effectLst/>
                <a:latin typeface="+mn-ea"/>
                <a:ea typeface="+mn-ea"/>
                <a:cs typeface="+mn-cs"/>
              </a:rPr>
              <a:t>1.运动的定义：物质的存在方式和根本属性，是标志一切事物和现象的变化及其过程的哲学范畴。</a:t>
            </a:r>
            <a:endParaRPr lang="zh-CN" altLang="en-US" sz="2800" b="1" cap="none" dirty="0" smtClean="0">
              <a:solidFill>
                <a:schemeClr val="tx1"/>
              </a:solidFill>
              <a:effectLst/>
              <a:latin typeface="+mn-ea"/>
              <a:ea typeface="+mn-ea"/>
              <a:cs typeface="+mn-cs"/>
            </a:endParaRPr>
          </a:p>
        </p:txBody>
      </p:sp>
      <p:sp>
        <p:nvSpPr>
          <p:cNvPr id="44036" name="Rectangle 6"/>
          <p:cNvSpPr>
            <a:spLocks noChangeArrowheads="1"/>
          </p:cNvSpPr>
          <p:nvPr/>
        </p:nvSpPr>
        <p:spPr bwMode="auto">
          <a:xfrm>
            <a:off x="304800" y="213678"/>
            <a:ext cx="8243888"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90000"/>
              </a:lnSpc>
            </a:pPr>
            <a:r>
              <a:rPr lang="zh-CN" altLang="en-US" sz="3200" b="1" dirty="0">
                <a:solidFill>
                  <a:srgbClr val="0000FF"/>
                </a:solidFill>
                <a:latin typeface="+mn-ea"/>
              </a:rPr>
              <a:t>（二）物质的</a:t>
            </a:r>
            <a:r>
              <a:rPr lang="zh-CN" altLang="en-US" sz="3200" b="1" dirty="0" smtClean="0">
                <a:solidFill>
                  <a:srgbClr val="0000FF"/>
                </a:solidFill>
                <a:latin typeface="+mn-ea"/>
              </a:rPr>
              <a:t>存在方式</a:t>
            </a:r>
            <a:endParaRPr lang="zh-CN" altLang="en-US" sz="3200" b="1" dirty="0">
              <a:solidFill>
                <a:srgbClr val="0000FF"/>
              </a:solidFill>
              <a:latin typeface="+mn-ea"/>
            </a:endParaRPr>
          </a:p>
        </p:txBody>
      </p:sp>
      <p:sp>
        <p:nvSpPr>
          <p:cNvPr id="10" name="矩形 995342"/>
          <p:cNvSpPr>
            <a:spLocks noChangeArrowheads="1"/>
          </p:cNvSpPr>
          <p:nvPr/>
        </p:nvSpPr>
        <p:spPr bwMode="auto">
          <a:xfrm>
            <a:off x="357158" y="2000240"/>
            <a:ext cx="8358246" cy="1285884"/>
          </a:xfrm>
          <a:prstGeom prst="rect">
            <a:avLst/>
          </a:prstGeom>
          <a:no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buClr>
                <a:srgbClr val="FF3300"/>
              </a:buClr>
            </a:pPr>
            <a:r>
              <a:rPr lang="en-US" altLang="zh-CN" sz="2800" b="1" dirty="0">
                <a:latin typeface="+mn-ea"/>
                <a:ea typeface="+mn-ea"/>
              </a:rPr>
              <a:t>2.</a:t>
            </a:r>
            <a:r>
              <a:rPr lang="zh-CN" altLang="en-US" sz="2800" b="1" dirty="0">
                <a:latin typeface="+mn-ea"/>
                <a:ea typeface="+mn-ea"/>
              </a:rPr>
              <a:t>物质和运动的</a:t>
            </a:r>
            <a:r>
              <a:rPr lang="zh-CN" altLang="en-US" sz="2800" b="1" dirty="0" smtClean="0">
                <a:latin typeface="+mn-ea"/>
                <a:ea typeface="+mn-ea"/>
              </a:rPr>
              <a:t>关系：</a:t>
            </a:r>
            <a:r>
              <a:rPr lang="zh-CN" altLang="en-US" sz="2800" b="1" dirty="0" smtClean="0">
                <a:solidFill>
                  <a:srgbClr val="0000FF"/>
                </a:solidFill>
                <a:latin typeface="楷体" panose="02010609060101010101" pitchFamily="49" charset="-122"/>
                <a:ea typeface="楷体" panose="02010609060101010101" pitchFamily="49" charset="-122"/>
              </a:rPr>
              <a:t>运动是物质的运动，物质是运动着的物质，二者不可分割。</a:t>
            </a:r>
            <a:endParaRPr lang="zh-CN" altLang="en-US" sz="2800" b="1" dirty="0" smtClean="0">
              <a:solidFill>
                <a:srgbClr val="0000FF"/>
              </a:solidFill>
              <a:latin typeface="楷体" panose="02010609060101010101" pitchFamily="49" charset="-122"/>
              <a:ea typeface="楷体" panose="02010609060101010101" pitchFamily="49" charset="-122"/>
            </a:endParaRPr>
          </a:p>
          <a:p>
            <a:pPr>
              <a:lnSpc>
                <a:spcPct val="125000"/>
              </a:lnSpc>
              <a:buFont typeface="Arial" panose="020B0604020202020204" pitchFamily="34" charset="0"/>
              <a:buNone/>
              <a:defRPr/>
            </a:pPr>
            <a:endParaRPr lang="zh-CN" altLang="en-US" sz="2800" b="1" dirty="0">
              <a:latin typeface="+mn-ea"/>
              <a:ea typeface="+mn-ea"/>
            </a:endParaRPr>
          </a:p>
        </p:txBody>
      </p:sp>
      <p:sp>
        <p:nvSpPr>
          <p:cNvPr id="6" name="Rectangle 5"/>
          <p:cNvSpPr>
            <a:spLocks noChangeArrowheads="1"/>
          </p:cNvSpPr>
          <p:nvPr/>
        </p:nvSpPr>
        <p:spPr bwMode="auto">
          <a:xfrm>
            <a:off x="285720" y="3286124"/>
            <a:ext cx="855348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Arial" panose="020B0604020202020204" pitchFamily="34" charset="0"/>
              <a:buNone/>
            </a:pPr>
            <a:r>
              <a:rPr lang="en-US" altLang="zh-CN" sz="2600" b="1" dirty="0">
                <a:solidFill>
                  <a:srgbClr val="6600FF"/>
                </a:solidFill>
                <a:latin typeface="楷体_GB2312"/>
                <a:ea typeface="楷体_GB2312"/>
                <a:cs typeface="楷体_GB2312"/>
              </a:rPr>
              <a:t>●</a:t>
            </a:r>
            <a:r>
              <a:rPr lang="zh-CN" altLang="en-US" sz="2600" b="1" dirty="0">
                <a:solidFill>
                  <a:srgbClr val="000000"/>
                </a:solidFill>
                <a:latin typeface="楷体" panose="02010609060101010101" pitchFamily="49" charset="-122"/>
                <a:ea typeface="楷体" panose="02010609060101010101" pitchFamily="49" charset="-122"/>
                <a:cs typeface="楷体_GB2312"/>
              </a:rPr>
              <a:t>静止：物质运动在一定条件下的稳定状态，</a:t>
            </a:r>
            <a:r>
              <a:rPr lang="zh-CN" altLang="en-US" sz="2600" b="1" dirty="0" smtClean="0">
                <a:solidFill>
                  <a:srgbClr val="000000"/>
                </a:solidFill>
                <a:latin typeface="楷体" panose="02010609060101010101" pitchFamily="49" charset="-122"/>
                <a:ea typeface="楷体" panose="02010609060101010101" pitchFamily="49" charset="-122"/>
                <a:cs typeface="楷体_GB2312"/>
              </a:rPr>
              <a:t>包括空间的相对位置暂时不变和事物的根本</a:t>
            </a:r>
            <a:r>
              <a:rPr lang="zh-CN" altLang="en-US" sz="2600" b="1" dirty="0">
                <a:solidFill>
                  <a:srgbClr val="000000"/>
                </a:solidFill>
                <a:latin typeface="楷体" panose="02010609060101010101" pitchFamily="49" charset="-122"/>
                <a:ea typeface="楷体" panose="02010609060101010101" pitchFamily="49" charset="-122"/>
                <a:cs typeface="楷体_GB2312"/>
              </a:rPr>
              <a:t>性质</a:t>
            </a:r>
            <a:r>
              <a:rPr lang="zh-CN" altLang="en-US" sz="2600" b="1" dirty="0" smtClean="0">
                <a:solidFill>
                  <a:srgbClr val="000000"/>
                </a:solidFill>
                <a:latin typeface="楷体" panose="02010609060101010101" pitchFamily="49" charset="-122"/>
                <a:ea typeface="楷体" panose="02010609060101010101" pitchFamily="49" charset="-122"/>
                <a:cs typeface="楷体_GB2312"/>
              </a:rPr>
              <a:t>暂时不变两种状态</a:t>
            </a:r>
            <a:r>
              <a:rPr lang="zh-CN" altLang="en-US" sz="2600" b="1" dirty="0">
                <a:solidFill>
                  <a:srgbClr val="000000"/>
                </a:solidFill>
                <a:latin typeface="楷体" panose="02010609060101010101" pitchFamily="49" charset="-122"/>
                <a:ea typeface="楷体" panose="02010609060101010101" pitchFamily="49" charset="-122"/>
                <a:cs typeface="楷体_GB2312"/>
              </a:rPr>
              <a:t>。   </a:t>
            </a:r>
            <a:endParaRPr lang="zh-CN" altLang="en-US" sz="2600" b="1" dirty="0">
              <a:solidFill>
                <a:srgbClr val="000000"/>
              </a:solidFill>
              <a:latin typeface="楷体" panose="02010609060101010101" pitchFamily="49" charset="-122"/>
              <a:ea typeface="楷体" panose="02010609060101010101" pitchFamily="49" charset="-122"/>
              <a:cs typeface="楷体_GB2312"/>
            </a:endParaRPr>
          </a:p>
        </p:txBody>
      </p:sp>
      <p:sp>
        <p:nvSpPr>
          <p:cNvPr id="7" name="Rectangle 3"/>
          <p:cNvSpPr>
            <a:spLocks noChangeArrowheads="1"/>
          </p:cNvSpPr>
          <p:nvPr/>
        </p:nvSpPr>
        <p:spPr bwMode="auto">
          <a:xfrm>
            <a:off x="285720" y="4429132"/>
            <a:ext cx="8462962" cy="2000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Arial" panose="020B0604020202020204" pitchFamily="34" charset="0"/>
              <a:buNone/>
            </a:pPr>
            <a:r>
              <a:rPr lang="en-US" altLang="zh-CN" sz="2600" b="1" dirty="0" smtClean="0">
                <a:solidFill>
                  <a:srgbClr val="6600FF"/>
                </a:solidFill>
                <a:latin typeface="楷体_GB2312"/>
                <a:ea typeface="楷体_GB2312"/>
                <a:cs typeface="楷体_GB2312"/>
              </a:rPr>
              <a:t>●</a:t>
            </a:r>
            <a:r>
              <a:rPr lang="zh-CN" altLang="en-US" sz="2600" b="1" dirty="0" smtClean="0">
                <a:solidFill>
                  <a:srgbClr val="000000"/>
                </a:solidFill>
                <a:latin typeface="楷体" panose="02010609060101010101" pitchFamily="49" charset="-122"/>
                <a:ea typeface="楷体" panose="02010609060101010101" pitchFamily="49" charset="-122"/>
                <a:cs typeface="楷体_GB2312"/>
              </a:rPr>
              <a:t>运动和静止</a:t>
            </a:r>
            <a:r>
              <a:rPr lang="zh-CN" altLang="en-US" sz="2600" b="1" dirty="0">
                <a:solidFill>
                  <a:srgbClr val="000000"/>
                </a:solidFill>
                <a:latin typeface="楷体" panose="02010609060101010101" pitchFamily="49" charset="-122"/>
                <a:ea typeface="楷体" panose="02010609060101010101" pitchFamily="49" charset="-122"/>
                <a:cs typeface="楷体_GB2312"/>
              </a:rPr>
              <a:t>的辩证关系：</a:t>
            </a:r>
            <a:endParaRPr lang="zh-CN" altLang="en-US" sz="2600" b="1" dirty="0">
              <a:solidFill>
                <a:srgbClr val="000000"/>
              </a:solidFill>
              <a:latin typeface="楷体" panose="02010609060101010101" pitchFamily="49" charset="-122"/>
              <a:ea typeface="楷体" panose="02010609060101010101" pitchFamily="49" charset="-122"/>
              <a:cs typeface="楷体_GB2312"/>
            </a:endParaRPr>
          </a:p>
          <a:p>
            <a:pPr marL="342900" indent="-342900">
              <a:spcBef>
                <a:spcPct val="20000"/>
              </a:spcBef>
              <a:buFont typeface="Arial" panose="020B0604020202020204" pitchFamily="34" charset="0"/>
              <a:buNone/>
            </a:pPr>
            <a:r>
              <a:rPr lang="zh-CN" altLang="en-US" sz="2400" b="1" dirty="0" smtClean="0">
                <a:solidFill>
                  <a:srgbClr val="000000"/>
                </a:solidFill>
                <a:latin typeface="楷体" panose="02010609060101010101" pitchFamily="49" charset="-122"/>
                <a:ea typeface="楷体" panose="02010609060101010101" pitchFamily="49" charset="-122"/>
                <a:cs typeface="楷体_GB2312"/>
              </a:rPr>
              <a:t>   区别</a:t>
            </a:r>
            <a:r>
              <a:rPr lang="zh-CN" altLang="en-US" sz="2400" b="1" dirty="0">
                <a:solidFill>
                  <a:srgbClr val="000000"/>
                </a:solidFill>
                <a:latin typeface="楷体" panose="02010609060101010101" pitchFamily="49" charset="-122"/>
                <a:ea typeface="楷体" panose="02010609060101010101" pitchFamily="49" charset="-122"/>
                <a:cs typeface="楷体_GB2312"/>
              </a:rPr>
              <a:t>：运动</a:t>
            </a:r>
            <a:r>
              <a:rPr lang="en-US" altLang="zh-CN" sz="2400" b="1" dirty="0" smtClean="0">
                <a:solidFill>
                  <a:srgbClr val="000000"/>
                </a:solidFill>
                <a:latin typeface="楷体" panose="02010609060101010101" pitchFamily="49" charset="-122"/>
                <a:ea typeface="楷体" panose="02010609060101010101" pitchFamily="49" charset="-122"/>
                <a:cs typeface="楷体_GB2312"/>
              </a:rPr>
              <a:t>—</a:t>
            </a:r>
            <a:r>
              <a:rPr lang="zh-CN" altLang="en-US" sz="2400" b="1" dirty="0" smtClean="0">
                <a:solidFill>
                  <a:srgbClr val="000000"/>
                </a:solidFill>
                <a:latin typeface="楷体" panose="02010609060101010101" pitchFamily="49" charset="-122"/>
                <a:ea typeface="楷体" panose="02010609060101010101" pitchFamily="49" charset="-122"/>
                <a:cs typeface="楷体_GB2312"/>
              </a:rPr>
              <a:t>绝对性（体现物质运动的变动性、无条件性）；静止</a:t>
            </a:r>
            <a:r>
              <a:rPr lang="en-US" altLang="zh-CN" sz="2400" b="1" dirty="0" smtClean="0">
                <a:solidFill>
                  <a:srgbClr val="000000"/>
                </a:solidFill>
                <a:latin typeface="楷体" panose="02010609060101010101" pitchFamily="49" charset="-122"/>
                <a:ea typeface="楷体" panose="02010609060101010101" pitchFamily="49" charset="-122"/>
                <a:cs typeface="楷体_GB2312"/>
              </a:rPr>
              <a:t>—</a:t>
            </a:r>
            <a:r>
              <a:rPr lang="zh-CN" altLang="en-US" sz="2400" b="1" dirty="0" smtClean="0">
                <a:solidFill>
                  <a:srgbClr val="000000"/>
                </a:solidFill>
                <a:latin typeface="楷体" panose="02010609060101010101" pitchFamily="49" charset="-122"/>
                <a:ea typeface="楷体" panose="02010609060101010101" pitchFamily="49" charset="-122"/>
                <a:cs typeface="楷体_GB2312"/>
              </a:rPr>
              <a:t>相对性（体现物质运动的稳定性、有条件性）</a:t>
            </a:r>
            <a:endParaRPr lang="zh-CN" altLang="en-US" sz="2400" b="1" dirty="0">
              <a:solidFill>
                <a:srgbClr val="000000"/>
              </a:solidFill>
              <a:latin typeface="楷体" panose="02010609060101010101" pitchFamily="49" charset="-122"/>
              <a:ea typeface="楷体" panose="02010609060101010101" pitchFamily="49" charset="-122"/>
              <a:cs typeface="楷体_GB2312"/>
            </a:endParaRPr>
          </a:p>
          <a:p>
            <a:pPr marL="342900" indent="-342900">
              <a:spcBef>
                <a:spcPct val="20000"/>
              </a:spcBef>
              <a:buFont typeface="Arial" panose="020B0604020202020204" pitchFamily="34" charset="0"/>
              <a:buNone/>
            </a:pPr>
            <a:r>
              <a:rPr lang="zh-CN" altLang="en-US" sz="2400" b="1" dirty="0" smtClean="0">
                <a:solidFill>
                  <a:srgbClr val="000000"/>
                </a:solidFill>
                <a:latin typeface="楷体" panose="02010609060101010101" pitchFamily="49" charset="-122"/>
                <a:ea typeface="楷体" panose="02010609060101010101" pitchFamily="49" charset="-122"/>
                <a:cs typeface="楷体_GB2312"/>
              </a:rPr>
              <a:t>   联系</a:t>
            </a:r>
            <a:r>
              <a:rPr lang="zh-CN" altLang="en-US" sz="2400" b="1" dirty="0">
                <a:solidFill>
                  <a:srgbClr val="000000"/>
                </a:solidFill>
                <a:latin typeface="楷体" panose="02010609060101010101" pitchFamily="49" charset="-122"/>
                <a:ea typeface="楷体" panose="02010609060101010101" pitchFamily="49" charset="-122"/>
                <a:cs typeface="楷体_GB2312"/>
              </a:rPr>
              <a:t>：相互依赖、相互渗透、相互包含</a:t>
            </a:r>
            <a:endParaRPr lang="en-US" altLang="zh-CN" sz="2400" b="1" dirty="0">
              <a:solidFill>
                <a:srgbClr val="000000"/>
              </a:solidFill>
              <a:latin typeface="楷体" panose="02010609060101010101" pitchFamily="49" charset="-122"/>
              <a:ea typeface="楷体" panose="02010609060101010101" pitchFamily="49" charset="-122"/>
              <a:cs typeface="楷体_GB2312"/>
            </a:endParaRPr>
          </a:p>
          <a:p>
            <a:pPr marL="342900" indent="-342900">
              <a:spcBef>
                <a:spcPct val="20000"/>
              </a:spcBef>
              <a:buFont typeface="Arial" panose="020B0604020202020204" pitchFamily="34" charset="0"/>
              <a:buNone/>
            </a:pPr>
            <a:r>
              <a:rPr lang="zh-CN" altLang="en-US" sz="2400" b="1" dirty="0">
                <a:solidFill>
                  <a:srgbClr val="000000"/>
                </a:solidFill>
                <a:latin typeface="楷体" panose="02010609060101010101" pitchFamily="49" charset="-122"/>
                <a:ea typeface="楷体" panose="02010609060101010101" pitchFamily="49" charset="-122"/>
                <a:cs typeface="楷体_GB2312"/>
              </a:rPr>
              <a:t>  </a:t>
            </a:r>
            <a:r>
              <a:rPr lang="zh-CN" altLang="en-US" sz="2400" b="1" dirty="0" smtClean="0">
                <a:solidFill>
                  <a:srgbClr val="000000"/>
                </a:solidFill>
                <a:latin typeface="楷体" panose="02010609060101010101" pitchFamily="49" charset="-122"/>
                <a:ea typeface="楷体" panose="02010609060101010101" pitchFamily="49" charset="-122"/>
                <a:cs typeface="楷体_GB2312"/>
              </a:rPr>
              <a:t> </a:t>
            </a:r>
            <a:endParaRPr lang="en-US" altLang="zh-CN" sz="2400" b="1" dirty="0">
              <a:solidFill>
                <a:srgbClr val="000000"/>
              </a:solidFill>
              <a:latin typeface="楷体" panose="02010609060101010101" pitchFamily="49" charset="-122"/>
              <a:ea typeface="楷体" panose="02010609060101010101" pitchFamily="49" charset="-122"/>
              <a:cs typeface="楷体_GB2312"/>
            </a:endParaRPr>
          </a:p>
          <a:p>
            <a:pPr marL="342900" indent="-342900">
              <a:spcBef>
                <a:spcPct val="20000"/>
              </a:spcBef>
              <a:buFont typeface="Arial" panose="020B0604020202020204" pitchFamily="34" charset="0"/>
              <a:buNone/>
            </a:pPr>
            <a:endParaRPr lang="zh-CN" altLang="en-US" sz="2400" b="1" dirty="0">
              <a:solidFill>
                <a:srgbClr val="000000"/>
              </a:solidFill>
              <a:latin typeface="楷体_GB2312"/>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additive="base">
                                        <p:cTn id="7" dur="500" fill="hold"/>
                                        <p:tgtEl>
                                          <p:spTgt spid="23555"/>
                                        </p:tgtEl>
                                        <p:attrNameLst>
                                          <p:attrName>ppt_x</p:attrName>
                                        </p:attrNameLst>
                                      </p:cBhvr>
                                      <p:tavLst>
                                        <p:tav tm="0">
                                          <p:val>
                                            <p:strVal val="#ppt_x"/>
                                          </p:val>
                                        </p:tav>
                                        <p:tav tm="100000">
                                          <p:val>
                                            <p:strVal val="#ppt_x"/>
                                          </p:val>
                                        </p:tav>
                                      </p:tavLst>
                                    </p:anim>
                                    <p:anim calcmode="lin" valueType="num">
                                      <p:cBhvr additive="base">
                                        <p:cTn id="8" dur="500" fill="hold"/>
                                        <p:tgtEl>
                                          <p:spTgt spid="235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ldLvl="0" animBg="1" autoUpdateAnimBg="0"/>
      <p:bldP spid="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15620" y="327660"/>
            <a:ext cx="5957080" cy="523220"/>
          </a:xfrm>
          <a:prstGeom prst="rect">
            <a:avLst/>
          </a:prstGeom>
          <a:noFill/>
        </p:spPr>
        <p:txBody>
          <a:bodyPr wrap="none" rtlCol="0" anchor="t">
            <a:spAutoFit/>
          </a:bodyPr>
          <a:lstStyle/>
          <a:p>
            <a:r>
              <a:rPr lang="en-US" altLang="zh-CN" sz="2800" b="1" dirty="0" smtClean="0">
                <a:ln>
                  <a:noFill/>
                </a:ln>
                <a:effectLst/>
                <a:latin typeface="楷体" panose="02010609060101010101" pitchFamily="49" charset="-122"/>
                <a:ea typeface="楷体" panose="02010609060101010101" pitchFamily="49" charset="-122"/>
                <a:cs typeface="楷体_GB2312"/>
                <a:sym typeface="+mn-ea"/>
              </a:rPr>
              <a:t>3.</a:t>
            </a:r>
            <a:r>
              <a:rPr lang="zh-CN" altLang="en-US" sz="2800" b="1" dirty="0" smtClean="0">
                <a:ln>
                  <a:noFill/>
                </a:ln>
                <a:effectLst/>
                <a:latin typeface="楷体" panose="02010609060101010101" pitchFamily="49" charset="-122"/>
                <a:ea typeface="楷体" panose="02010609060101010101" pitchFamily="49" charset="-122"/>
                <a:cs typeface="楷体_GB2312"/>
                <a:sym typeface="+mn-ea"/>
              </a:rPr>
              <a:t>时间和空间是物质运动的存在形式</a:t>
            </a:r>
            <a:endParaRPr lang="zh-CN" altLang="en-US" sz="2800" b="1" dirty="0" smtClean="0">
              <a:ln>
                <a:noFill/>
              </a:ln>
              <a:effectLst/>
              <a:latin typeface="楷体" panose="02010609060101010101" pitchFamily="49" charset="-122"/>
              <a:ea typeface="楷体" panose="02010609060101010101" pitchFamily="49" charset="-122"/>
              <a:cs typeface="楷体_GB2312"/>
              <a:sym typeface="+mn-ea"/>
            </a:endParaRPr>
          </a:p>
        </p:txBody>
      </p:sp>
      <p:sp>
        <p:nvSpPr>
          <p:cNvPr id="7" name="矩形 6"/>
          <p:cNvSpPr/>
          <p:nvPr/>
        </p:nvSpPr>
        <p:spPr>
          <a:xfrm>
            <a:off x="642910" y="1000108"/>
            <a:ext cx="5009354" cy="460375"/>
          </a:xfrm>
          <a:prstGeom prst="rect">
            <a:avLst/>
          </a:prstGeom>
        </p:spPr>
        <p:txBody>
          <a:bodyPr wrap="square">
            <a:spAutoFit/>
          </a:bodyPr>
          <a:lstStyle/>
          <a:p>
            <a:pPr fontAlgn="auto">
              <a:spcAft>
                <a:spcPts val="0"/>
              </a:spcAft>
              <a:buFontTx/>
              <a:buNone/>
            </a:pPr>
            <a:r>
              <a:rPr lang="zh-CN" altLang="en-US" sz="2400" b="1" dirty="0">
                <a:solidFill>
                  <a:srgbClr val="000000"/>
                </a:solidFill>
                <a:latin typeface="楷体_GB2312" pitchFamily="1" charset="-122"/>
                <a:ea typeface="楷体_GB2312" pitchFamily="1" charset="-122"/>
              </a:rPr>
              <a:t>时间：物质运动的持续性和顺序性。 </a:t>
            </a:r>
            <a:endParaRPr lang="en-US" altLang="zh-CN" sz="2400" b="1" dirty="0">
              <a:solidFill>
                <a:srgbClr val="000000"/>
              </a:solidFill>
              <a:latin typeface="楷体_GB2312" pitchFamily="1" charset="-122"/>
              <a:ea typeface="楷体_GB2312" pitchFamily="1" charset="-122"/>
            </a:endParaRPr>
          </a:p>
        </p:txBody>
      </p:sp>
      <p:sp>
        <p:nvSpPr>
          <p:cNvPr id="8" name="Rectangle 3"/>
          <p:cNvSpPr txBox="1">
            <a:spLocks noChangeArrowheads="1"/>
          </p:cNvSpPr>
          <p:nvPr/>
        </p:nvSpPr>
        <p:spPr>
          <a:xfrm>
            <a:off x="357158" y="1500174"/>
            <a:ext cx="8501122" cy="1000132"/>
          </a:xfrm>
          <a:prstGeom prst="rect">
            <a:avLst/>
          </a:prstGeom>
        </p:spPr>
        <p:txBody>
          <a:bodyPr/>
          <a:lstStyle>
            <a:lvl1pPr marL="162560" indent="-162560" algn="l" defTabSz="650240" rtl="0" eaLnBrk="1" latinLnBrk="0" hangingPunct="1">
              <a:lnSpc>
                <a:spcPct val="90000"/>
              </a:lnSpc>
              <a:spcBef>
                <a:spcPts val="710"/>
              </a:spcBef>
              <a:buFont typeface="Arial" panose="020B0604020202020204" pitchFamily="34" charset="0"/>
              <a:buChar char="•"/>
              <a:defRPr sz="2000" kern="1200">
                <a:solidFill>
                  <a:schemeClr val="tx1"/>
                </a:solidFill>
                <a:latin typeface="+mn-lt"/>
                <a:ea typeface="微软雅黑" panose="020B0503020204020204" charset="-122"/>
                <a:cs typeface="+mn-cs"/>
              </a:defRPr>
            </a:lvl1pPr>
            <a:lvl2pPr marL="487680" indent="-162560" algn="l" defTabSz="650240" rtl="0" eaLnBrk="1" latinLnBrk="0" hangingPunct="1">
              <a:lnSpc>
                <a:spcPct val="90000"/>
              </a:lnSpc>
              <a:spcBef>
                <a:spcPts val="355"/>
              </a:spcBef>
              <a:buFont typeface="Arial" panose="020B0604020202020204" pitchFamily="34" charset="0"/>
              <a:buChar char="•"/>
              <a:defRPr sz="1700" kern="1200">
                <a:solidFill>
                  <a:schemeClr val="tx1"/>
                </a:solidFill>
                <a:latin typeface="+mn-lt"/>
                <a:ea typeface="微软雅黑" panose="020B0503020204020204" charset="-122"/>
                <a:cs typeface="+mn-cs"/>
              </a:defRPr>
            </a:lvl2pPr>
            <a:lvl3pPr marL="812800" indent="-162560" algn="l" defTabSz="650240" rtl="0" eaLnBrk="1" latinLnBrk="0" hangingPunct="1">
              <a:lnSpc>
                <a:spcPct val="90000"/>
              </a:lnSpc>
              <a:spcBef>
                <a:spcPts val="355"/>
              </a:spcBef>
              <a:buFont typeface="Arial" panose="020B0604020202020204" pitchFamily="34" charset="0"/>
              <a:buChar char="•"/>
              <a:defRPr sz="1400" kern="1200">
                <a:solidFill>
                  <a:schemeClr val="tx1"/>
                </a:solidFill>
                <a:latin typeface="+mn-lt"/>
                <a:ea typeface="微软雅黑" panose="020B0503020204020204" charset="-122"/>
                <a:cs typeface="+mn-cs"/>
              </a:defRPr>
            </a:lvl3pPr>
            <a:lvl4pPr marL="113792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微软雅黑" panose="020B0503020204020204" charset="-122"/>
                <a:cs typeface="+mn-cs"/>
              </a:defRPr>
            </a:lvl4pPr>
            <a:lvl5pPr marL="146304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微软雅黑" panose="020B0503020204020204" charset="-122"/>
                <a:cs typeface="+mn-cs"/>
              </a:defRPr>
            </a:lvl5pPr>
            <a:lvl6pPr marL="178816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6pPr>
            <a:lvl7pPr marL="211328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7pPr>
            <a:lvl8pPr marL="243840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8pPr>
            <a:lvl9pPr marL="2764155"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9pPr>
          </a:lstStyle>
          <a:p>
            <a:pPr fontAlgn="auto">
              <a:spcAft>
                <a:spcPts val="0"/>
              </a:spcAft>
              <a:buFontTx/>
              <a:buNone/>
            </a:pPr>
            <a:r>
              <a:rPr lang="zh-CN" altLang="en-US" sz="2400" b="1" u="sng" dirty="0">
                <a:solidFill>
                  <a:srgbClr val="000000"/>
                </a:solidFill>
                <a:latin typeface="楷体" panose="02010609060101010101" pitchFamily="49" charset="-122"/>
                <a:ea typeface="楷体" panose="02010609060101010101" pitchFamily="49" charset="-122"/>
              </a:rPr>
              <a:t>持续性：</a:t>
            </a:r>
            <a:r>
              <a:rPr lang="zh-CN" altLang="en-US" sz="2400" b="1" dirty="0">
                <a:solidFill>
                  <a:srgbClr val="000000"/>
                </a:solidFill>
                <a:latin typeface="楷体" panose="02010609060101010101" pitchFamily="49" charset="-122"/>
                <a:ea typeface="楷体" panose="02010609060101010101" pitchFamily="49" charset="-122"/>
              </a:rPr>
              <a:t>指任何一个物体的运动都要经历一个或长或短的过程。</a:t>
            </a:r>
            <a:endParaRPr lang="en-US" altLang="zh-CN" sz="2400" b="1" dirty="0">
              <a:solidFill>
                <a:srgbClr val="000000"/>
              </a:solidFill>
              <a:latin typeface="楷体" panose="02010609060101010101" pitchFamily="49" charset="-122"/>
              <a:ea typeface="楷体" panose="02010609060101010101" pitchFamily="49" charset="-122"/>
            </a:endParaRPr>
          </a:p>
          <a:p>
            <a:pPr fontAlgn="auto">
              <a:spcAft>
                <a:spcPts val="0"/>
              </a:spcAft>
              <a:buFontTx/>
              <a:buNone/>
            </a:pPr>
            <a:r>
              <a:rPr lang="zh-CN" altLang="en-US" sz="2400" b="1" u="sng" dirty="0">
                <a:solidFill>
                  <a:srgbClr val="000000"/>
                </a:solidFill>
                <a:latin typeface="楷体" panose="02010609060101010101" pitchFamily="49" charset="-122"/>
                <a:ea typeface="楷体" panose="02010609060101010101" pitchFamily="49" charset="-122"/>
              </a:rPr>
              <a:t>顺序性：</a:t>
            </a:r>
            <a:r>
              <a:rPr lang="zh-CN" altLang="en-US" sz="2400" b="1" dirty="0">
                <a:solidFill>
                  <a:srgbClr val="000000"/>
                </a:solidFill>
                <a:latin typeface="楷体" panose="02010609060101010101" pitchFamily="49" charset="-122"/>
                <a:ea typeface="楷体" panose="02010609060101010101" pitchFamily="49" charset="-122"/>
              </a:rPr>
              <a:t>指不同事物之间运动过程的出现有一个先后顺序关系。</a:t>
            </a:r>
            <a:endParaRPr lang="zh-CN" altLang="en-US" sz="2400" b="1" dirty="0">
              <a:solidFill>
                <a:srgbClr val="000000"/>
              </a:solidFill>
              <a:latin typeface="楷体" panose="02010609060101010101" pitchFamily="49" charset="-122"/>
              <a:ea typeface="楷体" panose="02010609060101010101" pitchFamily="49" charset="-122"/>
            </a:endParaRPr>
          </a:p>
        </p:txBody>
      </p:sp>
      <p:sp>
        <p:nvSpPr>
          <p:cNvPr id="9" name="矩形 8"/>
          <p:cNvSpPr/>
          <p:nvPr/>
        </p:nvSpPr>
        <p:spPr>
          <a:xfrm>
            <a:off x="714348" y="2428868"/>
            <a:ext cx="3171190" cy="368300"/>
          </a:xfrm>
          <a:prstGeom prst="rect">
            <a:avLst/>
          </a:prstGeom>
        </p:spPr>
        <p:txBody>
          <a:bodyPr wrap="none">
            <a:spAutoFit/>
          </a:bodyPr>
          <a:lstStyle/>
          <a:p>
            <a:r>
              <a:rPr lang="zh-CN" altLang="en-US" b="1" dirty="0">
                <a:solidFill>
                  <a:srgbClr val="000000"/>
                </a:solidFill>
                <a:latin typeface="楷体_GB2312" pitchFamily="1" charset="-122"/>
                <a:ea typeface="楷体_GB2312" pitchFamily="1" charset="-122"/>
              </a:rPr>
              <a:t>特点：一维性（一去不复返）</a:t>
            </a:r>
            <a:endParaRPr lang="zh-CN" altLang="en-US" dirty="0"/>
          </a:p>
        </p:txBody>
      </p:sp>
      <p:sp>
        <p:nvSpPr>
          <p:cNvPr id="11" name="矩形 10"/>
          <p:cNvSpPr/>
          <p:nvPr/>
        </p:nvSpPr>
        <p:spPr>
          <a:xfrm>
            <a:off x="642910" y="2928934"/>
            <a:ext cx="4961077" cy="423545"/>
          </a:xfrm>
          <a:prstGeom prst="rect">
            <a:avLst/>
          </a:prstGeom>
        </p:spPr>
        <p:txBody>
          <a:bodyPr wrap="square">
            <a:spAutoFit/>
          </a:bodyPr>
          <a:lstStyle/>
          <a:p>
            <a:pPr marL="257175" indent="-257175">
              <a:lnSpc>
                <a:spcPct val="90000"/>
              </a:lnSpc>
              <a:spcBef>
                <a:spcPct val="20000"/>
              </a:spcBef>
              <a:defRPr/>
            </a:pPr>
            <a:r>
              <a:rPr lang="zh-CN" altLang="en-US" sz="2400" b="1" kern="0" dirty="0">
                <a:solidFill>
                  <a:srgbClr val="000000"/>
                </a:solidFill>
                <a:latin typeface="Verdana" panose="020B0604030504040204"/>
                <a:ea typeface="楷体_GB2312" pitchFamily="1" charset="-122"/>
              </a:rPr>
              <a:t>空间：物质运动的广延性和伸张性。  </a:t>
            </a:r>
            <a:endParaRPr lang="en-US" altLang="zh-CN" sz="2400" b="1" kern="0" dirty="0">
              <a:solidFill>
                <a:srgbClr val="000000"/>
              </a:solidFill>
              <a:latin typeface="Verdana" panose="020B0604030504040204"/>
              <a:ea typeface="楷体_GB2312" pitchFamily="1" charset="-122"/>
            </a:endParaRPr>
          </a:p>
        </p:txBody>
      </p:sp>
      <p:sp>
        <p:nvSpPr>
          <p:cNvPr id="12" name="矩形 11"/>
          <p:cNvSpPr/>
          <p:nvPr/>
        </p:nvSpPr>
        <p:spPr>
          <a:xfrm>
            <a:off x="357158" y="3429000"/>
            <a:ext cx="8501122" cy="1163395"/>
          </a:xfrm>
          <a:prstGeom prst="rect">
            <a:avLst/>
          </a:prstGeom>
        </p:spPr>
        <p:txBody>
          <a:bodyPr wrap="square">
            <a:spAutoFit/>
          </a:bodyPr>
          <a:lstStyle/>
          <a:p>
            <a:pPr marL="257175" indent="-257175">
              <a:lnSpc>
                <a:spcPct val="90000"/>
              </a:lnSpc>
              <a:spcBef>
                <a:spcPct val="20000"/>
              </a:spcBef>
              <a:defRPr/>
            </a:pPr>
            <a:r>
              <a:rPr lang="zh-CN" altLang="en-US" sz="2400" b="1" u="sng" kern="0" dirty="0">
                <a:solidFill>
                  <a:srgbClr val="000000"/>
                </a:solidFill>
                <a:latin typeface="楷体" panose="02010609060101010101" pitchFamily="49" charset="-122"/>
                <a:ea typeface="楷体" panose="02010609060101010101" pitchFamily="49" charset="-122"/>
              </a:rPr>
              <a:t>广延性：</a:t>
            </a:r>
            <a:r>
              <a:rPr lang="zh-CN" altLang="en-US" sz="2400" b="1" kern="0" dirty="0">
                <a:solidFill>
                  <a:srgbClr val="000000"/>
                </a:solidFill>
                <a:latin typeface="楷体" panose="02010609060101010101" pitchFamily="49" charset="-122"/>
                <a:ea typeface="楷体" panose="02010609060101010101" pitchFamily="49" charset="-122"/>
              </a:rPr>
              <a:t>指事物的存在和发展总是具有无限扩展的趋势 。</a:t>
            </a:r>
            <a:endParaRPr lang="en-US" altLang="zh-CN" sz="2400" b="1" kern="0" dirty="0">
              <a:solidFill>
                <a:srgbClr val="000000"/>
              </a:solidFill>
              <a:latin typeface="楷体" panose="02010609060101010101" pitchFamily="49" charset="-122"/>
              <a:ea typeface="楷体" panose="02010609060101010101" pitchFamily="49" charset="-122"/>
            </a:endParaRPr>
          </a:p>
          <a:p>
            <a:pPr marL="257175" indent="-257175">
              <a:lnSpc>
                <a:spcPct val="90000"/>
              </a:lnSpc>
              <a:spcBef>
                <a:spcPct val="20000"/>
              </a:spcBef>
              <a:defRPr/>
            </a:pPr>
            <a:r>
              <a:rPr lang="zh-CN" altLang="en-US" sz="2400" b="1" u="sng" kern="0" dirty="0">
                <a:solidFill>
                  <a:srgbClr val="000000"/>
                </a:solidFill>
                <a:latin typeface="楷体" panose="02010609060101010101" pitchFamily="49" charset="-122"/>
                <a:ea typeface="楷体" panose="02010609060101010101" pitchFamily="49" charset="-122"/>
              </a:rPr>
              <a:t>伸张性：</a:t>
            </a:r>
            <a:r>
              <a:rPr lang="zh-CN" altLang="en-US" sz="2400" b="1" kern="0" dirty="0">
                <a:solidFill>
                  <a:srgbClr val="000000"/>
                </a:solidFill>
                <a:latin typeface="楷体" panose="02010609060101010101" pitchFamily="49" charset="-122"/>
                <a:ea typeface="楷体" panose="02010609060101010101" pitchFamily="49" charset="-122"/>
              </a:rPr>
              <a:t>指事物的存在和发展总要向上下、前后、左右几个方向</a:t>
            </a:r>
            <a:r>
              <a:rPr lang="zh-CN" altLang="en-US" sz="2400" b="1" kern="0" dirty="0" smtClean="0">
                <a:solidFill>
                  <a:srgbClr val="000000"/>
                </a:solidFill>
                <a:latin typeface="楷体" panose="02010609060101010101" pitchFamily="49" charset="-122"/>
                <a:ea typeface="楷体" panose="02010609060101010101" pitchFamily="49" charset="-122"/>
              </a:rPr>
              <a:t>延伸。</a:t>
            </a:r>
            <a:endParaRPr lang="zh-CN" altLang="en-US" sz="2400" b="1" kern="0" dirty="0">
              <a:solidFill>
                <a:srgbClr val="000000"/>
              </a:solidFill>
              <a:latin typeface="楷体" panose="02010609060101010101" pitchFamily="49" charset="-122"/>
              <a:ea typeface="楷体" panose="02010609060101010101" pitchFamily="49" charset="-122"/>
            </a:endParaRPr>
          </a:p>
        </p:txBody>
      </p:sp>
      <p:sp>
        <p:nvSpPr>
          <p:cNvPr id="13" name="矩形 12"/>
          <p:cNvSpPr/>
          <p:nvPr/>
        </p:nvSpPr>
        <p:spPr>
          <a:xfrm>
            <a:off x="642910" y="4643446"/>
            <a:ext cx="2481580" cy="368300"/>
          </a:xfrm>
          <a:prstGeom prst="rect">
            <a:avLst/>
          </a:prstGeom>
        </p:spPr>
        <p:txBody>
          <a:bodyPr wrap="none">
            <a:spAutoFit/>
          </a:bodyPr>
          <a:lstStyle/>
          <a:p>
            <a:r>
              <a:rPr lang="zh-CN" altLang="en-US" b="1" kern="0" dirty="0">
                <a:solidFill>
                  <a:srgbClr val="000000"/>
                </a:solidFill>
                <a:latin typeface="Verdana" panose="020B0604030504040204"/>
                <a:ea typeface="楷体_GB2312" pitchFamily="1" charset="-122"/>
              </a:rPr>
              <a:t>特点：三维性：长宽高</a:t>
            </a:r>
            <a:endParaRPr lang="zh-CN" altLang="en-US" dirty="0"/>
          </a:p>
        </p:txBody>
      </p:sp>
      <p:sp>
        <p:nvSpPr>
          <p:cNvPr id="10" name="文本框 5"/>
          <p:cNvSpPr txBox="1"/>
          <p:nvPr/>
        </p:nvSpPr>
        <p:spPr>
          <a:xfrm>
            <a:off x="357158" y="5214950"/>
            <a:ext cx="8488678" cy="1200329"/>
          </a:xfrm>
          <a:prstGeom prst="rect">
            <a:avLst/>
          </a:prstGeom>
          <a:noFill/>
        </p:spPr>
        <p:txBody>
          <a:bodyPr wrap="square" rtlCol="0">
            <a:spAutoFit/>
          </a:bodyPr>
          <a:lstStyle/>
          <a:p>
            <a:r>
              <a:rPr lang="zh-CN" altLang="en-US" sz="2400" b="1" dirty="0" smtClean="0">
                <a:ln w="13462">
                  <a:noFill/>
                  <a:prstDash val="solid"/>
                </a:ln>
                <a:latin typeface="楷体" panose="02010609060101010101" pitchFamily="49" charset="-122"/>
                <a:ea typeface="楷体" panose="02010609060101010101" pitchFamily="49" charset="-122"/>
              </a:rPr>
              <a:t>物质运动和时空的关系：没有</a:t>
            </a:r>
            <a:r>
              <a:rPr lang="zh-CN" altLang="en-US" sz="2400" b="1" dirty="0">
                <a:ln w="13462">
                  <a:noFill/>
                  <a:prstDash val="solid"/>
                </a:ln>
                <a:latin typeface="楷体" panose="02010609060101010101" pitchFamily="49" charset="-122"/>
                <a:ea typeface="楷体" panose="02010609060101010101" pitchFamily="49" charset="-122"/>
              </a:rPr>
              <a:t>离开物质运动</a:t>
            </a:r>
            <a:r>
              <a:rPr lang="zh-CN" altLang="en-US" sz="2400" b="1" dirty="0" smtClean="0">
                <a:ln w="13462">
                  <a:noFill/>
                  <a:prstDash val="solid"/>
                </a:ln>
                <a:latin typeface="楷体" panose="02010609060101010101" pitchFamily="49" charset="-122"/>
                <a:ea typeface="楷体" panose="02010609060101010101" pitchFamily="49" charset="-122"/>
              </a:rPr>
              <a:t>的“纯粹”</a:t>
            </a:r>
            <a:r>
              <a:rPr lang="zh-CN" altLang="en-US" sz="2400" b="1" dirty="0" smtClean="0">
                <a:ln w="13462">
                  <a:noFill/>
                  <a:prstDash val="solid"/>
                </a:ln>
                <a:latin typeface="楷体" panose="02010609060101010101" pitchFamily="49" charset="-122"/>
                <a:ea typeface="楷体" panose="02010609060101010101" pitchFamily="49" charset="-122"/>
              </a:rPr>
              <a:t>时间空间</a:t>
            </a:r>
            <a:r>
              <a:rPr lang="zh-CN" altLang="en-US" sz="2400" b="1" dirty="0" smtClean="0">
                <a:ln w="13462">
                  <a:noFill/>
                  <a:prstDash val="solid"/>
                </a:ln>
                <a:latin typeface="楷体" panose="02010609060101010101" pitchFamily="49" charset="-122"/>
                <a:ea typeface="楷体" panose="02010609060101010101" pitchFamily="49" charset="-122"/>
              </a:rPr>
              <a:t>，</a:t>
            </a:r>
            <a:r>
              <a:rPr lang="zh-CN" altLang="en-US" sz="2400" b="1" dirty="0" smtClean="0">
                <a:ln w="13462">
                  <a:noFill/>
                  <a:prstDash val="solid"/>
                </a:ln>
                <a:latin typeface="楷体" panose="02010609060101010101" pitchFamily="49" charset="-122"/>
                <a:ea typeface="楷体" panose="02010609060101010101" pitchFamily="49" charset="-122"/>
              </a:rPr>
              <a:t>也</a:t>
            </a:r>
            <a:r>
              <a:rPr lang="zh-CN" altLang="en-US" sz="2400" b="1" dirty="0" smtClean="0">
                <a:ln w="13462">
                  <a:noFill/>
                  <a:prstDash val="solid"/>
                </a:ln>
                <a:latin typeface="楷体" panose="02010609060101010101" pitchFamily="49" charset="-122"/>
                <a:ea typeface="楷体" panose="02010609060101010101" pitchFamily="49" charset="-122"/>
              </a:rPr>
              <a:t>没有</a:t>
            </a:r>
            <a:r>
              <a:rPr lang="zh-CN" altLang="en-US" sz="2400" b="1" dirty="0">
                <a:ln w="13462">
                  <a:noFill/>
                  <a:prstDash val="solid"/>
                </a:ln>
                <a:latin typeface="楷体" panose="02010609060101010101" pitchFamily="49" charset="-122"/>
                <a:ea typeface="楷体" panose="02010609060101010101" pitchFamily="49" charset="-122"/>
              </a:rPr>
              <a:t>离开</a:t>
            </a:r>
            <a:r>
              <a:rPr lang="zh-CN" altLang="en-US" sz="2400" b="1" dirty="0" smtClean="0">
                <a:ln w="13462">
                  <a:noFill/>
                  <a:prstDash val="solid"/>
                </a:ln>
                <a:latin typeface="楷体" panose="02010609060101010101" pitchFamily="49" charset="-122"/>
                <a:ea typeface="楷体" panose="02010609060101010101" pitchFamily="49" charset="-122"/>
              </a:rPr>
              <a:t>时间和空间</a:t>
            </a:r>
            <a:r>
              <a:rPr lang="zh-CN" altLang="en-US" sz="2400" b="1" dirty="0">
                <a:ln w="13462">
                  <a:noFill/>
                  <a:prstDash val="solid"/>
                </a:ln>
                <a:latin typeface="楷体" panose="02010609060101010101" pitchFamily="49" charset="-122"/>
                <a:ea typeface="楷体" panose="02010609060101010101" pitchFamily="49" charset="-122"/>
              </a:rPr>
              <a:t>的物质</a:t>
            </a:r>
            <a:r>
              <a:rPr lang="zh-CN" altLang="en-US" sz="2400" b="1" dirty="0" smtClean="0">
                <a:ln w="13462">
                  <a:noFill/>
                  <a:prstDash val="solid"/>
                </a:ln>
                <a:latin typeface="楷体" panose="02010609060101010101" pitchFamily="49" charset="-122"/>
                <a:ea typeface="楷体" panose="02010609060101010101" pitchFamily="49" charset="-122"/>
              </a:rPr>
              <a:t>运动。时空具有客观性，物质</a:t>
            </a:r>
            <a:r>
              <a:rPr lang="zh-CN" altLang="en-US" sz="2400" b="1" dirty="0">
                <a:ln w="13462">
                  <a:noFill/>
                  <a:prstDash val="solid"/>
                </a:ln>
                <a:latin typeface="楷体" panose="02010609060101010101" pitchFamily="49" charset="-122"/>
                <a:ea typeface="楷体" panose="02010609060101010101" pitchFamily="49" charset="-122"/>
              </a:rPr>
              <a:t>运动与</a:t>
            </a:r>
            <a:r>
              <a:rPr lang="zh-CN" altLang="en-US" sz="2400" b="1" dirty="0" smtClean="0">
                <a:ln w="13462">
                  <a:noFill/>
                  <a:prstDash val="solid"/>
                </a:ln>
                <a:latin typeface="楷体" panose="02010609060101010101" pitchFamily="49" charset="-122"/>
                <a:ea typeface="楷体" panose="02010609060101010101" pitchFamily="49" charset="-122"/>
              </a:rPr>
              <a:t>时间和空间</a:t>
            </a:r>
            <a:r>
              <a:rPr lang="zh-CN" altLang="en-US" sz="2400" b="1" dirty="0">
                <a:ln w="13462">
                  <a:noFill/>
                  <a:prstDash val="solid"/>
                </a:ln>
                <a:latin typeface="楷体" panose="02010609060101010101" pitchFamily="49" charset="-122"/>
                <a:ea typeface="楷体" panose="02010609060101010101" pitchFamily="49" charset="-122"/>
              </a:rPr>
              <a:t>不可分割。</a:t>
            </a:r>
            <a:endParaRPr lang="zh-CN" altLang="en-US" sz="2400" b="1" dirty="0">
              <a:ln w="13462">
                <a:noFill/>
                <a:prstDash val="solid"/>
              </a:ln>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randombar(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horizont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randombar(horizontal)">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流程图: 终止 30"/>
          <p:cNvSpPr/>
          <p:nvPr/>
        </p:nvSpPr>
        <p:spPr>
          <a:xfrm>
            <a:off x="323850" y="332740"/>
            <a:ext cx="8430260" cy="669290"/>
          </a:xfrm>
          <a:prstGeom prst="flowChartTerminator">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n>
                  <a:noFill/>
                </a:ln>
                <a:solidFill>
                  <a:srgbClr val="002060"/>
                </a:solidFill>
                <a:latin typeface="黑体" panose="02010609060101010101" pitchFamily="49" charset="-122"/>
                <a:ea typeface="黑体" panose="02010609060101010101" pitchFamily="49" charset="-122"/>
              </a:rPr>
              <a:t>时空的辩证特性：无限性和有限性的统一，绝对性和相对性的统一</a:t>
            </a:r>
            <a:endParaRPr lang="zh-CN" altLang="en-US" sz="2000" b="1" dirty="0">
              <a:ln>
                <a:noFill/>
              </a:ln>
              <a:solidFill>
                <a:srgbClr val="002060"/>
              </a:solidFill>
              <a:latin typeface="黑体" panose="02010609060101010101" pitchFamily="49" charset="-122"/>
              <a:ea typeface="黑体" panose="02010609060101010101" pitchFamily="49" charset="-122"/>
            </a:endParaRPr>
          </a:p>
        </p:txBody>
      </p:sp>
      <p:sp>
        <p:nvSpPr>
          <p:cNvPr id="18" name="矩形 17"/>
          <p:cNvSpPr/>
          <p:nvPr/>
        </p:nvSpPr>
        <p:spPr>
          <a:xfrm>
            <a:off x="642910" y="1357298"/>
            <a:ext cx="3736975" cy="86177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5000"/>
              </a:lnSpc>
              <a:spcBef>
                <a:spcPct val="50000"/>
              </a:spcBef>
            </a:pPr>
            <a:r>
              <a:rPr lang="zh-CN" altLang="en-US" b="1" dirty="0">
                <a:ea typeface="幼圆" pitchFamily="49" charset="-122"/>
              </a:rPr>
              <a:t>空间的无限性：</a:t>
            </a:r>
            <a:r>
              <a:rPr lang="zh-CN" altLang="en-US" sz="2000" b="1" dirty="0">
                <a:latin typeface="楷体" panose="02010609060101010101" pitchFamily="49" charset="-122"/>
                <a:ea typeface="楷体" panose="02010609060101010101" pitchFamily="49" charset="-122"/>
              </a:rPr>
              <a:t>空间的三维广延性是不可穷尽的。</a:t>
            </a:r>
            <a:endParaRPr lang="zh-CN" altLang="en-US" sz="2000" b="1" dirty="0">
              <a:latin typeface="楷体" panose="02010609060101010101" pitchFamily="49" charset="-122"/>
              <a:ea typeface="楷体" panose="02010609060101010101" pitchFamily="49" charset="-122"/>
            </a:endParaRPr>
          </a:p>
        </p:txBody>
      </p:sp>
      <p:sp>
        <p:nvSpPr>
          <p:cNvPr id="10" name="矩形 9"/>
          <p:cNvSpPr/>
          <p:nvPr/>
        </p:nvSpPr>
        <p:spPr>
          <a:xfrm>
            <a:off x="4500562" y="1142984"/>
            <a:ext cx="3974956" cy="124523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5000"/>
              </a:lnSpc>
              <a:spcBef>
                <a:spcPct val="50000"/>
              </a:spcBef>
            </a:pPr>
            <a:r>
              <a:rPr lang="zh-CN" altLang="en-US" b="1" dirty="0">
                <a:ea typeface="幼圆" pitchFamily="49" charset="-122"/>
              </a:rPr>
              <a:t>具体物质形态空间有限性：</a:t>
            </a:r>
            <a:r>
              <a:rPr lang="zh-CN" altLang="en-US" sz="2000" b="1" dirty="0">
                <a:latin typeface="楷体" panose="02010609060101010101" pitchFamily="49" charset="-122"/>
                <a:ea typeface="楷体" panose="02010609060101010101" pitchFamily="49" charset="-122"/>
              </a:rPr>
              <a:t>不论宇宙天体，还是微观粒子，甚至各种社会形态，在空间上是有边际的。</a:t>
            </a:r>
            <a:endParaRPr lang="zh-CN" altLang="en-US" sz="2000" b="1" dirty="0">
              <a:latin typeface="楷体" panose="02010609060101010101" pitchFamily="49" charset="-122"/>
              <a:ea typeface="楷体" panose="02010609060101010101" pitchFamily="49" charset="-122"/>
            </a:endParaRPr>
          </a:p>
        </p:txBody>
      </p:sp>
      <p:sp>
        <p:nvSpPr>
          <p:cNvPr id="12" name="矩形 11"/>
          <p:cNvSpPr/>
          <p:nvPr/>
        </p:nvSpPr>
        <p:spPr>
          <a:xfrm>
            <a:off x="642910" y="2571744"/>
            <a:ext cx="3714776" cy="78359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5000"/>
              </a:lnSpc>
              <a:spcBef>
                <a:spcPct val="50000"/>
              </a:spcBef>
            </a:pPr>
            <a:r>
              <a:rPr lang="zh-CN" altLang="en-US" b="1" dirty="0">
                <a:ea typeface="幼圆" pitchFamily="49" charset="-122"/>
              </a:rPr>
              <a:t>时间的无限性：</a:t>
            </a:r>
            <a:r>
              <a:rPr lang="zh-CN" altLang="en-US" b="1" dirty="0">
                <a:latin typeface="楷体" panose="02010609060101010101" pitchFamily="49" charset="-122"/>
                <a:ea typeface="楷体" panose="02010609060101010101" pitchFamily="49" charset="-122"/>
              </a:rPr>
              <a:t>时间的一维持续性是不可穷尽的。</a:t>
            </a:r>
            <a:endParaRPr lang="zh-CN" altLang="en-US" b="1" dirty="0">
              <a:latin typeface="楷体" panose="02010609060101010101" pitchFamily="49" charset="-122"/>
              <a:ea typeface="楷体" panose="02010609060101010101" pitchFamily="49" charset="-122"/>
            </a:endParaRPr>
          </a:p>
        </p:txBody>
      </p:sp>
      <p:sp>
        <p:nvSpPr>
          <p:cNvPr id="13" name="矩形 12"/>
          <p:cNvSpPr/>
          <p:nvPr/>
        </p:nvSpPr>
        <p:spPr>
          <a:xfrm>
            <a:off x="4500562" y="2428868"/>
            <a:ext cx="4000528" cy="112966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5000"/>
              </a:lnSpc>
              <a:spcBef>
                <a:spcPct val="50000"/>
              </a:spcBef>
            </a:pPr>
            <a:r>
              <a:rPr lang="zh-CN" altLang="en-US" b="1" dirty="0">
                <a:ea typeface="幼圆" pitchFamily="49" charset="-122"/>
              </a:rPr>
              <a:t>具体物质形态时间的有限性：</a:t>
            </a:r>
            <a:r>
              <a:rPr lang="zh-CN" altLang="en-US" b="1" dirty="0">
                <a:latin typeface="楷体" panose="02010609060101010101" pitchFamily="49" charset="-122"/>
                <a:ea typeface="楷体" panose="02010609060101010101" pitchFamily="49" charset="-122"/>
              </a:rPr>
              <a:t>不论宇宙天体、微观粒子，甚至社会形态，在时间上是有始有终的。</a:t>
            </a:r>
            <a:endParaRPr lang="zh-CN" altLang="en-US" b="1" dirty="0">
              <a:latin typeface="楷体" panose="02010609060101010101" pitchFamily="49" charset="-122"/>
              <a:ea typeface="楷体" panose="02010609060101010101" pitchFamily="49" charset="-122"/>
            </a:endParaRPr>
          </a:p>
        </p:txBody>
      </p:sp>
      <p:sp>
        <p:nvSpPr>
          <p:cNvPr id="14" name="文本框 8"/>
          <p:cNvSpPr txBox="1"/>
          <p:nvPr/>
        </p:nvSpPr>
        <p:spPr>
          <a:xfrm>
            <a:off x="214282" y="3643314"/>
            <a:ext cx="8715436" cy="954107"/>
          </a:xfrm>
          <a:prstGeom prst="rect">
            <a:avLst/>
          </a:prstGeom>
          <a:noFill/>
        </p:spPr>
        <p:txBody>
          <a:bodyPr wrap="square" rtlCol="0">
            <a:spAutoFit/>
          </a:bodyPr>
          <a:lstStyle/>
          <a:p>
            <a:r>
              <a:rPr lang="zh-CN" altLang="en-US" sz="2800" b="1" dirty="0" smtClean="0">
                <a:ln w="13462">
                  <a:noFill/>
                  <a:prstDash val="solid"/>
                </a:ln>
                <a:solidFill>
                  <a:schemeClr val="tx1">
                    <a:lumMod val="85000"/>
                    <a:lumOff val="15000"/>
                  </a:schemeClr>
                </a:solidFill>
                <a:latin typeface="楷体" panose="02010609060101010101" pitchFamily="49" charset="-122"/>
                <a:ea typeface="楷体" panose="02010609060101010101" pitchFamily="49" charset="-122"/>
              </a:rPr>
              <a:t>具体物质形态的时空是有限的，整个物质世界的时空是无限的。</a:t>
            </a:r>
            <a:endParaRPr lang="zh-CN" altLang="en-US" sz="2800" b="1" dirty="0">
              <a:ln w="13462">
                <a:noFill/>
                <a:prstDash val="solid"/>
              </a:ln>
              <a:solidFill>
                <a:schemeClr val="tx1">
                  <a:lumMod val="85000"/>
                  <a:lumOff val="15000"/>
                </a:schemeClr>
              </a:solidFill>
              <a:latin typeface="楷体" panose="02010609060101010101" pitchFamily="49" charset="-122"/>
              <a:ea typeface="楷体" panose="02010609060101010101" pitchFamily="49" charset="-122"/>
            </a:endParaRPr>
          </a:p>
        </p:txBody>
      </p:sp>
      <p:sp>
        <p:nvSpPr>
          <p:cNvPr id="16" name="矩形 15"/>
          <p:cNvSpPr/>
          <p:nvPr/>
        </p:nvSpPr>
        <p:spPr>
          <a:xfrm>
            <a:off x="285720" y="4572008"/>
            <a:ext cx="8429684" cy="2092881"/>
          </a:xfrm>
          <a:prstGeom prst="rect">
            <a:avLst/>
          </a:prstGeom>
        </p:spPr>
        <p:txBody>
          <a:bodyPr wrap="square">
            <a:spAutoFit/>
          </a:bodyPr>
          <a:lstStyle/>
          <a:p>
            <a:pPr>
              <a:lnSpc>
                <a:spcPct val="125000"/>
              </a:lnSpc>
            </a:pPr>
            <a:r>
              <a:rPr lang="zh-CN" altLang="en-US" sz="3200" b="1" dirty="0" smtClean="0">
                <a:solidFill>
                  <a:srgbClr val="663300"/>
                </a:solidFill>
                <a:latin typeface="楷体" panose="02010609060101010101" pitchFamily="49" charset="-122"/>
                <a:ea typeface="楷体" panose="02010609060101010101" pitchFamily="49" charset="-122"/>
              </a:rPr>
              <a:t>补充：</a:t>
            </a:r>
            <a:r>
              <a:rPr lang="en-US" altLang="zh-CN" sz="2400" b="1" dirty="0" smtClean="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、无限由有限构成，无限是通过有限而存在的</a:t>
            </a:r>
            <a:endParaRPr lang="zh-CN" altLang="en-US" sz="2400" b="1" dirty="0">
              <a:latin typeface="楷体" panose="02010609060101010101" pitchFamily="49" charset="-122"/>
              <a:ea typeface="楷体" panose="02010609060101010101" pitchFamily="49" charset="-122"/>
            </a:endParaRPr>
          </a:p>
          <a:p>
            <a:pPr>
              <a:lnSpc>
                <a:spcPct val="125000"/>
              </a:lnSpc>
            </a:pP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、有限包含着无限，有限体现着无限。</a:t>
            </a:r>
            <a:endParaRPr lang="zh-CN" altLang="en-US" sz="2400" b="1" dirty="0">
              <a:latin typeface="楷体" panose="02010609060101010101" pitchFamily="49" charset="-122"/>
              <a:ea typeface="楷体" panose="02010609060101010101" pitchFamily="49" charset="-122"/>
            </a:endParaRPr>
          </a:p>
          <a:p>
            <a:pPr>
              <a:lnSpc>
                <a:spcPct val="125000"/>
              </a:lnSpc>
            </a:pPr>
            <a:r>
              <a:rPr lang="en-US" altLang="zh-CN" sz="2400" b="1" dirty="0">
                <a:latin typeface="楷体" panose="02010609060101010101" pitchFamily="49" charset="-122"/>
                <a:ea typeface="楷体" panose="02010609060101010101" pitchFamily="49" charset="-122"/>
              </a:rPr>
              <a:t>3</a:t>
            </a:r>
            <a:r>
              <a:rPr lang="zh-CN" altLang="en-US" sz="2400" b="1" dirty="0">
                <a:latin typeface="楷体" panose="02010609060101010101" pitchFamily="49" charset="-122"/>
                <a:ea typeface="楷体" panose="02010609060101010101" pitchFamily="49" charset="-122"/>
              </a:rPr>
              <a:t>、有限是</a:t>
            </a:r>
            <a:r>
              <a:rPr lang="zh-CN" altLang="en-US" sz="2400" b="1" dirty="0" smtClean="0">
                <a:latin typeface="楷体" panose="02010609060101010101" pitchFamily="49" charset="-122"/>
                <a:ea typeface="楷体" panose="02010609060101010101" pitchFamily="49" charset="-122"/>
              </a:rPr>
              <a:t>局部的、有</a:t>
            </a:r>
            <a:r>
              <a:rPr lang="zh-CN" altLang="en-US" sz="2400" b="1" dirty="0">
                <a:latin typeface="楷体" panose="02010609060101010101" pitchFamily="49" charset="-122"/>
                <a:ea typeface="楷体" panose="02010609060101010101" pitchFamily="49" charset="-122"/>
              </a:rPr>
              <a:t>条件</a:t>
            </a:r>
            <a:r>
              <a:rPr lang="zh-CN" altLang="en-US" sz="2400" b="1" dirty="0" smtClean="0">
                <a:latin typeface="楷体" panose="02010609060101010101" pitchFamily="49" charset="-122"/>
                <a:ea typeface="楷体" panose="02010609060101010101" pitchFamily="49" charset="-122"/>
              </a:rPr>
              <a:t>的、暂时</a:t>
            </a:r>
            <a:r>
              <a:rPr lang="zh-CN" altLang="en-US" sz="2400" b="1" dirty="0">
                <a:latin typeface="楷体" panose="02010609060101010101" pitchFamily="49" charset="-122"/>
                <a:ea typeface="楷体" panose="02010609060101010101" pitchFamily="49" charset="-122"/>
              </a:rPr>
              <a:t>的，因而是相对的；无限是全体的、无条件的、永恒的，因而是绝对的。</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4" name="Rectangle 22"/>
          <p:cNvSpPr>
            <a:spLocks noGrp="1" noChangeArrowheads="1"/>
          </p:cNvSpPr>
          <p:nvPr>
            <p:ph type="title" idx="4294967295"/>
          </p:nvPr>
        </p:nvSpPr>
        <p:spPr>
          <a:xfrm>
            <a:off x="268605" y="992505"/>
            <a:ext cx="4665345" cy="558800"/>
          </a:xfrm>
          <a:effectLst/>
        </p:spPr>
        <p:txBody>
          <a:bodyPr>
            <a:normAutofit/>
          </a:bodyPr>
          <a:lstStyle/>
          <a:p>
            <a:pPr algn="l" eaLnBrk="1" hangingPunct="1"/>
            <a:r>
              <a:rPr lang="zh-CN" altLang="en-US" sz="3200" b="1" dirty="0" smtClean="0">
                <a:solidFill>
                  <a:srgbClr val="0035F4"/>
                </a:solidFill>
                <a:latin typeface="楷体" panose="02010609060101010101" pitchFamily="49" charset="-122"/>
                <a:ea typeface="楷体" panose="02010609060101010101" pitchFamily="49" charset="-122"/>
              </a:rPr>
              <a:t>（一）物质决定意识</a:t>
            </a:r>
            <a:endParaRPr lang="zh-CN" altLang="en-US" sz="3200" b="1" dirty="0" smtClean="0">
              <a:solidFill>
                <a:srgbClr val="0035F4"/>
              </a:solidFill>
              <a:latin typeface="楷体" panose="02010609060101010101" pitchFamily="49" charset="-122"/>
              <a:ea typeface="楷体" panose="02010609060101010101" pitchFamily="49" charset="-122"/>
            </a:endParaRPr>
          </a:p>
        </p:txBody>
      </p:sp>
      <p:sp>
        <p:nvSpPr>
          <p:cNvPr id="16405" name="Rectangle 24"/>
          <p:cNvSpPr>
            <a:spLocks noChangeArrowheads="1"/>
          </p:cNvSpPr>
          <p:nvPr/>
        </p:nvSpPr>
        <p:spPr bwMode="auto">
          <a:xfrm>
            <a:off x="214282" y="1571612"/>
            <a:ext cx="8643998" cy="1000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Arial" panose="020B0604020202020204" pitchFamily="34" charset="0"/>
              <a:buNone/>
            </a:pPr>
            <a:r>
              <a:rPr lang="en-US" altLang="zh-CN" sz="2800" b="1" dirty="0">
                <a:solidFill>
                  <a:srgbClr val="6600FF"/>
                </a:solidFill>
                <a:latin typeface="楷体_GB2312"/>
                <a:ea typeface="楷体_GB2312"/>
                <a:cs typeface="楷体_GB2312"/>
              </a:rPr>
              <a:t>●</a:t>
            </a:r>
            <a:r>
              <a:rPr lang="zh-CN" altLang="en-US" sz="2800" b="1" dirty="0">
                <a:solidFill>
                  <a:srgbClr val="000000"/>
                </a:solidFill>
                <a:latin typeface="楷体" panose="02010609060101010101" pitchFamily="49" charset="-122"/>
                <a:ea typeface="楷体" panose="02010609060101010101" pitchFamily="49" charset="-122"/>
                <a:cs typeface="楷体_GB2312"/>
              </a:rPr>
              <a:t>意识是人脑的机能和属性，是客观世界的主观</a:t>
            </a:r>
            <a:r>
              <a:rPr lang="zh-CN" altLang="en-US" sz="2800" b="1" dirty="0" smtClean="0">
                <a:solidFill>
                  <a:srgbClr val="000000"/>
                </a:solidFill>
                <a:latin typeface="楷体" panose="02010609060101010101" pitchFamily="49" charset="-122"/>
                <a:ea typeface="楷体" panose="02010609060101010101" pitchFamily="49" charset="-122"/>
                <a:cs typeface="楷体_GB2312"/>
              </a:rPr>
              <a:t>映象。物质对意识的决定作用表现在意识的起源和本质上。</a:t>
            </a:r>
            <a:endParaRPr lang="zh-CN" altLang="en-US" sz="2800" b="1" dirty="0">
              <a:solidFill>
                <a:srgbClr val="000000"/>
              </a:solidFill>
              <a:latin typeface="楷体" panose="02010609060101010101" pitchFamily="49" charset="-122"/>
              <a:ea typeface="楷体" panose="02010609060101010101" pitchFamily="49" charset="-122"/>
              <a:cs typeface="楷体_GB2312"/>
            </a:endParaRPr>
          </a:p>
          <a:p>
            <a:pPr marL="342900" indent="-342900">
              <a:spcBef>
                <a:spcPct val="20000"/>
              </a:spcBef>
              <a:buFont typeface="Arial" panose="020B0604020202020204" pitchFamily="34" charset="0"/>
              <a:buNone/>
            </a:pPr>
            <a:endParaRPr lang="zh-CN" altLang="en-US" sz="2800" b="1" dirty="0">
              <a:solidFill>
                <a:srgbClr val="6600FF"/>
              </a:solidFill>
              <a:latin typeface="楷体_GB2312"/>
              <a:ea typeface="楷体_GB2312"/>
              <a:cs typeface="楷体_GB2312"/>
            </a:endParaRPr>
          </a:p>
        </p:txBody>
      </p:sp>
      <p:sp>
        <p:nvSpPr>
          <p:cNvPr id="16415" name="Rectangle 35"/>
          <p:cNvSpPr>
            <a:spLocks noRot="1" noChangeArrowheads="1"/>
          </p:cNvSpPr>
          <p:nvPr/>
        </p:nvSpPr>
        <p:spPr bwMode="auto">
          <a:xfrm>
            <a:off x="323215" y="332740"/>
            <a:ext cx="8382000" cy="643255"/>
          </a:xfrm>
          <a:prstGeom prst="rect">
            <a:avLst/>
          </a:prstGeom>
          <a:solidFill>
            <a:srgbClr val="B7ECFF"/>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Arial" panose="020B0604020202020204" pitchFamily="34" charset="0"/>
              <a:buNone/>
            </a:pPr>
            <a:r>
              <a:rPr lang="zh-CN" altLang="en-US" sz="3200" b="1" dirty="0">
                <a:solidFill>
                  <a:srgbClr val="6600FF"/>
                </a:solidFill>
                <a:latin typeface="楷体_GB2312"/>
                <a:ea typeface="楷体_GB2312"/>
                <a:cs typeface="楷体_GB2312"/>
              </a:rPr>
              <a:t>  </a:t>
            </a:r>
            <a:r>
              <a:rPr lang="zh-CN" altLang="en-US" sz="3200" b="1" dirty="0">
                <a:solidFill>
                  <a:srgbClr val="FF0000"/>
                </a:solidFill>
                <a:latin typeface="华文新魏" pitchFamily="2" charset="-122"/>
                <a:ea typeface="华文新魏" pitchFamily="2" charset="-122"/>
                <a:cs typeface="楷体_GB2312"/>
              </a:rPr>
              <a:t>二、</a:t>
            </a:r>
            <a:r>
              <a:rPr lang="zh-CN" altLang="en-US" sz="3200" b="1" dirty="0" smtClean="0">
                <a:solidFill>
                  <a:srgbClr val="FF0000"/>
                </a:solidFill>
                <a:latin typeface="华文新魏" pitchFamily="2" charset="-122"/>
                <a:ea typeface="华文新魏" pitchFamily="2" charset="-122"/>
                <a:cs typeface="楷体_GB2312"/>
              </a:rPr>
              <a:t>物质与意识</a:t>
            </a:r>
            <a:r>
              <a:rPr lang="zh-CN" altLang="en-US" sz="3200" b="1" dirty="0">
                <a:solidFill>
                  <a:srgbClr val="FF0000"/>
                </a:solidFill>
                <a:latin typeface="华文新魏" pitchFamily="2" charset="-122"/>
                <a:ea typeface="华文新魏" pitchFamily="2" charset="-122"/>
                <a:cs typeface="楷体_GB2312"/>
              </a:rPr>
              <a:t>的辩证关系</a:t>
            </a:r>
            <a:endParaRPr lang="zh-CN" altLang="en-US" sz="3200" b="1" dirty="0">
              <a:solidFill>
                <a:srgbClr val="FF0000"/>
              </a:solidFill>
              <a:latin typeface="华文新魏" pitchFamily="2" charset="-122"/>
              <a:ea typeface="华文新魏" pitchFamily="2" charset="-122"/>
              <a:cs typeface="楷体_GB2312"/>
            </a:endParaRPr>
          </a:p>
        </p:txBody>
      </p:sp>
      <p:sp>
        <p:nvSpPr>
          <p:cNvPr id="7" name="Rectangle 24"/>
          <p:cNvSpPr>
            <a:spLocks noChangeArrowheads="1"/>
          </p:cNvSpPr>
          <p:nvPr/>
        </p:nvSpPr>
        <p:spPr bwMode="auto">
          <a:xfrm>
            <a:off x="214282" y="2643182"/>
            <a:ext cx="8429684" cy="18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Arial" panose="020B0604020202020204" pitchFamily="34" charset="0"/>
              <a:buNone/>
            </a:pPr>
            <a:r>
              <a:rPr lang="en-US" altLang="zh-CN" sz="2800" b="1" dirty="0" smtClean="0">
                <a:solidFill>
                  <a:srgbClr val="6600FF"/>
                </a:solidFill>
                <a:latin typeface="楷体_GB2312"/>
                <a:ea typeface="楷体_GB2312"/>
                <a:cs typeface="楷体_GB2312"/>
              </a:rPr>
              <a:t>●</a:t>
            </a:r>
            <a:r>
              <a:rPr lang="zh-CN" altLang="en-US" sz="2800" b="1" dirty="0" smtClean="0">
                <a:solidFill>
                  <a:srgbClr val="000000"/>
                </a:solidFill>
                <a:latin typeface="楷体" panose="02010609060101010101" pitchFamily="49" charset="-122"/>
                <a:ea typeface="楷体" panose="02010609060101010101" pitchFamily="49" charset="-122"/>
                <a:cs typeface="楷体_GB2312"/>
              </a:rPr>
              <a:t>意识是自然界长期发展的产物，经历了从一切物质所具有的反应特性到低等生物的刺激感应性，再到高等动物的感觉和心理，最终发展为人类的意识三个阶段。</a:t>
            </a:r>
            <a:endParaRPr lang="zh-CN" altLang="en-US" sz="2800" b="1" dirty="0">
              <a:solidFill>
                <a:srgbClr val="6600FF"/>
              </a:solidFill>
              <a:latin typeface="楷体_GB2312"/>
              <a:ea typeface="楷体_GB2312"/>
              <a:cs typeface="楷体_GB2312"/>
            </a:endParaRPr>
          </a:p>
        </p:txBody>
      </p:sp>
      <p:sp>
        <p:nvSpPr>
          <p:cNvPr id="8" name="Rectangle 24"/>
          <p:cNvSpPr>
            <a:spLocks noChangeArrowheads="1"/>
          </p:cNvSpPr>
          <p:nvPr/>
        </p:nvSpPr>
        <p:spPr bwMode="auto">
          <a:xfrm>
            <a:off x="214282" y="4429132"/>
            <a:ext cx="8643998" cy="1143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Arial" panose="020B0604020202020204" pitchFamily="34" charset="0"/>
              <a:buNone/>
            </a:pPr>
            <a:r>
              <a:rPr lang="en-US" altLang="zh-CN" sz="2800" b="1" dirty="0">
                <a:solidFill>
                  <a:srgbClr val="6600FF"/>
                </a:solidFill>
                <a:latin typeface="楷体_GB2312"/>
                <a:ea typeface="楷体_GB2312"/>
                <a:cs typeface="楷体_GB2312"/>
              </a:rPr>
              <a:t>●</a:t>
            </a:r>
            <a:r>
              <a:rPr lang="zh-CN" altLang="en-US" sz="2800" b="1" dirty="0" smtClean="0">
                <a:solidFill>
                  <a:srgbClr val="000000"/>
                </a:solidFill>
                <a:latin typeface="楷体" panose="02010609060101010101" pitchFamily="49" charset="-122"/>
                <a:ea typeface="楷体" panose="02010609060101010101" pitchFamily="49" charset="-122"/>
                <a:cs typeface="楷体_GB2312"/>
              </a:rPr>
              <a:t>意识也是社会历史发展的产物，社会实践，特别是劳动，在意识的产生和发展中起着决定性的作用。</a:t>
            </a:r>
            <a:endParaRPr lang="zh-CN" altLang="en-US" sz="2800" b="1" dirty="0">
              <a:solidFill>
                <a:srgbClr val="000000"/>
              </a:solidFill>
              <a:latin typeface="楷体" panose="02010609060101010101" pitchFamily="49" charset="-122"/>
              <a:ea typeface="楷体" panose="02010609060101010101" pitchFamily="49" charset="-122"/>
              <a:cs typeface="楷体_GB2312"/>
            </a:endParaRPr>
          </a:p>
          <a:p>
            <a:pPr marL="342900" indent="-342900">
              <a:spcBef>
                <a:spcPct val="20000"/>
              </a:spcBef>
              <a:buFont typeface="Arial" panose="020B0604020202020204" pitchFamily="34" charset="0"/>
              <a:buNone/>
            </a:pPr>
            <a:endParaRPr lang="zh-CN" altLang="en-US" sz="2800" b="1" dirty="0">
              <a:solidFill>
                <a:srgbClr val="6600FF"/>
              </a:solidFill>
              <a:latin typeface="楷体_GB2312"/>
              <a:ea typeface="楷体_GB2312"/>
              <a:cs typeface="楷体_GB2312"/>
            </a:endParaRPr>
          </a:p>
        </p:txBody>
      </p:sp>
      <p:sp>
        <p:nvSpPr>
          <p:cNvPr id="9" name="Rectangle 7"/>
          <p:cNvSpPr>
            <a:spLocks noChangeArrowheads="1"/>
          </p:cNvSpPr>
          <p:nvPr/>
        </p:nvSpPr>
        <p:spPr bwMode="auto">
          <a:xfrm>
            <a:off x="357158" y="5572140"/>
            <a:ext cx="8429684" cy="97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90000"/>
              </a:lnSpc>
              <a:buFont typeface="Arial" panose="020B0604020202020204" pitchFamily="34" charset="0"/>
              <a:buNone/>
            </a:pPr>
            <a:r>
              <a:rPr lang="zh-CN" altLang="en-US" sz="3200" b="1" dirty="0">
                <a:solidFill>
                  <a:srgbClr val="C606AB"/>
                </a:solidFill>
                <a:ea typeface="华文新魏" pitchFamily="2" charset="-122"/>
              </a:rPr>
              <a:t>意识的本质：</a:t>
            </a:r>
            <a:r>
              <a:rPr lang="zh-CN" altLang="en-US" sz="2800" b="1" dirty="0">
                <a:solidFill>
                  <a:srgbClr val="6600FF"/>
                </a:solidFill>
                <a:latin typeface="楷体" panose="02010609060101010101" pitchFamily="49" charset="-122"/>
                <a:ea typeface="楷体" panose="02010609060101010101" pitchFamily="49" charset="-122"/>
                <a:cs typeface="楷体_GB2312"/>
              </a:rPr>
              <a:t>是物质世界的主观映象，是客观内容和主观形式的统一。</a:t>
            </a:r>
            <a:endParaRPr lang="zh-CN" altLang="en-US" sz="2800" b="1" dirty="0">
              <a:solidFill>
                <a:srgbClr val="6600FF"/>
              </a:solidFill>
              <a:latin typeface="楷体" panose="02010609060101010101" pitchFamily="49" charset="-122"/>
              <a:ea typeface="楷体" panose="02010609060101010101" pitchFamily="49"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15"/>
                                        </p:tgtEl>
                                        <p:attrNameLst>
                                          <p:attrName>style.visibility</p:attrName>
                                        </p:attrNameLst>
                                      </p:cBhvr>
                                      <p:to>
                                        <p:strVal val="visible"/>
                                      </p:to>
                                    </p:set>
                                    <p:animEffect transition="in" filter="blinds(horizontal)">
                                      <p:cBhvr>
                                        <p:cTn id="7" dur="500"/>
                                        <p:tgtEl>
                                          <p:spTgt spid="164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04"/>
                                        </p:tgtEl>
                                        <p:attrNameLst>
                                          <p:attrName>style.visibility</p:attrName>
                                        </p:attrNameLst>
                                      </p:cBhvr>
                                      <p:to>
                                        <p:strVal val="visible"/>
                                      </p:to>
                                    </p:set>
                                    <p:animEffect transition="in" filter="blinds(horizontal)">
                                      <p:cBhvr>
                                        <p:cTn id="12" dur="500"/>
                                        <p:tgtEl>
                                          <p:spTgt spid="16404"/>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6405"/>
                                        </p:tgtEl>
                                        <p:attrNameLst>
                                          <p:attrName>style.visibility</p:attrName>
                                        </p:attrNameLst>
                                      </p:cBhvr>
                                      <p:to>
                                        <p:strVal val="visible"/>
                                      </p:to>
                                    </p:set>
                                    <p:animEffect transition="in" filter="blinds(horizontal)">
                                      <p:cBhvr>
                                        <p:cTn id="16" dur="500"/>
                                        <p:tgtEl>
                                          <p:spTgt spid="16405"/>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par>
                          <p:cTn id="21" fill="hold">
                            <p:stCondLst>
                              <p:cond delay="1500"/>
                            </p:stCondLst>
                            <p:childTnLst>
                              <p:par>
                                <p:cTn id="22" presetID="3" presetClass="entr" presetSubtype="1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4" grpId="0" bldLvl="0" animBg="1" autoUpdateAnimBg="0"/>
      <p:bldP spid="16405" grpId="0" autoUpdateAnimBg="0"/>
      <p:bldP spid="16415" grpId="0" bldLvl="0" animBg="1" autoUpdateAnimBg="0"/>
      <p:bldP spid="7" grpId="0" autoUpdateAnimBg="0"/>
      <p:bldP spid="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285720" y="357166"/>
            <a:ext cx="7934325" cy="533400"/>
          </a:xfrm>
        </p:spPr>
        <p:txBody>
          <a:bodyPr>
            <a:noAutofit/>
          </a:bodyPr>
          <a:lstStyle/>
          <a:p>
            <a:pPr algn="l"/>
            <a:r>
              <a:rPr lang="zh-CN" sz="3200" b="1" dirty="0" smtClean="0">
                <a:solidFill>
                  <a:srgbClr val="0035F4"/>
                </a:solidFill>
                <a:latin typeface="楷体" panose="02010609060101010101" pitchFamily="49" charset="-122"/>
                <a:ea typeface="楷体" panose="02010609060101010101" pitchFamily="49" charset="-122"/>
              </a:rPr>
              <a:t>（二）意识</a:t>
            </a:r>
            <a:r>
              <a:rPr lang="zh-CN" altLang="en-US" sz="3200" b="1" dirty="0" smtClean="0">
                <a:solidFill>
                  <a:srgbClr val="0035F4"/>
                </a:solidFill>
                <a:latin typeface="楷体" panose="02010609060101010101" pitchFamily="49" charset="-122"/>
                <a:ea typeface="楷体" panose="02010609060101010101" pitchFamily="49" charset="-122"/>
              </a:rPr>
              <a:t>对物质具有反</a:t>
            </a:r>
            <a:r>
              <a:rPr lang="zh-CN" sz="3200" b="1" dirty="0" smtClean="0">
                <a:solidFill>
                  <a:srgbClr val="0035F4"/>
                </a:solidFill>
                <a:latin typeface="楷体" panose="02010609060101010101" pitchFamily="49" charset="-122"/>
                <a:ea typeface="楷体" panose="02010609060101010101" pitchFamily="49" charset="-122"/>
              </a:rPr>
              <a:t>作用</a:t>
            </a:r>
            <a:endParaRPr lang="zh-CN" sz="3200" b="1" dirty="0" smtClean="0">
              <a:solidFill>
                <a:srgbClr val="0035F4"/>
              </a:solidFill>
              <a:latin typeface="楷体" panose="02010609060101010101" pitchFamily="49" charset="-122"/>
              <a:ea typeface="楷体" panose="02010609060101010101" pitchFamily="49" charset="-122"/>
            </a:endParaRPr>
          </a:p>
        </p:txBody>
      </p:sp>
      <p:sp>
        <p:nvSpPr>
          <p:cNvPr id="59395" name="Rectangle 3"/>
          <p:cNvSpPr>
            <a:spLocks noGrp="1" noChangeArrowheads="1"/>
          </p:cNvSpPr>
          <p:nvPr>
            <p:ph type="body" idx="4294967295"/>
          </p:nvPr>
        </p:nvSpPr>
        <p:spPr>
          <a:xfrm>
            <a:off x="285720" y="1071546"/>
            <a:ext cx="8472488" cy="2133600"/>
          </a:xfrm>
        </p:spPr>
        <p:txBody>
          <a:bodyPr/>
          <a:lstStyle/>
          <a:p>
            <a:pPr>
              <a:buFontTx/>
              <a:buNone/>
            </a:pPr>
            <a:r>
              <a:rPr lang="en-US" altLang="zh-CN" sz="2400" b="1" dirty="0" smtClean="0">
                <a:solidFill>
                  <a:srgbClr val="000000"/>
                </a:solidFill>
                <a:latin typeface="楷体" panose="02010609060101010101" pitchFamily="49" charset="-122"/>
                <a:ea typeface="楷体" panose="02010609060101010101" pitchFamily="49" charset="-122"/>
                <a:cs typeface="楷体_GB2312"/>
              </a:rPr>
              <a:t> </a:t>
            </a:r>
            <a:r>
              <a:rPr lang="en-US" altLang="zh-CN" sz="2800" b="1" dirty="0" smtClean="0">
                <a:solidFill>
                  <a:srgbClr val="000000"/>
                </a:solidFill>
                <a:latin typeface="楷体" panose="02010609060101010101" pitchFamily="49" charset="-122"/>
                <a:ea typeface="楷体" panose="02010609060101010101" pitchFamily="49" charset="-122"/>
                <a:cs typeface="楷体_GB2312"/>
              </a:rPr>
              <a:t>1.</a:t>
            </a:r>
            <a:r>
              <a:rPr lang="zh-CN" altLang="en-US" sz="2800" b="1" dirty="0" smtClean="0">
                <a:solidFill>
                  <a:srgbClr val="000000"/>
                </a:solidFill>
                <a:latin typeface="楷体" panose="02010609060101010101" pitchFamily="49" charset="-122"/>
                <a:ea typeface="楷体" panose="02010609060101010101" pitchFamily="49" charset="-122"/>
                <a:cs typeface="楷体_GB2312"/>
              </a:rPr>
              <a:t>意识具有目的性和计划性。</a:t>
            </a:r>
            <a:endParaRPr lang="zh-CN" altLang="en-US" sz="2800" b="1" dirty="0" smtClean="0">
              <a:solidFill>
                <a:srgbClr val="000000"/>
              </a:solidFill>
              <a:latin typeface="楷体" panose="02010609060101010101" pitchFamily="49" charset="-122"/>
              <a:ea typeface="楷体" panose="02010609060101010101" pitchFamily="49" charset="-122"/>
              <a:cs typeface="楷体_GB2312"/>
            </a:endParaRPr>
          </a:p>
          <a:p>
            <a:pPr>
              <a:buFontTx/>
              <a:buNone/>
            </a:pPr>
            <a:r>
              <a:rPr lang="zh-CN" altLang="en-US" sz="2800" b="1" dirty="0" smtClean="0">
                <a:solidFill>
                  <a:srgbClr val="000000"/>
                </a:solidFill>
                <a:latin typeface="楷体" panose="02010609060101010101" pitchFamily="49" charset="-122"/>
                <a:ea typeface="楷体" panose="02010609060101010101" pitchFamily="49" charset="-122"/>
                <a:cs typeface="楷体_GB2312"/>
              </a:rPr>
              <a:t> </a:t>
            </a:r>
            <a:r>
              <a:rPr lang="en-US" altLang="zh-CN" sz="2800" b="1" dirty="0" smtClean="0">
                <a:solidFill>
                  <a:srgbClr val="000000"/>
                </a:solidFill>
                <a:latin typeface="楷体" panose="02010609060101010101" pitchFamily="49" charset="-122"/>
                <a:ea typeface="楷体" panose="02010609060101010101" pitchFamily="49" charset="-122"/>
                <a:cs typeface="楷体_GB2312"/>
              </a:rPr>
              <a:t>2.</a:t>
            </a:r>
            <a:r>
              <a:rPr lang="zh-CN" altLang="en-US" sz="2800" b="1" dirty="0" smtClean="0">
                <a:solidFill>
                  <a:srgbClr val="000000"/>
                </a:solidFill>
                <a:latin typeface="楷体" panose="02010609060101010101" pitchFamily="49" charset="-122"/>
                <a:ea typeface="楷体" panose="02010609060101010101" pitchFamily="49" charset="-122"/>
                <a:cs typeface="楷体_GB2312"/>
              </a:rPr>
              <a:t>意识具有创造性。</a:t>
            </a:r>
            <a:endParaRPr lang="zh-CN" altLang="en-US" sz="2800" b="1" dirty="0" smtClean="0">
              <a:solidFill>
                <a:srgbClr val="000000"/>
              </a:solidFill>
              <a:latin typeface="楷体" panose="02010609060101010101" pitchFamily="49" charset="-122"/>
              <a:ea typeface="楷体" panose="02010609060101010101" pitchFamily="49" charset="-122"/>
              <a:cs typeface="楷体_GB2312"/>
            </a:endParaRPr>
          </a:p>
          <a:p>
            <a:pPr>
              <a:buFontTx/>
              <a:buNone/>
            </a:pPr>
            <a:r>
              <a:rPr lang="zh-CN" altLang="en-US" sz="2800" b="1" dirty="0" smtClean="0">
                <a:solidFill>
                  <a:srgbClr val="000000"/>
                </a:solidFill>
                <a:latin typeface="楷体" panose="02010609060101010101" pitchFamily="49" charset="-122"/>
                <a:ea typeface="楷体" panose="02010609060101010101" pitchFamily="49" charset="-122"/>
                <a:cs typeface="楷体_GB2312"/>
              </a:rPr>
              <a:t> </a:t>
            </a:r>
            <a:r>
              <a:rPr lang="en-US" altLang="zh-CN" sz="2800" b="1" dirty="0" smtClean="0">
                <a:solidFill>
                  <a:srgbClr val="000000"/>
                </a:solidFill>
                <a:latin typeface="楷体" panose="02010609060101010101" pitchFamily="49" charset="-122"/>
                <a:ea typeface="楷体" panose="02010609060101010101" pitchFamily="49" charset="-122"/>
                <a:cs typeface="楷体_GB2312"/>
              </a:rPr>
              <a:t>3.</a:t>
            </a:r>
            <a:r>
              <a:rPr lang="zh-CN" altLang="en-US" sz="2800" b="1" dirty="0" smtClean="0">
                <a:solidFill>
                  <a:srgbClr val="000000"/>
                </a:solidFill>
                <a:latin typeface="楷体" panose="02010609060101010101" pitchFamily="49" charset="-122"/>
                <a:ea typeface="楷体" panose="02010609060101010101" pitchFamily="49" charset="-122"/>
                <a:cs typeface="楷体_GB2312"/>
              </a:rPr>
              <a:t>意识具有指导实践改造客观世界的作用。</a:t>
            </a:r>
            <a:endParaRPr lang="en-US" altLang="zh-CN" sz="2800" b="1" dirty="0" smtClean="0">
              <a:solidFill>
                <a:srgbClr val="000000"/>
              </a:solidFill>
              <a:latin typeface="楷体" panose="02010609060101010101" pitchFamily="49" charset="-122"/>
              <a:ea typeface="楷体" panose="02010609060101010101" pitchFamily="49" charset="-122"/>
              <a:cs typeface="楷体_GB2312"/>
            </a:endParaRPr>
          </a:p>
          <a:p>
            <a:pPr>
              <a:buFontTx/>
              <a:buNone/>
            </a:pPr>
            <a:r>
              <a:rPr lang="en-US" altLang="zh-CN" sz="2800" b="1" dirty="0" smtClean="0">
                <a:solidFill>
                  <a:srgbClr val="000000"/>
                </a:solidFill>
                <a:latin typeface="楷体" panose="02010609060101010101" pitchFamily="49" charset="-122"/>
                <a:ea typeface="楷体" panose="02010609060101010101" pitchFamily="49" charset="-122"/>
                <a:cs typeface="楷体_GB2312"/>
              </a:rPr>
              <a:t> 4.</a:t>
            </a:r>
            <a:r>
              <a:rPr lang="zh-CN" altLang="en-US" sz="2800" b="1" dirty="0" smtClean="0">
                <a:solidFill>
                  <a:srgbClr val="000000"/>
                </a:solidFill>
                <a:latin typeface="楷体" panose="02010609060101010101" pitchFamily="49" charset="-122"/>
                <a:ea typeface="楷体" panose="02010609060101010101" pitchFamily="49" charset="-122"/>
                <a:cs typeface="楷体_GB2312"/>
              </a:rPr>
              <a:t>意识具有调控人的行为和生理活动的作用。</a:t>
            </a:r>
            <a:endParaRPr lang="zh-CN" altLang="en-US" sz="2800" b="1" dirty="0" smtClean="0">
              <a:solidFill>
                <a:srgbClr val="000000"/>
              </a:solidFill>
              <a:latin typeface="楷体" panose="02010609060101010101" pitchFamily="49" charset="-122"/>
              <a:ea typeface="楷体" panose="02010609060101010101" pitchFamily="49" charset="-122"/>
              <a:cs typeface="楷体_GB2312"/>
            </a:endParaRPr>
          </a:p>
        </p:txBody>
      </p:sp>
      <p:sp>
        <p:nvSpPr>
          <p:cNvPr id="59397" name="AutoShape 5" descr="200789152642460">
            <a:hlinkClick r:id="rId1"/>
          </p:cNvPr>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Arial" panose="020B0604020202020204" pitchFamily="34" charset="0"/>
              <a:buNone/>
            </a:pPr>
            <a:endParaRPr lang="zh-CN" altLang="en-US"/>
          </a:p>
        </p:txBody>
      </p:sp>
      <p:sp>
        <p:nvSpPr>
          <p:cNvPr id="59398" name="AutoShape 6" descr="200789152642460">
            <a:hlinkClick r:id="rId1"/>
          </p:cNvPr>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Arial" panose="020B0604020202020204" pitchFamily="34" charset="0"/>
              <a:buNone/>
            </a:pPr>
            <a:endParaRPr lang="zh-CN" altLang="en-US"/>
          </a:p>
        </p:txBody>
      </p:sp>
      <p:sp>
        <p:nvSpPr>
          <p:cNvPr id="9" name="矩形 1045505"/>
          <p:cNvSpPr>
            <a:spLocks noChangeArrowheads="1"/>
          </p:cNvSpPr>
          <p:nvPr/>
        </p:nvSpPr>
        <p:spPr bwMode="auto">
          <a:xfrm>
            <a:off x="285720" y="3429000"/>
            <a:ext cx="8286808" cy="1357322"/>
          </a:xfrm>
          <a:prstGeom prst="rect">
            <a:avLst/>
          </a:prstGeom>
          <a:solidFill>
            <a:srgbClr val="D9F2AC"/>
          </a:solidFill>
          <a:ln w="9525">
            <a:solidFill>
              <a:srgbClr val="FF9900"/>
            </a:solidFill>
            <a:miter lim="800000"/>
          </a:ln>
        </p:spPr>
        <p:txBody>
          <a:bodyPr/>
          <a:lstStyle/>
          <a:p>
            <a:pPr>
              <a:spcBef>
                <a:spcPct val="20000"/>
              </a:spcBef>
            </a:pPr>
            <a:r>
              <a:rPr lang="en-US" altLang="zh-CN" sz="2800" b="1" dirty="0">
                <a:solidFill>
                  <a:srgbClr val="0000CC"/>
                </a:solidFill>
                <a:latin typeface="华文行楷" pitchFamily="2" charset="-122"/>
                <a:ea typeface="华文行楷" pitchFamily="2" charset="-122"/>
              </a:rPr>
              <a:t>     </a:t>
            </a:r>
            <a:r>
              <a:rPr lang="zh-CN" altLang="en-US" sz="2400" b="1" dirty="0">
                <a:solidFill>
                  <a:srgbClr val="0000CC"/>
                </a:solidFill>
                <a:latin typeface="楷体" panose="02010609060101010101" pitchFamily="49" charset="-122"/>
                <a:ea typeface="楷体" panose="02010609060101010101" pitchFamily="49" charset="-122"/>
              </a:rPr>
              <a:t>意识是物质的产物，是物质世界在人脑中的主观映像，这是物质、意识关系上</a:t>
            </a:r>
            <a:r>
              <a:rPr lang="zh-CN" altLang="en-US" sz="2400" b="1" dirty="0" smtClean="0">
                <a:solidFill>
                  <a:srgbClr val="0000CC"/>
                </a:solidFill>
                <a:latin typeface="楷体" panose="02010609060101010101" pitchFamily="49" charset="-122"/>
                <a:ea typeface="楷体" panose="02010609060101010101" pitchFamily="49" charset="-122"/>
              </a:rPr>
              <a:t>的唯物主义。意识对物质有能动的反作用，这是物质、意识关系上的辩证法。</a:t>
            </a:r>
            <a:endParaRPr lang="zh-CN" altLang="en-US" sz="2400" b="1" dirty="0">
              <a:solidFill>
                <a:srgbClr val="0000CC"/>
              </a:solidFill>
              <a:latin typeface="楷体" panose="02010609060101010101" pitchFamily="49" charset="-122"/>
              <a:ea typeface="楷体" panose="02010609060101010101" pitchFamily="49" charset="-122"/>
            </a:endParaRPr>
          </a:p>
        </p:txBody>
      </p:sp>
      <p:sp>
        <p:nvSpPr>
          <p:cNvPr id="10" name="矩形 1045509"/>
          <p:cNvSpPr>
            <a:spLocks noChangeArrowheads="1"/>
          </p:cNvSpPr>
          <p:nvPr/>
        </p:nvSpPr>
        <p:spPr bwMode="auto">
          <a:xfrm>
            <a:off x="323404" y="5000636"/>
            <a:ext cx="8249124" cy="863600"/>
          </a:xfrm>
          <a:prstGeom prst="rect">
            <a:avLst/>
          </a:prstGeom>
          <a:solidFill>
            <a:srgbClr val="D9F2AC"/>
          </a:solidFill>
          <a:ln w="9525">
            <a:solidFill>
              <a:srgbClr val="FF9900"/>
            </a:solidFill>
            <a:miter lim="800000"/>
          </a:ln>
        </p:spPr>
        <p:txBody>
          <a:bodyPr/>
          <a:lstStyle/>
          <a:p>
            <a:pPr>
              <a:spcBef>
                <a:spcPct val="20000"/>
              </a:spcBef>
            </a:pPr>
            <a:r>
              <a:rPr lang="en-US" altLang="zh-CN" sz="2800" b="1" dirty="0">
                <a:solidFill>
                  <a:srgbClr val="0000CC"/>
                </a:solidFill>
                <a:latin typeface="华文行楷" pitchFamily="2" charset="-122"/>
                <a:ea typeface="华文行楷" pitchFamily="2" charset="-122"/>
              </a:rPr>
              <a:t>    </a:t>
            </a:r>
            <a:r>
              <a:rPr lang="en-US" altLang="zh-CN" sz="2800" b="1" dirty="0" smtClean="0">
                <a:solidFill>
                  <a:srgbClr val="0000CC"/>
                </a:solidFill>
                <a:latin typeface="华文行楷" pitchFamily="2" charset="-122"/>
                <a:ea typeface="华文行楷" pitchFamily="2" charset="-122"/>
              </a:rPr>
              <a:t> </a:t>
            </a:r>
            <a:r>
              <a:rPr lang="zh-CN" altLang="en-US" sz="2000" b="1" dirty="0" smtClean="0">
                <a:solidFill>
                  <a:srgbClr val="FF0000"/>
                </a:solidFill>
                <a:latin typeface="黑体" panose="02010609060101010101" pitchFamily="49" charset="-122"/>
                <a:ea typeface="黑体" panose="02010609060101010101" pitchFamily="49" charset="-122"/>
              </a:rPr>
              <a:t>无论</a:t>
            </a:r>
            <a:r>
              <a:rPr lang="zh-CN" altLang="en-US" sz="2000" b="1" dirty="0">
                <a:solidFill>
                  <a:srgbClr val="FF0000"/>
                </a:solidFill>
                <a:latin typeface="黑体" panose="02010609060101010101" pitchFamily="49" charset="-122"/>
                <a:ea typeface="黑体" panose="02010609060101010101" pitchFamily="49" charset="-122"/>
              </a:rPr>
              <a:t>是物质决定意识，还是意识反作用于物质，都离不开社会实践，只能在实践中发生，在实践中实现。</a:t>
            </a:r>
            <a:endParaRPr lang="zh-CN" altLang="en-US" sz="20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矩形 1039361"/>
          <p:cNvSpPr>
            <a:spLocks noChangeArrowheads="1"/>
          </p:cNvSpPr>
          <p:nvPr/>
        </p:nvSpPr>
        <p:spPr bwMode="auto">
          <a:xfrm>
            <a:off x="291440" y="333375"/>
            <a:ext cx="8566840" cy="707886"/>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3200" b="1" dirty="0">
                <a:solidFill>
                  <a:srgbClr val="0000FF"/>
                </a:solidFill>
                <a:latin typeface="楷体" panose="02010609060101010101" pitchFamily="49" charset="-122"/>
                <a:ea typeface="楷体" panose="02010609060101010101" pitchFamily="49" charset="-122"/>
              </a:rPr>
              <a:t>（三）主观能动性和客观规律性</a:t>
            </a:r>
            <a:r>
              <a:rPr lang="zh-CN" altLang="en-US" sz="3200" b="1" dirty="0" smtClean="0">
                <a:solidFill>
                  <a:srgbClr val="0000FF"/>
                </a:solidFill>
                <a:latin typeface="楷体" panose="02010609060101010101" pitchFamily="49" charset="-122"/>
                <a:ea typeface="楷体" panose="02010609060101010101" pitchFamily="49" charset="-122"/>
              </a:rPr>
              <a:t>的辩证统一</a:t>
            </a:r>
            <a:endParaRPr lang="zh-CN" altLang="en-US" sz="3200" b="1" dirty="0">
              <a:solidFill>
                <a:schemeClr val="accent2"/>
              </a:solidFill>
              <a:latin typeface="楷体" panose="02010609060101010101" pitchFamily="49" charset="-122"/>
              <a:ea typeface="楷体" panose="02010609060101010101" pitchFamily="49" charset="-122"/>
            </a:endParaRPr>
          </a:p>
        </p:txBody>
      </p:sp>
      <p:sp>
        <p:nvSpPr>
          <p:cNvPr id="84994" name="矩形 1039362"/>
          <p:cNvSpPr>
            <a:spLocks noChangeArrowheads="1"/>
          </p:cNvSpPr>
          <p:nvPr/>
        </p:nvSpPr>
        <p:spPr bwMode="auto">
          <a:xfrm>
            <a:off x="285750" y="1223010"/>
            <a:ext cx="8582025" cy="1008380"/>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pPr>
            <a:r>
              <a:rPr lang="en-US" altLang="zh-CN" sz="1800" b="1" dirty="0">
                <a:solidFill>
                  <a:srgbClr val="3333FF"/>
                </a:solidFill>
                <a:latin typeface="幼圆" pitchFamily="49" charset="-122"/>
                <a:ea typeface="幼圆" pitchFamily="49" charset="-122"/>
              </a:rPr>
              <a:t>  </a:t>
            </a:r>
            <a:r>
              <a:rPr lang="zh-CN" altLang="en-US" sz="2400" b="1" dirty="0">
                <a:solidFill>
                  <a:srgbClr val="3333FF"/>
                </a:solidFill>
                <a:latin typeface="+mn-ea"/>
              </a:rPr>
              <a:t>正确认识和把握物质的决定作用和意识的反作用，必须处理好</a:t>
            </a:r>
            <a:r>
              <a:rPr lang="zh-CN" altLang="en-US" sz="2400" b="1" dirty="0">
                <a:solidFill>
                  <a:srgbClr val="FF0000"/>
                </a:solidFill>
                <a:latin typeface="+mn-ea"/>
              </a:rPr>
              <a:t>主观能动性和客观规律性</a:t>
            </a:r>
            <a:r>
              <a:rPr lang="zh-CN" altLang="en-US" sz="2400" b="1" dirty="0">
                <a:solidFill>
                  <a:srgbClr val="3333FF"/>
                </a:solidFill>
                <a:latin typeface="+mn-ea"/>
              </a:rPr>
              <a:t>的关系。</a:t>
            </a:r>
            <a:endParaRPr lang="zh-CN" altLang="en-US" sz="2400" b="1" dirty="0">
              <a:solidFill>
                <a:srgbClr val="3333FF"/>
              </a:solidFill>
              <a:latin typeface="+mn-ea"/>
            </a:endParaRPr>
          </a:p>
        </p:txBody>
      </p:sp>
      <p:grpSp>
        <p:nvGrpSpPr>
          <p:cNvPr id="84998" name="组合 1039370"/>
          <p:cNvGrpSpPr/>
          <p:nvPr/>
        </p:nvGrpSpPr>
        <p:grpSpPr bwMode="auto">
          <a:xfrm>
            <a:off x="357158" y="2500306"/>
            <a:ext cx="7990556" cy="1037332"/>
            <a:chOff x="1338" y="1109"/>
            <a:chExt cx="3696" cy="615"/>
          </a:xfrm>
        </p:grpSpPr>
        <p:sp>
          <p:nvSpPr>
            <p:cNvPr id="84999" name="圆角矩形 103937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85000" name="文本框 1039372"/>
            <p:cNvSpPr txBox="1">
              <a:spLocks noChangeArrowheads="1"/>
            </p:cNvSpPr>
            <p:nvPr/>
          </p:nvSpPr>
          <p:spPr bwMode="auto">
            <a:xfrm>
              <a:off x="1440" y="1122"/>
              <a:ext cx="3551" cy="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a:solidFill>
                    <a:schemeClr val="bg1"/>
                  </a:solidFill>
                  <a:latin typeface="楷体" panose="02010609060101010101" pitchFamily="49" charset="-122"/>
                  <a:ea typeface="楷体" panose="02010609060101010101" pitchFamily="49" charset="-122"/>
                </a:rPr>
                <a:t>1 </a:t>
              </a:r>
              <a:r>
                <a:rPr lang="zh-CN" altLang="en-US" b="1" dirty="0">
                  <a:solidFill>
                    <a:schemeClr val="bg1"/>
                  </a:solidFill>
                  <a:latin typeface="楷体" panose="02010609060101010101" pitchFamily="49" charset="-122"/>
                  <a:ea typeface="楷体" panose="02010609060101010101" pitchFamily="49" charset="-122"/>
                </a:rPr>
                <a:t>尊重客观规律</a:t>
              </a:r>
              <a:r>
                <a:rPr lang="zh-CN" altLang="en-US" b="1" dirty="0" smtClean="0">
                  <a:solidFill>
                    <a:schemeClr val="bg1"/>
                  </a:solidFill>
                  <a:latin typeface="楷体" panose="02010609060101010101" pitchFamily="49" charset="-122"/>
                  <a:ea typeface="楷体" panose="02010609060101010101" pitchFamily="49" charset="-122"/>
                </a:rPr>
                <a:t>是正确发挥</a:t>
              </a:r>
              <a:r>
                <a:rPr lang="zh-CN" altLang="en-US" b="1" dirty="0">
                  <a:solidFill>
                    <a:schemeClr val="bg1"/>
                  </a:solidFill>
                  <a:latin typeface="楷体" panose="02010609060101010101" pitchFamily="49" charset="-122"/>
                  <a:ea typeface="楷体" panose="02010609060101010101" pitchFamily="49" charset="-122"/>
                </a:rPr>
                <a:t>主观能动性的前提</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85001" name="组合 1039373"/>
          <p:cNvGrpSpPr/>
          <p:nvPr/>
        </p:nvGrpSpPr>
        <p:grpSpPr bwMode="auto">
          <a:xfrm>
            <a:off x="357158" y="3500438"/>
            <a:ext cx="8047751" cy="1049337"/>
            <a:chOff x="1338" y="1109"/>
            <a:chExt cx="3696" cy="392"/>
          </a:xfrm>
        </p:grpSpPr>
        <p:sp>
          <p:nvSpPr>
            <p:cNvPr id="85002" name="圆角矩形 103937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85003" name="文本框 1039375"/>
            <p:cNvSpPr txBox="1">
              <a:spLocks noChangeArrowheads="1"/>
            </p:cNvSpPr>
            <p:nvPr/>
          </p:nvSpPr>
          <p:spPr bwMode="auto">
            <a:xfrm>
              <a:off x="1440" y="1122"/>
              <a:ext cx="3551"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a:solidFill>
                    <a:schemeClr val="bg1"/>
                  </a:solidFill>
                  <a:latin typeface="楷体" panose="02010609060101010101" pitchFamily="49" charset="-122"/>
                  <a:ea typeface="楷体" panose="02010609060101010101" pitchFamily="49" charset="-122"/>
                </a:rPr>
                <a:t>2 </a:t>
              </a:r>
              <a:r>
                <a:rPr lang="zh-CN" altLang="en-US" b="1" dirty="0">
                  <a:solidFill>
                    <a:schemeClr val="bg1"/>
                  </a:solidFill>
                  <a:latin typeface="楷体" panose="02010609060101010101" pitchFamily="49" charset="-122"/>
                  <a:ea typeface="楷体" panose="02010609060101010101" pitchFamily="49" charset="-122"/>
                </a:rPr>
                <a:t>只有充分发挥主观能动性，才能正确</a:t>
              </a:r>
              <a:r>
                <a:rPr lang="zh-CN" altLang="en-US" b="1" dirty="0" smtClean="0">
                  <a:solidFill>
                    <a:schemeClr val="bg1"/>
                  </a:solidFill>
                  <a:latin typeface="楷体" panose="02010609060101010101" pitchFamily="49" charset="-122"/>
                  <a:ea typeface="楷体" panose="02010609060101010101" pitchFamily="49" charset="-122"/>
                </a:rPr>
                <a:t>认识</a:t>
              </a:r>
              <a:r>
                <a:rPr lang="zh-CN" altLang="en-US" b="1" dirty="0">
                  <a:solidFill>
                    <a:schemeClr val="bg1"/>
                  </a:solidFill>
                  <a:latin typeface="楷体" panose="02010609060101010101" pitchFamily="49" charset="-122"/>
                  <a:ea typeface="楷体" panose="02010609060101010101" pitchFamily="49" charset="-122"/>
                </a:rPr>
                <a:t>和利用客观规律</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85007" name="组合 1039379"/>
          <p:cNvGrpSpPr/>
          <p:nvPr/>
        </p:nvGrpSpPr>
        <p:grpSpPr bwMode="auto">
          <a:xfrm>
            <a:off x="357158" y="5000636"/>
            <a:ext cx="8072494" cy="647700"/>
            <a:chOff x="1338" y="1109"/>
            <a:chExt cx="3696" cy="384"/>
          </a:xfrm>
        </p:grpSpPr>
        <p:sp>
          <p:nvSpPr>
            <p:cNvPr id="85008" name="圆角矩形 103938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85009" name="文本框 1039381"/>
            <p:cNvSpPr txBox="1">
              <a:spLocks noChangeArrowheads="1"/>
            </p:cNvSpPr>
            <p:nvPr/>
          </p:nvSpPr>
          <p:spPr bwMode="auto">
            <a:xfrm>
              <a:off x="1440" y="1122"/>
              <a:ext cx="3551"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a:solidFill>
                    <a:schemeClr val="bg1"/>
                  </a:solidFill>
                  <a:latin typeface="楷体" panose="02010609060101010101" pitchFamily="49" charset="-122"/>
                  <a:ea typeface="楷体" panose="02010609060101010101" pitchFamily="49" charset="-122"/>
                </a:rPr>
                <a:t>3 </a:t>
              </a:r>
              <a:r>
                <a:rPr lang="zh-CN" altLang="en-US" b="1" dirty="0">
                  <a:solidFill>
                    <a:schemeClr val="bg1"/>
                  </a:solidFill>
                  <a:latin typeface="楷体" panose="02010609060101010101" pitchFamily="49" charset="-122"/>
                  <a:ea typeface="楷体" panose="02010609060101010101" pitchFamily="49" charset="-122"/>
                </a:rPr>
                <a:t>正确发挥主观能动性应注意</a:t>
              </a:r>
              <a:r>
                <a:rPr lang="zh-CN" altLang="en-US" b="1" dirty="0" smtClean="0">
                  <a:solidFill>
                    <a:schemeClr val="bg1"/>
                  </a:solidFill>
                  <a:latin typeface="楷体" panose="02010609060101010101" pitchFamily="49" charset="-122"/>
                  <a:ea typeface="楷体" panose="02010609060101010101" pitchFamily="49" charset="-122"/>
                </a:rPr>
                <a:t>的问题</a:t>
              </a:r>
              <a:endParaRPr lang="zh-CN" altLang="en-US" b="1" dirty="0">
                <a:solidFill>
                  <a:schemeClr val="bg1"/>
                </a:solidFill>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矩形 1039361"/>
          <p:cNvSpPr>
            <a:spLocks noChangeArrowheads="1"/>
          </p:cNvSpPr>
          <p:nvPr/>
        </p:nvSpPr>
        <p:spPr bwMode="auto">
          <a:xfrm>
            <a:off x="291440" y="333375"/>
            <a:ext cx="8566840" cy="707886"/>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3200" b="1" dirty="0" smtClean="0">
                <a:solidFill>
                  <a:srgbClr val="0000FF"/>
                </a:solidFill>
                <a:latin typeface="楷体" panose="02010609060101010101" pitchFamily="49" charset="-122"/>
                <a:ea typeface="楷体" panose="02010609060101010101" pitchFamily="49" charset="-122"/>
              </a:rPr>
              <a:t>（四）意识与人工智能</a:t>
            </a:r>
            <a:endParaRPr lang="zh-CN" altLang="en-US" sz="3200" b="1" dirty="0">
              <a:solidFill>
                <a:schemeClr val="accent2"/>
              </a:solidFill>
              <a:latin typeface="楷体" panose="02010609060101010101" pitchFamily="49" charset="-122"/>
              <a:ea typeface="楷体" panose="02010609060101010101" pitchFamily="49" charset="-122"/>
            </a:endParaRPr>
          </a:p>
        </p:txBody>
      </p:sp>
      <p:sp>
        <p:nvSpPr>
          <p:cNvPr id="84994" name="矩形 1039362"/>
          <p:cNvSpPr>
            <a:spLocks noChangeArrowheads="1"/>
          </p:cNvSpPr>
          <p:nvPr/>
        </p:nvSpPr>
        <p:spPr bwMode="auto">
          <a:xfrm>
            <a:off x="285720" y="1357298"/>
            <a:ext cx="8582017" cy="571504"/>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pPr>
            <a:r>
              <a:rPr lang="en-US" altLang="zh-CN" b="1" dirty="0" smtClean="0">
                <a:solidFill>
                  <a:srgbClr val="3333FF"/>
                </a:solidFill>
                <a:latin typeface="幼圆" pitchFamily="49" charset="-122"/>
                <a:ea typeface="幼圆" pitchFamily="49" charset="-122"/>
              </a:rPr>
              <a:t> </a:t>
            </a:r>
            <a:r>
              <a:rPr lang="zh-CN" altLang="en-US" sz="2000" b="1" dirty="0" smtClean="0">
                <a:solidFill>
                  <a:srgbClr val="3333FF"/>
                </a:solidFill>
                <a:latin typeface="+mn-ea"/>
              </a:rPr>
              <a:t>正确</a:t>
            </a:r>
            <a:r>
              <a:rPr lang="zh-CN" altLang="en-US" sz="2000" b="1" dirty="0">
                <a:solidFill>
                  <a:srgbClr val="3333FF"/>
                </a:solidFill>
                <a:latin typeface="+mn-ea"/>
              </a:rPr>
              <a:t>认识</a:t>
            </a:r>
            <a:r>
              <a:rPr lang="zh-CN" altLang="en-US" sz="2000" b="1" dirty="0" smtClean="0">
                <a:solidFill>
                  <a:srgbClr val="3333FF"/>
                </a:solidFill>
                <a:latin typeface="+mn-ea"/>
              </a:rPr>
              <a:t>和利用人工智能，引导人工智能对人类生存和发展发挥积极作用。</a:t>
            </a:r>
            <a:endParaRPr lang="zh-CN" altLang="en-US" sz="2000" b="1" dirty="0">
              <a:solidFill>
                <a:srgbClr val="3333FF"/>
              </a:solidFill>
              <a:latin typeface="+mn-ea"/>
            </a:endParaRPr>
          </a:p>
        </p:txBody>
      </p:sp>
      <p:grpSp>
        <p:nvGrpSpPr>
          <p:cNvPr id="2" name="组合 1039370"/>
          <p:cNvGrpSpPr/>
          <p:nvPr/>
        </p:nvGrpSpPr>
        <p:grpSpPr bwMode="auto">
          <a:xfrm>
            <a:off x="357158" y="2143116"/>
            <a:ext cx="8072494" cy="647700"/>
            <a:chOff x="1338" y="1109"/>
            <a:chExt cx="3696" cy="384"/>
          </a:xfrm>
        </p:grpSpPr>
        <p:sp>
          <p:nvSpPr>
            <p:cNvPr id="84999" name="圆角矩形 103937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85000" name="文本框 1039372"/>
            <p:cNvSpPr txBox="1">
              <a:spLocks noChangeArrowheads="1"/>
            </p:cNvSpPr>
            <p:nvPr/>
          </p:nvSpPr>
          <p:spPr bwMode="auto">
            <a:xfrm>
              <a:off x="1440" y="1122"/>
              <a:ext cx="35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smtClean="0">
                  <a:solidFill>
                    <a:schemeClr val="bg1"/>
                  </a:solidFill>
                  <a:latin typeface="楷体" panose="02010609060101010101" pitchFamily="49" charset="-122"/>
                  <a:ea typeface="楷体" panose="02010609060101010101" pitchFamily="49" charset="-122"/>
                </a:rPr>
                <a:t>1.</a:t>
              </a:r>
              <a:r>
                <a:rPr lang="zh-CN" altLang="en-US" b="1" dirty="0" smtClean="0">
                  <a:solidFill>
                    <a:schemeClr val="bg1"/>
                  </a:solidFill>
                  <a:latin typeface="楷体" panose="02010609060101010101" pitchFamily="49" charset="-122"/>
                  <a:ea typeface="楷体" panose="02010609060101010101" pitchFamily="49" charset="-122"/>
                </a:rPr>
                <a:t>人工智能的概念</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3" name="组合 1039373"/>
          <p:cNvGrpSpPr/>
          <p:nvPr/>
        </p:nvGrpSpPr>
        <p:grpSpPr bwMode="auto">
          <a:xfrm>
            <a:off x="357158" y="3071810"/>
            <a:ext cx="8047751" cy="714543"/>
            <a:chOff x="1338" y="1189"/>
            <a:chExt cx="3696" cy="267"/>
          </a:xfrm>
        </p:grpSpPr>
        <p:sp>
          <p:nvSpPr>
            <p:cNvPr id="85002" name="圆角矩形 1039374"/>
            <p:cNvSpPr>
              <a:spLocks noChangeArrowheads="1"/>
            </p:cNvSpPr>
            <p:nvPr/>
          </p:nvSpPr>
          <p:spPr bwMode="auto">
            <a:xfrm>
              <a:off x="1338" y="1189"/>
              <a:ext cx="3696" cy="267"/>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85003" name="文本框 1039375"/>
            <p:cNvSpPr txBox="1">
              <a:spLocks noChangeArrowheads="1"/>
            </p:cNvSpPr>
            <p:nvPr/>
          </p:nvSpPr>
          <p:spPr bwMode="auto">
            <a:xfrm>
              <a:off x="1436" y="1216"/>
              <a:ext cx="355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smtClean="0">
                  <a:solidFill>
                    <a:schemeClr val="bg1"/>
                  </a:solidFill>
                  <a:latin typeface="楷体" panose="02010609060101010101" pitchFamily="49" charset="-122"/>
                  <a:ea typeface="楷体" panose="02010609060101010101" pitchFamily="49" charset="-122"/>
                </a:rPr>
                <a:t>2.</a:t>
              </a:r>
              <a:r>
                <a:rPr lang="zh-CN" altLang="en-US" b="1" dirty="0" smtClean="0">
                  <a:solidFill>
                    <a:schemeClr val="bg1"/>
                  </a:solidFill>
                  <a:latin typeface="楷体" panose="02010609060101010101" pitchFamily="49" charset="-122"/>
                  <a:ea typeface="楷体" panose="02010609060101010101" pitchFamily="49" charset="-122"/>
                </a:rPr>
                <a:t>人工智能与人脑及人类意识的关系</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4" name="组合 1039379"/>
          <p:cNvGrpSpPr/>
          <p:nvPr/>
        </p:nvGrpSpPr>
        <p:grpSpPr bwMode="auto">
          <a:xfrm>
            <a:off x="357158" y="4071942"/>
            <a:ext cx="8072494" cy="647700"/>
            <a:chOff x="1338" y="1109"/>
            <a:chExt cx="3696" cy="384"/>
          </a:xfrm>
        </p:grpSpPr>
        <p:sp>
          <p:nvSpPr>
            <p:cNvPr id="85008" name="圆角矩形 103938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85009" name="文本框 1039381"/>
            <p:cNvSpPr txBox="1">
              <a:spLocks noChangeArrowheads="1"/>
            </p:cNvSpPr>
            <p:nvPr/>
          </p:nvSpPr>
          <p:spPr bwMode="auto">
            <a:xfrm>
              <a:off x="1440" y="1122"/>
              <a:ext cx="35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smtClean="0">
                  <a:solidFill>
                    <a:schemeClr val="bg1"/>
                  </a:solidFill>
                  <a:latin typeface="楷体" panose="02010609060101010101" pitchFamily="49" charset="-122"/>
                  <a:ea typeface="楷体" panose="02010609060101010101" pitchFamily="49" charset="-122"/>
                </a:rPr>
                <a:t>3.</a:t>
              </a:r>
              <a:r>
                <a:rPr lang="zh-CN" altLang="en-US" b="1" dirty="0" smtClean="0">
                  <a:solidFill>
                    <a:schemeClr val="bg1"/>
                  </a:solidFill>
                  <a:latin typeface="楷体" panose="02010609060101010101" pitchFamily="49" charset="-122"/>
                  <a:ea typeface="楷体" panose="02010609060101010101" pitchFamily="49" charset="-122"/>
                </a:rPr>
                <a:t>人类意识的独特性</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13" name="组合 1039379"/>
          <p:cNvGrpSpPr/>
          <p:nvPr/>
        </p:nvGrpSpPr>
        <p:grpSpPr bwMode="auto">
          <a:xfrm>
            <a:off x="357158" y="5000636"/>
            <a:ext cx="8072494" cy="790576"/>
            <a:chOff x="1338" y="1109"/>
            <a:chExt cx="3696" cy="384"/>
          </a:xfrm>
        </p:grpSpPr>
        <p:sp>
          <p:nvSpPr>
            <p:cNvPr id="14" name="圆角矩形 103938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15" name="文本框 1039381"/>
            <p:cNvSpPr txBox="1">
              <a:spLocks noChangeArrowheads="1"/>
            </p:cNvSpPr>
            <p:nvPr/>
          </p:nvSpPr>
          <p:spPr bwMode="auto">
            <a:xfrm>
              <a:off x="1400" y="1173"/>
              <a:ext cx="355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b="1" dirty="0" smtClean="0">
                  <a:solidFill>
                    <a:schemeClr val="bg1"/>
                  </a:solidFill>
                  <a:latin typeface="楷体" panose="02010609060101010101" pitchFamily="49" charset="-122"/>
                  <a:ea typeface="楷体" panose="02010609060101010101" pitchFamily="49" charset="-122"/>
                </a:rPr>
                <a:t>人工智能的未来以及我们的态度</a:t>
              </a:r>
              <a:endParaRPr lang="zh-CN" altLang="en-US" b="1" dirty="0">
                <a:solidFill>
                  <a:schemeClr val="bg1"/>
                </a:solidFill>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2" name="矩形 1046531"/>
          <p:cNvSpPr/>
          <p:nvPr/>
        </p:nvSpPr>
        <p:spPr>
          <a:xfrm>
            <a:off x="357158" y="428604"/>
            <a:ext cx="4680892" cy="604781"/>
          </a:xfrm>
          <a:prstGeom prst="rect">
            <a:avLst/>
          </a:prstGeom>
          <a:solidFill>
            <a:srgbClr val="CCECFF"/>
          </a:solidFill>
          <a:ln w="38100">
            <a:noFill/>
          </a:ln>
        </p:spPr>
        <p:txBody>
          <a:bodyPr wrap="square">
            <a:spAutoFit/>
          </a:bodyPr>
          <a:lstStyle/>
          <a:p>
            <a:pPr eaLnBrk="0" hangingPunct="0">
              <a:lnSpc>
                <a:spcPct val="120000"/>
              </a:lnSpc>
              <a:spcBef>
                <a:spcPct val="50000"/>
              </a:spcBef>
            </a:pPr>
            <a:r>
              <a:rPr lang="zh-CN" altLang="en-US" sz="3200" b="1" noProof="1" smtClean="0">
                <a:solidFill>
                  <a:srgbClr val="0035F4"/>
                </a:solidFill>
                <a:latin typeface="楷体" panose="02010609060101010101" pitchFamily="49" charset="-122"/>
                <a:ea typeface="楷体" panose="02010609060101010101" pitchFamily="49" charset="-122"/>
              </a:rPr>
              <a:t>三</a:t>
            </a:r>
            <a:r>
              <a:rPr lang="zh-CN" altLang="en-US" sz="3200" b="1" noProof="1">
                <a:solidFill>
                  <a:srgbClr val="0035F4"/>
                </a:solidFill>
                <a:latin typeface="楷体" panose="02010609060101010101" pitchFamily="49" charset="-122"/>
                <a:ea typeface="楷体" panose="02010609060101010101" pitchFamily="49" charset="-122"/>
              </a:rPr>
              <a:t>、</a:t>
            </a:r>
            <a:r>
              <a:rPr lang="zh-CN" altLang="en-US" sz="3200" b="1" noProof="1" smtClean="0">
                <a:solidFill>
                  <a:srgbClr val="0035F4"/>
                </a:solidFill>
                <a:latin typeface="楷体" panose="02010609060101010101" pitchFamily="49" charset="-122"/>
                <a:ea typeface="楷体" panose="02010609060101010101" pitchFamily="49" charset="-122"/>
              </a:rPr>
              <a:t>世界的</a:t>
            </a:r>
            <a:r>
              <a:rPr lang="zh-CN" altLang="en-US" sz="3200" b="1" noProof="1">
                <a:solidFill>
                  <a:srgbClr val="0035F4"/>
                </a:solidFill>
                <a:latin typeface="楷体" panose="02010609060101010101" pitchFamily="49" charset="-122"/>
                <a:ea typeface="楷体" panose="02010609060101010101" pitchFamily="49" charset="-122"/>
              </a:rPr>
              <a:t>物质统一性</a:t>
            </a:r>
            <a:endParaRPr lang="zh-CN" altLang="en-US" sz="3200" b="1" noProof="1">
              <a:solidFill>
                <a:srgbClr val="0035F4"/>
              </a:solidFill>
              <a:latin typeface="楷体" panose="02010609060101010101" pitchFamily="49" charset="-122"/>
              <a:ea typeface="楷体" panose="02010609060101010101" pitchFamily="49" charset="-122"/>
            </a:endParaRPr>
          </a:p>
        </p:txBody>
      </p:sp>
      <p:sp>
        <p:nvSpPr>
          <p:cNvPr id="92162" name="矩形 1046532"/>
          <p:cNvSpPr>
            <a:spLocks noChangeArrowheads="1"/>
          </p:cNvSpPr>
          <p:nvPr/>
        </p:nvSpPr>
        <p:spPr bwMode="auto">
          <a:xfrm>
            <a:off x="251520" y="1125538"/>
            <a:ext cx="8568952" cy="1871414"/>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pPr>
            <a:r>
              <a:rPr lang="en-US" altLang="zh-CN" sz="1800" b="1" dirty="0">
                <a:solidFill>
                  <a:srgbClr val="3333FF"/>
                </a:solidFill>
                <a:latin typeface="幼圆" pitchFamily="49" charset="-122"/>
                <a:ea typeface="幼圆" pitchFamily="49" charset="-122"/>
              </a:rPr>
              <a:t>  </a:t>
            </a:r>
            <a:r>
              <a:rPr lang="zh-CN" altLang="en-US" sz="2000" b="1" dirty="0">
                <a:solidFill>
                  <a:srgbClr val="3333FF"/>
                </a:solidFill>
                <a:latin typeface="+mn-ea"/>
              </a:rPr>
              <a:t>世界的统一性问题，是回答世界上的万事万物有没有统一性，即有没有共同的本质或本原的问题。马克思主义认为，多样化的世界是有统一的本原的，这就是物质，不仅自然界是物质的，人类社会也具有物质性，</a:t>
            </a:r>
            <a:r>
              <a:rPr lang="zh-CN" altLang="en-US" sz="2000" b="1" dirty="0">
                <a:solidFill>
                  <a:srgbClr val="FF0000"/>
                </a:solidFill>
                <a:latin typeface="+mn-ea"/>
              </a:rPr>
              <a:t>世界的真正统一性在于它的物质性</a:t>
            </a:r>
            <a:r>
              <a:rPr lang="zh-CN" altLang="en-US" sz="2000" b="1" dirty="0">
                <a:solidFill>
                  <a:srgbClr val="3333FF"/>
                </a:solidFill>
                <a:latin typeface="+mn-ea"/>
              </a:rPr>
              <a:t>。</a:t>
            </a:r>
            <a:endParaRPr lang="zh-CN" altLang="en-US" sz="2000" b="1" dirty="0">
              <a:solidFill>
                <a:srgbClr val="3333FF"/>
              </a:solidFill>
              <a:latin typeface="+mn-ea"/>
            </a:endParaRPr>
          </a:p>
        </p:txBody>
      </p:sp>
      <p:grpSp>
        <p:nvGrpSpPr>
          <p:cNvPr id="92164" name="组合 1046534"/>
          <p:cNvGrpSpPr/>
          <p:nvPr/>
        </p:nvGrpSpPr>
        <p:grpSpPr bwMode="auto">
          <a:xfrm>
            <a:off x="755650" y="3212009"/>
            <a:ext cx="3024188" cy="647700"/>
            <a:chOff x="1338" y="1109"/>
            <a:chExt cx="3696" cy="384"/>
          </a:xfrm>
        </p:grpSpPr>
        <p:sp>
          <p:nvSpPr>
            <p:cNvPr id="92165" name="圆角矩形 104653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92166" name="文本框 1046536"/>
            <p:cNvSpPr txBox="1">
              <a:spLocks noChangeArrowheads="1"/>
            </p:cNvSpPr>
            <p:nvPr/>
          </p:nvSpPr>
          <p:spPr bwMode="auto">
            <a:xfrm>
              <a:off x="1440" y="1122"/>
              <a:ext cx="3551"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smtClean="0">
                  <a:solidFill>
                    <a:schemeClr val="bg1"/>
                  </a:solidFill>
                  <a:latin typeface="楷体" panose="02010609060101010101" pitchFamily="49" charset="-122"/>
                  <a:ea typeface="楷体" panose="02010609060101010101" pitchFamily="49" charset="-122"/>
                </a:rPr>
                <a:t>1.</a:t>
              </a:r>
              <a:r>
                <a:rPr lang="zh-CN" altLang="en-US" b="1" dirty="0" smtClean="0">
                  <a:solidFill>
                    <a:schemeClr val="bg1"/>
                  </a:solidFill>
                  <a:latin typeface="楷体" panose="02010609060101010101" pitchFamily="49" charset="-122"/>
                  <a:ea typeface="楷体" panose="02010609060101010101" pitchFamily="49" charset="-122"/>
                </a:rPr>
                <a:t>自然界是物质的</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92167" name="组合 1046537"/>
          <p:cNvGrpSpPr/>
          <p:nvPr/>
        </p:nvGrpSpPr>
        <p:grpSpPr bwMode="auto">
          <a:xfrm>
            <a:off x="742238" y="3985774"/>
            <a:ext cx="4687017" cy="647700"/>
            <a:chOff x="1338" y="1109"/>
            <a:chExt cx="3696" cy="384"/>
          </a:xfrm>
        </p:grpSpPr>
        <p:sp>
          <p:nvSpPr>
            <p:cNvPr id="92168" name="圆角矩形 104653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92169" name="文本框 1046539"/>
            <p:cNvSpPr txBox="1">
              <a:spLocks noChangeArrowheads="1"/>
            </p:cNvSpPr>
            <p:nvPr/>
          </p:nvSpPr>
          <p:spPr bwMode="auto">
            <a:xfrm>
              <a:off x="1440" y="1122"/>
              <a:ext cx="3551"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smtClean="0">
                  <a:solidFill>
                    <a:schemeClr val="bg1"/>
                  </a:solidFill>
                  <a:latin typeface="楷体" panose="02010609060101010101" pitchFamily="49" charset="-122"/>
                  <a:ea typeface="楷体" panose="02010609060101010101" pitchFamily="49" charset="-122"/>
                </a:rPr>
                <a:t>2.</a:t>
              </a:r>
              <a:r>
                <a:rPr lang="zh-CN" altLang="en-US" b="1" dirty="0" smtClean="0">
                  <a:solidFill>
                    <a:schemeClr val="bg1"/>
                  </a:solidFill>
                  <a:latin typeface="楷体" panose="02010609060101010101" pitchFamily="49" charset="-122"/>
                  <a:ea typeface="楷体" panose="02010609060101010101" pitchFamily="49" charset="-122"/>
                </a:rPr>
                <a:t>人类社会本质上也是物质的</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92170" name="组合 1046540"/>
          <p:cNvGrpSpPr/>
          <p:nvPr/>
        </p:nvGrpSpPr>
        <p:grpSpPr bwMode="auto">
          <a:xfrm>
            <a:off x="755650" y="4867771"/>
            <a:ext cx="4032250" cy="647700"/>
            <a:chOff x="1338" y="1109"/>
            <a:chExt cx="3696" cy="384"/>
          </a:xfrm>
        </p:grpSpPr>
        <p:sp>
          <p:nvSpPr>
            <p:cNvPr id="92171" name="圆角矩形 104654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92172" name="文本框 1046542"/>
            <p:cNvSpPr txBox="1">
              <a:spLocks noChangeArrowheads="1"/>
            </p:cNvSpPr>
            <p:nvPr/>
          </p:nvSpPr>
          <p:spPr bwMode="auto">
            <a:xfrm>
              <a:off x="1440" y="1122"/>
              <a:ext cx="3550"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b="1" dirty="0" smtClean="0">
                  <a:solidFill>
                    <a:schemeClr val="bg1"/>
                  </a:solidFill>
                  <a:latin typeface="楷体" panose="02010609060101010101" pitchFamily="49" charset="-122"/>
                  <a:ea typeface="楷体" panose="02010609060101010101" pitchFamily="49" charset="-122"/>
                </a:rPr>
                <a:t>3.</a:t>
              </a:r>
              <a:r>
                <a:rPr lang="zh-CN" altLang="en-US" b="1" dirty="0" smtClean="0">
                  <a:solidFill>
                    <a:schemeClr val="bg1"/>
                  </a:solidFill>
                  <a:latin typeface="楷体" panose="02010609060101010101" pitchFamily="49" charset="-122"/>
                  <a:ea typeface="楷体" panose="02010609060101010101" pitchFamily="49" charset="-122"/>
                </a:rPr>
                <a:t>人的意识统一于物质</a:t>
              </a:r>
              <a:endParaRPr lang="zh-CN" altLang="en-US" b="1" dirty="0">
                <a:solidFill>
                  <a:schemeClr val="bg1"/>
                </a:solidFill>
                <a:latin typeface="楷体" panose="02010609060101010101" pitchFamily="49" charset="-122"/>
                <a:ea typeface="楷体" panose="02010609060101010101" pitchFamily="49" charset="-122"/>
              </a:endParaRPr>
            </a:p>
          </p:txBody>
        </p:sp>
      </p:grpSp>
      <p:grpSp>
        <p:nvGrpSpPr>
          <p:cNvPr id="92175" name="组合 1046550"/>
          <p:cNvGrpSpPr/>
          <p:nvPr/>
        </p:nvGrpSpPr>
        <p:grpSpPr bwMode="auto">
          <a:xfrm>
            <a:off x="755650" y="5732959"/>
            <a:ext cx="4032250" cy="647700"/>
            <a:chOff x="1338" y="1109"/>
            <a:chExt cx="3696" cy="384"/>
          </a:xfrm>
        </p:grpSpPr>
        <p:sp>
          <p:nvSpPr>
            <p:cNvPr id="92176" name="圆角矩形 104655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endParaRPr lang="zh-CN" altLang="en-US"/>
            </a:p>
          </p:txBody>
        </p:sp>
        <p:sp>
          <p:nvSpPr>
            <p:cNvPr id="92177" name="文本框 1046552"/>
            <p:cNvSpPr txBox="1">
              <a:spLocks noChangeArrowheads="1"/>
            </p:cNvSpPr>
            <p:nvPr/>
          </p:nvSpPr>
          <p:spPr bwMode="auto">
            <a:xfrm>
              <a:off x="1440" y="1122"/>
              <a:ext cx="3550"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b="1" dirty="0" smtClean="0">
                  <a:solidFill>
                    <a:schemeClr val="bg1"/>
                  </a:solidFill>
                  <a:latin typeface="楷体" panose="02010609060101010101" pitchFamily="49" charset="-122"/>
                  <a:ea typeface="楷体" panose="02010609060101010101" pitchFamily="49" charset="-122"/>
                </a:rPr>
                <a:t>世界物质统一性的</a:t>
              </a:r>
              <a:r>
                <a:rPr lang="zh-CN" altLang="en-US" b="1" dirty="0">
                  <a:solidFill>
                    <a:schemeClr val="bg1"/>
                  </a:solidFill>
                  <a:latin typeface="楷体" panose="02010609060101010101" pitchFamily="49" charset="-122"/>
                  <a:ea typeface="楷体" panose="02010609060101010101" pitchFamily="49" charset="-122"/>
                </a:rPr>
                <a:t>哲学意义</a:t>
              </a:r>
              <a:endParaRPr lang="zh-CN" altLang="en-US" b="1" dirty="0">
                <a:solidFill>
                  <a:schemeClr val="bg1"/>
                </a:solidFill>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1" name="组合 986215"/>
          <p:cNvGrpSpPr/>
          <p:nvPr/>
        </p:nvGrpSpPr>
        <p:grpSpPr bwMode="auto">
          <a:xfrm>
            <a:off x="500034" y="928670"/>
            <a:ext cx="8066128" cy="4746626"/>
            <a:chOff x="110" y="74"/>
            <a:chExt cx="5578" cy="2990"/>
          </a:xfrm>
        </p:grpSpPr>
        <p:sp>
          <p:nvSpPr>
            <p:cNvPr id="97282" name="文本框 986113"/>
            <p:cNvSpPr txBox="1">
              <a:spLocks noChangeArrowheads="1"/>
            </p:cNvSpPr>
            <p:nvPr/>
          </p:nvSpPr>
          <p:spPr bwMode="auto">
            <a:xfrm>
              <a:off x="2037" y="119"/>
              <a:ext cx="1296" cy="469"/>
            </a:xfrm>
            <a:prstGeom prst="rect">
              <a:avLst/>
            </a:prstGeom>
            <a:solidFill>
              <a:srgbClr val="CCFFFF"/>
            </a:solidFill>
            <a:ln w="9525">
              <a:solidFill>
                <a:schemeClr val="tx1"/>
              </a:solidFill>
              <a:miter lim="800000"/>
            </a:ln>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物 质</a:t>
              </a:r>
              <a:endParaRPr lang="zh-CN" altLang="en-US" sz="2000" b="1" dirty="0">
                <a:solidFill>
                  <a:srgbClr val="FF0000"/>
                </a:solidFill>
                <a:latin typeface="楷体_GB2312" pitchFamily="1" charset="-122"/>
                <a:ea typeface="楷体_GB2312" pitchFamily="1" charset="-122"/>
              </a:endParaRPr>
            </a:p>
            <a:p>
              <a:pPr algn="ctr">
                <a:lnSpc>
                  <a:spcPct val="125000"/>
                </a:lnSpc>
              </a:pPr>
              <a:r>
                <a:rPr lang="zh-CN" altLang="en-US" sz="1400" b="1" dirty="0">
                  <a:latin typeface="幼圆" pitchFamily="49" charset="-122"/>
                  <a:ea typeface="幼圆" pitchFamily="49" charset="-122"/>
                </a:rPr>
                <a:t>（客观实在）</a:t>
              </a:r>
              <a:endParaRPr lang="zh-CN" altLang="en-US" sz="1400" b="1" dirty="0">
                <a:latin typeface="幼圆" pitchFamily="49" charset="-122"/>
                <a:ea typeface="幼圆" pitchFamily="49" charset="-122"/>
              </a:endParaRPr>
            </a:p>
          </p:txBody>
        </p:sp>
        <p:sp>
          <p:nvSpPr>
            <p:cNvPr id="97283" name="文本框 986121"/>
            <p:cNvSpPr txBox="1">
              <a:spLocks noChangeArrowheads="1"/>
            </p:cNvSpPr>
            <p:nvPr/>
          </p:nvSpPr>
          <p:spPr bwMode="auto">
            <a:xfrm>
              <a:off x="110" y="74"/>
              <a:ext cx="388" cy="2721"/>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800" b="1" dirty="0">
                  <a:latin typeface="华文新魏" pitchFamily="2" charset="-122"/>
                  <a:ea typeface="华文新魏" pitchFamily="2" charset="-122"/>
                </a:rPr>
                <a:t>唯 物 论</a:t>
              </a:r>
              <a:endParaRPr lang="zh-CN" altLang="en-US" sz="2800" b="1" dirty="0">
                <a:latin typeface="华文新魏" pitchFamily="2" charset="-122"/>
                <a:ea typeface="华文新魏" pitchFamily="2" charset="-122"/>
              </a:endParaRPr>
            </a:p>
          </p:txBody>
        </p:sp>
        <p:sp>
          <p:nvSpPr>
            <p:cNvPr id="97284" name="直接连接符 986123"/>
            <p:cNvSpPr>
              <a:spLocks noChangeShapeType="1"/>
            </p:cNvSpPr>
            <p:nvPr/>
          </p:nvSpPr>
          <p:spPr bwMode="auto">
            <a:xfrm flipV="1">
              <a:off x="1641" y="389"/>
              <a:ext cx="40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7285" name="组合 986140"/>
            <p:cNvGrpSpPr/>
            <p:nvPr/>
          </p:nvGrpSpPr>
          <p:grpSpPr bwMode="auto">
            <a:xfrm>
              <a:off x="802" y="119"/>
              <a:ext cx="925" cy="544"/>
              <a:chOff x="1111" y="1979"/>
              <a:chExt cx="771" cy="635"/>
            </a:xfrm>
          </p:grpSpPr>
          <p:sp>
            <p:nvSpPr>
              <p:cNvPr id="97286" name="椭圆 986141"/>
              <p:cNvSpPr>
                <a:spLocks noChangeArrowheads="1"/>
              </p:cNvSpPr>
              <p:nvPr/>
            </p:nvSpPr>
            <p:spPr bwMode="auto">
              <a:xfrm>
                <a:off x="1111" y="1979"/>
                <a:ext cx="700" cy="635"/>
              </a:xfrm>
              <a:prstGeom prst="ellipse">
                <a:avLst/>
              </a:prstGeom>
              <a:solidFill>
                <a:srgbClr val="99CC00"/>
              </a:solidFill>
              <a:ln w="9525">
                <a:solidFill>
                  <a:schemeClr val="tx1"/>
                </a:solidFill>
                <a:round/>
              </a:ln>
            </p:spPr>
            <p:txBody>
              <a:bodyPr/>
              <a:lstStyle/>
              <a:p>
                <a:endParaRPr lang="zh-CN" altLang="en-US"/>
              </a:p>
            </p:txBody>
          </p:sp>
          <p:sp>
            <p:nvSpPr>
              <p:cNvPr id="97287" name="矩形 986142"/>
              <p:cNvSpPr>
                <a:spLocks noChangeArrowheads="1"/>
              </p:cNvSpPr>
              <p:nvPr/>
            </p:nvSpPr>
            <p:spPr bwMode="auto">
              <a:xfrm>
                <a:off x="1111" y="2084"/>
                <a:ext cx="771"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5000"/>
                  </a:lnSpc>
                  <a:buFont typeface="Wingdings" panose="05000000000000000000" pitchFamily="2" charset="2"/>
                  <a:buNone/>
                </a:pPr>
                <a:r>
                  <a:rPr lang="zh-CN" altLang="en-US" sz="2000" b="1" dirty="0">
                    <a:solidFill>
                      <a:srgbClr val="0000FF"/>
                    </a:solidFill>
                    <a:ea typeface="幼圆" pitchFamily="49" charset="-122"/>
                  </a:rPr>
                  <a:t>物质观</a:t>
                </a:r>
                <a:endParaRPr lang="zh-CN" altLang="en-US" sz="2000" b="1" dirty="0">
                  <a:solidFill>
                    <a:srgbClr val="0000FF"/>
                  </a:solidFill>
                  <a:ea typeface="幼圆" pitchFamily="49" charset="-122"/>
                </a:endParaRPr>
              </a:p>
            </p:txBody>
          </p:sp>
        </p:grpSp>
        <p:grpSp>
          <p:nvGrpSpPr>
            <p:cNvPr id="97288" name="组合 986143"/>
            <p:cNvGrpSpPr/>
            <p:nvPr/>
          </p:nvGrpSpPr>
          <p:grpSpPr bwMode="auto">
            <a:xfrm>
              <a:off x="802" y="2234"/>
              <a:ext cx="889" cy="544"/>
              <a:chOff x="1054" y="1959"/>
              <a:chExt cx="773" cy="635"/>
            </a:xfrm>
          </p:grpSpPr>
          <p:sp>
            <p:nvSpPr>
              <p:cNvPr id="97289" name="椭圆 986144"/>
              <p:cNvSpPr>
                <a:spLocks noChangeArrowheads="1"/>
              </p:cNvSpPr>
              <p:nvPr/>
            </p:nvSpPr>
            <p:spPr bwMode="auto">
              <a:xfrm>
                <a:off x="1054" y="1959"/>
                <a:ext cx="773" cy="635"/>
              </a:xfrm>
              <a:prstGeom prst="ellipse">
                <a:avLst/>
              </a:prstGeom>
              <a:solidFill>
                <a:srgbClr val="99CC00"/>
              </a:solidFill>
              <a:ln w="9525">
                <a:solidFill>
                  <a:schemeClr val="tx1"/>
                </a:solidFill>
                <a:round/>
              </a:ln>
            </p:spPr>
            <p:txBody>
              <a:bodyPr/>
              <a:lstStyle/>
              <a:p>
                <a:endParaRPr lang="zh-CN" altLang="en-US"/>
              </a:p>
            </p:txBody>
          </p:sp>
          <p:sp>
            <p:nvSpPr>
              <p:cNvPr id="97290" name="矩形 986145"/>
              <p:cNvSpPr>
                <a:spLocks noChangeArrowheads="1"/>
              </p:cNvSpPr>
              <p:nvPr/>
            </p:nvSpPr>
            <p:spPr bwMode="auto">
              <a:xfrm>
                <a:off x="1097" y="2117"/>
                <a:ext cx="68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Wingdings" panose="05000000000000000000" pitchFamily="2" charset="2"/>
                  <a:buNone/>
                </a:pPr>
                <a:r>
                  <a:rPr lang="zh-CN" altLang="en-US" sz="2000" b="1" dirty="0">
                    <a:solidFill>
                      <a:srgbClr val="0000FF"/>
                    </a:solidFill>
                    <a:ea typeface="幼圆" pitchFamily="49" charset="-122"/>
                  </a:rPr>
                  <a:t>意识观</a:t>
                </a:r>
                <a:endParaRPr lang="zh-CN" altLang="en-US" sz="2000" b="1" dirty="0">
                  <a:solidFill>
                    <a:srgbClr val="0000FF"/>
                  </a:solidFill>
                  <a:ea typeface="幼圆" pitchFamily="49" charset="-122"/>
                </a:endParaRPr>
              </a:p>
            </p:txBody>
          </p:sp>
        </p:grpSp>
        <p:sp>
          <p:nvSpPr>
            <p:cNvPr id="97291" name="右箭头 986147"/>
            <p:cNvSpPr>
              <a:spLocks noChangeArrowheads="1"/>
            </p:cNvSpPr>
            <p:nvPr/>
          </p:nvSpPr>
          <p:spPr bwMode="auto">
            <a:xfrm>
              <a:off x="505" y="2414"/>
              <a:ext cx="272" cy="181"/>
            </a:xfrm>
            <a:prstGeom prst="rightArrow">
              <a:avLst>
                <a:gd name="adj1" fmla="val 50000"/>
                <a:gd name="adj2" fmla="val 37513"/>
              </a:avLst>
            </a:prstGeom>
            <a:solidFill>
              <a:schemeClr val="accent1"/>
            </a:solidFill>
            <a:ln w="9525">
              <a:solidFill>
                <a:schemeClr val="tx1"/>
              </a:solidFill>
              <a:miter lim="800000"/>
            </a:ln>
          </p:spPr>
          <p:txBody>
            <a:bodyPr/>
            <a:lstStyle/>
            <a:p>
              <a:endParaRPr lang="zh-CN" altLang="en-US"/>
            </a:p>
          </p:txBody>
        </p:sp>
        <p:grpSp>
          <p:nvGrpSpPr>
            <p:cNvPr id="97292" name="组合 986149"/>
            <p:cNvGrpSpPr/>
            <p:nvPr/>
          </p:nvGrpSpPr>
          <p:grpSpPr bwMode="auto">
            <a:xfrm>
              <a:off x="802" y="844"/>
              <a:ext cx="925" cy="545"/>
              <a:chOff x="1111" y="1979"/>
              <a:chExt cx="771" cy="635"/>
            </a:xfrm>
          </p:grpSpPr>
          <p:sp>
            <p:nvSpPr>
              <p:cNvPr id="97293" name="椭圆 986150"/>
              <p:cNvSpPr>
                <a:spLocks noChangeArrowheads="1"/>
              </p:cNvSpPr>
              <p:nvPr/>
            </p:nvSpPr>
            <p:spPr bwMode="auto">
              <a:xfrm>
                <a:off x="1111" y="1979"/>
                <a:ext cx="700" cy="635"/>
              </a:xfrm>
              <a:prstGeom prst="ellipse">
                <a:avLst/>
              </a:prstGeom>
              <a:solidFill>
                <a:srgbClr val="99CC00"/>
              </a:solidFill>
              <a:ln w="9525">
                <a:solidFill>
                  <a:schemeClr val="tx1"/>
                </a:solidFill>
                <a:round/>
              </a:ln>
            </p:spPr>
            <p:txBody>
              <a:bodyPr/>
              <a:lstStyle/>
              <a:p>
                <a:endParaRPr lang="zh-CN" altLang="en-US"/>
              </a:p>
            </p:txBody>
          </p:sp>
          <p:sp>
            <p:nvSpPr>
              <p:cNvPr id="97294" name="矩形 986151"/>
              <p:cNvSpPr>
                <a:spLocks noChangeArrowheads="1"/>
              </p:cNvSpPr>
              <p:nvPr/>
            </p:nvSpPr>
            <p:spPr bwMode="auto">
              <a:xfrm>
                <a:off x="1111" y="2130"/>
                <a:ext cx="771"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5000"/>
                  </a:lnSpc>
                  <a:buFont typeface="Wingdings" panose="05000000000000000000" pitchFamily="2" charset="2"/>
                  <a:buNone/>
                </a:pPr>
                <a:r>
                  <a:rPr lang="zh-CN" altLang="en-US" sz="2000" b="1" dirty="0">
                    <a:solidFill>
                      <a:srgbClr val="0000FF"/>
                    </a:solidFill>
                    <a:ea typeface="幼圆" pitchFamily="49" charset="-122"/>
                  </a:rPr>
                  <a:t>运动观</a:t>
                </a:r>
                <a:endParaRPr lang="zh-CN" altLang="en-US" sz="2000" b="1" dirty="0">
                  <a:solidFill>
                    <a:srgbClr val="0000FF"/>
                  </a:solidFill>
                  <a:ea typeface="幼圆" pitchFamily="49" charset="-122"/>
                </a:endParaRPr>
              </a:p>
            </p:txBody>
          </p:sp>
        </p:grpSp>
        <p:grpSp>
          <p:nvGrpSpPr>
            <p:cNvPr id="97295" name="组合 986152"/>
            <p:cNvGrpSpPr/>
            <p:nvPr/>
          </p:nvGrpSpPr>
          <p:grpSpPr bwMode="auto">
            <a:xfrm>
              <a:off x="793" y="1615"/>
              <a:ext cx="933" cy="544"/>
              <a:chOff x="1066" y="1979"/>
              <a:chExt cx="778" cy="635"/>
            </a:xfrm>
          </p:grpSpPr>
          <p:sp>
            <p:nvSpPr>
              <p:cNvPr id="97296" name="椭圆 986153"/>
              <p:cNvSpPr>
                <a:spLocks noChangeArrowheads="1"/>
              </p:cNvSpPr>
              <p:nvPr/>
            </p:nvSpPr>
            <p:spPr bwMode="auto">
              <a:xfrm>
                <a:off x="1066" y="1979"/>
                <a:ext cx="748" cy="635"/>
              </a:xfrm>
              <a:prstGeom prst="ellipse">
                <a:avLst/>
              </a:prstGeom>
              <a:solidFill>
                <a:srgbClr val="99CC00"/>
              </a:solidFill>
              <a:ln w="9525">
                <a:solidFill>
                  <a:schemeClr val="tx1"/>
                </a:solidFill>
                <a:round/>
              </a:ln>
            </p:spPr>
            <p:txBody>
              <a:bodyPr/>
              <a:lstStyle/>
              <a:p>
                <a:endParaRPr lang="zh-CN" altLang="en-US"/>
              </a:p>
            </p:txBody>
          </p:sp>
          <p:sp>
            <p:nvSpPr>
              <p:cNvPr id="97297" name="矩形 986154"/>
              <p:cNvSpPr>
                <a:spLocks noChangeArrowheads="1"/>
              </p:cNvSpPr>
              <p:nvPr/>
            </p:nvSpPr>
            <p:spPr bwMode="auto">
              <a:xfrm>
                <a:off x="1073" y="2124"/>
                <a:ext cx="771"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5000"/>
                  </a:lnSpc>
                  <a:buFont typeface="Wingdings" panose="05000000000000000000" pitchFamily="2" charset="2"/>
                  <a:buNone/>
                </a:pPr>
                <a:r>
                  <a:rPr lang="zh-CN" altLang="en-US" sz="2000" b="1" dirty="0">
                    <a:solidFill>
                      <a:srgbClr val="0000FF"/>
                    </a:solidFill>
                    <a:ea typeface="幼圆" pitchFamily="49" charset="-122"/>
                  </a:rPr>
                  <a:t>时空观</a:t>
                </a:r>
                <a:endParaRPr lang="zh-CN" altLang="en-US" sz="2000" b="1" dirty="0">
                  <a:solidFill>
                    <a:srgbClr val="0000FF"/>
                  </a:solidFill>
                  <a:ea typeface="幼圆" pitchFamily="49" charset="-122"/>
                </a:endParaRPr>
              </a:p>
            </p:txBody>
          </p:sp>
        </p:grpSp>
        <p:sp>
          <p:nvSpPr>
            <p:cNvPr id="97305" name="直接连接符 986163"/>
            <p:cNvSpPr>
              <a:spLocks noChangeShapeType="1"/>
            </p:cNvSpPr>
            <p:nvPr/>
          </p:nvSpPr>
          <p:spPr bwMode="auto">
            <a:xfrm flipV="1">
              <a:off x="1641" y="1109"/>
              <a:ext cx="40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6" name="文本框 986164"/>
            <p:cNvSpPr txBox="1">
              <a:spLocks noChangeArrowheads="1"/>
            </p:cNvSpPr>
            <p:nvPr/>
          </p:nvSpPr>
          <p:spPr bwMode="auto">
            <a:xfrm>
              <a:off x="2086" y="890"/>
              <a:ext cx="1247" cy="470"/>
            </a:xfrm>
            <a:prstGeom prst="rect">
              <a:avLst/>
            </a:prstGeom>
            <a:solidFill>
              <a:srgbClr val="CCFFFF"/>
            </a:solidFill>
            <a:ln w="9525">
              <a:solidFill>
                <a:schemeClr val="tx1"/>
              </a:solidFill>
              <a:miter lim="800000"/>
            </a:ln>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运 动</a:t>
              </a:r>
              <a:endParaRPr lang="zh-CN" altLang="en-US" sz="2000" b="1" dirty="0">
                <a:solidFill>
                  <a:srgbClr val="FF0000"/>
                </a:solidFill>
                <a:latin typeface="楷体" panose="02010609060101010101" pitchFamily="49" charset="-122"/>
                <a:ea typeface="楷体" panose="02010609060101010101" pitchFamily="49" charset="-122"/>
              </a:endParaRPr>
            </a:p>
            <a:p>
              <a:pPr algn="ctr">
                <a:lnSpc>
                  <a:spcPct val="125000"/>
                </a:lnSpc>
              </a:pPr>
              <a:r>
                <a:rPr lang="zh-CN" altLang="en-US" sz="1400" b="1" dirty="0">
                  <a:latin typeface="幼圆" pitchFamily="49" charset="-122"/>
                  <a:ea typeface="幼圆" pitchFamily="49" charset="-122"/>
                </a:rPr>
                <a:t>（变化、过程</a:t>
              </a:r>
              <a:r>
                <a:rPr lang="zh-CN" altLang="en-US" sz="1400" b="1" dirty="0" smtClean="0">
                  <a:latin typeface="幼圆" pitchFamily="49" charset="-122"/>
                  <a:ea typeface="幼圆" pitchFamily="49" charset="-122"/>
                </a:rPr>
                <a:t>）绝对</a:t>
              </a:r>
              <a:endParaRPr lang="zh-CN" altLang="en-US" sz="1400" b="1" dirty="0">
                <a:latin typeface="幼圆" pitchFamily="49" charset="-122"/>
                <a:ea typeface="幼圆" pitchFamily="49" charset="-122"/>
              </a:endParaRPr>
            </a:p>
          </p:txBody>
        </p:sp>
        <p:sp>
          <p:nvSpPr>
            <p:cNvPr id="97307" name="文本框 986165"/>
            <p:cNvSpPr txBox="1">
              <a:spLocks noChangeArrowheads="1"/>
            </p:cNvSpPr>
            <p:nvPr/>
          </p:nvSpPr>
          <p:spPr bwMode="auto">
            <a:xfrm>
              <a:off x="3914" y="884"/>
              <a:ext cx="1134" cy="455"/>
            </a:xfrm>
            <a:prstGeom prst="rect">
              <a:avLst/>
            </a:prstGeom>
            <a:solidFill>
              <a:srgbClr val="FFCC00"/>
            </a:solidFill>
            <a:ln w="9525">
              <a:solidFill>
                <a:schemeClr val="tx1"/>
              </a:solidFill>
              <a:miter lim="800000"/>
            </a:ln>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000" b="1" dirty="0">
                  <a:solidFill>
                    <a:srgbClr val="FF0000"/>
                  </a:solidFill>
                  <a:latin typeface="楷体" panose="02010609060101010101" pitchFamily="49" charset="-122"/>
                  <a:ea typeface="楷体" panose="02010609060101010101" pitchFamily="49" charset="-122"/>
                </a:rPr>
                <a:t>静 止</a:t>
              </a:r>
              <a:endParaRPr lang="zh-CN" altLang="en-US" sz="2000" b="1" dirty="0">
                <a:solidFill>
                  <a:srgbClr val="FF0000"/>
                </a:solidFill>
                <a:latin typeface="楷体_GB2312" pitchFamily="1" charset="-122"/>
                <a:ea typeface="楷体_GB2312" pitchFamily="1" charset="-122"/>
              </a:endParaRPr>
            </a:p>
            <a:p>
              <a:pPr algn="ctr">
                <a:spcBef>
                  <a:spcPct val="50000"/>
                </a:spcBef>
              </a:pPr>
              <a:r>
                <a:rPr lang="zh-CN" altLang="en-US" sz="1400" b="1" dirty="0" smtClean="0">
                  <a:latin typeface="幼圆" pitchFamily="49" charset="-122"/>
                  <a:ea typeface="幼圆" pitchFamily="49" charset="-122"/>
                </a:rPr>
                <a:t>相对</a:t>
              </a:r>
              <a:endParaRPr lang="zh-CN" altLang="en-US" sz="1400" b="1" dirty="0">
                <a:latin typeface="幼圆" pitchFamily="49" charset="-122"/>
                <a:ea typeface="幼圆" pitchFamily="49" charset="-122"/>
              </a:endParaRPr>
            </a:p>
          </p:txBody>
        </p:sp>
        <p:sp>
          <p:nvSpPr>
            <p:cNvPr id="97308" name="直接连接符 986166"/>
            <p:cNvSpPr>
              <a:spLocks noChangeShapeType="1"/>
            </p:cNvSpPr>
            <p:nvPr/>
          </p:nvSpPr>
          <p:spPr bwMode="auto">
            <a:xfrm flipV="1">
              <a:off x="3333" y="1026"/>
              <a:ext cx="59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9" name="直接连接符 986167"/>
            <p:cNvSpPr>
              <a:spLocks noChangeShapeType="1"/>
            </p:cNvSpPr>
            <p:nvPr/>
          </p:nvSpPr>
          <p:spPr bwMode="auto">
            <a:xfrm flipV="1">
              <a:off x="1691" y="1874"/>
              <a:ext cx="3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10" name="文本框 986168"/>
            <p:cNvSpPr txBox="1">
              <a:spLocks noChangeArrowheads="1"/>
            </p:cNvSpPr>
            <p:nvPr/>
          </p:nvSpPr>
          <p:spPr bwMode="auto">
            <a:xfrm>
              <a:off x="2086" y="1706"/>
              <a:ext cx="1247" cy="469"/>
            </a:xfrm>
            <a:prstGeom prst="rect">
              <a:avLst/>
            </a:prstGeom>
            <a:solidFill>
              <a:srgbClr val="CCFFFF"/>
            </a:solidFill>
            <a:ln w="9525">
              <a:solidFill>
                <a:schemeClr val="tx1"/>
              </a:solidFill>
              <a:miter lim="800000"/>
            </a:ln>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时间 空间</a:t>
              </a:r>
              <a:endParaRPr lang="zh-CN" altLang="en-US" sz="2000" b="1" dirty="0">
                <a:solidFill>
                  <a:srgbClr val="FF0000"/>
                </a:solidFill>
                <a:latin typeface="楷体_GB2312" pitchFamily="1" charset="-122"/>
                <a:ea typeface="楷体_GB2312" pitchFamily="1" charset="-122"/>
              </a:endParaRPr>
            </a:p>
            <a:p>
              <a:pPr algn="ctr">
                <a:lnSpc>
                  <a:spcPct val="125000"/>
                </a:lnSpc>
              </a:pPr>
              <a:r>
                <a:rPr lang="zh-CN" altLang="en-US" sz="1400" b="1" dirty="0">
                  <a:latin typeface="幼圆" pitchFamily="49" charset="-122"/>
                  <a:ea typeface="幼圆" pitchFamily="49" charset="-122"/>
                </a:rPr>
                <a:t>（一维、三维）</a:t>
              </a:r>
              <a:endParaRPr lang="zh-CN" altLang="en-US" sz="1400" b="1" dirty="0">
                <a:latin typeface="幼圆" pitchFamily="49" charset="-122"/>
                <a:ea typeface="幼圆" pitchFamily="49" charset="-122"/>
              </a:endParaRPr>
            </a:p>
          </p:txBody>
        </p:sp>
        <p:sp>
          <p:nvSpPr>
            <p:cNvPr id="97311" name="直接连接符 986169"/>
            <p:cNvSpPr>
              <a:spLocks noChangeShapeType="1"/>
            </p:cNvSpPr>
            <p:nvPr/>
          </p:nvSpPr>
          <p:spPr bwMode="auto">
            <a:xfrm flipV="1">
              <a:off x="3333" y="1888"/>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12" name="文本框 986170"/>
            <p:cNvSpPr txBox="1">
              <a:spLocks noChangeArrowheads="1"/>
            </p:cNvSpPr>
            <p:nvPr/>
          </p:nvSpPr>
          <p:spPr bwMode="auto">
            <a:xfrm>
              <a:off x="3716" y="1739"/>
              <a:ext cx="1225" cy="332"/>
            </a:xfrm>
            <a:prstGeom prst="rect">
              <a:avLst/>
            </a:prstGeom>
            <a:solidFill>
              <a:srgbClr val="FFCC00"/>
            </a:solidFill>
            <a:ln w="9525">
              <a:solidFill>
                <a:schemeClr val="tx1"/>
              </a:solidFill>
              <a:miter lim="800000"/>
            </a:ln>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r>
                <a:rPr lang="zh-CN" altLang="en-US" sz="1400" b="1" dirty="0">
                  <a:latin typeface="幼圆" pitchFamily="49" charset="-122"/>
                  <a:ea typeface="幼圆" pitchFamily="49" charset="-122"/>
                </a:rPr>
                <a:t>绝对、相对</a:t>
              </a:r>
              <a:endParaRPr lang="zh-CN" altLang="en-US" sz="1400" b="1" dirty="0">
                <a:latin typeface="幼圆" pitchFamily="49" charset="-122"/>
                <a:ea typeface="幼圆" pitchFamily="49" charset="-122"/>
              </a:endParaRPr>
            </a:p>
            <a:p>
              <a:pPr algn="ctr"/>
              <a:r>
                <a:rPr lang="zh-CN" altLang="en-US" sz="1400" b="1" dirty="0">
                  <a:latin typeface="幼圆" pitchFamily="49" charset="-122"/>
                  <a:ea typeface="幼圆" pitchFamily="49" charset="-122"/>
                </a:rPr>
                <a:t>有限、无限</a:t>
              </a:r>
              <a:endParaRPr lang="zh-CN" altLang="en-US" sz="1400" b="1" dirty="0">
                <a:latin typeface="幼圆" pitchFamily="49" charset="-122"/>
                <a:ea typeface="幼圆" pitchFamily="49" charset="-122"/>
              </a:endParaRPr>
            </a:p>
          </p:txBody>
        </p:sp>
        <p:sp>
          <p:nvSpPr>
            <p:cNvPr id="97313" name="直接连接符 986171"/>
            <p:cNvSpPr>
              <a:spLocks noChangeShapeType="1"/>
            </p:cNvSpPr>
            <p:nvPr/>
          </p:nvSpPr>
          <p:spPr bwMode="auto">
            <a:xfrm flipV="1">
              <a:off x="1691" y="2504"/>
              <a:ext cx="3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18" name="文本框 986177"/>
            <p:cNvSpPr txBox="1">
              <a:spLocks noChangeArrowheads="1"/>
            </p:cNvSpPr>
            <p:nvPr/>
          </p:nvSpPr>
          <p:spPr bwMode="auto">
            <a:xfrm>
              <a:off x="2086" y="2296"/>
              <a:ext cx="1361" cy="469"/>
            </a:xfrm>
            <a:prstGeom prst="rect">
              <a:avLst/>
            </a:prstGeom>
            <a:solidFill>
              <a:srgbClr val="CCFFFF"/>
            </a:solidFill>
            <a:ln w="9525">
              <a:solidFill>
                <a:schemeClr val="tx1"/>
              </a:solidFill>
              <a:miter lim="800000"/>
            </a:ln>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意 识</a:t>
              </a:r>
              <a:endParaRPr lang="zh-CN" altLang="en-US" sz="2000" b="1" dirty="0">
                <a:solidFill>
                  <a:srgbClr val="FF0000"/>
                </a:solidFill>
                <a:latin typeface="楷体_GB2312" pitchFamily="1" charset="-122"/>
                <a:ea typeface="楷体_GB2312" pitchFamily="1" charset="-122"/>
              </a:endParaRPr>
            </a:p>
            <a:p>
              <a:pPr algn="ctr">
                <a:lnSpc>
                  <a:spcPct val="125000"/>
                </a:lnSpc>
              </a:pPr>
              <a:r>
                <a:rPr lang="zh-CN" altLang="en-US" sz="1400" b="1" dirty="0">
                  <a:latin typeface="幼圆" pitchFamily="49" charset="-122"/>
                  <a:ea typeface="幼圆" pitchFamily="49" charset="-122"/>
                </a:rPr>
                <a:t>（起源、本质、作用）</a:t>
              </a:r>
              <a:endParaRPr lang="zh-CN" altLang="en-US" sz="1400" b="1" dirty="0">
                <a:latin typeface="幼圆" pitchFamily="49" charset="-122"/>
                <a:ea typeface="幼圆" pitchFamily="49" charset="-122"/>
              </a:endParaRPr>
            </a:p>
          </p:txBody>
        </p:sp>
        <p:sp>
          <p:nvSpPr>
            <p:cNvPr id="97319" name="直接连接符 986178"/>
            <p:cNvSpPr>
              <a:spLocks noChangeShapeType="1"/>
            </p:cNvSpPr>
            <p:nvPr/>
          </p:nvSpPr>
          <p:spPr bwMode="auto">
            <a:xfrm>
              <a:off x="3447" y="2659"/>
              <a:ext cx="1859"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20" name="文本框 986179"/>
            <p:cNvSpPr txBox="1">
              <a:spLocks noChangeArrowheads="1"/>
            </p:cNvSpPr>
            <p:nvPr/>
          </p:nvSpPr>
          <p:spPr bwMode="auto">
            <a:xfrm>
              <a:off x="3716" y="2594"/>
              <a:ext cx="1407" cy="232"/>
            </a:xfrm>
            <a:prstGeom prst="rect">
              <a:avLst/>
            </a:prstGeom>
            <a:solidFill>
              <a:srgbClr val="FFCC00"/>
            </a:solidFill>
            <a:ln w="9525">
              <a:solidFill>
                <a:schemeClr val="tx1"/>
              </a:solidFill>
              <a:miter lim="800000"/>
            </a:ln>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r>
                <a:rPr lang="zh-CN" altLang="en-US" sz="1800" b="1" dirty="0">
                  <a:solidFill>
                    <a:srgbClr val="FF0000"/>
                  </a:solidFill>
                  <a:latin typeface="楷体" panose="02010609060101010101" pitchFamily="49" charset="-122"/>
                  <a:ea typeface="楷体" panose="02010609060101010101" pitchFamily="49" charset="-122"/>
                </a:rPr>
                <a:t>意识对物质反作用</a:t>
              </a:r>
              <a:endParaRPr lang="zh-CN" altLang="en-US" sz="1800" b="1" dirty="0">
                <a:latin typeface="楷体" panose="02010609060101010101" pitchFamily="49" charset="-122"/>
                <a:ea typeface="楷体" panose="02010609060101010101" pitchFamily="49" charset="-122"/>
              </a:endParaRPr>
            </a:p>
          </p:txBody>
        </p:sp>
        <p:sp>
          <p:nvSpPr>
            <p:cNvPr id="97322" name="直接连接符 986181"/>
            <p:cNvSpPr>
              <a:spLocks noChangeShapeType="1"/>
            </p:cNvSpPr>
            <p:nvPr/>
          </p:nvSpPr>
          <p:spPr bwMode="auto">
            <a:xfrm flipH="1">
              <a:off x="5306" y="391"/>
              <a:ext cx="23" cy="263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23" name="直接连接符 986183"/>
            <p:cNvSpPr>
              <a:spLocks noChangeShapeType="1"/>
            </p:cNvSpPr>
            <p:nvPr/>
          </p:nvSpPr>
          <p:spPr bwMode="auto">
            <a:xfrm>
              <a:off x="2744" y="617"/>
              <a:ext cx="0" cy="2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24" name="矩形 986184"/>
            <p:cNvSpPr>
              <a:spLocks noChangeArrowheads="1"/>
            </p:cNvSpPr>
            <p:nvPr/>
          </p:nvSpPr>
          <p:spPr bwMode="auto">
            <a:xfrm>
              <a:off x="2037" y="614"/>
              <a:ext cx="643"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b="1" dirty="0"/>
                <a:t>根本属性</a:t>
              </a:r>
              <a:endParaRPr lang="zh-CN" altLang="en-US" sz="1400" b="1" dirty="0"/>
            </a:p>
          </p:txBody>
        </p:sp>
        <p:sp>
          <p:nvSpPr>
            <p:cNvPr id="97325" name="直接连接符 986185"/>
            <p:cNvSpPr>
              <a:spLocks noChangeShapeType="1"/>
            </p:cNvSpPr>
            <p:nvPr/>
          </p:nvSpPr>
          <p:spPr bwMode="auto">
            <a:xfrm>
              <a:off x="2744" y="1389"/>
              <a:ext cx="0"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26" name="矩形 986186"/>
            <p:cNvSpPr>
              <a:spLocks noChangeArrowheads="1"/>
            </p:cNvSpPr>
            <p:nvPr/>
          </p:nvSpPr>
          <p:spPr bwMode="auto">
            <a:xfrm>
              <a:off x="2109" y="1434"/>
              <a:ext cx="5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b="1"/>
                <a:t>存在形式</a:t>
              </a:r>
              <a:endParaRPr lang="zh-CN" altLang="en-US" sz="1400" b="1"/>
            </a:p>
          </p:txBody>
        </p:sp>
        <p:sp>
          <p:nvSpPr>
            <p:cNvPr id="97327" name="直接连接符 986188"/>
            <p:cNvSpPr>
              <a:spLocks noChangeShapeType="1"/>
            </p:cNvSpPr>
            <p:nvPr/>
          </p:nvSpPr>
          <p:spPr bwMode="auto">
            <a:xfrm flipV="1">
              <a:off x="2880" y="572"/>
              <a:ext cx="0"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28" name="矩形 986189"/>
            <p:cNvSpPr>
              <a:spLocks noChangeArrowheads="1"/>
            </p:cNvSpPr>
            <p:nvPr/>
          </p:nvSpPr>
          <p:spPr bwMode="auto">
            <a:xfrm>
              <a:off x="2880" y="1434"/>
              <a:ext cx="5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b="1"/>
                <a:t>不可分割</a:t>
              </a:r>
              <a:endParaRPr lang="zh-CN" altLang="en-US" sz="1400" b="1"/>
            </a:p>
          </p:txBody>
        </p:sp>
        <p:sp>
          <p:nvSpPr>
            <p:cNvPr id="97329" name="矩形 986191"/>
            <p:cNvSpPr>
              <a:spLocks noChangeArrowheads="1"/>
            </p:cNvSpPr>
            <p:nvPr/>
          </p:nvSpPr>
          <p:spPr bwMode="auto">
            <a:xfrm>
              <a:off x="3444" y="2439"/>
              <a:ext cx="56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b="1"/>
                <a:t>辩证统一</a:t>
              </a:r>
              <a:endParaRPr lang="zh-CN" altLang="en-US" sz="1200" b="1"/>
            </a:p>
          </p:txBody>
        </p:sp>
        <p:sp>
          <p:nvSpPr>
            <p:cNvPr id="97330" name="直接连接符 986192"/>
            <p:cNvSpPr>
              <a:spLocks noChangeShapeType="1"/>
            </p:cNvSpPr>
            <p:nvPr/>
          </p:nvSpPr>
          <p:spPr bwMode="auto">
            <a:xfrm flipV="1">
              <a:off x="2880" y="1389"/>
              <a:ext cx="0" cy="31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31" name="直接连接符 986193"/>
            <p:cNvSpPr>
              <a:spLocks noChangeShapeType="1"/>
            </p:cNvSpPr>
            <p:nvPr/>
          </p:nvSpPr>
          <p:spPr bwMode="auto">
            <a:xfrm flipH="1">
              <a:off x="3333" y="390"/>
              <a:ext cx="1996"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32" name="直接连接符 986194"/>
            <p:cNvSpPr>
              <a:spLocks noChangeShapeType="1"/>
            </p:cNvSpPr>
            <p:nvPr/>
          </p:nvSpPr>
          <p:spPr bwMode="auto">
            <a:xfrm flipH="1" flipV="1">
              <a:off x="3333" y="1116"/>
              <a:ext cx="59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33" name="矩形 986195"/>
            <p:cNvSpPr>
              <a:spLocks noChangeArrowheads="1"/>
            </p:cNvSpPr>
            <p:nvPr/>
          </p:nvSpPr>
          <p:spPr bwMode="auto">
            <a:xfrm>
              <a:off x="3333" y="799"/>
              <a:ext cx="5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b="1"/>
                <a:t>动中有静</a:t>
              </a:r>
              <a:endParaRPr lang="zh-CN" altLang="en-US" sz="1400" b="1"/>
            </a:p>
          </p:txBody>
        </p:sp>
        <p:sp>
          <p:nvSpPr>
            <p:cNvPr id="97334" name="矩形 986196"/>
            <p:cNvSpPr>
              <a:spLocks noChangeArrowheads="1"/>
            </p:cNvSpPr>
            <p:nvPr/>
          </p:nvSpPr>
          <p:spPr bwMode="auto">
            <a:xfrm>
              <a:off x="3333" y="1116"/>
              <a:ext cx="5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b="1"/>
                <a:t>静中有动</a:t>
              </a:r>
              <a:endParaRPr lang="zh-CN" altLang="en-US" sz="1400" b="1"/>
            </a:p>
          </p:txBody>
        </p:sp>
        <p:sp>
          <p:nvSpPr>
            <p:cNvPr id="97335" name="矩形 986197"/>
            <p:cNvSpPr>
              <a:spLocks noChangeArrowheads="1"/>
            </p:cNvSpPr>
            <p:nvPr/>
          </p:nvSpPr>
          <p:spPr bwMode="auto">
            <a:xfrm>
              <a:off x="2880" y="617"/>
              <a:ext cx="5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b="1" dirty="0"/>
                <a:t>不可分割</a:t>
              </a:r>
              <a:endParaRPr lang="zh-CN" altLang="en-US" sz="1400" b="1" dirty="0"/>
            </a:p>
          </p:txBody>
        </p:sp>
        <p:sp>
          <p:nvSpPr>
            <p:cNvPr id="97336" name="矩形 986200"/>
            <p:cNvSpPr>
              <a:spLocks noChangeArrowheads="1"/>
            </p:cNvSpPr>
            <p:nvPr/>
          </p:nvSpPr>
          <p:spPr bwMode="auto">
            <a:xfrm>
              <a:off x="5347" y="749"/>
              <a:ext cx="341" cy="2315"/>
            </a:xfrm>
            <a:prstGeom prst="rect">
              <a:avLst/>
            </a:prstGeom>
            <a:solidFill>
              <a:srgbClr val="FFCC00"/>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p>
              <a:r>
                <a:rPr lang="zh-CN" altLang="en-US" sz="2000" b="1" dirty="0"/>
                <a:t>主观能动性和客观规律性的统一</a:t>
              </a:r>
              <a:endParaRPr lang="zh-CN" altLang="en-US" sz="2000" b="1" dirty="0"/>
            </a:p>
          </p:txBody>
        </p:sp>
        <p:sp>
          <p:nvSpPr>
            <p:cNvPr id="97337" name="直接连接符 986210"/>
            <p:cNvSpPr>
              <a:spLocks noChangeShapeType="1"/>
            </p:cNvSpPr>
            <p:nvPr/>
          </p:nvSpPr>
          <p:spPr bwMode="auto">
            <a:xfrm flipH="1">
              <a:off x="3447" y="2387"/>
              <a:ext cx="1859"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38" name="文本框 986211"/>
            <p:cNvSpPr txBox="1">
              <a:spLocks noChangeArrowheads="1"/>
            </p:cNvSpPr>
            <p:nvPr/>
          </p:nvSpPr>
          <p:spPr bwMode="auto">
            <a:xfrm>
              <a:off x="3719" y="2251"/>
              <a:ext cx="1407" cy="232"/>
            </a:xfrm>
            <a:prstGeom prst="rect">
              <a:avLst/>
            </a:prstGeom>
            <a:solidFill>
              <a:srgbClr val="FFCC00"/>
            </a:solidFill>
            <a:ln w="9525">
              <a:solidFill>
                <a:schemeClr val="tx1"/>
              </a:solidFill>
              <a:miter lim="800000"/>
            </a:ln>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r>
                <a:rPr lang="zh-CN" altLang="en-US" sz="1800" b="1">
                  <a:solidFill>
                    <a:srgbClr val="FF0000"/>
                  </a:solidFill>
                  <a:latin typeface="楷体" panose="02010609060101010101" pitchFamily="49" charset="-122"/>
                  <a:ea typeface="楷体" panose="02010609060101010101" pitchFamily="49" charset="-122"/>
                </a:rPr>
                <a:t>物质决定意识</a:t>
              </a:r>
              <a:endParaRPr lang="zh-CN" altLang="en-US" sz="1800" b="1">
                <a:latin typeface="楷体" panose="02010609060101010101" pitchFamily="49" charset="-122"/>
                <a:ea typeface="楷体" panose="02010609060101010101" pitchFamily="49" charset="-122"/>
              </a:endParaRPr>
            </a:p>
          </p:txBody>
        </p:sp>
      </p:grpSp>
      <p:sp>
        <p:nvSpPr>
          <p:cNvPr id="2" name="矩形 986208"/>
          <p:cNvSpPr>
            <a:spLocks noChangeArrowheads="1" noChangeShapeType="1" noTextEdit="1"/>
          </p:cNvSpPr>
          <p:nvPr/>
        </p:nvSpPr>
        <p:spPr bwMode="auto">
          <a:xfrm>
            <a:off x="3071802" y="285728"/>
            <a:ext cx="3276600" cy="647700"/>
          </a:xfrm>
          <a:prstGeom prst="rect">
            <a:avLst/>
          </a:prstGeom>
        </p:spPr>
        <p:txBody>
          <a:bodyPr wrap="none" fromWordArt="1">
            <a:prstTxWarp prst="textDeflate">
              <a:avLst>
                <a:gd name="adj" fmla="val 26227"/>
              </a:avLst>
            </a:prstTxWarp>
          </a:bodyPr>
          <a:lstStyle/>
          <a:p>
            <a:pPr algn="ctr"/>
            <a:r>
              <a:rPr lang="zh-CN" altLang="en-US" sz="5400" b="1" dirty="0">
                <a:ln w="0">
                  <a:solidFill>
                    <a:srgbClr val="FF0000"/>
                  </a:solidFill>
                  <a:round/>
                </a:ln>
                <a:solidFill>
                  <a:srgbClr val="0000FF"/>
                </a:solidFill>
                <a:latin typeface="华文隶书"/>
                <a:ea typeface="华文隶书"/>
              </a:rPr>
              <a:t>唯物论基本逻辑框架</a:t>
            </a:r>
            <a:endParaRPr lang="zh-CN" altLang="en-US" sz="5400" b="1" dirty="0">
              <a:ln w="0">
                <a:solidFill>
                  <a:srgbClr val="FF0000"/>
                </a:solidFill>
                <a:round/>
              </a:ln>
              <a:solidFill>
                <a:srgbClr val="0000FF"/>
              </a:solidFill>
              <a:latin typeface="华文隶书"/>
              <a:ea typeface="华文隶书"/>
            </a:endParaRPr>
          </a:p>
        </p:txBody>
      </p:sp>
      <p:sp>
        <p:nvSpPr>
          <p:cNvPr id="97344" name="椭圆 986214"/>
          <p:cNvSpPr>
            <a:spLocks noChangeArrowheads="1"/>
          </p:cNvSpPr>
          <p:nvPr/>
        </p:nvSpPr>
        <p:spPr bwMode="auto">
          <a:xfrm>
            <a:off x="285720" y="5857892"/>
            <a:ext cx="8429684" cy="593710"/>
          </a:xfrm>
          <a:prstGeom prst="ellipse">
            <a:avLst/>
          </a:prstGeom>
          <a:solidFill>
            <a:srgbClr val="00CCFF"/>
          </a:solidFill>
          <a:ln>
            <a:noFill/>
          </a:ln>
          <a:scene3d>
            <a:camera prst="legacyObliqueTopRight"/>
            <a:lightRig rig="legacyFlat3" dir="b"/>
          </a:scene3d>
          <a:sp3d extrusionH="430200" prstMaterial="legacyMatte">
            <a:bevelT w="13500" h="13500" prst="angle"/>
            <a:bevelB w="13500" h="13500" prst="angle"/>
            <a:extrusionClr>
              <a:srgbClr val="00CCFF"/>
            </a:extrusionClr>
          </a:sp3d>
          <a:extLst>
            <a:ext uri="{91240B29-F687-4F45-9708-019B960494DF}">
              <a14:hiddenLine xmlns:a14="http://schemas.microsoft.com/office/drawing/2010/main" w="9525">
                <a:noFill/>
                <a:round/>
              </a14:hiddenLine>
            </a:ext>
          </a:extLst>
        </p:spPr>
        <p:txBody>
          <a:bodyPr vert="horz" wrap="none" anchor="ctr">
            <a:flatTx/>
          </a:bodyPr>
          <a:lstStyle/>
          <a:p>
            <a:pPr algn="ctr"/>
            <a:r>
              <a:rPr lang="zh-CN" altLang="en-US" sz="2000" b="1" dirty="0">
                <a:solidFill>
                  <a:schemeClr val="bg1"/>
                </a:solidFill>
                <a:latin typeface="楷体" panose="02010609060101010101" pitchFamily="49" charset="-122"/>
                <a:ea typeface="楷体" panose="02010609060101010101" pitchFamily="49" charset="-122"/>
              </a:rPr>
              <a:t>世界的物质统一性</a:t>
            </a:r>
            <a:r>
              <a:rPr lang="zh-CN" altLang="en-US" sz="2000" b="1" dirty="0" smtClean="0">
                <a:solidFill>
                  <a:schemeClr val="bg1"/>
                </a:solidFill>
                <a:latin typeface="楷体" panose="02010609060101010101" pitchFamily="49" charset="-122"/>
                <a:ea typeface="楷体" panose="02010609060101010101" pitchFamily="49" charset="-122"/>
              </a:rPr>
              <a:t>原理及其方法论意义（一切从实际出发、实事求是）</a:t>
            </a:r>
            <a:endParaRPr lang="zh-CN" altLang="en-US" sz="2000" b="1" dirty="0">
              <a:solidFill>
                <a:schemeClr val="bg1"/>
              </a:solidFill>
              <a:latin typeface="楷体" panose="02010609060101010101" pitchFamily="49" charset="-122"/>
              <a:ea typeface="楷体" panose="02010609060101010101" pitchFamily="49" charset="-122"/>
            </a:endParaRPr>
          </a:p>
        </p:txBody>
      </p:sp>
      <p:sp>
        <p:nvSpPr>
          <p:cNvPr id="53" name="右箭头 986147"/>
          <p:cNvSpPr>
            <a:spLocks noChangeArrowheads="1"/>
          </p:cNvSpPr>
          <p:nvPr/>
        </p:nvSpPr>
        <p:spPr bwMode="auto">
          <a:xfrm>
            <a:off x="1071538" y="3643314"/>
            <a:ext cx="393329" cy="287338"/>
          </a:xfrm>
          <a:prstGeom prst="rightArrow">
            <a:avLst>
              <a:gd name="adj1" fmla="val 50000"/>
              <a:gd name="adj2" fmla="val 37513"/>
            </a:avLst>
          </a:prstGeom>
          <a:solidFill>
            <a:schemeClr val="accent1"/>
          </a:solidFill>
          <a:ln w="9525">
            <a:solidFill>
              <a:schemeClr val="tx1"/>
            </a:solidFill>
            <a:miter lim="800000"/>
          </a:ln>
        </p:spPr>
        <p:txBody>
          <a:bodyPr/>
          <a:lstStyle/>
          <a:p>
            <a:endParaRPr lang="zh-CN" altLang="en-US"/>
          </a:p>
        </p:txBody>
      </p:sp>
      <p:sp>
        <p:nvSpPr>
          <p:cNvPr id="54" name="右箭头 986147"/>
          <p:cNvSpPr>
            <a:spLocks noChangeArrowheads="1"/>
          </p:cNvSpPr>
          <p:nvPr/>
        </p:nvSpPr>
        <p:spPr bwMode="auto">
          <a:xfrm>
            <a:off x="1071538" y="1214422"/>
            <a:ext cx="393329" cy="287338"/>
          </a:xfrm>
          <a:prstGeom prst="rightArrow">
            <a:avLst>
              <a:gd name="adj1" fmla="val 50000"/>
              <a:gd name="adj2" fmla="val 37513"/>
            </a:avLst>
          </a:prstGeom>
          <a:solidFill>
            <a:schemeClr val="accent1"/>
          </a:solidFill>
          <a:ln w="9525">
            <a:solidFill>
              <a:schemeClr val="tx1"/>
            </a:solidFill>
            <a:miter lim="800000"/>
          </a:ln>
        </p:spPr>
        <p:txBody>
          <a:bodyPr/>
          <a:lstStyle/>
          <a:p>
            <a:endParaRPr lang="zh-CN" altLang="en-US"/>
          </a:p>
        </p:txBody>
      </p:sp>
      <p:sp>
        <p:nvSpPr>
          <p:cNvPr id="55" name="右箭头 986147"/>
          <p:cNvSpPr>
            <a:spLocks noChangeArrowheads="1"/>
          </p:cNvSpPr>
          <p:nvPr/>
        </p:nvSpPr>
        <p:spPr bwMode="auto">
          <a:xfrm>
            <a:off x="1071538" y="2428868"/>
            <a:ext cx="393329" cy="287338"/>
          </a:xfrm>
          <a:prstGeom prst="rightArrow">
            <a:avLst>
              <a:gd name="adj1" fmla="val 50000"/>
              <a:gd name="adj2" fmla="val 37513"/>
            </a:avLst>
          </a:prstGeom>
          <a:solidFill>
            <a:schemeClr val="accent1"/>
          </a:solidFill>
          <a:ln w="9525">
            <a:solidFill>
              <a:schemeClr val="tx1"/>
            </a:solidFill>
            <a:miter lim="800000"/>
          </a:ln>
        </p:spPr>
        <p:txBody>
          <a:bodyPr/>
          <a:lstStyle/>
          <a:p>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357158" y="428604"/>
            <a:ext cx="8501122" cy="5856288"/>
          </a:xfrm>
          <a:effectLst/>
        </p:spPr>
        <p:txBody>
          <a:bodyPr>
            <a:normAutofit/>
          </a:bodyPr>
          <a:lstStyle/>
          <a:p>
            <a:pPr algn="l"/>
            <a:r>
              <a:rPr lang="zh-CN" altLang="en-US" sz="3600" b="1" dirty="0" smtClean="0">
                <a:solidFill>
                  <a:srgbClr val="6600FF"/>
                </a:solidFill>
                <a:effectLst/>
                <a:latin typeface="华文行楷" pitchFamily="2" charset="-122"/>
                <a:ea typeface="华文行楷" pitchFamily="2" charset="-122"/>
              </a:rPr>
              <a:t>参考阅读书目：</a:t>
            </a:r>
            <a:br>
              <a:rPr lang="en-US" altLang="zh-CN" sz="3600" b="1" dirty="0" smtClean="0">
                <a:solidFill>
                  <a:srgbClr val="6600FF"/>
                </a:solidFill>
                <a:latin typeface="华文行楷" pitchFamily="2" charset="-122"/>
                <a:ea typeface="华文行楷" pitchFamily="2" charset="-122"/>
              </a:rPr>
            </a:br>
            <a:r>
              <a:rPr lang="en-US" altLang="zh-CN" sz="3200" b="1" dirty="0" smtClean="0">
                <a:ln>
                  <a:noFill/>
                </a:ln>
                <a:solidFill>
                  <a:srgbClr val="000000"/>
                </a:solidFill>
                <a:effectLst/>
                <a:latin typeface="楷体" panose="02010609060101010101" pitchFamily="49" charset="-122"/>
                <a:ea typeface="楷体" panose="02010609060101010101" pitchFamily="49" charset="-122"/>
              </a:rPr>
              <a:t>1.</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冯友兰：</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中国哲学简史</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br>
              <a:rPr lang="en-US" altLang="zh-CN" sz="3200" b="1" dirty="0" smtClean="0">
                <a:ln>
                  <a:noFill/>
                </a:ln>
                <a:solidFill>
                  <a:srgbClr val="000000"/>
                </a:solidFill>
                <a:effectLst/>
                <a:latin typeface="楷体" panose="02010609060101010101" pitchFamily="49" charset="-122"/>
                <a:ea typeface="楷体" panose="02010609060101010101" pitchFamily="49" charset="-122"/>
              </a:rPr>
            </a:br>
            <a:r>
              <a:rPr lang="en-US" altLang="zh-CN" sz="3200" b="1" dirty="0" smtClean="0">
                <a:ln>
                  <a:noFill/>
                </a:ln>
                <a:solidFill>
                  <a:srgbClr val="000000"/>
                </a:solidFill>
                <a:effectLst/>
                <a:latin typeface="楷体" panose="02010609060101010101" pitchFamily="49" charset="-122"/>
                <a:ea typeface="楷体" panose="02010609060101010101" pitchFamily="49" charset="-122"/>
              </a:rPr>
              <a:t>2.</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（台）傅佩荣：</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哲学与人生</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br>
              <a:rPr lang="en-US" altLang="zh-CN" sz="3200" b="1" dirty="0" smtClean="0">
                <a:ln>
                  <a:noFill/>
                </a:ln>
                <a:solidFill>
                  <a:srgbClr val="000000"/>
                </a:solidFill>
                <a:effectLst/>
                <a:latin typeface="楷体" panose="02010609060101010101" pitchFamily="49" charset="-122"/>
                <a:ea typeface="楷体" panose="02010609060101010101" pitchFamily="49" charset="-122"/>
              </a:rPr>
            </a:br>
            <a:r>
              <a:rPr lang="en-US" altLang="zh-CN" sz="3200" b="1" dirty="0" smtClean="0">
                <a:ln>
                  <a:noFill/>
                </a:ln>
                <a:solidFill>
                  <a:srgbClr val="000000"/>
                </a:solidFill>
                <a:effectLst/>
                <a:latin typeface="楷体" panose="02010609060101010101" pitchFamily="49" charset="-122"/>
                <a:ea typeface="楷体" panose="02010609060101010101" pitchFamily="49" charset="-122"/>
              </a:rPr>
              <a:t>3.</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乔斯坦</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贾德：</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苏菲的世界</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br>
              <a:rPr lang="en-US" altLang="zh-CN" sz="3200" b="1" dirty="0" smtClean="0">
                <a:ln>
                  <a:noFill/>
                </a:ln>
                <a:solidFill>
                  <a:srgbClr val="000000"/>
                </a:solidFill>
                <a:effectLst/>
                <a:latin typeface="楷体" panose="02010609060101010101" pitchFamily="49" charset="-122"/>
                <a:ea typeface="楷体" panose="02010609060101010101" pitchFamily="49" charset="-122"/>
              </a:rPr>
            </a:br>
            <a:r>
              <a:rPr lang="en-US" altLang="zh-CN" sz="3200" b="1" dirty="0" smtClean="0">
                <a:ln>
                  <a:noFill/>
                </a:ln>
                <a:solidFill>
                  <a:srgbClr val="000000"/>
                </a:solidFill>
                <a:effectLst/>
                <a:latin typeface="楷体" panose="02010609060101010101" pitchFamily="49" charset="-122"/>
                <a:ea typeface="楷体" panose="02010609060101010101" pitchFamily="49" charset="-122"/>
              </a:rPr>
              <a:t>4.</a:t>
            </a:r>
            <a:r>
              <a:rPr lang="zh-CN" altLang="en-US" sz="3200" b="1" dirty="0">
                <a:ln>
                  <a:noFill/>
                </a:ln>
                <a:solidFill>
                  <a:srgbClr val="000000"/>
                </a:solidFill>
                <a:effectLst/>
                <a:latin typeface="楷体" panose="02010609060101010101" pitchFamily="49" charset="-122"/>
                <a:ea typeface="楷体" panose="02010609060101010101" pitchFamily="49" charset="-122"/>
              </a:rPr>
              <a:t>伯</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兰特</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罗素：</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西方的智慧</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br>
              <a:rPr lang="en-US" altLang="zh-CN" sz="3200" b="1" dirty="0" smtClean="0">
                <a:ln>
                  <a:noFill/>
                </a:ln>
                <a:solidFill>
                  <a:srgbClr val="000000"/>
                </a:solidFill>
                <a:effectLst/>
                <a:latin typeface="楷体" panose="02010609060101010101" pitchFamily="49" charset="-122"/>
                <a:ea typeface="楷体" panose="02010609060101010101" pitchFamily="49" charset="-122"/>
              </a:rPr>
            </a:br>
            <a:r>
              <a:rPr lang="en-US" altLang="zh-CN" sz="3200" b="1" dirty="0" smtClean="0">
                <a:ln>
                  <a:noFill/>
                </a:ln>
                <a:solidFill>
                  <a:srgbClr val="000000"/>
                </a:solidFill>
                <a:effectLst/>
                <a:latin typeface="楷体" panose="02010609060101010101" pitchFamily="49" charset="-122"/>
                <a:ea typeface="楷体" panose="02010609060101010101" pitchFamily="49" charset="-122"/>
              </a:rPr>
              <a:t>5.</a:t>
            </a:r>
            <a:r>
              <a:rPr lang="zh-CN" altLang="en-US" sz="3200" b="1" dirty="0">
                <a:ln>
                  <a:noFill/>
                </a:ln>
                <a:solidFill>
                  <a:srgbClr val="000000"/>
                </a:solidFill>
                <a:effectLst/>
                <a:latin typeface="楷体" panose="02010609060101010101" pitchFamily="49" charset="-122"/>
                <a:ea typeface="楷体" panose="02010609060101010101" pitchFamily="49" charset="-122"/>
              </a:rPr>
              <a:t>张</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明明（哲不解）：</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不疯魔，不哲学</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br>
              <a:rPr lang="en-US" altLang="zh-CN" sz="3200" b="1" dirty="0" smtClean="0">
                <a:ln>
                  <a:noFill/>
                </a:ln>
                <a:solidFill>
                  <a:srgbClr val="000000"/>
                </a:solidFill>
                <a:effectLst/>
                <a:latin typeface="楷体" panose="02010609060101010101" pitchFamily="49" charset="-122"/>
                <a:ea typeface="楷体" panose="02010609060101010101" pitchFamily="49" charset="-122"/>
              </a:rPr>
            </a:br>
            <a:r>
              <a:rPr lang="en-US" altLang="zh-CN" sz="3200" b="1" dirty="0" smtClean="0">
                <a:ln>
                  <a:noFill/>
                </a:ln>
                <a:solidFill>
                  <a:srgbClr val="000000"/>
                </a:solidFill>
                <a:effectLst/>
                <a:latin typeface="楷体" panose="02010609060101010101" pitchFamily="49" charset="-122"/>
                <a:ea typeface="楷体" panose="02010609060101010101" pitchFamily="49" charset="-122"/>
              </a:rPr>
              <a:t>6.</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李泽厚：</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中国古代（近代、现代）思想史论</a:t>
            </a:r>
            <a:r>
              <a:rPr lang="en-US" altLang="zh-CN" sz="3200" b="1" dirty="0" smtClean="0">
                <a:ln>
                  <a:noFill/>
                </a:ln>
                <a:solidFill>
                  <a:srgbClr val="000000"/>
                </a:solidFill>
                <a:effectLst/>
                <a:latin typeface="楷体" panose="02010609060101010101" pitchFamily="49" charset="-122"/>
                <a:ea typeface="楷体" panose="02010609060101010101" pitchFamily="49" charset="-122"/>
              </a:rPr>
              <a:t>》</a:t>
            </a:r>
            <a:r>
              <a:rPr lang="zh-CN" altLang="en-US" sz="3200" b="1" dirty="0" smtClean="0">
                <a:ln>
                  <a:noFill/>
                </a:ln>
                <a:solidFill>
                  <a:srgbClr val="000000"/>
                </a:solidFill>
                <a:effectLst/>
                <a:latin typeface="楷体" panose="02010609060101010101" pitchFamily="49" charset="-122"/>
                <a:ea typeface="楷体" panose="02010609060101010101" pitchFamily="49" charset="-122"/>
              </a:rPr>
              <a:t>（共三册）</a:t>
            </a:r>
            <a:endParaRPr lang="zh-CN" altLang="en-US" sz="3200" b="1" dirty="0" smtClean="0">
              <a:ln>
                <a:noFill/>
              </a:ln>
              <a:solidFill>
                <a:srgbClr val="000000"/>
              </a:solidFill>
              <a:effectLst/>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nvGraphicFramePr>
        <p:xfrm>
          <a:off x="285720" y="1142984"/>
          <a:ext cx="6858048" cy="528114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右大括号 3"/>
          <p:cNvSpPr/>
          <p:nvPr/>
        </p:nvSpPr>
        <p:spPr>
          <a:xfrm>
            <a:off x="7215206" y="3786190"/>
            <a:ext cx="287982" cy="1535697"/>
          </a:xfrm>
          <a:prstGeom prst="rightBrace">
            <a:avLst/>
          </a:prstGeom>
          <a:noFill/>
          <a:ln>
            <a:solidFill>
              <a:srgbClr val="6600FF"/>
            </a:solidFill>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zh-CN" altLang="en-US" dirty="0">
              <a:solidFill>
                <a:srgbClr val="000000"/>
              </a:solidFill>
            </a:endParaRPr>
          </a:p>
        </p:txBody>
      </p:sp>
      <p:sp>
        <p:nvSpPr>
          <p:cNvPr id="5" name="矩形: 圆角 4"/>
          <p:cNvSpPr/>
          <p:nvPr/>
        </p:nvSpPr>
        <p:spPr>
          <a:xfrm>
            <a:off x="7643834" y="2786058"/>
            <a:ext cx="1029478" cy="358140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b="1" dirty="0" smtClean="0">
                <a:solidFill>
                  <a:srgbClr val="000000"/>
                </a:solidFill>
              </a:rPr>
              <a:t>对立的焦点：是否</a:t>
            </a:r>
            <a:r>
              <a:rPr lang="zh-CN" altLang="en-US" b="1" dirty="0">
                <a:solidFill>
                  <a:srgbClr val="000000"/>
                </a:solidFill>
              </a:rPr>
              <a:t>承认事物内部存在矛盾；是否承认矛盾是事物发展的根本原因</a:t>
            </a:r>
            <a:endParaRPr lang="zh-CN" altLang="en-US" b="1" dirty="0">
              <a:solidFill>
                <a:srgbClr val="000000"/>
              </a:solidFill>
            </a:endParaRPr>
          </a:p>
        </p:txBody>
      </p:sp>
      <p:sp>
        <p:nvSpPr>
          <p:cNvPr id="8" name="矩形 7"/>
          <p:cNvSpPr/>
          <p:nvPr/>
        </p:nvSpPr>
        <p:spPr>
          <a:xfrm>
            <a:off x="323215" y="549275"/>
            <a:ext cx="8521065" cy="645160"/>
          </a:xfrm>
          <a:prstGeom prst="rect">
            <a:avLst/>
          </a:prstGeom>
        </p:spPr>
        <p:txBody>
          <a:bodyPr wrap="square" lIns="91458" tIns="45729" rIns="91458" bIns="45729">
            <a:spAutoFit/>
          </a:bodyPr>
          <a:lstStyle/>
          <a:p>
            <a:pPr fontAlgn="auto">
              <a:spcBef>
                <a:spcPts val="0"/>
              </a:spcBef>
              <a:spcAft>
                <a:spcPts val="0"/>
              </a:spcAft>
              <a:defRPr/>
            </a:pPr>
            <a:r>
              <a:rPr lang="zh-CN" altLang="en-US" sz="3600" b="1" spc="300" dirty="0" smtClean="0">
                <a:solidFill>
                  <a:schemeClr val="tx2"/>
                </a:solidFill>
                <a:latin typeface="+mn-ea"/>
                <a:ea typeface="+mn-ea"/>
                <a:cs typeface="+mn-ea"/>
                <a:sym typeface="+mn-lt"/>
              </a:rPr>
              <a:t>第二节</a:t>
            </a:r>
            <a:r>
              <a:rPr lang="en-US" altLang="zh-CN" sz="3600" b="1" spc="300" dirty="0" smtClean="0">
                <a:solidFill>
                  <a:schemeClr val="tx2"/>
                </a:solidFill>
                <a:latin typeface="+mn-ea"/>
                <a:ea typeface="+mn-ea"/>
                <a:cs typeface="+mn-ea"/>
                <a:sym typeface="+mn-lt"/>
              </a:rPr>
              <a:t> </a:t>
            </a:r>
            <a:r>
              <a:rPr lang="zh-CN" altLang="en-US" sz="3600" b="1" spc="300" dirty="0" smtClean="0">
                <a:solidFill>
                  <a:schemeClr val="tx2"/>
                </a:solidFill>
                <a:latin typeface="+mn-ea"/>
                <a:ea typeface="+mn-ea"/>
                <a:cs typeface="+mn-ea"/>
                <a:sym typeface="+mn-lt"/>
              </a:rPr>
              <a:t>事物的普遍联系和变化发展</a:t>
            </a:r>
            <a:endParaRPr lang="zh-CN" altLang="en-US" sz="3600" b="1" spc="300" dirty="0">
              <a:solidFill>
                <a:schemeClr val="tx2"/>
              </a:solidFill>
              <a:latin typeface="+mn-ea"/>
              <a:ea typeface="+mn-ea"/>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Click="0" advTm="0">
        <p15:prstTrans prst="prestige"/>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5" presetClass="entr" presetSubtype="1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heckerboard(across)">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 name="Rectangle 11"/>
          <p:cNvSpPr>
            <a:spLocks noChangeArrowheads="1"/>
          </p:cNvSpPr>
          <p:nvPr/>
        </p:nvSpPr>
        <p:spPr bwMode="auto">
          <a:xfrm>
            <a:off x="357158" y="285728"/>
            <a:ext cx="8001000" cy="762000"/>
          </a:xfrm>
          <a:prstGeom prst="rect">
            <a:avLst/>
          </a:prstGeom>
          <a:noFill/>
          <a:ln w="9525">
            <a:noFill/>
            <a:miter lim="800000"/>
          </a:ln>
        </p:spPr>
        <p:txBody>
          <a:bodyPr/>
          <a:lstStyle/>
          <a:p>
            <a:pPr marL="342900" indent="-342900" algn="ctr" eaLnBrk="1" hangingPunct="1">
              <a:spcBef>
                <a:spcPct val="20000"/>
              </a:spcBef>
            </a:pPr>
            <a:r>
              <a:rPr lang="zh-CN" altLang="en-US" sz="3600" b="1" dirty="0" smtClean="0">
                <a:solidFill>
                  <a:srgbClr val="0000CC"/>
                </a:solidFill>
                <a:latin typeface="华文新魏" pitchFamily="2" charset="-122"/>
                <a:ea typeface="华文新魏" pitchFamily="2" charset="-122"/>
              </a:rPr>
              <a:t>辩证法的基本结构</a:t>
            </a:r>
            <a:endParaRPr lang="zh-CN" altLang="en-US" sz="3600" b="1" dirty="0">
              <a:solidFill>
                <a:srgbClr val="0000CC"/>
              </a:solidFill>
              <a:latin typeface="华文新魏" pitchFamily="2" charset="-122"/>
              <a:ea typeface="华文新魏" pitchFamily="2" charset="-122"/>
            </a:endParaRPr>
          </a:p>
        </p:txBody>
      </p:sp>
      <p:graphicFrame>
        <p:nvGraphicFramePr>
          <p:cNvPr id="11" name="图示 10"/>
          <p:cNvGraphicFramePr/>
          <p:nvPr/>
        </p:nvGraphicFramePr>
        <p:xfrm>
          <a:off x="285720" y="1000108"/>
          <a:ext cx="8405810" cy="55721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blinds/>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4294967295"/>
          </p:nvPr>
        </p:nvSpPr>
        <p:spPr>
          <a:xfrm>
            <a:off x="357158" y="1000108"/>
            <a:ext cx="8305800" cy="1752600"/>
          </a:xfrm>
        </p:spPr>
        <p:txBody>
          <a:bodyPr>
            <a:normAutofit/>
          </a:bodyPr>
          <a:lstStyle/>
          <a:p>
            <a:pPr eaLnBrk="1" hangingPunct="1">
              <a:lnSpc>
                <a:spcPct val="80000"/>
              </a:lnSpc>
              <a:buFontTx/>
              <a:buNone/>
            </a:pPr>
            <a:r>
              <a:rPr lang="zh-CN" altLang="en-US" sz="3200" b="1" dirty="0" smtClean="0">
                <a:solidFill>
                  <a:srgbClr val="9900CC"/>
                </a:solidFill>
                <a:latin typeface="华文新魏" pitchFamily="2" charset="-122"/>
                <a:ea typeface="华文新魏" pitchFamily="2" charset="-122"/>
              </a:rPr>
              <a:t>（一）事物的普遍联系</a:t>
            </a:r>
            <a:endParaRPr lang="zh-CN" altLang="en-US" sz="3600" b="1" dirty="0" smtClean="0">
              <a:solidFill>
                <a:srgbClr val="9900CC"/>
              </a:solidFill>
              <a:latin typeface="华文新魏" pitchFamily="2" charset="-122"/>
              <a:ea typeface="华文新魏" pitchFamily="2" charset="-122"/>
            </a:endParaRPr>
          </a:p>
          <a:p>
            <a:pPr eaLnBrk="1" hangingPunct="1">
              <a:lnSpc>
                <a:spcPct val="100000"/>
              </a:lnSpc>
              <a:buFontTx/>
              <a:buNone/>
            </a:pPr>
            <a:r>
              <a:rPr lang="zh-CN" altLang="en-US" sz="2800" dirty="0" smtClean="0"/>
              <a:t>  </a:t>
            </a:r>
            <a:r>
              <a:rPr lang="en-US" altLang="zh-CN" sz="2800" b="1" dirty="0" smtClean="0">
                <a:solidFill>
                  <a:srgbClr val="6600FF"/>
                </a:solidFill>
                <a:cs typeface="楷体" panose="02010609060101010101" pitchFamily="49" charset="-122"/>
              </a:rPr>
              <a:t>1.</a:t>
            </a:r>
            <a:r>
              <a:rPr lang="zh-CN" altLang="en-US" sz="2800" b="1" dirty="0" smtClean="0">
                <a:solidFill>
                  <a:srgbClr val="6600FF"/>
                </a:solidFill>
                <a:cs typeface="楷体" panose="02010609060101010101" pitchFamily="49" charset="-122"/>
              </a:rPr>
              <a:t>联系的定义：</a:t>
            </a:r>
            <a:r>
              <a:rPr lang="zh-CN" altLang="en-US" sz="2800" b="1" dirty="0" smtClean="0">
                <a:solidFill>
                  <a:srgbClr val="000000"/>
                </a:solidFill>
                <a:latin typeface="楷体_GB2312" pitchFamily="1" charset="-122"/>
                <a:ea typeface="楷体_GB2312" pitchFamily="1" charset="-122"/>
              </a:rPr>
              <a:t>事物内部各要素之间和事物之间相互影响、相互制约和相互作用的关系。</a:t>
            </a:r>
            <a:r>
              <a:rPr lang="zh-CN" altLang="en-US" b="1" dirty="0" smtClean="0">
                <a:solidFill>
                  <a:srgbClr val="000000"/>
                </a:solidFill>
                <a:latin typeface="楷体_GB2312" pitchFamily="1" charset="-122"/>
                <a:ea typeface="楷体_GB2312" pitchFamily="1" charset="-122"/>
              </a:rPr>
              <a:t>       </a:t>
            </a:r>
            <a:endParaRPr lang="zh-CN" altLang="en-US" b="1" dirty="0" smtClean="0">
              <a:solidFill>
                <a:srgbClr val="000000"/>
              </a:solidFill>
              <a:latin typeface="楷体_GB2312" pitchFamily="1" charset="-122"/>
              <a:ea typeface="楷体_GB2312" pitchFamily="1" charset="-122"/>
            </a:endParaRPr>
          </a:p>
        </p:txBody>
      </p:sp>
      <p:sp>
        <p:nvSpPr>
          <p:cNvPr id="7" name="Rectangle 3"/>
          <p:cNvSpPr>
            <a:spLocks noChangeArrowheads="1"/>
          </p:cNvSpPr>
          <p:nvPr/>
        </p:nvSpPr>
        <p:spPr bwMode="auto">
          <a:xfrm>
            <a:off x="285720" y="142852"/>
            <a:ext cx="8686800" cy="762000"/>
          </a:xfrm>
          <a:prstGeom prst="rect">
            <a:avLst/>
          </a:prstGeom>
          <a:noFill/>
          <a:ln w="9525">
            <a:noFill/>
            <a:miter lim="800000"/>
          </a:ln>
        </p:spPr>
        <p:txBody>
          <a:bodyPr anchor="b"/>
          <a:lstStyle/>
          <a:p>
            <a:pPr eaLnBrk="1" hangingPunct="1">
              <a:lnSpc>
                <a:spcPct val="90000"/>
              </a:lnSpc>
            </a:pPr>
            <a:r>
              <a:rPr lang="zh-CN" altLang="en-US" sz="3600" b="1" dirty="0">
                <a:solidFill>
                  <a:srgbClr val="0000CC"/>
                </a:solidFill>
                <a:ea typeface="华文新魏" pitchFamily="2" charset="-122"/>
              </a:rPr>
              <a:t>一</a:t>
            </a:r>
            <a:r>
              <a:rPr lang="zh-CN" altLang="en-US" sz="3600" b="1" dirty="0" smtClean="0">
                <a:solidFill>
                  <a:srgbClr val="0000CC"/>
                </a:solidFill>
                <a:ea typeface="华文新魏" pitchFamily="2" charset="-122"/>
              </a:rPr>
              <a:t>、联系</a:t>
            </a:r>
            <a:r>
              <a:rPr lang="zh-CN" altLang="en-US" sz="3600" b="1" dirty="0">
                <a:solidFill>
                  <a:srgbClr val="0000CC"/>
                </a:solidFill>
                <a:ea typeface="华文新魏" pitchFamily="2" charset="-122"/>
              </a:rPr>
              <a:t>和</a:t>
            </a:r>
            <a:r>
              <a:rPr lang="zh-CN" altLang="en-US" sz="3600" b="1" dirty="0" smtClean="0">
                <a:solidFill>
                  <a:srgbClr val="0000CC"/>
                </a:solidFill>
                <a:ea typeface="华文新魏" pitchFamily="2" charset="-122"/>
              </a:rPr>
              <a:t>发展的普遍性</a:t>
            </a:r>
            <a:endParaRPr lang="zh-CN" altLang="en-US" sz="3600" b="1" dirty="0">
              <a:solidFill>
                <a:srgbClr val="0000CC"/>
              </a:solidFill>
              <a:ea typeface="华文新魏" pitchFamily="2" charset="-122"/>
            </a:endParaRPr>
          </a:p>
        </p:txBody>
      </p:sp>
      <p:sp>
        <p:nvSpPr>
          <p:cNvPr id="8" name="矩形 7"/>
          <p:cNvSpPr/>
          <p:nvPr/>
        </p:nvSpPr>
        <p:spPr>
          <a:xfrm>
            <a:off x="571472" y="2857496"/>
            <a:ext cx="2768707" cy="523220"/>
          </a:xfrm>
          <a:prstGeom prst="rect">
            <a:avLst/>
          </a:prstGeom>
        </p:spPr>
        <p:txBody>
          <a:bodyPr wrap="none">
            <a:spAutoFit/>
          </a:bodyPr>
          <a:lstStyle/>
          <a:p>
            <a:r>
              <a:rPr lang="zh-CN" altLang="en-US" dirty="0" smtClean="0"/>
              <a:t> </a:t>
            </a:r>
            <a:r>
              <a:rPr lang="en-US" altLang="zh-CN" sz="2800" b="1" dirty="0">
                <a:solidFill>
                  <a:srgbClr val="6600FF"/>
                </a:solidFill>
                <a:latin typeface="楷体" panose="02010609060101010101" pitchFamily="49" charset="-122"/>
                <a:ea typeface="楷体" panose="02010609060101010101" pitchFamily="49" charset="-122"/>
              </a:rPr>
              <a:t>2</a:t>
            </a:r>
            <a:r>
              <a:rPr lang="en-US" altLang="zh-CN" sz="2800" b="1" dirty="0" smtClean="0">
                <a:solidFill>
                  <a:srgbClr val="6600FF"/>
                </a:solidFill>
                <a:latin typeface="楷体" panose="02010609060101010101" pitchFamily="49" charset="-122"/>
                <a:ea typeface="楷体" panose="02010609060101010101" pitchFamily="49" charset="-122"/>
              </a:rPr>
              <a:t>.</a:t>
            </a:r>
            <a:r>
              <a:rPr lang="zh-CN" altLang="en-US" sz="2800" b="1" dirty="0" smtClean="0">
                <a:solidFill>
                  <a:srgbClr val="6600FF"/>
                </a:solidFill>
                <a:latin typeface="楷体" panose="02010609060101010101" pitchFamily="49" charset="-122"/>
                <a:ea typeface="楷体" panose="02010609060101010101" pitchFamily="49" charset="-122"/>
              </a:rPr>
              <a:t>联系的特点：</a:t>
            </a:r>
            <a:endParaRPr lang="zh-CN" altLang="en-US" sz="2800" b="1" dirty="0">
              <a:latin typeface="楷体" panose="02010609060101010101" pitchFamily="49" charset="-122"/>
              <a:ea typeface="楷体" panose="02010609060101010101" pitchFamily="49" charset="-122"/>
            </a:endParaRPr>
          </a:p>
        </p:txBody>
      </p:sp>
      <p:grpSp>
        <p:nvGrpSpPr>
          <p:cNvPr id="9" name="Group 16"/>
          <p:cNvGrpSpPr/>
          <p:nvPr/>
        </p:nvGrpSpPr>
        <p:grpSpPr bwMode="auto">
          <a:xfrm>
            <a:off x="642910" y="3500438"/>
            <a:ext cx="2667000" cy="576263"/>
            <a:chOff x="1338" y="1109"/>
            <a:chExt cx="3696" cy="384"/>
          </a:xfrm>
        </p:grpSpPr>
        <p:sp>
          <p:nvSpPr>
            <p:cNvPr id="10" name="AutoShape 17"/>
            <p:cNvSpPr>
              <a:spLocks noChangeArrowheads="1"/>
            </p:cNvSpPr>
            <p:nvPr/>
          </p:nvSpPr>
          <p:spPr bwMode="ltGray">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11" name="Text Box 18"/>
            <p:cNvSpPr txBox="1">
              <a:spLocks noChangeArrowheads="1"/>
            </p:cNvSpPr>
            <p:nvPr/>
          </p:nvSpPr>
          <p:spPr bwMode="auto">
            <a:xfrm>
              <a:off x="1441" y="1122"/>
              <a:ext cx="3550" cy="307"/>
            </a:xfrm>
            <a:prstGeom prst="rect">
              <a:avLst/>
            </a:prstGeom>
            <a:noFill/>
            <a:ln w="9525">
              <a:noFill/>
              <a:miter lim="800000"/>
            </a:ln>
          </p:spPr>
          <p:txBody>
            <a:bodyPr>
              <a:spAutoFit/>
            </a:bodyPr>
            <a:lstStyle/>
            <a:p>
              <a:pPr eaLnBrk="1" hangingPunct="1"/>
              <a:r>
                <a:rPr lang="zh-CN" altLang="en-US" sz="2400" b="1" dirty="0" smtClean="0">
                  <a:solidFill>
                    <a:schemeClr val="bg1"/>
                  </a:solidFill>
                  <a:latin typeface="楷体" panose="02010609060101010101" pitchFamily="49" charset="-122"/>
                  <a:ea typeface="楷体" panose="02010609060101010101" pitchFamily="49" charset="-122"/>
                </a:rPr>
                <a:t>联系</a:t>
              </a:r>
              <a:r>
                <a:rPr lang="zh-CN" altLang="en-US" sz="2400" b="1" dirty="0">
                  <a:solidFill>
                    <a:schemeClr val="bg1"/>
                  </a:solidFill>
                  <a:latin typeface="楷体" panose="02010609060101010101" pitchFamily="49" charset="-122"/>
                  <a:ea typeface="楷体" panose="02010609060101010101" pitchFamily="49" charset="-122"/>
                </a:rPr>
                <a:t>具有客观性</a:t>
              </a:r>
              <a:r>
                <a:rPr lang="zh-CN" altLang="en-US" sz="2400" b="1" dirty="0">
                  <a:solidFill>
                    <a:schemeClr val="bg1"/>
                  </a:solidFill>
                  <a:latin typeface="楷体_GB2312" pitchFamily="1" charset="-122"/>
                  <a:ea typeface="楷体_GB2312" pitchFamily="1" charset="-122"/>
                </a:rPr>
                <a:t> </a:t>
              </a:r>
              <a:endParaRPr lang="zh-CN" altLang="en-US" sz="2400" b="1" dirty="0">
                <a:solidFill>
                  <a:schemeClr val="bg1"/>
                </a:solidFill>
                <a:latin typeface="楷体_GB2312" pitchFamily="1" charset="-122"/>
                <a:ea typeface="楷体_GB2312" pitchFamily="1" charset="-122"/>
              </a:endParaRPr>
            </a:p>
          </p:txBody>
        </p:sp>
      </p:grpSp>
      <p:grpSp>
        <p:nvGrpSpPr>
          <p:cNvPr id="13" name="Group 16"/>
          <p:cNvGrpSpPr/>
          <p:nvPr/>
        </p:nvGrpSpPr>
        <p:grpSpPr bwMode="auto">
          <a:xfrm>
            <a:off x="642911" y="4357694"/>
            <a:ext cx="2714644" cy="576263"/>
            <a:chOff x="1338" y="1109"/>
            <a:chExt cx="3696" cy="384"/>
          </a:xfrm>
        </p:grpSpPr>
        <p:sp>
          <p:nvSpPr>
            <p:cNvPr id="14" name="AutoShape 17"/>
            <p:cNvSpPr>
              <a:spLocks noChangeArrowheads="1"/>
            </p:cNvSpPr>
            <p:nvPr/>
          </p:nvSpPr>
          <p:spPr bwMode="ltGray">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15" name="Text Box 18"/>
            <p:cNvSpPr txBox="1">
              <a:spLocks noChangeArrowheads="1"/>
            </p:cNvSpPr>
            <p:nvPr/>
          </p:nvSpPr>
          <p:spPr bwMode="auto">
            <a:xfrm>
              <a:off x="1441" y="1122"/>
              <a:ext cx="3550" cy="308"/>
            </a:xfrm>
            <a:prstGeom prst="rect">
              <a:avLst/>
            </a:prstGeom>
            <a:noFill/>
            <a:ln w="9525">
              <a:noFill/>
              <a:miter lim="800000"/>
            </a:ln>
          </p:spPr>
          <p:txBody>
            <a:bodyPr>
              <a:spAutoFit/>
            </a:bodyPr>
            <a:lstStyle/>
            <a:p>
              <a:pPr eaLnBrk="1" hangingPunct="1"/>
              <a:r>
                <a:rPr lang="zh-CN" altLang="en-US" sz="2400" b="1" dirty="0" smtClean="0">
                  <a:solidFill>
                    <a:schemeClr val="bg1"/>
                  </a:solidFill>
                  <a:latin typeface="楷体" panose="02010609060101010101" pitchFamily="49" charset="-122"/>
                  <a:ea typeface="楷体" panose="02010609060101010101" pitchFamily="49" charset="-122"/>
                </a:rPr>
                <a:t>联系</a:t>
              </a:r>
              <a:r>
                <a:rPr lang="zh-CN" altLang="en-US" sz="2400" b="1" dirty="0">
                  <a:solidFill>
                    <a:schemeClr val="bg1"/>
                  </a:solidFill>
                  <a:latin typeface="楷体" panose="02010609060101010101" pitchFamily="49" charset="-122"/>
                  <a:ea typeface="楷体" panose="02010609060101010101" pitchFamily="49" charset="-122"/>
                </a:rPr>
                <a:t>具有普遍性</a:t>
              </a:r>
              <a:r>
                <a:rPr lang="zh-CN" altLang="en-US" sz="2400" b="1" dirty="0">
                  <a:solidFill>
                    <a:schemeClr val="bg1"/>
                  </a:solidFill>
                  <a:latin typeface="楷体_GB2312" pitchFamily="1" charset="-122"/>
                  <a:ea typeface="楷体_GB2312" pitchFamily="1" charset="-122"/>
                </a:rPr>
                <a:t> </a:t>
              </a:r>
              <a:endParaRPr lang="zh-CN" altLang="en-US" sz="2400" b="1" dirty="0">
                <a:solidFill>
                  <a:schemeClr val="bg1"/>
                </a:solidFill>
                <a:latin typeface="楷体_GB2312" pitchFamily="1" charset="-122"/>
                <a:ea typeface="楷体_GB2312" pitchFamily="1" charset="-122"/>
              </a:endParaRPr>
            </a:p>
          </p:txBody>
        </p:sp>
      </p:grpSp>
      <p:grpSp>
        <p:nvGrpSpPr>
          <p:cNvPr id="16" name="Group 23"/>
          <p:cNvGrpSpPr/>
          <p:nvPr/>
        </p:nvGrpSpPr>
        <p:grpSpPr bwMode="auto">
          <a:xfrm>
            <a:off x="642910" y="5143512"/>
            <a:ext cx="2714644" cy="576262"/>
            <a:chOff x="1338" y="1109"/>
            <a:chExt cx="3404" cy="384"/>
          </a:xfrm>
        </p:grpSpPr>
        <p:sp>
          <p:nvSpPr>
            <p:cNvPr id="17" name="AutoShape 24"/>
            <p:cNvSpPr>
              <a:spLocks noChangeArrowheads="1"/>
            </p:cNvSpPr>
            <p:nvPr/>
          </p:nvSpPr>
          <p:spPr bwMode="ltGray">
            <a:xfrm>
              <a:off x="1338" y="1109"/>
              <a:ext cx="3404"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18" name="Text Box 25"/>
            <p:cNvSpPr txBox="1">
              <a:spLocks noChangeArrowheads="1"/>
            </p:cNvSpPr>
            <p:nvPr/>
          </p:nvSpPr>
          <p:spPr bwMode="auto">
            <a:xfrm>
              <a:off x="1441" y="1122"/>
              <a:ext cx="3147" cy="369"/>
            </a:xfrm>
            <a:prstGeom prst="rect">
              <a:avLst/>
            </a:prstGeom>
            <a:noFill/>
            <a:ln w="9525">
              <a:noFill/>
              <a:miter lim="800000"/>
            </a:ln>
          </p:spPr>
          <p:txBody>
            <a:bodyPr wrap="square">
              <a:spAutoFit/>
            </a:bodyPr>
            <a:lstStyle/>
            <a:p>
              <a:pPr eaLnBrk="1" hangingPunct="1">
                <a:lnSpc>
                  <a:spcPct val="125000"/>
                </a:lnSpc>
              </a:pPr>
              <a:r>
                <a:rPr lang="zh-CN" altLang="en-US" sz="2400" b="1" dirty="0" smtClean="0">
                  <a:solidFill>
                    <a:schemeClr val="bg1"/>
                  </a:solidFill>
                  <a:latin typeface="楷体" panose="02010609060101010101" pitchFamily="49" charset="-122"/>
                  <a:ea typeface="楷体" panose="02010609060101010101" pitchFamily="49" charset="-122"/>
                </a:rPr>
                <a:t>联系</a:t>
              </a:r>
              <a:r>
                <a:rPr lang="zh-CN" altLang="en-US" sz="2400" b="1" dirty="0">
                  <a:solidFill>
                    <a:schemeClr val="bg1"/>
                  </a:solidFill>
                  <a:latin typeface="楷体" panose="02010609060101010101" pitchFamily="49" charset="-122"/>
                  <a:ea typeface="楷体" panose="02010609060101010101" pitchFamily="49" charset="-122"/>
                </a:rPr>
                <a:t>具有多样性</a:t>
              </a:r>
              <a:r>
                <a:rPr lang="zh-CN" altLang="en-US" sz="2400" b="1" dirty="0">
                  <a:solidFill>
                    <a:schemeClr val="bg1"/>
                  </a:solidFill>
                  <a:latin typeface="楷体_GB2312" pitchFamily="1" charset="-122"/>
                  <a:ea typeface="楷体_GB2312" pitchFamily="1" charset="-122"/>
                </a:rPr>
                <a:t> </a:t>
              </a:r>
              <a:endParaRPr lang="zh-CN" altLang="en-US" sz="2400" b="1" dirty="0">
                <a:solidFill>
                  <a:schemeClr val="bg1"/>
                </a:solidFill>
                <a:latin typeface="楷体_GB2312" pitchFamily="1" charset="-122"/>
                <a:ea typeface="楷体_GB2312" pitchFamily="1" charset="-122"/>
              </a:endParaRPr>
            </a:p>
          </p:txBody>
        </p:sp>
      </p:grpSp>
      <p:grpSp>
        <p:nvGrpSpPr>
          <p:cNvPr id="19" name="Group 4"/>
          <p:cNvGrpSpPr/>
          <p:nvPr/>
        </p:nvGrpSpPr>
        <p:grpSpPr bwMode="auto">
          <a:xfrm>
            <a:off x="642910" y="5929330"/>
            <a:ext cx="2754312" cy="576263"/>
            <a:chOff x="1338" y="1109"/>
            <a:chExt cx="3696" cy="384"/>
          </a:xfrm>
        </p:grpSpPr>
        <p:sp>
          <p:nvSpPr>
            <p:cNvPr id="20" name="AutoShape 5"/>
            <p:cNvSpPr>
              <a:spLocks noChangeArrowheads="1"/>
            </p:cNvSpPr>
            <p:nvPr/>
          </p:nvSpPr>
          <p:spPr bwMode="ltGray">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21" name="Text Box 6"/>
            <p:cNvSpPr txBox="1">
              <a:spLocks noChangeArrowheads="1"/>
            </p:cNvSpPr>
            <p:nvPr/>
          </p:nvSpPr>
          <p:spPr bwMode="auto">
            <a:xfrm>
              <a:off x="1441" y="1122"/>
              <a:ext cx="3168" cy="369"/>
            </a:xfrm>
            <a:prstGeom prst="rect">
              <a:avLst/>
            </a:prstGeom>
            <a:noFill/>
            <a:ln w="9525">
              <a:noFill/>
              <a:miter lim="800000"/>
            </a:ln>
          </p:spPr>
          <p:txBody>
            <a:bodyPr wrap="square">
              <a:spAutoFit/>
            </a:bodyPr>
            <a:lstStyle/>
            <a:p>
              <a:pPr eaLnBrk="1" hangingPunct="1">
                <a:lnSpc>
                  <a:spcPct val="125000"/>
                </a:lnSpc>
              </a:pPr>
              <a:r>
                <a:rPr lang="zh-CN" altLang="en-US" sz="2400" b="1" dirty="0" smtClean="0">
                  <a:solidFill>
                    <a:schemeClr val="bg1"/>
                  </a:solidFill>
                  <a:latin typeface="楷体" panose="02010609060101010101" pitchFamily="49" charset="-122"/>
                  <a:ea typeface="楷体" panose="02010609060101010101" pitchFamily="49" charset="-122"/>
                </a:rPr>
                <a:t>联系</a:t>
              </a:r>
              <a:r>
                <a:rPr lang="zh-CN" altLang="en-US" sz="2400" b="1" dirty="0">
                  <a:solidFill>
                    <a:schemeClr val="bg1"/>
                  </a:solidFill>
                  <a:latin typeface="楷体" panose="02010609060101010101" pitchFamily="49" charset="-122"/>
                  <a:ea typeface="楷体" panose="02010609060101010101" pitchFamily="49" charset="-122"/>
                </a:rPr>
                <a:t>具有条件性</a:t>
              </a:r>
              <a:r>
                <a:rPr lang="zh-CN" altLang="en-US" sz="2400" b="1" dirty="0">
                  <a:solidFill>
                    <a:schemeClr val="bg1"/>
                  </a:solidFill>
                  <a:latin typeface="楷体_GB2312" pitchFamily="1" charset="-122"/>
                  <a:ea typeface="楷体_GB2312" pitchFamily="1" charset="-122"/>
                </a:rPr>
                <a:t> </a:t>
              </a:r>
              <a:endParaRPr lang="zh-CN" altLang="en-US" sz="2400" b="1" dirty="0">
                <a:solidFill>
                  <a:schemeClr val="bg1"/>
                </a:solidFill>
                <a:latin typeface="楷体_GB2312" pitchFamily="1" charset="-122"/>
                <a:ea typeface="楷体_GB2312" pitchFamily="1" charset="-122"/>
              </a:endParaRPr>
            </a:p>
          </p:txBody>
        </p:sp>
      </p:grpSp>
      <p:sp>
        <p:nvSpPr>
          <p:cNvPr id="22" name="WordArt 21" descr="白色大理石"/>
          <p:cNvSpPr>
            <a:spLocks noChangeArrowheads="1" noChangeShapeType="1" noTextEdit="1"/>
          </p:cNvSpPr>
          <p:nvPr/>
        </p:nvSpPr>
        <p:spPr bwMode="auto">
          <a:xfrm>
            <a:off x="3643306" y="3214686"/>
            <a:ext cx="5070475" cy="550863"/>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ln>
                <a:blipFill dpi="0" rotWithShape="0">
                  <a:blip r:embed="rId1"/>
                  <a:srcRect/>
                  <a:tile tx="0" ty="0" sx="100000" sy="100000" flip="none" algn="tl"/>
                </a:blipFill>
                <a:latin typeface="宋体" panose="02010600030101010101" pitchFamily="2" charset="-122"/>
                <a:ea typeface="宋体" panose="02010600030101010101" pitchFamily="2" charset="-122"/>
              </a:rPr>
              <a:t>方法论意义：用联系的观点看问题</a:t>
            </a:r>
            <a:endParaRPr lang="zh-CN" altLang="en-US" sz="3600" kern="10" dirty="0">
              <a:ln w="9525">
                <a:round/>
              </a:ln>
              <a:blipFill dpi="0" rotWithShape="0">
                <a:blip r:embed="rId1"/>
                <a:srcRect/>
                <a:tile tx="0" ty="0" sx="100000" sy="100000" flip="none" algn="tl"/>
              </a:blipFill>
              <a:latin typeface="宋体" panose="02010600030101010101" pitchFamily="2" charset="-122"/>
              <a:ea typeface="宋体" panose="02010600030101010101" pitchFamily="2" charset="-122"/>
            </a:endParaRPr>
          </a:p>
        </p:txBody>
      </p:sp>
      <p:sp>
        <p:nvSpPr>
          <p:cNvPr id="23" name="Rectangle 16"/>
          <p:cNvSpPr>
            <a:spLocks noChangeArrowheads="1"/>
          </p:cNvSpPr>
          <p:nvPr/>
        </p:nvSpPr>
        <p:spPr bwMode="auto">
          <a:xfrm>
            <a:off x="3643306" y="3929066"/>
            <a:ext cx="5072098" cy="2143140"/>
          </a:xfrm>
          <a:prstGeom prst="rect">
            <a:avLst/>
          </a:prstGeom>
          <a:solidFill>
            <a:srgbClr val="CCFFFF"/>
          </a:solidFill>
          <a:ln w="9525">
            <a:solidFill>
              <a:srgbClr val="FF9900"/>
            </a:solidFill>
            <a:miter lim="800000"/>
          </a:ln>
        </p:spPr>
        <p:txBody>
          <a:bodyPr/>
          <a:lstStyle/>
          <a:p>
            <a:pPr eaLnBrk="1" hangingPunct="1">
              <a:lnSpc>
                <a:spcPct val="125000"/>
              </a:lnSpc>
              <a:spcBef>
                <a:spcPct val="20000"/>
              </a:spcBef>
            </a:pPr>
            <a:r>
              <a:rPr lang="en-US" altLang="zh-CN" sz="2000" b="1" dirty="0">
                <a:solidFill>
                  <a:srgbClr val="000099"/>
                </a:solidFill>
                <a:latin typeface="楷体_GB2312" pitchFamily="1" charset="-122"/>
                <a:ea typeface="楷体_GB2312" pitchFamily="1" charset="-122"/>
              </a:rPr>
              <a:t> </a:t>
            </a:r>
            <a:r>
              <a:rPr lang="en-US" altLang="zh-CN" sz="2000" b="1" dirty="0">
                <a:solidFill>
                  <a:srgbClr val="000099"/>
                </a:solidFill>
                <a:latin typeface="楷体" panose="02010609060101010101" pitchFamily="49" charset="-122"/>
                <a:ea typeface="楷体" panose="02010609060101010101" pitchFamily="49" charset="-122"/>
              </a:rPr>
              <a:t>  </a:t>
            </a:r>
            <a:r>
              <a:rPr lang="zh-CN" altLang="en-US" sz="2400" b="1" dirty="0" smtClean="0">
                <a:solidFill>
                  <a:srgbClr val="990000"/>
                </a:solidFill>
                <a:latin typeface="楷体" panose="02010609060101010101" pitchFamily="49" charset="-122"/>
                <a:ea typeface="楷体" panose="02010609060101010101" pitchFamily="49" charset="-122"/>
              </a:rPr>
              <a:t>善于</a:t>
            </a:r>
            <a:r>
              <a:rPr lang="zh-CN" altLang="en-US" sz="2400" b="1" dirty="0">
                <a:solidFill>
                  <a:srgbClr val="990000"/>
                </a:solidFill>
                <a:latin typeface="楷体" panose="02010609060101010101" pitchFamily="49" charset="-122"/>
                <a:ea typeface="楷体" panose="02010609060101010101" pitchFamily="49" charset="-122"/>
              </a:rPr>
              <a:t>分析事物的具体联系，确立整体性、开放性观念</a:t>
            </a:r>
            <a:r>
              <a:rPr lang="en-US" altLang="zh-CN" sz="2400" b="1" dirty="0">
                <a:solidFill>
                  <a:srgbClr val="990000"/>
                </a:solidFill>
                <a:latin typeface="楷体" panose="02010609060101010101" pitchFamily="49" charset="-122"/>
                <a:ea typeface="楷体" panose="02010609060101010101" pitchFamily="49" charset="-122"/>
              </a:rPr>
              <a:t>,</a:t>
            </a:r>
            <a:r>
              <a:rPr lang="zh-CN" altLang="en-US" sz="2400" b="1" dirty="0">
                <a:solidFill>
                  <a:srgbClr val="990000"/>
                </a:solidFill>
                <a:latin typeface="楷体" panose="02010609060101010101" pitchFamily="49" charset="-122"/>
                <a:ea typeface="楷体" panose="02010609060101010101" pitchFamily="49" charset="-122"/>
              </a:rPr>
              <a:t>从动态中考察事物的普遍联系</a:t>
            </a:r>
            <a:r>
              <a:rPr lang="zh-CN" altLang="en-US" sz="2400" b="1" dirty="0" smtClean="0">
                <a:solidFill>
                  <a:srgbClr val="990000"/>
                </a:solidFill>
                <a:latin typeface="楷体" panose="02010609060101010101" pitchFamily="49" charset="-122"/>
                <a:ea typeface="楷体" panose="02010609060101010101" pitchFamily="49" charset="-122"/>
              </a:rPr>
              <a:t>。</a:t>
            </a:r>
            <a:endParaRPr lang="en-US" altLang="zh-CN" sz="2400" b="1" dirty="0" smtClean="0">
              <a:solidFill>
                <a:srgbClr val="990000"/>
              </a:solidFill>
              <a:latin typeface="楷体" panose="02010609060101010101" pitchFamily="49" charset="-122"/>
              <a:ea typeface="楷体" panose="02010609060101010101" pitchFamily="49" charset="-122"/>
            </a:endParaRPr>
          </a:p>
          <a:p>
            <a:pPr eaLnBrk="1" hangingPunct="1">
              <a:lnSpc>
                <a:spcPct val="125000"/>
              </a:lnSpc>
              <a:spcBef>
                <a:spcPct val="20000"/>
              </a:spcBef>
            </a:pPr>
            <a:r>
              <a:rPr lang="zh-CN" altLang="en-US" sz="2400" b="1" dirty="0" smtClean="0">
                <a:solidFill>
                  <a:srgbClr val="990000"/>
                </a:solidFill>
                <a:latin typeface="楷体" panose="02010609060101010101" pitchFamily="49" charset="-122"/>
                <a:ea typeface="楷体" panose="02010609060101010101" pitchFamily="49" charset="-122"/>
              </a:rPr>
              <a:t>   建立辩证唯物主义的系统观。</a:t>
            </a:r>
            <a:endParaRPr lang="zh-CN" altLang="en-US" sz="2400" b="1" dirty="0">
              <a:solidFill>
                <a:srgbClr val="990000"/>
              </a:solidFill>
              <a:latin typeface="楷体" panose="02010609060101010101" pitchFamily="49" charset="-122"/>
              <a:ea typeface="楷体" panose="02010609060101010101" pitchFamily="49" charset="-122"/>
            </a:endParaRPr>
          </a:p>
        </p:txBody>
      </p:sp>
    </p:spTree>
  </p:cSld>
  <p:clrMapOvr>
    <a:masterClrMapping/>
  </p:clrMapOvr>
  <p:transition>
    <p:blinds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28600" y="990600"/>
            <a:ext cx="8783451" cy="1015663"/>
          </a:xfrm>
          <a:prstGeom prst="rect">
            <a:avLst/>
          </a:prstGeom>
        </p:spPr>
        <p:txBody>
          <a:bodyPr wrap="square">
            <a:spAutoFit/>
          </a:bodyPr>
          <a:lstStyle/>
          <a:p>
            <a:r>
              <a:rPr lang="zh-CN" altLang="en-US" sz="2000" b="1" dirty="0">
                <a:solidFill>
                  <a:srgbClr val="000000"/>
                </a:solidFill>
                <a:latin typeface="+mn-ea"/>
              </a:rPr>
              <a:t>事物的</a:t>
            </a:r>
            <a:r>
              <a:rPr lang="zh-CN" altLang="en-US" sz="2000" b="1" dirty="0">
                <a:solidFill>
                  <a:srgbClr val="FF0000"/>
                </a:solidFill>
                <a:latin typeface="+mn-ea"/>
              </a:rPr>
              <a:t>相互联系</a:t>
            </a:r>
            <a:r>
              <a:rPr lang="zh-CN" altLang="en-US" sz="2000" b="1" dirty="0">
                <a:solidFill>
                  <a:srgbClr val="000000"/>
                </a:solidFill>
                <a:latin typeface="+mn-ea"/>
              </a:rPr>
              <a:t>包含事物的</a:t>
            </a:r>
            <a:r>
              <a:rPr lang="zh-CN" altLang="en-US" sz="2000" b="1" dirty="0">
                <a:solidFill>
                  <a:srgbClr val="FF0000"/>
                </a:solidFill>
                <a:latin typeface="+mn-ea"/>
              </a:rPr>
              <a:t>相互作用</a:t>
            </a:r>
            <a:r>
              <a:rPr lang="zh-CN" altLang="en-US" sz="2000" b="1" dirty="0">
                <a:solidFill>
                  <a:srgbClr val="000000"/>
                </a:solidFill>
                <a:latin typeface="+mn-ea"/>
              </a:rPr>
              <a:t>，而</a:t>
            </a:r>
            <a:r>
              <a:rPr lang="zh-CN" altLang="en-US" sz="2000" b="1" dirty="0">
                <a:solidFill>
                  <a:srgbClr val="FF0000"/>
                </a:solidFill>
                <a:latin typeface="+mn-ea"/>
              </a:rPr>
              <a:t>相互作用</a:t>
            </a:r>
            <a:r>
              <a:rPr lang="zh-CN" altLang="en-US" sz="2000" b="1" dirty="0">
                <a:solidFill>
                  <a:srgbClr val="000000"/>
                </a:solidFill>
                <a:latin typeface="+mn-ea"/>
              </a:rPr>
              <a:t>必然导致事物的</a:t>
            </a:r>
            <a:r>
              <a:rPr lang="zh-CN" altLang="en-US" sz="2000" b="1" dirty="0">
                <a:solidFill>
                  <a:srgbClr val="FF0000"/>
                </a:solidFill>
                <a:latin typeface="+mn-ea"/>
              </a:rPr>
              <a:t>运动、变化和发展</a:t>
            </a:r>
            <a:r>
              <a:rPr lang="zh-CN" altLang="en-US" sz="2000" b="1" dirty="0">
                <a:solidFill>
                  <a:srgbClr val="000000"/>
                </a:solidFill>
                <a:latin typeface="+mn-ea"/>
              </a:rPr>
              <a:t>。</a:t>
            </a:r>
            <a:endParaRPr lang="en-US" altLang="zh-CN" sz="2000" b="1" dirty="0">
              <a:solidFill>
                <a:srgbClr val="000000"/>
              </a:solidFill>
              <a:latin typeface="+mn-ea"/>
            </a:endParaRPr>
          </a:p>
          <a:p>
            <a:r>
              <a:rPr lang="zh-CN" altLang="en-US" sz="2000" b="1" dirty="0">
                <a:solidFill>
                  <a:srgbClr val="000000"/>
                </a:solidFill>
                <a:latin typeface="+mn-ea"/>
              </a:rPr>
              <a:t>事物之间</a:t>
            </a:r>
            <a:r>
              <a:rPr lang="zh-CN" altLang="en-US" sz="2000" b="1" dirty="0">
                <a:solidFill>
                  <a:srgbClr val="FF0000"/>
                </a:solidFill>
                <a:latin typeface="+mn-ea"/>
              </a:rPr>
              <a:t>相互作用</a:t>
            </a:r>
            <a:r>
              <a:rPr lang="zh-CN" altLang="en-US" sz="2000" b="1" dirty="0">
                <a:solidFill>
                  <a:srgbClr val="000000"/>
                </a:solidFill>
                <a:latin typeface="+mn-ea"/>
              </a:rPr>
              <a:t>的结果，使事物的</a:t>
            </a:r>
            <a:r>
              <a:rPr lang="zh-CN" altLang="en-US" sz="2000" b="1" u="sng" dirty="0">
                <a:solidFill>
                  <a:srgbClr val="FF0000"/>
                </a:solidFill>
                <a:latin typeface="+mn-ea"/>
              </a:rPr>
              <a:t>原有状态</a:t>
            </a:r>
            <a:r>
              <a:rPr lang="zh-CN" altLang="en-US" sz="2000" b="1" dirty="0">
                <a:solidFill>
                  <a:srgbClr val="000000"/>
                </a:solidFill>
                <a:latin typeface="+mn-ea"/>
              </a:rPr>
              <a:t>和</a:t>
            </a:r>
            <a:r>
              <a:rPr lang="zh-CN" altLang="en-US" sz="2000" b="1" u="sng" dirty="0">
                <a:solidFill>
                  <a:srgbClr val="FF0000"/>
                </a:solidFill>
                <a:latin typeface="+mn-ea"/>
              </a:rPr>
              <a:t>性质</a:t>
            </a:r>
            <a:r>
              <a:rPr lang="zh-CN" altLang="en-US" sz="2000" b="1" dirty="0">
                <a:solidFill>
                  <a:srgbClr val="000000"/>
                </a:solidFill>
                <a:latin typeface="+mn-ea"/>
              </a:rPr>
              <a:t>发生程度不同的</a:t>
            </a:r>
            <a:r>
              <a:rPr lang="zh-CN" altLang="en-US" sz="2000" b="1" dirty="0">
                <a:solidFill>
                  <a:srgbClr val="FF0000"/>
                </a:solidFill>
                <a:latin typeface="+mn-ea"/>
              </a:rPr>
              <a:t>变化</a:t>
            </a:r>
            <a:r>
              <a:rPr lang="zh-CN" altLang="en-US" sz="2000" b="1" dirty="0">
                <a:solidFill>
                  <a:srgbClr val="000000"/>
                </a:solidFill>
                <a:latin typeface="+mn-ea"/>
              </a:rPr>
              <a:t>。</a:t>
            </a:r>
            <a:endParaRPr lang="zh-CN" altLang="en-US" sz="2000" dirty="0">
              <a:solidFill>
                <a:srgbClr val="000000"/>
              </a:solidFill>
            </a:endParaRPr>
          </a:p>
        </p:txBody>
      </p:sp>
      <p:graphicFrame>
        <p:nvGraphicFramePr>
          <p:cNvPr id="8" name="图示 7"/>
          <p:cNvGraphicFramePr/>
          <p:nvPr/>
        </p:nvGraphicFramePr>
        <p:xfrm>
          <a:off x="285720" y="1714488"/>
          <a:ext cx="8495469" cy="30961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矩形 8"/>
          <p:cNvSpPr/>
          <p:nvPr/>
        </p:nvSpPr>
        <p:spPr>
          <a:xfrm>
            <a:off x="1643042" y="2214554"/>
            <a:ext cx="1218602" cy="584775"/>
          </a:xfrm>
          <a:prstGeom prst="rect">
            <a:avLst/>
          </a:prstGeom>
        </p:spPr>
        <p:txBody>
          <a:bodyPr wrap="none">
            <a:spAutoFit/>
          </a:bodyPr>
          <a:lstStyle/>
          <a:p>
            <a:pPr algn="ctr"/>
            <a:r>
              <a:rPr lang="zh-CN" altLang="en-US" sz="1600" b="1" dirty="0">
                <a:solidFill>
                  <a:srgbClr val="C00000"/>
                </a:solidFill>
                <a:latin typeface="+mn-ea"/>
              </a:rPr>
              <a:t>相互作用；</a:t>
            </a:r>
            <a:endParaRPr lang="en-US" altLang="zh-CN" sz="1600" b="1" dirty="0">
              <a:solidFill>
                <a:srgbClr val="C00000"/>
              </a:solidFill>
              <a:latin typeface="+mn-ea"/>
            </a:endParaRPr>
          </a:p>
          <a:p>
            <a:pPr algn="ctr"/>
            <a:r>
              <a:rPr lang="zh-CN" altLang="en-US" sz="1600" b="1" dirty="0">
                <a:solidFill>
                  <a:srgbClr val="C00000"/>
                </a:solidFill>
                <a:latin typeface="+mn-ea"/>
              </a:rPr>
              <a:t>导致</a:t>
            </a:r>
            <a:endParaRPr lang="zh-CN" altLang="en-US" sz="1600" dirty="0">
              <a:solidFill>
                <a:srgbClr val="C00000"/>
              </a:solidFill>
            </a:endParaRPr>
          </a:p>
        </p:txBody>
      </p:sp>
      <p:sp>
        <p:nvSpPr>
          <p:cNvPr id="12" name="矩形 11"/>
          <p:cNvSpPr/>
          <p:nvPr/>
        </p:nvSpPr>
        <p:spPr>
          <a:xfrm>
            <a:off x="6500826" y="2214554"/>
            <a:ext cx="598241" cy="584775"/>
          </a:xfrm>
          <a:prstGeom prst="rect">
            <a:avLst/>
          </a:prstGeom>
        </p:spPr>
        <p:txBody>
          <a:bodyPr wrap="none">
            <a:spAutoFit/>
          </a:bodyPr>
          <a:lstStyle/>
          <a:p>
            <a:r>
              <a:rPr lang="zh-CN" altLang="en-US" sz="1600" b="1" dirty="0">
                <a:solidFill>
                  <a:srgbClr val="C00000"/>
                </a:solidFill>
                <a:latin typeface="PingFang SC"/>
              </a:rPr>
              <a:t>基本</a:t>
            </a:r>
            <a:endParaRPr lang="en-US" altLang="zh-CN" sz="1600" b="1" dirty="0">
              <a:solidFill>
                <a:srgbClr val="C00000"/>
              </a:solidFill>
              <a:latin typeface="PingFang SC"/>
            </a:endParaRPr>
          </a:p>
          <a:p>
            <a:r>
              <a:rPr lang="zh-CN" altLang="en-US" sz="1600" b="1" dirty="0">
                <a:solidFill>
                  <a:srgbClr val="C00000"/>
                </a:solidFill>
                <a:latin typeface="PingFang SC"/>
              </a:rPr>
              <a:t>趋势</a:t>
            </a:r>
            <a:endParaRPr lang="zh-CN" altLang="en-US" sz="1600" b="1" dirty="0">
              <a:solidFill>
                <a:srgbClr val="C00000"/>
              </a:solidFill>
            </a:endParaRPr>
          </a:p>
        </p:txBody>
      </p:sp>
      <p:sp>
        <p:nvSpPr>
          <p:cNvPr id="14" name="矩形 13"/>
          <p:cNvSpPr/>
          <p:nvPr/>
        </p:nvSpPr>
        <p:spPr>
          <a:xfrm>
            <a:off x="4955487" y="2328983"/>
            <a:ext cx="1346844" cy="369332"/>
          </a:xfrm>
          <a:prstGeom prst="rect">
            <a:avLst/>
          </a:prstGeom>
        </p:spPr>
        <p:txBody>
          <a:bodyPr wrap="none">
            <a:spAutoFit/>
          </a:bodyPr>
          <a:lstStyle/>
          <a:p>
            <a:pPr algn="ctr"/>
            <a:r>
              <a:rPr lang="zh-CN" altLang="en-US" b="1" dirty="0">
                <a:solidFill>
                  <a:srgbClr val="C00000"/>
                </a:solidFill>
                <a:latin typeface="+mn-ea"/>
              </a:rPr>
              <a:t>状态、性质</a:t>
            </a:r>
            <a:endParaRPr lang="zh-CN" altLang="en-US" dirty="0">
              <a:solidFill>
                <a:srgbClr val="C00000"/>
              </a:solidFill>
            </a:endParaRPr>
          </a:p>
        </p:txBody>
      </p:sp>
      <p:sp>
        <p:nvSpPr>
          <p:cNvPr id="11" name="Rectangle 2"/>
          <p:cNvSpPr txBox="1">
            <a:spLocks noChangeArrowheads="1"/>
          </p:cNvSpPr>
          <p:nvPr/>
        </p:nvSpPr>
        <p:spPr bwMode="auto">
          <a:xfrm>
            <a:off x="304800" y="304800"/>
            <a:ext cx="8229600" cy="652463"/>
          </a:xfrm>
          <a:prstGeom prst="rect">
            <a:avLst/>
          </a:prstGeom>
          <a:noFill/>
          <a:ln w="9525">
            <a:noFill/>
            <a:miter lim="800000"/>
          </a:ln>
        </p:spPr>
        <p:txBody>
          <a:bodyPr vert="horz" wrap="square" lIns="91440" tIns="45720" rIns="91440" bIns="45720" numCol="1" anchor="b" anchorCtr="0" compatLnSpc="1"/>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sz="3600" b="1" i="0" u="none" strike="noStrike" kern="0" cap="none" spc="0" normalizeH="0" baseline="0" noProof="0" dirty="0" smtClean="0">
                <a:ln>
                  <a:noFill/>
                </a:ln>
                <a:solidFill>
                  <a:srgbClr val="9900CC"/>
                </a:solidFill>
                <a:effectLst/>
                <a:uLnTx/>
                <a:uFillTx/>
                <a:latin typeface="华文新魏" pitchFamily="2" charset="-122"/>
                <a:ea typeface="华文新魏" pitchFamily="2" charset="-122"/>
                <a:cs typeface="+mj-cs"/>
              </a:rPr>
              <a:t>（二）事物的</a:t>
            </a:r>
            <a:r>
              <a:rPr kumimoji="0" lang="zh-CN" altLang="en-US" sz="3600" b="1" i="0" u="none" strike="noStrike" kern="0" cap="none" spc="0" normalizeH="0" baseline="0" noProof="0" dirty="0" smtClean="0">
                <a:ln>
                  <a:noFill/>
                </a:ln>
                <a:solidFill>
                  <a:srgbClr val="9900CC"/>
                </a:solidFill>
                <a:effectLst/>
                <a:uLnTx/>
                <a:uFillTx/>
                <a:latin typeface="华文新魏" pitchFamily="2" charset="-122"/>
                <a:ea typeface="华文新魏" pitchFamily="2" charset="-122"/>
                <a:cs typeface="+mj-cs"/>
              </a:rPr>
              <a:t>变化</a:t>
            </a:r>
            <a:r>
              <a:rPr kumimoji="0" lang="zh-CN" sz="3600" b="1" i="0" u="none" strike="noStrike" kern="0" cap="none" spc="0" normalizeH="0" baseline="0" noProof="0" dirty="0" smtClean="0">
                <a:ln>
                  <a:noFill/>
                </a:ln>
                <a:solidFill>
                  <a:srgbClr val="9900CC"/>
                </a:solidFill>
                <a:effectLst/>
                <a:uLnTx/>
                <a:uFillTx/>
                <a:latin typeface="华文新魏" pitchFamily="2" charset="-122"/>
                <a:ea typeface="华文新魏" pitchFamily="2" charset="-122"/>
                <a:cs typeface="+mj-cs"/>
              </a:rPr>
              <a:t>发展</a:t>
            </a:r>
            <a:endParaRPr kumimoji="0" lang="zh-CN" sz="3600" b="1" i="0" u="none" strike="noStrike" kern="0" cap="none" spc="0" normalizeH="0" baseline="0" noProof="0" dirty="0" smtClean="0">
              <a:ln>
                <a:noFill/>
              </a:ln>
              <a:solidFill>
                <a:srgbClr val="9900CC"/>
              </a:solidFill>
              <a:effectLst/>
              <a:uLnTx/>
              <a:uFillTx/>
              <a:latin typeface="华文新魏" pitchFamily="2" charset="-122"/>
              <a:ea typeface="华文新魏" pitchFamily="2" charset="-122"/>
              <a:cs typeface="+mj-cs"/>
            </a:endParaRPr>
          </a:p>
        </p:txBody>
      </p:sp>
      <p:sp>
        <p:nvSpPr>
          <p:cNvPr id="15" name="Rectangle 6"/>
          <p:cNvSpPr>
            <a:spLocks noChangeArrowheads="1"/>
          </p:cNvSpPr>
          <p:nvPr/>
        </p:nvSpPr>
        <p:spPr bwMode="auto">
          <a:xfrm>
            <a:off x="214282" y="4143380"/>
            <a:ext cx="8501122" cy="990600"/>
          </a:xfrm>
          <a:prstGeom prst="rect">
            <a:avLst/>
          </a:prstGeom>
          <a:noFill/>
          <a:ln w="9525">
            <a:noFill/>
            <a:miter lim="800000"/>
          </a:ln>
        </p:spPr>
        <p:txBody>
          <a:bodyPr/>
          <a:lstStyle/>
          <a:p>
            <a:pPr marL="342900" indent="-342900" eaLnBrk="1" hangingPunct="1">
              <a:lnSpc>
                <a:spcPct val="90000"/>
              </a:lnSpc>
              <a:spcBef>
                <a:spcPct val="20000"/>
              </a:spcBef>
            </a:pPr>
            <a:r>
              <a:rPr lang="zh-CN" altLang="en-US" sz="2800" b="1" dirty="0" smtClean="0">
                <a:solidFill>
                  <a:srgbClr val="6600FF"/>
                </a:solidFill>
                <a:latin typeface="楷体" panose="02010609060101010101" pitchFamily="49" charset="-122"/>
                <a:ea typeface="楷体" panose="02010609060101010101" pitchFamily="49" charset="-122"/>
              </a:rPr>
              <a:t>发展的定义：</a:t>
            </a:r>
            <a:r>
              <a:rPr lang="zh-CN" altLang="en-US" sz="2800" b="1" dirty="0" smtClean="0">
                <a:solidFill>
                  <a:srgbClr val="000000"/>
                </a:solidFill>
                <a:latin typeface="楷体_GB2312" pitchFamily="1" charset="-122"/>
                <a:ea typeface="楷体_GB2312" pitchFamily="1" charset="-122"/>
              </a:rPr>
              <a:t>指事物变化中前进的、上升</a:t>
            </a:r>
            <a:r>
              <a:rPr lang="zh-CN" altLang="en-US" sz="2800" b="1" dirty="0">
                <a:solidFill>
                  <a:srgbClr val="000000"/>
                </a:solidFill>
                <a:latin typeface="楷体_GB2312" pitchFamily="1" charset="-122"/>
                <a:ea typeface="楷体_GB2312" pitchFamily="1" charset="-122"/>
              </a:rPr>
              <a:t>的运动。</a:t>
            </a:r>
            <a:endParaRPr lang="zh-CN" altLang="en-US" sz="2800" b="1" dirty="0">
              <a:solidFill>
                <a:srgbClr val="000000"/>
              </a:solidFill>
              <a:latin typeface="楷体_GB2312" pitchFamily="1" charset="-122"/>
              <a:ea typeface="楷体_GB2312" pitchFamily="1" charset="-122"/>
            </a:endParaRPr>
          </a:p>
          <a:p>
            <a:pPr marL="342900" indent="-342900" eaLnBrk="1" hangingPunct="1">
              <a:lnSpc>
                <a:spcPct val="90000"/>
              </a:lnSpc>
              <a:spcBef>
                <a:spcPct val="20000"/>
              </a:spcBef>
            </a:pPr>
            <a:r>
              <a:rPr lang="zh-CN" altLang="en-US" sz="2800" b="1" dirty="0" smtClean="0">
                <a:solidFill>
                  <a:srgbClr val="6600FF"/>
                </a:solidFill>
                <a:latin typeface="楷体" panose="02010609060101010101" pitchFamily="49" charset="-122"/>
                <a:ea typeface="楷体" panose="02010609060101010101" pitchFamily="49" charset="-122"/>
              </a:rPr>
              <a:t>发展</a:t>
            </a:r>
            <a:r>
              <a:rPr lang="zh-CN" altLang="en-US" sz="2800" b="1" dirty="0">
                <a:solidFill>
                  <a:srgbClr val="6600FF"/>
                </a:solidFill>
                <a:latin typeface="楷体" panose="02010609060101010101" pitchFamily="49" charset="-122"/>
                <a:ea typeface="楷体" panose="02010609060101010101" pitchFamily="49" charset="-122"/>
              </a:rPr>
              <a:t>的实质：</a:t>
            </a:r>
            <a:r>
              <a:rPr lang="zh-CN" altLang="en-US" sz="2800" b="1" dirty="0">
                <a:solidFill>
                  <a:srgbClr val="000000"/>
                </a:solidFill>
                <a:latin typeface="楷体_GB2312" pitchFamily="1" charset="-122"/>
                <a:ea typeface="楷体_GB2312" pitchFamily="1" charset="-122"/>
              </a:rPr>
              <a:t>新事物的产生和旧事物的灭亡。</a:t>
            </a:r>
            <a:endParaRPr lang="zh-CN" altLang="en-US" sz="2800" b="1" dirty="0">
              <a:solidFill>
                <a:srgbClr val="000000"/>
              </a:solidFill>
              <a:latin typeface="楷体_GB2312" pitchFamily="1" charset="-122"/>
              <a:ea typeface="楷体_GB2312" pitchFamily="1" charset="-122"/>
            </a:endParaRPr>
          </a:p>
        </p:txBody>
      </p:sp>
      <p:sp>
        <p:nvSpPr>
          <p:cNvPr id="16" name="Rectangle 3"/>
          <p:cNvSpPr txBox="1">
            <a:spLocks noChangeArrowheads="1"/>
          </p:cNvSpPr>
          <p:nvPr/>
        </p:nvSpPr>
        <p:spPr>
          <a:xfrm>
            <a:off x="214282" y="5143512"/>
            <a:ext cx="8715436" cy="1571636"/>
          </a:xfrm>
          <a:prstGeom prst="rect">
            <a:avLst/>
          </a:prstGeom>
        </p:spPr>
        <p:txBody>
          <a:bodyPr vert="horz">
            <a:normAutofit/>
          </a:bodyPr>
          <a:lstStyle/>
          <a:p>
            <a:pPr marL="342900" marR="0" lvl="0" indent="-342900" algn="l" defTabSz="914400" rtl="0" eaLnBrk="1" fontAlgn="auto" latinLnBrk="0" hangingPunct="1">
              <a:lnSpc>
                <a:spcPct val="90000"/>
              </a:lnSpc>
              <a:spcBef>
                <a:spcPct val="20000"/>
              </a:spcBef>
              <a:spcAft>
                <a:spcPts val="0"/>
              </a:spcAft>
              <a:buClr>
                <a:schemeClr val="accent1"/>
              </a:buClr>
              <a:buSzPct val="70000"/>
              <a:buFontTx/>
              <a:buNone/>
              <a:defRPr/>
            </a:pPr>
            <a:r>
              <a:rPr kumimoji="0" lang="zh-CN" altLang="en-US" sz="2800" b="1" i="0" u="none" strike="noStrike" kern="1200" cap="none" spc="0" normalizeH="0" baseline="0" noProof="0" dirty="0" smtClean="0">
                <a:ln>
                  <a:noFill/>
                </a:ln>
                <a:solidFill>
                  <a:srgbClr val="6600FF"/>
                </a:solidFill>
                <a:effectLst/>
                <a:uLnTx/>
                <a:uFillTx/>
                <a:latin typeface="楷体" panose="02010609060101010101" pitchFamily="49" charset="-122"/>
                <a:ea typeface="楷体" panose="02010609060101010101" pitchFamily="49" charset="-122"/>
                <a:cs typeface="+mn-cs"/>
              </a:rPr>
              <a:t>新事物：</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合乎历史前进方向、具有远大前途的东西。</a:t>
            </a:r>
            <a:endPar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endParaRPr>
          </a:p>
          <a:p>
            <a:pPr marL="342900" marR="0" lvl="0" indent="-342900" algn="l" defTabSz="914400" rtl="0" eaLnBrk="1" fontAlgn="auto" latinLnBrk="0" hangingPunct="1">
              <a:lnSpc>
                <a:spcPct val="90000"/>
              </a:lnSpc>
              <a:spcBef>
                <a:spcPct val="20000"/>
              </a:spcBef>
              <a:spcAft>
                <a:spcPts val="0"/>
              </a:spcAft>
              <a:buClr>
                <a:schemeClr val="accent1"/>
              </a:buClr>
              <a:buSzPct val="70000"/>
              <a:buFontTx/>
              <a:buNone/>
              <a:defRPr/>
            </a:pPr>
            <a:r>
              <a:rPr kumimoji="0" lang="zh-CN" altLang="en-US" sz="2800" b="1" i="0" u="none" strike="noStrike" kern="1200" cap="none" spc="0" normalizeH="0" baseline="0" noProof="0" dirty="0" smtClean="0">
                <a:ln>
                  <a:noFill/>
                </a:ln>
                <a:solidFill>
                  <a:srgbClr val="6600FF"/>
                </a:solidFill>
                <a:effectLst/>
                <a:uLnTx/>
                <a:uFillTx/>
                <a:latin typeface="楷体" panose="02010609060101010101" pitchFamily="49" charset="-122"/>
                <a:ea typeface="楷体" panose="02010609060101010101" pitchFamily="49" charset="-122"/>
                <a:cs typeface="+mn-cs"/>
              </a:rPr>
              <a:t>旧事物：</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丧失历史必然性、日趋灭亡的东西。 </a:t>
            </a:r>
            <a:endPar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endParaRPr>
          </a:p>
          <a:p>
            <a:pPr marL="342900" marR="0" lvl="0" indent="-342900" algn="l" defTabSz="914400" rtl="0" eaLnBrk="1" fontAlgn="auto" latinLnBrk="0" hangingPunct="1">
              <a:lnSpc>
                <a:spcPct val="90000"/>
              </a:lnSpc>
              <a:spcBef>
                <a:spcPct val="20000"/>
              </a:spcBef>
              <a:spcAft>
                <a:spcPts val="0"/>
              </a:spcAft>
              <a:buClr>
                <a:schemeClr val="accent1"/>
              </a:buClr>
              <a:buSzPct val="70000"/>
              <a:buFontTx/>
              <a:buNone/>
              <a:defRPr/>
            </a:pPr>
            <a:r>
              <a:rPr kumimoji="0" lang="zh-CN" altLang="en-US" sz="2800" b="1" i="0" u="none" strike="noStrike" kern="1200" cap="none" spc="0" normalizeH="0" baseline="0" noProof="0" dirty="0" smtClean="0">
                <a:ln>
                  <a:noFill/>
                </a:ln>
                <a:solidFill>
                  <a:srgbClr val="6600FF"/>
                </a:solidFill>
                <a:effectLst/>
                <a:uLnTx/>
                <a:uFillTx/>
                <a:latin typeface="楷体" panose="02010609060101010101" pitchFamily="49" charset="-122"/>
                <a:ea typeface="楷体" panose="02010609060101010101" pitchFamily="49" charset="-122"/>
                <a:cs typeface="+mn-cs"/>
              </a:rPr>
              <a:t>区别的根本标志：</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是否符合历史发展的必然趋势。</a:t>
            </a:r>
            <a:endPar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blinds dir="vert"/>
      </p:transition>
    </mc:Choice>
    <mc:Fallback>
      <p:transition spd="slow" advClick="0" advTm="0">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5"/>
          <p:cNvSpPr>
            <a:spLocks noChangeArrowheads="1"/>
          </p:cNvSpPr>
          <p:nvPr/>
        </p:nvSpPr>
        <p:spPr bwMode="auto">
          <a:xfrm>
            <a:off x="457200" y="1371600"/>
            <a:ext cx="8229600" cy="652463"/>
          </a:xfrm>
          <a:prstGeom prst="rect">
            <a:avLst/>
          </a:prstGeom>
          <a:noFill/>
          <a:ln w="9525">
            <a:noFill/>
            <a:miter lim="800000"/>
          </a:ln>
        </p:spPr>
        <p:txBody>
          <a:bodyPr anchor="b"/>
          <a:lstStyle/>
          <a:p>
            <a:pPr eaLnBrk="1" hangingPunct="1">
              <a:lnSpc>
                <a:spcPct val="90000"/>
              </a:lnSpc>
            </a:pPr>
            <a:endParaRPr lang="zh-CN" altLang="en-US" sz="2800" b="1">
              <a:solidFill>
                <a:srgbClr val="FFCC00"/>
              </a:solidFill>
              <a:ea typeface="华文楷体" pitchFamily="2" charset="-122"/>
            </a:endParaRPr>
          </a:p>
        </p:txBody>
      </p:sp>
      <p:sp>
        <p:nvSpPr>
          <p:cNvPr id="6" name="WordArt 5"/>
          <p:cNvSpPr>
            <a:spLocks noChangeArrowheads="1" noChangeShapeType="1" noTextEdit="1"/>
          </p:cNvSpPr>
          <p:nvPr/>
        </p:nvSpPr>
        <p:spPr bwMode="auto">
          <a:xfrm rot="5400000">
            <a:off x="-1104134" y="1818458"/>
            <a:ext cx="3379784" cy="457200"/>
          </a:xfrm>
          <a:prstGeom prst="rect">
            <a:avLst/>
          </a:prstGeom>
        </p:spPr>
        <p:txBody>
          <a:bodyPr vert="eaVert" wrap="none" fromWordArt="1">
            <a:prstTxWarp prst="textPlain">
              <a:avLst>
                <a:gd name="adj" fmla="val 50000"/>
              </a:avLst>
            </a:prstTxWarp>
          </a:bodyPr>
          <a:lstStyle/>
          <a:p>
            <a:pPr algn="ctr" fontAlgn="auto"/>
            <a:r>
              <a:rPr lang="zh-CN" altLang="en-US" sz="3600" b="1" kern="10" dirty="0">
                <a:ln w="9525">
                  <a:solidFill>
                    <a:srgbClr val="800000"/>
                  </a:solidFill>
                  <a:round/>
                </a:ln>
                <a:solidFill>
                  <a:srgbClr val="800000"/>
                </a:solidFill>
                <a:effectLst>
                  <a:outerShdw dist="35921" dir="2700000" algn="ctr" rotWithShape="0">
                    <a:srgbClr val="B2B2B2">
                      <a:alpha val="79999"/>
                    </a:srgbClr>
                  </a:outerShdw>
                </a:effectLst>
                <a:latin typeface="宋体" panose="02010600030101010101" pitchFamily="2" charset="-122"/>
                <a:ea typeface="宋体" panose="02010600030101010101" pitchFamily="2" charset="-122"/>
              </a:rPr>
              <a:t>新生事物是不可战胜的</a:t>
            </a:r>
            <a:endParaRPr lang="zh-CN" altLang="en-US" sz="3600" b="1" kern="10" dirty="0">
              <a:ln w="9525">
                <a:solidFill>
                  <a:srgbClr val="800000"/>
                </a:solidFill>
                <a:round/>
              </a:ln>
              <a:solidFill>
                <a:srgbClr val="800000"/>
              </a:solidFill>
              <a:effectLst>
                <a:outerShdw dist="35921" dir="2700000" algn="ctr" rotWithShape="0">
                  <a:srgbClr val="B2B2B2">
                    <a:alpha val="79999"/>
                  </a:srgbClr>
                </a:outerShdw>
              </a:effectLst>
              <a:latin typeface="宋体" panose="02010600030101010101" pitchFamily="2" charset="-122"/>
              <a:ea typeface="宋体" panose="02010600030101010101" pitchFamily="2" charset="-122"/>
            </a:endParaRPr>
          </a:p>
        </p:txBody>
      </p:sp>
      <p:sp>
        <p:nvSpPr>
          <p:cNvPr id="7" name="Rectangle 6"/>
          <p:cNvSpPr>
            <a:spLocks noChangeArrowheads="1"/>
          </p:cNvSpPr>
          <p:nvPr/>
        </p:nvSpPr>
        <p:spPr bwMode="auto">
          <a:xfrm>
            <a:off x="1000100" y="285728"/>
            <a:ext cx="7715304" cy="1800225"/>
          </a:xfrm>
          <a:prstGeom prst="rect">
            <a:avLst/>
          </a:prstGeom>
          <a:solidFill>
            <a:srgbClr val="CCFFFF"/>
          </a:solidFill>
          <a:ln w="9525">
            <a:solidFill>
              <a:srgbClr val="A50021"/>
            </a:solidFill>
            <a:miter lim="800000"/>
          </a:ln>
        </p:spPr>
        <p:txBody>
          <a:bodyPr/>
          <a:lstStyle/>
          <a:p>
            <a:pPr eaLnBrk="1" hangingPunct="1">
              <a:lnSpc>
                <a:spcPct val="125000"/>
              </a:lnSpc>
              <a:spcBef>
                <a:spcPct val="20000"/>
              </a:spcBef>
              <a:defRPr/>
            </a:pPr>
            <a:r>
              <a:rPr lang="en-US" altLang="zh-CN" sz="2000" b="1" dirty="0">
                <a:solidFill>
                  <a:srgbClr val="0000CC"/>
                </a:solidFill>
                <a:latin typeface="华文行楷" pitchFamily="2" charset="-122"/>
                <a:ea typeface="华文行楷" pitchFamily="2" charset="-122"/>
              </a:rPr>
              <a:t>    </a:t>
            </a:r>
            <a:r>
              <a:rPr lang="zh-CN" altLang="en-US" sz="2000" b="1" dirty="0">
                <a:solidFill>
                  <a:srgbClr val="FF0000"/>
                </a:solidFill>
                <a:latin typeface="+mn-ea"/>
                <a:ea typeface="+mn-ea"/>
              </a:rPr>
              <a:t>一、就新生事物与环境的关系</a:t>
            </a:r>
            <a:r>
              <a:rPr lang="zh-CN" altLang="en-US" sz="2000" b="1" dirty="0" smtClean="0">
                <a:solidFill>
                  <a:srgbClr val="FF0000"/>
                </a:solidFill>
                <a:latin typeface="+mn-ea"/>
                <a:ea typeface="+mn-ea"/>
              </a:rPr>
              <a:t>而言：</a:t>
            </a:r>
            <a:endParaRPr lang="zh-CN" altLang="en-US" sz="2000" b="1" dirty="0">
              <a:solidFill>
                <a:srgbClr val="FF0000"/>
              </a:solidFill>
              <a:latin typeface="+mn-ea"/>
              <a:ea typeface="+mn-ea"/>
            </a:endParaRPr>
          </a:p>
          <a:p>
            <a:pPr eaLnBrk="1" hangingPunct="1">
              <a:lnSpc>
                <a:spcPct val="125000"/>
              </a:lnSpc>
              <a:spcBef>
                <a:spcPct val="20000"/>
              </a:spcBef>
              <a:defRPr/>
            </a:pPr>
            <a:r>
              <a:rPr lang="zh-CN" altLang="en-US" sz="2000" b="1" dirty="0" smtClean="0">
                <a:solidFill>
                  <a:srgbClr val="FF0000"/>
                </a:solidFill>
                <a:latin typeface="楷体" panose="02010609060101010101" pitchFamily="49" charset="-122"/>
                <a:ea typeface="楷体" panose="02010609060101010101" pitchFamily="49" charset="-122"/>
              </a:rPr>
              <a:t>新事物</a:t>
            </a:r>
            <a:r>
              <a:rPr lang="zh-CN" altLang="en-US" sz="2000" b="1" dirty="0">
                <a:solidFill>
                  <a:srgbClr val="FF0000"/>
                </a:solidFill>
                <a:latin typeface="楷体" panose="02010609060101010101" pitchFamily="49" charset="-122"/>
                <a:ea typeface="楷体" panose="02010609060101010101" pitchFamily="49" charset="-122"/>
              </a:rPr>
              <a:t>：</a:t>
            </a:r>
            <a:r>
              <a:rPr lang="zh-CN" altLang="en-US" sz="2000" b="1" dirty="0">
                <a:solidFill>
                  <a:srgbClr val="0000CC"/>
                </a:solidFill>
                <a:latin typeface="楷体" panose="02010609060101010101" pitchFamily="49" charset="-122"/>
                <a:ea typeface="楷体" panose="02010609060101010101" pitchFamily="49" charset="-122"/>
              </a:rPr>
              <a:t>新</a:t>
            </a:r>
            <a:r>
              <a:rPr lang="zh-CN" altLang="en-US" sz="2000" b="1" dirty="0" smtClean="0">
                <a:solidFill>
                  <a:srgbClr val="0000CC"/>
                </a:solidFill>
                <a:latin typeface="楷体" panose="02010609060101010101" pitchFamily="49" charset="-122"/>
                <a:ea typeface="楷体" panose="02010609060101010101" pitchFamily="49" charset="-122"/>
              </a:rPr>
              <a:t>的要素、结构</a:t>
            </a:r>
            <a:r>
              <a:rPr lang="zh-CN" altLang="en-US" sz="2000" b="1" dirty="0">
                <a:solidFill>
                  <a:srgbClr val="0000CC"/>
                </a:solidFill>
                <a:latin typeface="楷体" panose="02010609060101010101" pitchFamily="49" charset="-122"/>
                <a:ea typeface="楷体" panose="02010609060101010101" pitchFamily="49" charset="-122"/>
              </a:rPr>
              <a:t>和功能，适应已经变化了的环境和条件；</a:t>
            </a:r>
            <a:endParaRPr lang="zh-CN" altLang="en-US" sz="2000" b="1" dirty="0">
              <a:solidFill>
                <a:srgbClr val="0000CC"/>
              </a:solidFill>
              <a:latin typeface="楷体" panose="02010609060101010101" pitchFamily="49" charset="-122"/>
              <a:ea typeface="楷体" panose="02010609060101010101" pitchFamily="49" charset="-122"/>
            </a:endParaRPr>
          </a:p>
          <a:p>
            <a:pPr eaLnBrk="1" hangingPunct="1">
              <a:lnSpc>
                <a:spcPct val="125000"/>
              </a:lnSpc>
              <a:spcBef>
                <a:spcPct val="20000"/>
              </a:spcBef>
              <a:defRPr/>
            </a:pPr>
            <a:r>
              <a:rPr lang="zh-CN" altLang="en-US" sz="2000" b="1" dirty="0" smtClean="0">
                <a:solidFill>
                  <a:srgbClr val="FF0000"/>
                </a:solidFill>
                <a:latin typeface="楷体" panose="02010609060101010101" pitchFamily="49" charset="-122"/>
                <a:ea typeface="楷体" panose="02010609060101010101" pitchFamily="49" charset="-122"/>
              </a:rPr>
              <a:t>旧事</a:t>
            </a:r>
            <a:r>
              <a:rPr lang="zh-CN" altLang="en-US" sz="2000" b="1" dirty="0">
                <a:solidFill>
                  <a:srgbClr val="FF0000"/>
                </a:solidFill>
                <a:latin typeface="楷体" panose="02010609060101010101" pitchFamily="49" charset="-122"/>
                <a:ea typeface="楷体" panose="02010609060101010101" pitchFamily="49" charset="-122"/>
              </a:rPr>
              <a:t>物</a:t>
            </a:r>
            <a:r>
              <a:rPr lang="zh-CN" altLang="en-US" sz="2000" b="1" dirty="0" smtClean="0">
                <a:solidFill>
                  <a:srgbClr val="FF0000"/>
                </a:solidFill>
                <a:latin typeface="楷体" panose="02010609060101010101" pitchFamily="49" charset="-122"/>
                <a:ea typeface="楷体" panose="02010609060101010101" pitchFamily="49" charset="-122"/>
              </a:rPr>
              <a:t>：</a:t>
            </a:r>
            <a:r>
              <a:rPr lang="zh-CN" altLang="en-US" sz="2000" b="1" dirty="0" smtClean="0">
                <a:solidFill>
                  <a:srgbClr val="0000CC"/>
                </a:solidFill>
                <a:latin typeface="楷体" panose="02010609060101010101" pitchFamily="49" charset="-122"/>
                <a:ea typeface="楷体" panose="02010609060101010101" pitchFamily="49" charset="-122"/>
              </a:rPr>
              <a:t>各种</a:t>
            </a:r>
            <a:r>
              <a:rPr lang="zh-CN" altLang="en-US" sz="2000" b="1" dirty="0">
                <a:solidFill>
                  <a:srgbClr val="0000CC"/>
                </a:solidFill>
                <a:latin typeface="楷体" panose="02010609060101010101" pitchFamily="49" charset="-122"/>
                <a:ea typeface="楷体" panose="02010609060101010101" pitchFamily="49" charset="-122"/>
              </a:rPr>
              <a:t>要素和功能已不适应环境和客观条件的变化，走向灭亡就成为不可避免的。</a:t>
            </a:r>
            <a:endParaRPr lang="zh-CN" altLang="en-US" sz="2000" b="1" dirty="0">
              <a:solidFill>
                <a:srgbClr val="0000CC"/>
              </a:solidFill>
              <a:latin typeface="楷体" panose="02010609060101010101" pitchFamily="49" charset="-122"/>
              <a:ea typeface="楷体" panose="02010609060101010101" pitchFamily="49" charset="-122"/>
            </a:endParaRPr>
          </a:p>
        </p:txBody>
      </p:sp>
      <p:sp>
        <p:nvSpPr>
          <p:cNvPr id="8" name="Rectangle 9"/>
          <p:cNvSpPr>
            <a:spLocks noChangeArrowheads="1"/>
          </p:cNvSpPr>
          <p:nvPr/>
        </p:nvSpPr>
        <p:spPr bwMode="auto">
          <a:xfrm>
            <a:off x="1000100" y="2214554"/>
            <a:ext cx="7715304" cy="1800225"/>
          </a:xfrm>
          <a:prstGeom prst="rect">
            <a:avLst/>
          </a:prstGeom>
          <a:solidFill>
            <a:srgbClr val="CCFFFF"/>
          </a:solidFill>
          <a:ln w="9525">
            <a:solidFill>
              <a:srgbClr val="A50021"/>
            </a:solidFill>
            <a:miter lim="800000"/>
          </a:ln>
        </p:spPr>
        <p:txBody>
          <a:bodyPr/>
          <a:lstStyle/>
          <a:p>
            <a:pPr eaLnBrk="1" hangingPunct="1">
              <a:lnSpc>
                <a:spcPct val="125000"/>
              </a:lnSpc>
              <a:spcBef>
                <a:spcPct val="20000"/>
              </a:spcBef>
              <a:defRPr/>
            </a:pPr>
            <a:r>
              <a:rPr lang="en-US" altLang="zh-CN" sz="2400" b="1" dirty="0">
                <a:solidFill>
                  <a:srgbClr val="0000CC"/>
                </a:solidFill>
                <a:latin typeface="华文行楷" pitchFamily="2" charset="-122"/>
                <a:ea typeface="华文行楷" pitchFamily="2" charset="-122"/>
              </a:rPr>
              <a:t>    </a:t>
            </a:r>
            <a:r>
              <a:rPr lang="zh-CN" altLang="en-US" sz="2000" b="1" dirty="0">
                <a:solidFill>
                  <a:srgbClr val="FF0000"/>
                </a:solidFill>
                <a:latin typeface="+mn-ea"/>
                <a:ea typeface="+mn-ea"/>
              </a:rPr>
              <a:t>二、就新事物与旧事物的关系</a:t>
            </a:r>
            <a:r>
              <a:rPr lang="zh-CN" altLang="en-US" sz="2000" b="1" dirty="0" smtClean="0">
                <a:solidFill>
                  <a:srgbClr val="FF0000"/>
                </a:solidFill>
                <a:latin typeface="+mn-ea"/>
                <a:ea typeface="+mn-ea"/>
              </a:rPr>
              <a:t>而言：</a:t>
            </a:r>
            <a:endParaRPr lang="zh-CN" altLang="en-US" sz="2000" b="1" dirty="0">
              <a:solidFill>
                <a:srgbClr val="FF0000"/>
              </a:solidFill>
              <a:latin typeface="+mn-ea"/>
              <a:ea typeface="+mn-ea"/>
            </a:endParaRPr>
          </a:p>
          <a:p>
            <a:pPr eaLnBrk="1" hangingPunct="1">
              <a:lnSpc>
                <a:spcPct val="125000"/>
              </a:lnSpc>
              <a:spcBef>
                <a:spcPct val="20000"/>
              </a:spcBef>
              <a:defRPr/>
            </a:pPr>
            <a:r>
              <a:rPr lang="zh-CN" altLang="en-US" sz="2000" b="1" dirty="0">
                <a:solidFill>
                  <a:srgbClr val="0000CC"/>
                </a:solidFill>
                <a:latin typeface="楷体_GB2312" pitchFamily="1" charset="-122"/>
                <a:ea typeface="楷体_GB2312" pitchFamily="1" charset="-122"/>
              </a:rPr>
              <a:t>  </a:t>
            </a:r>
            <a:r>
              <a:rPr lang="zh-CN" altLang="en-US" sz="2000" b="1" dirty="0">
                <a:solidFill>
                  <a:srgbClr val="0000CC"/>
                </a:solidFill>
                <a:latin typeface="楷体" panose="02010609060101010101" pitchFamily="49" charset="-122"/>
                <a:ea typeface="楷体" panose="02010609060101010101" pitchFamily="49" charset="-122"/>
              </a:rPr>
              <a:t>新事物是在旧事物的“母体”中孕育成熟的，它既否定了旧事物中消极腐朽的东西，又保留了旧事物中合理的</a:t>
            </a:r>
            <a:r>
              <a:rPr lang="zh-CN" altLang="en-US" sz="2000" b="1" dirty="0" smtClean="0">
                <a:solidFill>
                  <a:srgbClr val="0000CC"/>
                </a:solidFill>
                <a:latin typeface="楷体" panose="02010609060101010101" pitchFamily="49" charset="-122"/>
                <a:ea typeface="楷体" panose="02010609060101010101" pitchFamily="49" charset="-122"/>
              </a:rPr>
              <a:t>、适合新条件</a:t>
            </a:r>
            <a:r>
              <a:rPr lang="zh-CN" altLang="en-US" sz="2000" b="1" dirty="0">
                <a:solidFill>
                  <a:srgbClr val="0000CC"/>
                </a:solidFill>
                <a:latin typeface="楷体" panose="02010609060101010101" pitchFamily="49" charset="-122"/>
                <a:ea typeface="楷体" panose="02010609060101010101" pitchFamily="49" charset="-122"/>
              </a:rPr>
              <a:t>的因素，并添加了旧事物所不能容纳的新内容。</a:t>
            </a:r>
            <a:endParaRPr lang="zh-CN" altLang="en-US" sz="2000" b="1" dirty="0">
              <a:latin typeface="楷体" panose="02010609060101010101" pitchFamily="49" charset="-122"/>
              <a:ea typeface="楷体" panose="02010609060101010101" pitchFamily="49" charset="-122"/>
            </a:endParaRPr>
          </a:p>
        </p:txBody>
      </p:sp>
      <p:sp>
        <p:nvSpPr>
          <p:cNvPr id="9" name="Rectangle 6"/>
          <p:cNvSpPr>
            <a:spLocks noChangeArrowheads="1"/>
          </p:cNvSpPr>
          <p:nvPr/>
        </p:nvSpPr>
        <p:spPr bwMode="auto">
          <a:xfrm>
            <a:off x="285720" y="4214818"/>
            <a:ext cx="8458200" cy="1187139"/>
          </a:xfrm>
          <a:prstGeom prst="rect">
            <a:avLst/>
          </a:prstGeom>
        </p:spPr>
        <p:style>
          <a:lnRef idx="1">
            <a:schemeClr val="accent3"/>
          </a:lnRef>
          <a:fillRef idx="2">
            <a:schemeClr val="accent3"/>
          </a:fillRef>
          <a:effectRef idx="1">
            <a:schemeClr val="accent3"/>
          </a:effectRef>
          <a:fontRef idx="minor">
            <a:schemeClr val="dk1"/>
          </a:fontRef>
        </p:style>
        <p:txBody>
          <a:bodyPr/>
          <a:lstStyle/>
          <a:p>
            <a:pPr>
              <a:lnSpc>
                <a:spcPct val="125000"/>
              </a:lnSpc>
              <a:spcBef>
                <a:spcPct val="20000"/>
              </a:spcBef>
              <a:defRPr/>
            </a:pPr>
            <a:r>
              <a:rPr lang="zh-CN" altLang="en-US" sz="2000" b="1" dirty="0" smtClean="0">
                <a:solidFill>
                  <a:srgbClr val="FF0000"/>
                </a:solidFill>
                <a:latin typeface="楷体" panose="02010609060101010101" pitchFamily="49" charset="-122"/>
                <a:ea typeface="楷体" panose="02010609060101010101" pitchFamily="49" charset="-122"/>
              </a:rPr>
              <a:t>社会历史领域的新事物</a:t>
            </a:r>
            <a:r>
              <a:rPr lang="zh-CN" altLang="en-US" sz="2000" b="1" dirty="0">
                <a:solidFill>
                  <a:srgbClr val="FF0000"/>
                </a:solidFill>
                <a:latin typeface="楷体" panose="02010609060101010101" pitchFamily="49" charset="-122"/>
                <a:ea typeface="楷体" panose="02010609060101010101" pitchFamily="49" charset="-122"/>
              </a:rPr>
              <a:t>：</a:t>
            </a:r>
            <a:r>
              <a:rPr lang="zh-CN" altLang="en-US" sz="2000" b="1" dirty="0">
                <a:solidFill>
                  <a:schemeClr val="tx1"/>
                </a:solidFill>
                <a:latin typeface="楷体" panose="02010609060101010101" pitchFamily="49" charset="-122"/>
                <a:ea typeface="楷体" panose="02010609060101010101" pitchFamily="49" charset="-122"/>
              </a:rPr>
              <a:t>社会上先进的、富有创造力的人们创造性活动的产物，它从根本上符合人民群众的利益和要求，能够得到人民群众的拥护，因而必然战胜旧事物。</a:t>
            </a:r>
            <a:endParaRPr lang="zh-CN" altLang="en-US" sz="2000" b="1" dirty="0">
              <a:solidFill>
                <a:schemeClr val="tx1"/>
              </a:solidFill>
              <a:latin typeface="楷体" panose="02010609060101010101" pitchFamily="49" charset="-122"/>
              <a:ea typeface="楷体" panose="02010609060101010101" pitchFamily="49" charset="-122"/>
            </a:endParaRPr>
          </a:p>
        </p:txBody>
      </p:sp>
      <p:sp>
        <p:nvSpPr>
          <p:cNvPr id="10" name="矩形 9"/>
          <p:cNvSpPr/>
          <p:nvPr/>
        </p:nvSpPr>
        <p:spPr>
          <a:xfrm>
            <a:off x="285720" y="5572140"/>
            <a:ext cx="8429684" cy="785818"/>
          </a:xfrm>
          <a:prstGeom prst="rect">
            <a:avLst/>
          </a:prstGeom>
          <a:solidFill>
            <a:schemeClr val="bg2"/>
          </a:solidFill>
        </p:spPr>
        <p:style>
          <a:lnRef idx="1">
            <a:schemeClr val="accent6"/>
          </a:lnRef>
          <a:fillRef idx="3">
            <a:schemeClr val="accent6"/>
          </a:fillRef>
          <a:effectRef idx="2">
            <a:schemeClr val="accent6"/>
          </a:effectRef>
          <a:fontRef idx="minor">
            <a:schemeClr val="lt1"/>
          </a:fontRef>
        </p:style>
        <p:txBody>
          <a:bodyPr rtlCol="0" anchor="ctr"/>
          <a:lstStyle/>
          <a:p>
            <a:r>
              <a:rPr lang="zh-CN" altLang="en-US" sz="2000" b="1" dirty="0">
                <a:solidFill>
                  <a:schemeClr val="tx1"/>
                </a:solidFill>
                <a:latin typeface="黑体" panose="02010609060101010101" pitchFamily="49" charset="-122"/>
                <a:ea typeface="黑体" panose="02010609060101010101" pitchFamily="49" charset="-122"/>
              </a:rPr>
              <a:t>在社会急剧变革时期，新事物战胜旧事物表现得特别明显</a:t>
            </a:r>
            <a:r>
              <a:rPr lang="zh-CN" altLang="en-US" sz="2000" b="1" dirty="0" smtClean="0">
                <a:solidFill>
                  <a:schemeClr val="tx1"/>
                </a:solidFill>
                <a:latin typeface="黑体" panose="02010609060101010101" pitchFamily="49" charset="-122"/>
                <a:ea typeface="黑体" panose="02010609060101010101" pitchFamily="49" charset="-122"/>
              </a:rPr>
              <a:t>。要勇于创新、改革，积极促成新事物的生长。</a:t>
            </a:r>
            <a:endParaRPr lang="zh-CN" altLang="en-US" sz="20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p:cover dir="l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19200" y="1295400"/>
            <a:ext cx="7037504" cy="523220"/>
          </a:xfrm>
          <a:prstGeom prst="rect">
            <a:avLst/>
          </a:prstGeom>
          <a:noFill/>
        </p:spPr>
        <p:txBody>
          <a:bodyPr wrap="none" lIns="91440" tIns="45720" rIns="91440" bIns="45720">
            <a:spAutoFit/>
          </a:bodyPr>
          <a:lstStyle/>
          <a:p>
            <a:pPr algn="ctr"/>
            <a:r>
              <a:rPr lang="zh-CN" altLang="en-US" sz="2800" b="1" u="sng" cap="none" spc="0" dirty="0">
                <a:ln w="12700">
                  <a:solidFill>
                    <a:schemeClr val="accent3">
                      <a:lumMod val="50000"/>
                    </a:schemeClr>
                  </a:solidFill>
                  <a:prstDash val="solid"/>
                </a:ln>
                <a:effectLst>
                  <a:innerShdw blurRad="177800">
                    <a:schemeClr val="accent3">
                      <a:lumMod val="50000"/>
                    </a:schemeClr>
                  </a:innerShdw>
                </a:effectLst>
                <a:latin typeface="+mn-ea"/>
                <a:ea typeface="+mn-ea"/>
              </a:rPr>
              <a:t>对立统一规律</a:t>
            </a:r>
            <a:r>
              <a:rPr lang="zh-CN" altLang="en-US" sz="2800" b="1" cap="none" spc="0" dirty="0" smtClean="0">
                <a:ln w="12700">
                  <a:solidFill>
                    <a:schemeClr val="accent3">
                      <a:lumMod val="50000"/>
                    </a:schemeClr>
                  </a:solidFill>
                  <a:prstDash val="solid"/>
                </a:ln>
                <a:effectLst>
                  <a:innerShdw blurRad="177800">
                    <a:schemeClr val="accent3">
                      <a:lumMod val="50000"/>
                    </a:schemeClr>
                  </a:innerShdw>
                </a:effectLst>
                <a:latin typeface="+mn-ea"/>
                <a:ea typeface="+mn-ea"/>
              </a:rPr>
              <a:t>是唯物辩证法</a:t>
            </a:r>
            <a:r>
              <a:rPr lang="zh-CN" altLang="en-US" sz="2800" b="1" cap="none" spc="0" dirty="0">
                <a:ln w="12700">
                  <a:solidFill>
                    <a:schemeClr val="accent3">
                      <a:lumMod val="50000"/>
                    </a:schemeClr>
                  </a:solidFill>
                  <a:prstDash val="solid"/>
                </a:ln>
                <a:effectLst>
                  <a:innerShdw blurRad="177800">
                    <a:schemeClr val="accent3">
                      <a:lumMod val="50000"/>
                    </a:schemeClr>
                  </a:innerShdw>
                </a:effectLst>
                <a:latin typeface="+mn-ea"/>
                <a:ea typeface="+mn-ea"/>
              </a:rPr>
              <a:t>的</a:t>
            </a:r>
            <a:r>
              <a:rPr lang="zh-CN" altLang="en-US" sz="2800" b="1" u="sng" cap="none" spc="0" dirty="0">
                <a:ln w="12700">
                  <a:solidFill>
                    <a:schemeClr val="accent3">
                      <a:lumMod val="50000"/>
                    </a:schemeClr>
                  </a:solidFill>
                  <a:prstDash val="solid"/>
                </a:ln>
                <a:solidFill>
                  <a:srgbClr val="C00000"/>
                </a:solidFill>
                <a:effectLst>
                  <a:innerShdw blurRad="177800">
                    <a:schemeClr val="accent3">
                      <a:lumMod val="50000"/>
                    </a:schemeClr>
                  </a:innerShdw>
                </a:effectLst>
                <a:latin typeface="+mn-ea"/>
                <a:ea typeface="+mn-ea"/>
              </a:rPr>
              <a:t>实质和核心</a:t>
            </a:r>
            <a:r>
              <a:rPr lang="zh-CN" alt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mn-ea"/>
                <a:ea typeface="+mn-ea"/>
              </a:rPr>
              <a:t>。</a:t>
            </a:r>
            <a:endParaRPr lang="zh-CN" alt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mn-ea"/>
              <a:ea typeface="+mn-ea"/>
            </a:endParaRPr>
          </a:p>
        </p:txBody>
      </p:sp>
      <p:sp>
        <p:nvSpPr>
          <p:cNvPr id="3" name="矩形 2"/>
          <p:cNvSpPr/>
          <p:nvPr/>
        </p:nvSpPr>
        <p:spPr>
          <a:xfrm>
            <a:off x="180275" y="2181246"/>
            <a:ext cx="4534601" cy="1569660"/>
          </a:xfrm>
          <a:prstGeom prst="rect">
            <a:avLst/>
          </a:prstGeom>
        </p:spPr>
        <p:txBody>
          <a:bodyPr wrap="square">
            <a:spAutoFit/>
          </a:bodyPr>
          <a:lstStyle/>
          <a:p>
            <a:r>
              <a:rPr lang="en-US" altLang="zh-CN" sz="2400" b="1" dirty="0" smtClean="0">
                <a:latin typeface="楷体" panose="02010609060101010101" pitchFamily="49" charset="-122"/>
                <a:ea typeface="楷体" panose="02010609060101010101" pitchFamily="49" charset="-122"/>
              </a:rPr>
              <a:t>1</a:t>
            </a:r>
            <a:r>
              <a:rPr lang="en-US" altLang="zh-CN" sz="2400" b="1" dirty="0">
                <a:latin typeface="楷体" panose="02010609060101010101" pitchFamily="49" charset="-122"/>
                <a:ea typeface="楷体" panose="02010609060101010101" pitchFamily="49" charset="-122"/>
              </a:rPr>
              <a:t>.</a:t>
            </a:r>
            <a:r>
              <a:rPr lang="zh-CN" altLang="en-US" sz="2400" b="1" dirty="0" smtClean="0">
                <a:latin typeface="楷体" panose="02010609060101010101" pitchFamily="49" charset="-122"/>
                <a:ea typeface="楷体" panose="02010609060101010101" pitchFamily="49" charset="-122"/>
              </a:rPr>
              <a:t>揭示</a:t>
            </a:r>
            <a:r>
              <a:rPr lang="zh-CN" altLang="en-US" sz="2400" b="1" dirty="0">
                <a:latin typeface="楷体" panose="02010609060101010101" pitchFamily="49" charset="-122"/>
                <a:ea typeface="楷体" panose="02010609060101010101" pitchFamily="49" charset="-122"/>
              </a:rPr>
              <a:t>了</a:t>
            </a:r>
            <a:r>
              <a:rPr lang="zh-CN" altLang="en-US" sz="2400" b="1" dirty="0">
                <a:solidFill>
                  <a:srgbClr val="C00000"/>
                </a:solidFill>
                <a:latin typeface="楷体" panose="02010609060101010101" pitchFamily="49" charset="-122"/>
                <a:ea typeface="楷体" panose="02010609060101010101" pitchFamily="49" charset="-122"/>
              </a:rPr>
              <a:t>事物普遍联系的根本内容和变化发展的内在动力</a:t>
            </a:r>
            <a:r>
              <a:rPr lang="zh-CN" altLang="en-US" sz="2400" b="1" dirty="0">
                <a:latin typeface="楷体" panose="02010609060101010101" pitchFamily="49" charset="-122"/>
                <a:ea typeface="楷体" panose="02010609060101010101" pitchFamily="49" charset="-122"/>
              </a:rPr>
              <a:t>，从根本上回答了</a:t>
            </a:r>
            <a:r>
              <a:rPr lang="zh-CN" altLang="en-US" sz="2400" b="1" dirty="0">
                <a:solidFill>
                  <a:srgbClr val="C00000"/>
                </a:solidFill>
                <a:latin typeface="楷体" panose="02010609060101010101" pitchFamily="49" charset="-122"/>
                <a:ea typeface="楷体" panose="02010609060101010101" pitchFamily="49" charset="-122"/>
              </a:rPr>
              <a:t>事物为什么会发展</a:t>
            </a:r>
            <a:r>
              <a:rPr lang="zh-CN" altLang="en-US" sz="2400" b="1" dirty="0">
                <a:latin typeface="楷体" panose="02010609060101010101" pitchFamily="49" charset="-122"/>
                <a:ea typeface="楷体" panose="02010609060101010101" pitchFamily="49" charset="-122"/>
              </a:rPr>
              <a:t>的问题。</a:t>
            </a:r>
            <a:endParaRPr lang="zh-CN" altLang="en-US" sz="2400" dirty="0">
              <a:latin typeface="楷体" panose="02010609060101010101" pitchFamily="49" charset="-122"/>
              <a:ea typeface="楷体" panose="02010609060101010101" pitchFamily="49" charset="-122"/>
            </a:endParaRPr>
          </a:p>
        </p:txBody>
      </p:sp>
      <p:sp>
        <p:nvSpPr>
          <p:cNvPr id="4" name="矩形 3"/>
          <p:cNvSpPr/>
          <p:nvPr/>
        </p:nvSpPr>
        <p:spPr>
          <a:xfrm>
            <a:off x="214282" y="4071942"/>
            <a:ext cx="4391725" cy="1569660"/>
          </a:xfrm>
          <a:prstGeom prst="rect">
            <a:avLst/>
          </a:prstGeom>
        </p:spPr>
        <p:txBody>
          <a:bodyPr wrap="square">
            <a:spAutoFit/>
          </a:bodyPr>
          <a:lstStyle/>
          <a:p>
            <a:r>
              <a:rPr lang="en-US" altLang="zh-CN" sz="2400" b="1" dirty="0" smtClean="0">
                <a:latin typeface="楷体" panose="02010609060101010101" pitchFamily="49" charset="-122"/>
                <a:ea typeface="楷体" panose="02010609060101010101" pitchFamily="49" charset="-122"/>
              </a:rPr>
              <a:t>2</a:t>
            </a:r>
            <a:r>
              <a:rPr lang="en-US" altLang="zh-CN" sz="2400" b="1" dirty="0">
                <a:latin typeface="楷体" panose="02010609060101010101" pitchFamily="49" charset="-122"/>
                <a:ea typeface="楷体" panose="02010609060101010101" pitchFamily="49" charset="-122"/>
              </a:rPr>
              <a:t>.</a:t>
            </a:r>
            <a:r>
              <a:rPr lang="zh-CN" altLang="en-US" sz="2400" b="1" dirty="0" smtClean="0">
                <a:latin typeface="楷体" panose="02010609060101010101" pitchFamily="49" charset="-122"/>
                <a:ea typeface="楷体" panose="02010609060101010101" pitchFamily="49" charset="-122"/>
              </a:rPr>
              <a:t>贯穿</a:t>
            </a:r>
            <a:r>
              <a:rPr lang="zh-CN" altLang="en-US" sz="2400" b="1" dirty="0">
                <a:latin typeface="楷体" panose="02010609060101010101" pitchFamily="49" charset="-122"/>
                <a:ea typeface="楷体" panose="02010609060101010101" pitchFamily="49" charset="-122"/>
              </a:rPr>
              <a:t>量变质变规律、否定之否定规律以及唯物辩证法基本范畴的</a:t>
            </a:r>
            <a:r>
              <a:rPr lang="zh-CN" altLang="en-US" sz="2400" b="1" dirty="0">
                <a:solidFill>
                  <a:srgbClr val="C00000"/>
                </a:solidFill>
                <a:latin typeface="楷体" panose="02010609060101010101" pitchFamily="49" charset="-122"/>
                <a:ea typeface="楷体" panose="02010609060101010101" pitchFamily="49" charset="-122"/>
              </a:rPr>
              <a:t>中心线索</a:t>
            </a:r>
            <a:r>
              <a:rPr lang="zh-CN" altLang="en-US" sz="2400" b="1" dirty="0">
                <a:latin typeface="楷体" panose="02010609060101010101" pitchFamily="49" charset="-122"/>
                <a:ea typeface="楷体" panose="02010609060101010101" pitchFamily="49" charset="-122"/>
              </a:rPr>
              <a:t>，是理解这些规律和范畴的</a:t>
            </a:r>
            <a:r>
              <a:rPr lang="zh-CN" altLang="en-US" sz="2400" b="1" dirty="0">
                <a:solidFill>
                  <a:srgbClr val="C00000"/>
                </a:solidFill>
                <a:latin typeface="楷体" panose="02010609060101010101" pitchFamily="49" charset="-122"/>
                <a:ea typeface="楷体" panose="02010609060101010101" pitchFamily="49" charset="-122"/>
              </a:rPr>
              <a:t>“钥匙”</a:t>
            </a:r>
            <a:r>
              <a:rPr lang="zh-CN" altLang="en-US" sz="2400" b="1"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
        <p:nvSpPr>
          <p:cNvPr id="5" name="矩形 4"/>
          <p:cNvSpPr/>
          <p:nvPr/>
        </p:nvSpPr>
        <p:spPr>
          <a:xfrm>
            <a:off x="214282" y="6000768"/>
            <a:ext cx="8643998" cy="461665"/>
          </a:xfrm>
          <a:prstGeom prst="rect">
            <a:avLst/>
          </a:prstGeom>
        </p:spPr>
        <p:txBody>
          <a:bodyPr wrap="square">
            <a:spAutoFit/>
          </a:bodyPr>
          <a:lstStyle/>
          <a:p>
            <a:r>
              <a:rPr lang="en-US" altLang="zh-CN" sz="2400" b="1" dirty="0" smtClean="0">
                <a:latin typeface="楷体" panose="02010609060101010101" pitchFamily="49" charset="-122"/>
                <a:ea typeface="楷体" panose="02010609060101010101" pitchFamily="49" charset="-122"/>
              </a:rPr>
              <a:t>3</a:t>
            </a:r>
            <a:r>
              <a:rPr lang="en-US" altLang="zh-CN" sz="2400" b="1" dirty="0">
                <a:latin typeface="楷体" panose="02010609060101010101" pitchFamily="49" charset="-122"/>
                <a:ea typeface="楷体" panose="02010609060101010101" pitchFamily="49" charset="-122"/>
              </a:rPr>
              <a:t>.</a:t>
            </a:r>
            <a:r>
              <a:rPr lang="zh-CN" altLang="en-US" sz="2400" b="1" dirty="0" smtClean="0">
                <a:latin typeface="楷体" panose="02010609060101010101" pitchFamily="49" charset="-122"/>
                <a:ea typeface="楷体" panose="02010609060101010101" pitchFamily="49" charset="-122"/>
              </a:rPr>
              <a:t>提供</a:t>
            </a:r>
            <a:r>
              <a:rPr lang="zh-CN" altLang="en-US" sz="2400" b="1" dirty="0">
                <a:latin typeface="楷体" panose="02010609060101010101" pitchFamily="49" charset="-122"/>
                <a:ea typeface="楷体" panose="02010609060101010101" pitchFamily="49" charset="-122"/>
              </a:rPr>
              <a:t>了人们认识世界和改造世界的根本方法</a:t>
            </a:r>
            <a:r>
              <a:rPr lang="en-US" altLang="zh-CN" sz="2400" b="1" dirty="0">
                <a:latin typeface="楷体" panose="02010609060101010101" pitchFamily="49" charset="-122"/>
                <a:ea typeface="楷体" panose="02010609060101010101" pitchFamily="49" charset="-122"/>
              </a:rPr>
              <a:t>—</a:t>
            </a:r>
            <a:r>
              <a:rPr lang="zh-CN" altLang="en-US" sz="2400" b="1" dirty="0">
                <a:solidFill>
                  <a:srgbClr val="C00000"/>
                </a:solidFill>
                <a:latin typeface="楷体" panose="02010609060101010101" pitchFamily="49" charset="-122"/>
                <a:ea typeface="楷体" panose="02010609060101010101" pitchFamily="49" charset="-122"/>
              </a:rPr>
              <a:t>矛盾分析法。</a:t>
            </a:r>
            <a:endParaRPr lang="zh-CN" altLang="en-US" sz="2400" dirty="0">
              <a:solidFill>
                <a:srgbClr val="C00000"/>
              </a:solidFill>
              <a:latin typeface="楷体" panose="02010609060101010101" pitchFamily="49" charset="-122"/>
              <a:ea typeface="楷体" panose="02010609060101010101" pitchFamily="49" charset="-122"/>
            </a:endParaRPr>
          </a:p>
        </p:txBody>
      </p:sp>
      <p:pic>
        <p:nvPicPr>
          <p:cNvPr id="6"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57752" y="2285992"/>
            <a:ext cx="4008346" cy="328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381000" y="381000"/>
            <a:ext cx="8243888" cy="655638"/>
          </a:xfrm>
          <a:prstGeom prst="rect">
            <a:avLst/>
          </a:prstGeom>
          <a:noFill/>
          <a:ln w="9525">
            <a:noFill/>
            <a:miter lim="800000"/>
          </a:ln>
        </p:spPr>
        <p:txBody>
          <a:bodyPr vert="horz" wrap="square" lIns="91440" tIns="45720" rIns="91440" bIns="45720" numCol="1" anchor="b" anchorCtr="0" compatLnSpc="1"/>
          <a:lstStyle/>
          <a:p>
            <a:pPr marL="0" marR="0" lvl="0" indent="0" algn="l" defTabSz="914400" rtl="0" eaLnBrk="1" fontAlgn="base" latinLnBrk="0" hangingPunct="1">
              <a:lnSpc>
                <a:spcPct val="90000"/>
              </a:lnSpc>
              <a:spcBef>
                <a:spcPct val="0"/>
              </a:spcBef>
              <a:spcAft>
                <a:spcPct val="0"/>
              </a:spcAft>
              <a:buClrTx/>
              <a:buSzTx/>
              <a:buFontTx/>
              <a:buNone/>
              <a:defRPr/>
            </a:pPr>
            <a:r>
              <a:rPr lang="zh-CN" altLang="en-US" sz="3200" b="1" kern="0" dirty="0" smtClean="0">
                <a:solidFill>
                  <a:srgbClr val="0000CC"/>
                </a:solidFill>
                <a:latin typeface="+mj-lt"/>
                <a:ea typeface="华文新魏" pitchFamily="2" charset="-122"/>
                <a:cs typeface="+mj-cs"/>
              </a:rPr>
              <a:t>二</a:t>
            </a:r>
            <a:r>
              <a:rPr kumimoji="0" lang="zh-CN" sz="3200" b="1" i="0" u="none" strike="noStrike" kern="0" cap="none" spc="0" normalizeH="0" baseline="0" noProof="0" dirty="0" smtClean="0">
                <a:ln>
                  <a:noFill/>
                </a:ln>
                <a:solidFill>
                  <a:srgbClr val="0000CC"/>
                </a:solidFill>
                <a:effectLst/>
                <a:uLnTx/>
                <a:uFillTx/>
                <a:latin typeface="+mj-lt"/>
                <a:ea typeface="华文新魏" pitchFamily="2" charset="-122"/>
                <a:cs typeface="+mj-cs"/>
              </a:rPr>
              <a:t>、对立统一规律是事物发展的根本规律</a:t>
            </a:r>
            <a:endParaRPr kumimoji="0" lang="zh-CN" sz="3200" b="1" i="0" u="none" strike="noStrike" kern="0" cap="none" spc="0" normalizeH="0" baseline="0" noProof="0" dirty="0" smtClean="0">
              <a:ln>
                <a:noFill/>
              </a:ln>
              <a:solidFill>
                <a:srgbClr val="0000CC"/>
              </a:solidFill>
              <a:effectLst/>
              <a:uLnTx/>
              <a:uFillTx/>
              <a:latin typeface="+mj-lt"/>
              <a:ea typeface="华文新魏" pitchFamily="2" charset="-122"/>
              <a:cs typeface="+mj-c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Click="0" advTm="0">
        <p15:prstTrans prst="wind"/>
      </p:transition>
    </mc:Choice>
    <mc:Fallback>
      <p:transition spd="slow" advClick="0" advTm="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nvGraphicFramePr>
        <p:xfrm>
          <a:off x="357158" y="0"/>
          <a:ext cx="6096000" cy="664371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Text Box 49"/>
          <p:cNvSpPr txBox="1">
            <a:spLocks noChangeArrowheads="1"/>
          </p:cNvSpPr>
          <p:nvPr/>
        </p:nvSpPr>
        <p:spPr bwMode="auto">
          <a:xfrm>
            <a:off x="3857620" y="1000108"/>
            <a:ext cx="3061577"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smtClean="0">
                <a:latin typeface="楷体" panose="02010609060101010101" pitchFamily="49" charset="-122"/>
                <a:ea typeface="楷体" panose="02010609060101010101" pitchFamily="49" charset="-122"/>
              </a:rPr>
              <a:t>矛盾</a:t>
            </a:r>
            <a:r>
              <a:rPr lang="zh-CN" altLang="en-US" sz="2000" b="1" dirty="0">
                <a:latin typeface="楷体" panose="02010609060101010101" pitchFamily="49" charset="-122"/>
                <a:ea typeface="楷体" panose="02010609060101010101" pitchFamily="49" charset="-122"/>
              </a:rPr>
              <a:t>及其基本属性</a:t>
            </a:r>
            <a:r>
              <a:rPr lang="zh-CN" altLang="en-US" sz="2000" b="1" dirty="0">
                <a:latin typeface="楷体_GB2312" pitchFamily="1" charset="-122"/>
                <a:ea typeface="楷体_GB2312" pitchFamily="1" charset="-122"/>
              </a:rPr>
              <a:t> </a:t>
            </a:r>
            <a:endParaRPr lang="zh-CN" altLang="en-US" sz="2000" b="1" dirty="0">
              <a:latin typeface="楷体_GB2312" pitchFamily="1" charset="-122"/>
              <a:ea typeface="楷体_GB2312" pitchFamily="1" charset="-122"/>
            </a:endParaRPr>
          </a:p>
        </p:txBody>
      </p:sp>
      <p:sp>
        <p:nvSpPr>
          <p:cNvPr id="5" name="Text Box 55"/>
          <p:cNvSpPr txBox="1">
            <a:spLocks noChangeArrowheads="1"/>
          </p:cNvSpPr>
          <p:nvPr/>
        </p:nvSpPr>
        <p:spPr bwMode="auto">
          <a:xfrm>
            <a:off x="3857620" y="1500174"/>
            <a:ext cx="4182627"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smtClean="0">
                <a:latin typeface="楷体" panose="02010609060101010101" pitchFamily="49" charset="-122"/>
                <a:ea typeface="楷体" panose="02010609060101010101" pitchFamily="49" charset="-122"/>
              </a:rPr>
              <a:t>矛盾</a:t>
            </a:r>
            <a:r>
              <a:rPr lang="zh-CN" altLang="en-US" sz="2000" b="1" dirty="0">
                <a:latin typeface="楷体" panose="02010609060101010101" pitchFamily="49" charset="-122"/>
                <a:ea typeface="楷体" panose="02010609060101010101" pitchFamily="49" charset="-122"/>
              </a:rPr>
              <a:t>的同一性和矛盾的斗争性</a:t>
            </a:r>
            <a:endParaRPr lang="zh-CN" altLang="en-US" sz="2000" b="1" dirty="0">
              <a:latin typeface="楷体" panose="02010609060101010101" pitchFamily="49" charset="-122"/>
              <a:ea typeface="楷体" panose="02010609060101010101" pitchFamily="49" charset="-122"/>
            </a:endParaRPr>
          </a:p>
        </p:txBody>
      </p:sp>
      <p:sp>
        <p:nvSpPr>
          <p:cNvPr id="6" name="Text Box 58"/>
          <p:cNvSpPr txBox="1">
            <a:spLocks noChangeArrowheads="1"/>
          </p:cNvSpPr>
          <p:nvPr/>
        </p:nvSpPr>
        <p:spPr bwMode="auto">
          <a:xfrm>
            <a:off x="3857620" y="2000240"/>
            <a:ext cx="471490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smtClean="0">
                <a:latin typeface="楷体" panose="02010609060101010101" pitchFamily="49" charset="-122"/>
                <a:ea typeface="楷体" panose="02010609060101010101" pitchFamily="49" charset="-122"/>
              </a:rPr>
              <a:t>矛盾</a:t>
            </a:r>
            <a:r>
              <a:rPr lang="zh-CN" altLang="en-US" sz="2000" b="1" dirty="0">
                <a:latin typeface="楷体" panose="02010609060101010101" pitchFamily="49" charset="-122"/>
                <a:ea typeface="楷体" panose="02010609060101010101" pitchFamily="49" charset="-122"/>
              </a:rPr>
              <a:t>的同一性</a:t>
            </a:r>
            <a:r>
              <a:rPr lang="zh-CN" altLang="en-US" sz="2000" b="1" dirty="0" smtClean="0">
                <a:latin typeface="楷体" panose="02010609060101010101" pitchFamily="49" charset="-122"/>
                <a:ea typeface="楷体" panose="02010609060101010101" pitchFamily="49" charset="-122"/>
              </a:rPr>
              <a:t>和斗争性</a:t>
            </a:r>
            <a:r>
              <a:rPr lang="zh-CN" altLang="en-US" sz="2000" b="1" dirty="0">
                <a:latin typeface="楷体" panose="02010609060101010101" pitchFamily="49" charset="-122"/>
                <a:ea typeface="楷体" panose="02010609060101010101" pitchFamily="49" charset="-122"/>
              </a:rPr>
              <a:t>的辩证关系</a:t>
            </a:r>
            <a:endParaRPr lang="zh-CN" altLang="en-US" sz="2000" b="1" dirty="0">
              <a:latin typeface="楷体" panose="02010609060101010101" pitchFamily="49" charset="-122"/>
              <a:ea typeface="楷体" panose="02010609060101010101" pitchFamily="49" charset="-122"/>
            </a:endParaRPr>
          </a:p>
        </p:txBody>
      </p:sp>
      <p:sp>
        <p:nvSpPr>
          <p:cNvPr id="7" name="Text Box 61"/>
          <p:cNvSpPr txBox="1">
            <a:spLocks noChangeArrowheads="1"/>
          </p:cNvSpPr>
          <p:nvPr/>
        </p:nvSpPr>
        <p:spPr bwMode="auto">
          <a:xfrm>
            <a:off x="3857620" y="2500306"/>
            <a:ext cx="4714908"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smtClean="0">
                <a:latin typeface="楷体" panose="02010609060101010101" pitchFamily="49" charset="-122"/>
                <a:ea typeface="楷体" panose="02010609060101010101" pitchFamily="49" charset="-122"/>
              </a:rPr>
              <a:t>矛盾</a:t>
            </a:r>
            <a:r>
              <a:rPr lang="zh-CN" altLang="en-US" sz="2000" b="1" dirty="0">
                <a:latin typeface="楷体" panose="02010609060101010101" pitchFamily="49" charset="-122"/>
                <a:ea typeface="楷体" panose="02010609060101010101" pitchFamily="49" charset="-122"/>
              </a:rPr>
              <a:t>的同一性和斗争性在事物发展中的作用</a:t>
            </a:r>
            <a:endParaRPr lang="zh-CN" altLang="en-US" sz="2000" b="1" dirty="0">
              <a:latin typeface="楷体" panose="02010609060101010101" pitchFamily="49" charset="-122"/>
              <a:ea typeface="楷体" panose="02010609060101010101" pitchFamily="49" charset="-122"/>
            </a:endParaRPr>
          </a:p>
        </p:txBody>
      </p:sp>
      <p:sp>
        <p:nvSpPr>
          <p:cNvPr id="8" name="Text Box 64">
            <a:hlinkClick r:id="rId6" action="ppaction://hlinksldjump"/>
          </p:cNvPr>
          <p:cNvSpPr txBox="1">
            <a:spLocks noChangeArrowheads="1"/>
          </p:cNvSpPr>
          <p:nvPr/>
        </p:nvSpPr>
        <p:spPr bwMode="auto">
          <a:xfrm>
            <a:off x="3857620" y="3286124"/>
            <a:ext cx="471490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smtClean="0">
                <a:latin typeface="楷体" panose="02010609060101010101" pitchFamily="49" charset="-122"/>
                <a:ea typeface="楷体" panose="02010609060101010101" pitchFamily="49" charset="-122"/>
              </a:rPr>
              <a:t>矛盾</a:t>
            </a:r>
            <a:r>
              <a:rPr lang="zh-CN" altLang="en-US" sz="2000" b="1" dirty="0">
                <a:latin typeface="楷体" panose="02010609060101010101" pitchFamily="49" charset="-122"/>
                <a:ea typeface="楷体" panose="02010609060101010101" pitchFamily="49" charset="-122"/>
              </a:rPr>
              <a:t>的同一性和</a:t>
            </a:r>
            <a:r>
              <a:rPr lang="zh-CN" altLang="en-US" sz="2000" b="1" dirty="0" smtClean="0">
                <a:latin typeface="楷体" panose="02010609060101010101" pitchFamily="49" charset="-122"/>
                <a:ea typeface="楷体" panose="02010609060101010101" pitchFamily="49" charset="-122"/>
              </a:rPr>
              <a:t>斗争性的方法论意义</a:t>
            </a:r>
            <a:endParaRPr lang="zh-CN" altLang="en-US" sz="2000" b="1" dirty="0">
              <a:latin typeface="楷体" panose="02010609060101010101" pitchFamily="49" charset="-122"/>
              <a:ea typeface="楷体" panose="02010609060101010101" pitchFamily="49" charset="-122"/>
            </a:endParaRPr>
          </a:p>
        </p:txBody>
      </p:sp>
      <p:sp>
        <p:nvSpPr>
          <p:cNvPr id="9" name="左大括号 8"/>
          <p:cNvSpPr/>
          <p:nvPr/>
        </p:nvSpPr>
        <p:spPr>
          <a:xfrm>
            <a:off x="3428992" y="1214422"/>
            <a:ext cx="287982" cy="4000528"/>
          </a:xfrm>
          <a:prstGeom prst="leftBrace">
            <a:avLst/>
          </a:prstGeom>
          <a:noFill/>
          <a:ln>
            <a:solidFill>
              <a:srgbClr val="6600FF"/>
            </a:solidFill>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zh-CN" altLang="en-US" dirty="0">
              <a:noFill/>
            </a:endParaRPr>
          </a:p>
        </p:txBody>
      </p:sp>
      <p:sp>
        <p:nvSpPr>
          <p:cNvPr id="10" name="Text Box 58"/>
          <p:cNvSpPr txBox="1">
            <a:spLocks noChangeArrowheads="1"/>
          </p:cNvSpPr>
          <p:nvPr/>
        </p:nvSpPr>
        <p:spPr bwMode="auto">
          <a:xfrm>
            <a:off x="3857620" y="4071942"/>
            <a:ext cx="471490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smtClean="0">
                <a:latin typeface="楷体" panose="02010609060101010101" pitchFamily="49" charset="-122"/>
                <a:ea typeface="楷体" panose="02010609060101010101" pitchFamily="49" charset="-122"/>
              </a:rPr>
              <a:t>矛盾的普遍性和特殊性</a:t>
            </a:r>
            <a:r>
              <a:rPr lang="zh-CN" altLang="en-US" sz="2000" b="1" dirty="0">
                <a:latin typeface="楷体" panose="02010609060101010101" pitchFamily="49" charset="-122"/>
                <a:ea typeface="楷体" panose="02010609060101010101" pitchFamily="49" charset="-122"/>
              </a:rPr>
              <a:t>的辩证关系</a:t>
            </a:r>
            <a:endParaRPr lang="zh-CN" altLang="en-US" sz="2000" b="1" dirty="0">
              <a:latin typeface="楷体" panose="02010609060101010101" pitchFamily="49" charset="-122"/>
              <a:ea typeface="楷体" panose="02010609060101010101" pitchFamily="49" charset="-122"/>
            </a:endParaRPr>
          </a:p>
        </p:txBody>
      </p:sp>
      <p:sp>
        <p:nvSpPr>
          <p:cNvPr id="11" name="Text Box 58"/>
          <p:cNvSpPr txBox="1">
            <a:spLocks noChangeArrowheads="1"/>
          </p:cNvSpPr>
          <p:nvPr/>
        </p:nvSpPr>
        <p:spPr bwMode="auto">
          <a:xfrm>
            <a:off x="3857620" y="4572008"/>
            <a:ext cx="4714908"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smtClean="0">
                <a:latin typeface="楷体" panose="02010609060101010101" pitchFamily="49" charset="-122"/>
                <a:ea typeface="楷体" panose="02010609060101010101" pitchFamily="49" charset="-122"/>
              </a:rPr>
              <a:t>矛盾的普遍性和特殊性辩证关系的方法论意义</a:t>
            </a:r>
            <a:endParaRPr lang="zh-CN" altLang="en-US" sz="20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50" advClick="0" advTm="0">
        <p14:switch dir="r"/>
      </p:transition>
    </mc:Choice>
    <mc:Fallback>
      <p:transition spd="slow" advClick="0" advTm="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终止 1"/>
          <p:cNvSpPr/>
          <p:nvPr/>
        </p:nvSpPr>
        <p:spPr>
          <a:xfrm>
            <a:off x="251460" y="260985"/>
            <a:ext cx="3962400" cy="671867"/>
          </a:xfrm>
          <a:prstGeom prst="flowChartTerminator">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ln>
                  <a:solidFill>
                    <a:schemeClr val="bg1"/>
                  </a:solidFill>
                </a:ln>
                <a:solidFill>
                  <a:schemeClr val="tx1">
                    <a:lumMod val="95000"/>
                    <a:lumOff val="5000"/>
                  </a:schemeClr>
                </a:solidFill>
                <a:latin typeface="黑体" panose="02010609060101010101" pitchFamily="49" charset="-122"/>
                <a:ea typeface="黑体" panose="02010609060101010101" pitchFamily="49" charset="-122"/>
              </a:rPr>
              <a:t>矛盾</a:t>
            </a:r>
            <a:r>
              <a:rPr lang="zh-CN" altLang="en-US" sz="2800" b="1" dirty="0">
                <a:ln>
                  <a:solidFill>
                    <a:schemeClr val="bg1"/>
                  </a:solidFill>
                </a:ln>
                <a:solidFill>
                  <a:schemeClr val="tx1">
                    <a:lumMod val="95000"/>
                    <a:lumOff val="5000"/>
                  </a:schemeClr>
                </a:solidFill>
                <a:latin typeface="黑体" panose="02010609060101010101" pitchFamily="49" charset="-122"/>
                <a:ea typeface="黑体" panose="02010609060101010101" pitchFamily="49" charset="-122"/>
              </a:rPr>
              <a:t>及其基本属性 </a:t>
            </a:r>
            <a:endParaRPr lang="zh-CN" altLang="en-US" sz="2800" b="1" dirty="0">
              <a:ln>
                <a:solidFill>
                  <a:schemeClr val="bg1"/>
                </a:solidFill>
              </a:ln>
              <a:solidFill>
                <a:schemeClr val="tx1">
                  <a:lumMod val="95000"/>
                  <a:lumOff val="5000"/>
                </a:schemeClr>
              </a:solidFill>
              <a:latin typeface="黑体" panose="02010609060101010101" pitchFamily="49" charset="-122"/>
              <a:ea typeface="黑体" panose="02010609060101010101" pitchFamily="49" charset="-122"/>
            </a:endParaRPr>
          </a:p>
        </p:txBody>
      </p:sp>
      <p:sp>
        <p:nvSpPr>
          <p:cNvPr id="3" name="Rectangle 3"/>
          <p:cNvSpPr>
            <a:spLocks noChangeArrowheads="1"/>
          </p:cNvSpPr>
          <p:nvPr/>
        </p:nvSpPr>
        <p:spPr bwMode="auto">
          <a:xfrm>
            <a:off x="357158" y="1071546"/>
            <a:ext cx="8348800" cy="642942"/>
          </a:xfrm>
          <a:prstGeom prst="rect">
            <a:avLst/>
          </a:prstGeom>
          <a:solidFill>
            <a:schemeClr val="bg2"/>
          </a:solidFill>
        </p:spPr>
        <p:style>
          <a:lnRef idx="1">
            <a:schemeClr val="accent6"/>
          </a:lnRef>
          <a:fillRef idx="3">
            <a:schemeClr val="accent6"/>
          </a:fillRef>
          <a:effectRef idx="2">
            <a:schemeClr val="accent6"/>
          </a:effectRef>
          <a:fontRef idx="minor">
            <a:schemeClr val="lt1"/>
          </a:fontRef>
        </p:style>
        <p:txBody>
          <a:bodyPr/>
          <a:lstStyle/>
          <a:p>
            <a:pPr>
              <a:lnSpc>
                <a:spcPct val="120000"/>
              </a:lnSpc>
              <a:spcBef>
                <a:spcPct val="20000"/>
              </a:spcBef>
              <a:buFontTx/>
              <a:buNone/>
              <a:defRPr/>
            </a:pPr>
            <a:r>
              <a:rPr lang="en-US" altLang="zh-CN" sz="2000" b="1" dirty="0">
                <a:solidFill>
                  <a:schemeClr val="tx1"/>
                </a:solidFill>
                <a:latin typeface="幼圆" pitchFamily="49" charset="-122"/>
                <a:ea typeface="幼圆" pitchFamily="49" charset="-122"/>
              </a:rPr>
              <a:t>  </a:t>
            </a:r>
            <a:r>
              <a:rPr lang="zh-CN" altLang="en-US" sz="2400" b="1" dirty="0">
                <a:solidFill>
                  <a:schemeClr val="tx1"/>
                </a:solidFill>
                <a:latin typeface="楷体" panose="02010609060101010101" pitchFamily="49" charset="-122"/>
                <a:ea typeface="楷体" panose="02010609060101010101" pitchFamily="49" charset="-122"/>
              </a:rPr>
              <a:t>矛盾是反映事物内部和事物之间</a:t>
            </a:r>
            <a:r>
              <a:rPr lang="zh-CN" altLang="en-US" sz="2400" b="1" u="sng" dirty="0">
                <a:solidFill>
                  <a:schemeClr val="tx1"/>
                </a:solidFill>
                <a:latin typeface="楷体" panose="02010609060101010101" pitchFamily="49" charset="-122"/>
                <a:ea typeface="楷体" panose="02010609060101010101" pitchFamily="49" charset="-122"/>
              </a:rPr>
              <a:t>对立统一</a:t>
            </a:r>
            <a:r>
              <a:rPr lang="zh-CN" altLang="en-US" sz="2400" b="1" dirty="0">
                <a:solidFill>
                  <a:schemeClr val="tx1"/>
                </a:solidFill>
                <a:latin typeface="楷体" panose="02010609060101010101" pitchFamily="49" charset="-122"/>
                <a:ea typeface="楷体" panose="02010609060101010101" pitchFamily="49" charset="-122"/>
              </a:rPr>
              <a:t>关系的</a:t>
            </a:r>
            <a:r>
              <a:rPr lang="zh-CN" altLang="en-US" sz="2400" b="1" u="sng" dirty="0">
                <a:solidFill>
                  <a:schemeClr val="tx1"/>
                </a:solidFill>
                <a:latin typeface="楷体" panose="02010609060101010101" pitchFamily="49" charset="-122"/>
                <a:ea typeface="楷体" panose="02010609060101010101" pitchFamily="49" charset="-122"/>
              </a:rPr>
              <a:t>哲学范畴</a:t>
            </a:r>
            <a:r>
              <a:rPr lang="zh-CN" altLang="en-US" sz="2400" b="1" dirty="0">
                <a:solidFill>
                  <a:schemeClr val="tx1"/>
                </a:solidFill>
                <a:latin typeface="楷体" panose="02010609060101010101" pitchFamily="49" charset="-122"/>
                <a:ea typeface="楷体" panose="02010609060101010101" pitchFamily="49" charset="-122"/>
              </a:rPr>
              <a:t>。</a:t>
            </a:r>
            <a:endParaRPr lang="zh-CN" altLang="en-US" sz="2400" b="1" dirty="0">
              <a:solidFill>
                <a:schemeClr val="tx1"/>
              </a:solidFill>
              <a:latin typeface="楷体" panose="02010609060101010101" pitchFamily="49" charset="-122"/>
              <a:ea typeface="楷体" panose="02010609060101010101" pitchFamily="49" charset="-122"/>
            </a:endParaRPr>
          </a:p>
        </p:txBody>
      </p:sp>
      <p:sp>
        <p:nvSpPr>
          <p:cNvPr id="8" name="矩形 7"/>
          <p:cNvSpPr/>
          <p:nvPr/>
        </p:nvSpPr>
        <p:spPr>
          <a:xfrm>
            <a:off x="357158" y="1773227"/>
            <a:ext cx="8286808" cy="1050925"/>
          </a:xfrm>
          <a:prstGeom prst="rect">
            <a:avLst/>
          </a:prstGeom>
        </p:spPr>
        <p:txBody>
          <a:bodyPr wrap="square">
            <a:spAutoFit/>
          </a:bodyPr>
          <a:lstStyle/>
          <a:p>
            <a:pPr>
              <a:lnSpc>
                <a:spcPct val="120000"/>
              </a:lnSpc>
              <a:spcBef>
                <a:spcPct val="20000"/>
              </a:spcBef>
              <a:buFontTx/>
              <a:buNone/>
              <a:defRPr/>
            </a:pPr>
            <a:r>
              <a:rPr lang="zh-CN" altLang="en-US" sz="2400" b="1" dirty="0">
                <a:solidFill>
                  <a:schemeClr val="tx1">
                    <a:lumMod val="95000"/>
                    <a:lumOff val="5000"/>
                  </a:schemeClr>
                </a:solidFill>
                <a:latin typeface="黑体" panose="02010609060101010101" pitchFamily="49" charset="-122"/>
                <a:ea typeface="黑体" panose="02010609060101010101" pitchFamily="49" charset="-122"/>
              </a:rPr>
              <a:t>对立和统一分别体现了矛盾的两种基本属性</a:t>
            </a:r>
            <a:r>
              <a:rPr lang="zh-CN" altLang="en-US" sz="2400" b="1" dirty="0" smtClean="0">
                <a:solidFill>
                  <a:schemeClr val="tx1">
                    <a:lumMod val="95000"/>
                    <a:lumOff val="5000"/>
                  </a:schemeClr>
                </a:solidFill>
                <a:latin typeface="黑体" panose="02010609060101010101" pitchFamily="49" charset="-122"/>
                <a:ea typeface="黑体" panose="02010609060101010101" pitchFamily="49" charset="-122"/>
              </a:rPr>
              <a:t>。</a:t>
            </a:r>
            <a:endParaRPr lang="en-US" altLang="zh-CN" sz="2400" b="1" dirty="0" smtClean="0">
              <a:solidFill>
                <a:schemeClr val="tx1">
                  <a:lumMod val="95000"/>
                  <a:lumOff val="5000"/>
                </a:schemeClr>
              </a:solidFill>
              <a:latin typeface="黑体" panose="02010609060101010101" pitchFamily="49" charset="-122"/>
              <a:ea typeface="黑体" panose="02010609060101010101" pitchFamily="49" charset="-122"/>
            </a:endParaRPr>
          </a:p>
          <a:p>
            <a:pPr>
              <a:lnSpc>
                <a:spcPct val="120000"/>
              </a:lnSpc>
              <a:spcBef>
                <a:spcPct val="20000"/>
              </a:spcBef>
              <a:buFontTx/>
              <a:buNone/>
              <a:defRPr/>
            </a:pPr>
            <a:r>
              <a:rPr lang="zh-CN" altLang="en-US" sz="2400" b="1" dirty="0" smtClean="0">
                <a:solidFill>
                  <a:srgbClr val="990000"/>
                </a:solidFill>
                <a:latin typeface="黑体" panose="02010609060101010101" pitchFamily="49" charset="-122"/>
                <a:ea typeface="黑体" panose="02010609060101010101" pitchFamily="49" charset="-122"/>
                <a:cs typeface="楷体" panose="02010609060101010101" pitchFamily="49" charset="-122"/>
              </a:rPr>
              <a:t>对立</a:t>
            </a:r>
            <a:r>
              <a:rPr lang="zh-CN" altLang="en-US" sz="2400" b="1" dirty="0">
                <a:solidFill>
                  <a:srgbClr val="990000"/>
                </a:solidFill>
                <a:latin typeface="黑体" panose="02010609060101010101" pitchFamily="49" charset="-122"/>
                <a:ea typeface="黑体" panose="02010609060101010101" pitchFamily="49" charset="-122"/>
                <a:cs typeface="楷体" panose="02010609060101010101" pitchFamily="49" charset="-122"/>
              </a:rPr>
              <a:t>属性：</a:t>
            </a:r>
            <a:r>
              <a:rPr lang="zh-CN" altLang="en-US" sz="2400" b="1" dirty="0">
                <a:solidFill>
                  <a:schemeClr val="tx1">
                    <a:lumMod val="95000"/>
                    <a:lumOff val="5000"/>
                  </a:schemeClr>
                </a:solidFill>
                <a:latin typeface="黑体" panose="02010609060101010101" pitchFamily="49" charset="-122"/>
                <a:ea typeface="黑体" panose="02010609060101010101" pitchFamily="49" charset="-122"/>
                <a:cs typeface="楷体" panose="02010609060101010101" pitchFamily="49" charset="-122"/>
              </a:rPr>
              <a:t>斗争性</a:t>
            </a:r>
            <a:r>
              <a:rPr lang="zh-CN" altLang="en-US" sz="2400" b="1" dirty="0" smtClean="0">
                <a:latin typeface="黑体" panose="02010609060101010101" pitchFamily="49" charset="-122"/>
                <a:ea typeface="黑体" panose="02010609060101010101" pitchFamily="49" charset="-122"/>
                <a:cs typeface="楷体" panose="02010609060101010101" pitchFamily="49" charset="-122"/>
              </a:rPr>
              <a:t>，</a:t>
            </a:r>
            <a:r>
              <a:rPr lang="zh-CN" altLang="en-US" sz="2400" b="1" dirty="0" smtClean="0">
                <a:solidFill>
                  <a:srgbClr val="990000"/>
                </a:solidFill>
                <a:latin typeface="黑体" panose="02010609060101010101" pitchFamily="49" charset="-122"/>
                <a:ea typeface="黑体" panose="02010609060101010101" pitchFamily="49" charset="-122"/>
                <a:cs typeface="楷体" panose="02010609060101010101" pitchFamily="49" charset="-122"/>
              </a:rPr>
              <a:t>统一</a:t>
            </a:r>
            <a:r>
              <a:rPr lang="zh-CN" altLang="en-US" sz="2400" b="1" dirty="0">
                <a:solidFill>
                  <a:srgbClr val="990000"/>
                </a:solidFill>
                <a:latin typeface="黑体" panose="02010609060101010101" pitchFamily="49" charset="-122"/>
                <a:ea typeface="黑体" panose="02010609060101010101" pitchFamily="49" charset="-122"/>
                <a:cs typeface="楷体" panose="02010609060101010101" pitchFamily="49" charset="-122"/>
              </a:rPr>
              <a:t>属性：</a:t>
            </a:r>
            <a:r>
              <a:rPr lang="zh-CN" altLang="en-US" sz="2400" b="1" dirty="0">
                <a:solidFill>
                  <a:schemeClr val="tx1">
                    <a:lumMod val="95000"/>
                    <a:lumOff val="5000"/>
                  </a:schemeClr>
                </a:solidFill>
                <a:latin typeface="黑体" panose="02010609060101010101" pitchFamily="49" charset="-122"/>
                <a:ea typeface="黑体" panose="02010609060101010101" pitchFamily="49" charset="-122"/>
                <a:cs typeface="楷体" panose="02010609060101010101" pitchFamily="49" charset="-122"/>
              </a:rPr>
              <a:t>同一性</a:t>
            </a:r>
            <a:r>
              <a:rPr lang="zh-CN" altLang="en-US" sz="2400" b="1" dirty="0">
                <a:latin typeface="黑体" panose="02010609060101010101" pitchFamily="49" charset="-122"/>
                <a:ea typeface="黑体" panose="02010609060101010101" pitchFamily="49" charset="-122"/>
                <a:cs typeface="楷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sp>
        <p:nvSpPr>
          <p:cNvPr id="7" name="Rectangle 7"/>
          <p:cNvSpPr>
            <a:spLocks noChangeArrowheads="1"/>
          </p:cNvSpPr>
          <p:nvPr/>
        </p:nvSpPr>
        <p:spPr bwMode="auto">
          <a:xfrm>
            <a:off x="142844" y="2857496"/>
            <a:ext cx="8718550" cy="476250"/>
          </a:xfrm>
          <a:prstGeom prst="rect">
            <a:avLst/>
          </a:prstGeom>
          <a:noFill/>
          <a:ln w="9525">
            <a:noFill/>
            <a:miter lim="800000"/>
          </a:ln>
        </p:spPr>
        <p:txBody>
          <a:bodyPr wrap="none">
            <a:spAutoFit/>
          </a:bodyPr>
          <a:lstStyle/>
          <a:p>
            <a:pPr eaLnBrk="1" hangingPunct="1">
              <a:lnSpc>
                <a:spcPct val="90000"/>
              </a:lnSpc>
              <a:spcBef>
                <a:spcPct val="20000"/>
              </a:spcBef>
            </a:pPr>
            <a:r>
              <a:rPr lang="zh-CN" altLang="en-US" sz="2800" b="1" dirty="0">
                <a:solidFill>
                  <a:srgbClr val="9900CC"/>
                </a:solidFill>
                <a:latin typeface="华文新魏" pitchFamily="2" charset="-122"/>
                <a:ea typeface="华文新魏" pitchFamily="2" charset="-122"/>
              </a:rPr>
              <a:t>（一）矛盾的同一性和斗争性及其在事物发展中的作用</a:t>
            </a:r>
            <a:endParaRPr lang="zh-CN" altLang="en-US" sz="2800" b="1" dirty="0">
              <a:solidFill>
                <a:srgbClr val="9900CC"/>
              </a:solidFill>
              <a:latin typeface="华文新魏" pitchFamily="2" charset="-122"/>
              <a:ea typeface="华文新魏" pitchFamily="2" charset="-122"/>
            </a:endParaRPr>
          </a:p>
        </p:txBody>
      </p:sp>
      <p:sp>
        <p:nvSpPr>
          <p:cNvPr id="9" name="Rectangle 2"/>
          <p:cNvSpPr txBox="1">
            <a:spLocks noChangeArrowheads="1"/>
          </p:cNvSpPr>
          <p:nvPr/>
        </p:nvSpPr>
        <p:spPr>
          <a:xfrm>
            <a:off x="214282" y="3429000"/>
            <a:ext cx="8534400" cy="609600"/>
          </a:xfrm>
          <a:prstGeom prst="rect">
            <a:avLst/>
          </a:prstGeom>
        </p:spPr>
        <p:txBody>
          <a:bodyPr vert="horz">
            <a:normAutofit/>
          </a:bodyPr>
          <a:lstStyle/>
          <a:p>
            <a:pPr marL="342900" marR="0" lvl="0" indent="-342900" algn="l" defTabSz="914400" rtl="0" eaLnBrk="1" fontAlgn="auto" latinLnBrk="0" hangingPunct="1">
              <a:lnSpc>
                <a:spcPct val="90000"/>
              </a:lnSpc>
              <a:spcBef>
                <a:spcPct val="20000"/>
              </a:spcBef>
              <a:spcAft>
                <a:spcPts val="0"/>
              </a:spcAft>
              <a:buClr>
                <a:schemeClr val="accent1"/>
              </a:buClr>
              <a:buSzPct val="70000"/>
              <a:buFontTx/>
              <a:buNone/>
              <a:defRPr/>
            </a:pPr>
            <a:r>
              <a:rPr kumimoji="0" lang="en-US" altLang="zh-CN" sz="2800" b="1" i="0" u="none" strike="noStrike" kern="1200" cap="none" spc="0" normalizeH="0" baseline="0" noProof="0" dirty="0" smtClean="0">
                <a:ln>
                  <a:noFill/>
                </a:ln>
                <a:solidFill>
                  <a:srgbClr val="6600FF"/>
                </a:solidFill>
                <a:effectLst/>
                <a:uLnTx/>
                <a:uFillTx/>
                <a:latin typeface="楷体_GB2312" pitchFamily="1" charset="-122"/>
                <a:ea typeface="楷体_GB2312" pitchFamily="1" charset="-122"/>
                <a:cs typeface="+mn-cs"/>
              </a:rPr>
              <a:t>1.</a:t>
            </a:r>
            <a:r>
              <a:rPr kumimoji="0" lang="zh-CN" altLang="en-US" sz="2800" b="1" i="0" u="none" strike="noStrike" kern="1200" cap="none" spc="0" normalizeH="0" baseline="0" noProof="0" dirty="0" smtClean="0">
                <a:ln>
                  <a:noFill/>
                </a:ln>
                <a:solidFill>
                  <a:srgbClr val="6600FF"/>
                </a:solidFill>
                <a:effectLst/>
                <a:uLnTx/>
                <a:uFillTx/>
                <a:latin typeface="楷体_GB2312" pitchFamily="1" charset="-122"/>
                <a:ea typeface="楷体_GB2312" pitchFamily="1" charset="-122"/>
                <a:cs typeface="+mn-cs"/>
              </a:rPr>
              <a:t>同一性：</a:t>
            </a:r>
            <a:r>
              <a:rPr kumimoji="0" lang="zh-CN" altLang="en-US" sz="2400" b="1" i="0" u="none" strike="noStrike" kern="1200" cap="none" spc="0" normalizeH="0" baseline="0" noProof="0" dirty="0" smtClean="0">
                <a:ln>
                  <a:noFill/>
                </a:ln>
                <a:solidFill>
                  <a:srgbClr val="000000"/>
                </a:solidFill>
                <a:effectLst/>
                <a:uLnTx/>
                <a:uFillTx/>
                <a:latin typeface="+mn-lt"/>
                <a:ea typeface="楷体_GB2312" pitchFamily="1" charset="-122"/>
                <a:cs typeface="+mn-cs"/>
              </a:rPr>
              <a:t>矛盾双方相互依存、相互贯通的性质和趋势。</a:t>
            </a:r>
            <a:endParaRPr kumimoji="0" lang="zh-CN" altLang="en-US" sz="3600" b="1" i="0" u="none" strike="noStrike" kern="1200" cap="none" spc="0" normalizeH="0" baseline="0" noProof="0" dirty="0" smtClean="0">
              <a:ln>
                <a:noFill/>
              </a:ln>
              <a:solidFill>
                <a:schemeClr val="tx2"/>
              </a:solidFill>
              <a:effectLst/>
              <a:uLnTx/>
              <a:uFillTx/>
              <a:latin typeface="隶书" pitchFamily="49" charset="-122"/>
              <a:ea typeface="隶书" pitchFamily="49" charset="-122"/>
              <a:cs typeface="+mn-cs"/>
            </a:endParaRPr>
          </a:p>
        </p:txBody>
      </p:sp>
      <p:sp>
        <p:nvSpPr>
          <p:cNvPr id="10" name="Rectangle 6"/>
          <p:cNvSpPr>
            <a:spLocks noChangeArrowheads="1"/>
          </p:cNvSpPr>
          <p:nvPr/>
        </p:nvSpPr>
        <p:spPr bwMode="auto">
          <a:xfrm>
            <a:off x="214282" y="4000504"/>
            <a:ext cx="8572560" cy="830997"/>
          </a:xfrm>
          <a:prstGeom prst="rect">
            <a:avLst/>
          </a:prstGeom>
          <a:noFill/>
          <a:ln w="9525">
            <a:noFill/>
            <a:miter lim="800000"/>
          </a:ln>
        </p:spPr>
        <p:txBody>
          <a:bodyPr wrap="square">
            <a:spAutoFit/>
          </a:bodyPr>
          <a:lstStyle/>
          <a:p>
            <a:pPr eaLnBrk="1" hangingPunct="1">
              <a:spcBef>
                <a:spcPct val="20000"/>
              </a:spcBef>
            </a:pPr>
            <a:r>
              <a:rPr lang="zh-CN" altLang="en-US" sz="2400" b="1" dirty="0">
                <a:solidFill>
                  <a:srgbClr val="000000"/>
                </a:solidFill>
                <a:latin typeface="楷体_GB2312" pitchFamily="1" charset="-122"/>
                <a:ea typeface="楷体_GB2312" pitchFamily="1" charset="-122"/>
              </a:rPr>
              <a:t>（</a:t>
            </a:r>
            <a:r>
              <a:rPr lang="en-US" altLang="zh-CN" sz="2400" b="1" dirty="0">
                <a:solidFill>
                  <a:srgbClr val="000000"/>
                </a:solidFill>
                <a:latin typeface="楷体_GB2312" pitchFamily="1" charset="-122"/>
                <a:ea typeface="楷体_GB2312" pitchFamily="1" charset="-122"/>
              </a:rPr>
              <a:t>1</a:t>
            </a:r>
            <a:r>
              <a:rPr lang="zh-CN" altLang="en-US" sz="2400" b="1" dirty="0" smtClean="0">
                <a:solidFill>
                  <a:srgbClr val="000000"/>
                </a:solidFill>
                <a:latin typeface="楷体_GB2312" pitchFamily="1" charset="-122"/>
                <a:ea typeface="楷体_GB2312" pitchFamily="1" charset="-122"/>
              </a:rPr>
              <a:t>）矛盾着的对立面</a:t>
            </a:r>
            <a:r>
              <a:rPr lang="zh-CN" altLang="en-US" sz="2400" b="1" dirty="0" smtClean="0">
                <a:solidFill>
                  <a:srgbClr val="FF0000"/>
                </a:solidFill>
                <a:latin typeface="楷体_GB2312" pitchFamily="1" charset="-122"/>
                <a:ea typeface="楷体_GB2312" pitchFamily="1" charset="-122"/>
              </a:rPr>
              <a:t>相互</a:t>
            </a:r>
            <a:r>
              <a:rPr lang="zh-CN" altLang="en-US" sz="2400" b="1" dirty="0">
                <a:solidFill>
                  <a:srgbClr val="FF0000"/>
                </a:solidFill>
                <a:latin typeface="楷体_GB2312" pitchFamily="1" charset="-122"/>
                <a:ea typeface="楷体_GB2312" pitchFamily="1" charset="-122"/>
              </a:rPr>
              <a:t>依存</a:t>
            </a:r>
            <a:r>
              <a:rPr lang="zh-CN" altLang="en-US" sz="2400" b="1" dirty="0">
                <a:solidFill>
                  <a:srgbClr val="000000"/>
                </a:solidFill>
                <a:latin typeface="楷体_GB2312" pitchFamily="1" charset="-122"/>
                <a:ea typeface="楷体_GB2312" pitchFamily="1" charset="-122"/>
              </a:rPr>
              <a:t>，</a:t>
            </a:r>
            <a:r>
              <a:rPr lang="zh-CN" altLang="en-US" sz="2400" b="1" dirty="0">
                <a:solidFill>
                  <a:srgbClr val="FF0000"/>
                </a:solidFill>
                <a:latin typeface="楷体_GB2312" pitchFamily="1" charset="-122"/>
                <a:ea typeface="楷体_GB2312" pitchFamily="1" charset="-122"/>
              </a:rPr>
              <a:t>互为存在的前提</a:t>
            </a:r>
            <a:r>
              <a:rPr lang="zh-CN" altLang="en-US" sz="2400" b="1" dirty="0">
                <a:solidFill>
                  <a:srgbClr val="000000"/>
                </a:solidFill>
                <a:latin typeface="楷体_GB2312" pitchFamily="1" charset="-122"/>
                <a:ea typeface="楷体_GB2312" pitchFamily="1" charset="-122"/>
              </a:rPr>
              <a:t>，共处于一个</a:t>
            </a:r>
            <a:r>
              <a:rPr lang="zh-CN" altLang="en-US" sz="2400" b="1" dirty="0">
                <a:solidFill>
                  <a:srgbClr val="FF0000"/>
                </a:solidFill>
                <a:latin typeface="楷体_GB2312" pitchFamily="1" charset="-122"/>
                <a:ea typeface="楷体_GB2312" pitchFamily="1" charset="-122"/>
              </a:rPr>
              <a:t>统一体</a:t>
            </a:r>
            <a:r>
              <a:rPr lang="zh-CN" altLang="en-US" sz="2400" b="1" dirty="0">
                <a:solidFill>
                  <a:srgbClr val="000000"/>
                </a:solidFill>
                <a:latin typeface="楷体_GB2312" pitchFamily="1" charset="-122"/>
                <a:ea typeface="楷体_GB2312" pitchFamily="1" charset="-122"/>
              </a:rPr>
              <a:t>中。</a:t>
            </a:r>
            <a:endParaRPr lang="zh-CN" altLang="en-US" sz="2400" b="1" dirty="0">
              <a:solidFill>
                <a:srgbClr val="000000"/>
              </a:solidFill>
              <a:latin typeface="楷体_GB2312" pitchFamily="1" charset="-122"/>
              <a:ea typeface="楷体_GB2312" pitchFamily="1" charset="-122"/>
            </a:endParaRPr>
          </a:p>
        </p:txBody>
      </p:sp>
      <p:sp>
        <p:nvSpPr>
          <p:cNvPr id="11" name="Rectangle 4"/>
          <p:cNvSpPr txBox="1">
            <a:spLocks noChangeArrowheads="1"/>
          </p:cNvSpPr>
          <p:nvPr/>
        </p:nvSpPr>
        <p:spPr>
          <a:xfrm>
            <a:off x="214282" y="4857760"/>
            <a:ext cx="8501122" cy="693734"/>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sz="2400" b="1" dirty="0" smtClean="0">
                <a:latin typeface="楷体_GB2312" pitchFamily="1" charset="-122"/>
                <a:ea typeface="楷体_GB2312" pitchFamily="1" charset="-122"/>
              </a:rPr>
              <a:t>（</a:t>
            </a:r>
            <a:r>
              <a:rPr lang="en-US" altLang="zh-CN" sz="2400" b="1" dirty="0" smtClean="0">
                <a:latin typeface="楷体_GB2312" pitchFamily="1" charset="-122"/>
                <a:ea typeface="楷体_GB2312" pitchFamily="1" charset="-122"/>
              </a:rPr>
              <a:t>2</a:t>
            </a:r>
            <a:r>
              <a:rPr lang="zh-CN" altLang="en-US" sz="2400" b="1" dirty="0" smtClean="0">
                <a:latin typeface="楷体_GB2312" pitchFamily="1" charset="-122"/>
                <a:ea typeface="楷体_GB2312" pitchFamily="1" charset="-122"/>
              </a:rPr>
              <a:t>）矛盾着的对立面之间</a:t>
            </a:r>
            <a:r>
              <a:rPr lang="zh-CN" altLang="en-US" sz="2400" b="1" dirty="0" smtClean="0">
                <a:solidFill>
                  <a:srgbClr val="FF0000"/>
                </a:solidFill>
                <a:latin typeface="楷体_GB2312" pitchFamily="1" charset="-122"/>
                <a:ea typeface="楷体_GB2312" pitchFamily="1" charset="-122"/>
              </a:rPr>
              <a:t>相互贯通，</a:t>
            </a:r>
            <a:r>
              <a:rPr lang="zh-CN" altLang="en-US" sz="2400" b="1" dirty="0" smtClean="0">
                <a:latin typeface="楷体_GB2312" pitchFamily="1" charset="-122"/>
                <a:ea typeface="楷体_GB2312" pitchFamily="1" charset="-122"/>
              </a:rPr>
              <a:t>在一定条件下</a:t>
            </a:r>
            <a:r>
              <a:rPr lang="zh-CN" altLang="en-US" sz="2400" b="1" dirty="0" smtClean="0">
                <a:solidFill>
                  <a:srgbClr val="FF0000"/>
                </a:solidFill>
                <a:latin typeface="楷体_GB2312" pitchFamily="1" charset="-122"/>
                <a:ea typeface="楷体_GB2312" pitchFamily="1" charset="-122"/>
              </a:rPr>
              <a:t>相互转化。</a:t>
            </a:r>
            <a:endParaRPr lang="zh-CN" altLang="en-US" sz="2400" b="1" dirty="0" smtClean="0">
              <a:solidFill>
                <a:srgbClr val="FF0000"/>
              </a:solidFill>
              <a:latin typeface="楷体_GB2312" pitchFamily="1" charset="-122"/>
              <a:ea typeface="楷体_GB2312" pitchFamily="1" charset="-122"/>
            </a:endParaRPr>
          </a:p>
        </p:txBody>
      </p:sp>
      <p:sp>
        <p:nvSpPr>
          <p:cNvPr id="12" name="Rectangle 2"/>
          <p:cNvSpPr txBox="1">
            <a:spLocks noChangeArrowheads="1"/>
          </p:cNvSpPr>
          <p:nvPr/>
        </p:nvSpPr>
        <p:spPr>
          <a:xfrm>
            <a:off x="214282" y="5572140"/>
            <a:ext cx="8429684" cy="990600"/>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en-US" altLang="zh-CN" sz="2800" b="1" i="0" u="none" strike="noStrike" kern="1200" cap="none" spc="0" normalizeH="0" baseline="0" noProof="0" smtClean="0">
                <a:ln>
                  <a:noFill/>
                </a:ln>
                <a:solidFill>
                  <a:srgbClr val="6600FF"/>
                </a:solidFill>
                <a:effectLst/>
                <a:uLnTx/>
                <a:uFillTx/>
                <a:latin typeface="楷体_GB2312" pitchFamily="1" charset="-122"/>
                <a:ea typeface="楷体_GB2312" pitchFamily="1" charset="-122"/>
                <a:cs typeface="+mn-cs"/>
              </a:rPr>
              <a:t>2.</a:t>
            </a:r>
            <a:r>
              <a:rPr kumimoji="0" lang="zh-CN" altLang="en-US" sz="2800" b="1" i="0" u="none" strike="noStrike" kern="1200" cap="none" spc="0" normalizeH="0" baseline="0" noProof="0" smtClean="0">
                <a:ln>
                  <a:noFill/>
                </a:ln>
                <a:solidFill>
                  <a:srgbClr val="6600FF"/>
                </a:solidFill>
                <a:effectLst/>
                <a:uLnTx/>
                <a:uFillTx/>
                <a:latin typeface="楷体_GB2312" pitchFamily="1" charset="-122"/>
                <a:ea typeface="楷体_GB2312" pitchFamily="1" charset="-122"/>
                <a:cs typeface="+mn-cs"/>
              </a:rPr>
              <a:t>斗争性：</a:t>
            </a:r>
            <a:r>
              <a:rPr kumimoji="0" lang="zh-CN" altLang="en-US" sz="2400" b="1" i="0" u="none" strike="noStrike" kern="1200" cap="none" spc="0" normalizeH="0" baseline="0" noProof="0" smtClean="0">
                <a:ln>
                  <a:noFill/>
                </a:ln>
                <a:solidFill>
                  <a:srgbClr val="000000"/>
                </a:solidFill>
                <a:effectLst/>
                <a:uLnTx/>
                <a:uFillTx/>
                <a:latin typeface="+mn-lt"/>
                <a:ea typeface="楷体_GB2312" pitchFamily="1" charset="-122"/>
                <a:cs typeface="+mn-cs"/>
              </a:rPr>
              <a:t>矛盾着的对立面之间</a:t>
            </a:r>
            <a:r>
              <a:rPr kumimoji="0" lang="zh-CN" altLang="en-US" sz="2400" b="1" i="0" u="none" strike="noStrike" kern="1200" cap="none" spc="0" normalizeH="0" baseline="0" noProof="0" smtClean="0">
                <a:ln>
                  <a:noFill/>
                </a:ln>
                <a:solidFill>
                  <a:srgbClr val="FF0000"/>
                </a:solidFill>
                <a:effectLst/>
                <a:uLnTx/>
                <a:uFillTx/>
                <a:latin typeface="+mn-lt"/>
                <a:ea typeface="楷体_GB2312" pitchFamily="1" charset="-122"/>
                <a:cs typeface="+mn-cs"/>
              </a:rPr>
              <a:t>相互排斥、相互分离</a:t>
            </a:r>
            <a:r>
              <a:rPr kumimoji="0" lang="zh-CN" altLang="en-US" sz="2400" b="1" i="0" u="none" strike="noStrike" kern="1200" cap="none" spc="0" normalizeH="0" baseline="0" noProof="0" smtClean="0">
                <a:ln>
                  <a:noFill/>
                </a:ln>
                <a:solidFill>
                  <a:srgbClr val="000000"/>
                </a:solidFill>
                <a:effectLst/>
                <a:uLnTx/>
                <a:uFillTx/>
                <a:latin typeface="+mn-lt"/>
                <a:ea typeface="楷体_GB2312" pitchFamily="1" charset="-122"/>
                <a:cs typeface="+mn-cs"/>
              </a:rPr>
              <a:t>的性质和趋势。  </a:t>
            </a:r>
            <a:r>
              <a:rPr kumimoji="0" lang="zh-CN" altLang="en-US" sz="2400" b="1" i="0" u="none" strike="noStrike" kern="1200" cap="none" spc="0" normalizeH="0" baseline="0" noProof="0" smtClean="0">
                <a:ln>
                  <a:noFill/>
                </a:ln>
                <a:solidFill>
                  <a:schemeClr val="tx2"/>
                </a:solidFill>
                <a:effectLst/>
                <a:uLnTx/>
                <a:uFillTx/>
                <a:latin typeface="+mn-lt"/>
                <a:ea typeface="+mn-ea"/>
                <a:cs typeface="+mn-cs"/>
              </a:rPr>
              <a:t>         </a:t>
            </a:r>
            <a:endParaRPr kumimoji="0" lang="zh-CN" altLang="en-US" sz="2400" b="1" i="0" u="none" strike="noStrike" kern="1200" cap="none" spc="0" normalizeH="0" baseline="0" noProof="0" dirty="0" smtClean="0">
              <a:ln>
                <a:noFill/>
              </a:ln>
              <a:solidFill>
                <a:srgbClr val="000000"/>
              </a:solidFill>
              <a:effectLst/>
              <a:uLnTx/>
              <a:uFillTx/>
              <a:latin typeface="+mn-lt"/>
              <a:ea typeface="楷体_GB2312" pitchFamily="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250" advClick="0" advTm="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build="p"/>
      <p:bldP spid="10" grpId="0" autoUpdateAnimBg="0"/>
      <p:bldP spid="1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00034" y="1428736"/>
            <a:ext cx="7072362" cy="985976"/>
          </a:xfrm>
          <a:prstGeom prst="rect">
            <a:avLst/>
          </a:prstGeom>
        </p:spPr>
        <p:txBody>
          <a:bodyPr wrap="square">
            <a:spAutoFit/>
          </a:bodyPr>
          <a:lstStyle/>
          <a:p>
            <a:pPr lvl="1">
              <a:lnSpc>
                <a:spcPct val="125000"/>
              </a:lnSpc>
            </a:pPr>
            <a:r>
              <a:rPr lang="zh-CN" altLang="en-US" sz="2400" b="1" dirty="0">
                <a:latin typeface="楷体" panose="02010609060101010101" pitchFamily="49" charset="-122"/>
                <a:ea typeface="楷体" panose="02010609060101010101" pitchFamily="49" charset="-122"/>
              </a:rPr>
              <a:t>对抗性矛盾：双方</a:t>
            </a:r>
            <a:r>
              <a:rPr lang="zh-CN" altLang="en-US" sz="2400" b="1" dirty="0">
                <a:solidFill>
                  <a:srgbClr val="FF0000"/>
                </a:solidFill>
                <a:latin typeface="楷体" panose="02010609060101010101" pitchFamily="49" charset="-122"/>
                <a:ea typeface="楷体" panose="02010609060101010101" pitchFamily="49" charset="-122"/>
              </a:rPr>
              <a:t>根本利益冲突</a:t>
            </a:r>
            <a:r>
              <a:rPr lang="zh-CN" altLang="en-US" sz="2400" b="1" dirty="0">
                <a:latin typeface="楷体" panose="02010609060101010101" pitchFamily="49" charset="-122"/>
                <a:ea typeface="楷体" panose="02010609060101010101" pitchFamily="49" charset="-122"/>
              </a:rPr>
              <a:t>基础上的矛盾</a:t>
            </a:r>
            <a:endParaRPr lang="zh-CN" altLang="en-US" sz="2400" b="1" dirty="0">
              <a:latin typeface="楷体" panose="02010609060101010101" pitchFamily="49" charset="-122"/>
              <a:ea typeface="楷体" panose="02010609060101010101" pitchFamily="49" charset="-122"/>
            </a:endParaRPr>
          </a:p>
          <a:p>
            <a:pPr lvl="1">
              <a:lnSpc>
                <a:spcPct val="125000"/>
              </a:lnSpc>
            </a:pPr>
            <a:r>
              <a:rPr lang="zh-CN" altLang="en-US" sz="2400" b="1" dirty="0">
                <a:latin typeface="楷体" panose="02010609060101010101" pitchFamily="49" charset="-122"/>
                <a:ea typeface="楷体" panose="02010609060101010101" pitchFamily="49" charset="-122"/>
              </a:rPr>
              <a:t>解决方式：</a:t>
            </a:r>
            <a:r>
              <a:rPr lang="zh-CN" altLang="en-US" sz="2400" b="1" dirty="0">
                <a:solidFill>
                  <a:srgbClr val="FF0000"/>
                </a:solidFill>
                <a:latin typeface="楷体" panose="02010609060101010101" pitchFamily="49" charset="-122"/>
                <a:ea typeface="楷体" panose="02010609060101010101" pitchFamily="49" charset="-122"/>
              </a:rPr>
              <a:t>外部对抗</a:t>
            </a:r>
            <a:endParaRPr lang="zh-CN" altLang="en-US" sz="2400" b="1" dirty="0">
              <a:solidFill>
                <a:srgbClr val="FF0000"/>
              </a:solidFill>
              <a:latin typeface="楷体" panose="02010609060101010101" pitchFamily="49" charset="-122"/>
              <a:ea typeface="楷体" panose="02010609060101010101" pitchFamily="49" charset="-122"/>
            </a:endParaRPr>
          </a:p>
        </p:txBody>
      </p:sp>
      <p:sp>
        <p:nvSpPr>
          <p:cNvPr id="6" name="矩形 5"/>
          <p:cNvSpPr/>
          <p:nvPr/>
        </p:nvSpPr>
        <p:spPr>
          <a:xfrm>
            <a:off x="500034" y="2628258"/>
            <a:ext cx="7358114" cy="1015663"/>
          </a:xfrm>
          <a:prstGeom prst="rect">
            <a:avLst/>
          </a:prstGeom>
        </p:spPr>
        <p:txBody>
          <a:bodyPr wrap="square">
            <a:spAutoFit/>
          </a:bodyPr>
          <a:lstStyle/>
          <a:p>
            <a:pPr lvl="1">
              <a:lnSpc>
                <a:spcPct val="125000"/>
              </a:lnSpc>
            </a:pPr>
            <a:r>
              <a:rPr lang="zh-CN" altLang="en-US" sz="2400" b="1" dirty="0" smtClean="0">
                <a:latin typeface="楷体" panose="02010609060101010101" pitchFamily="49" charset="-122"/>
                <a:ea typeface="楷体" panose="02010609060101010101" pitchFamily="49" charset="-122"/>
              </a:rPr>
              <a:t>非对抗性矛盾：双方</a:t>
            </a:r>
            <a:r>
              <a:rPr lang="zh-CN" altLang="en-US" sz="2400" b="1" dirty="0">
                <a:solidFill>
                  <a:srgbClr val="FF0000"/>
                </a:solidFill>
                <a:latin typeface="楷体" panose="02010609060101010101" pitchFamily="49" charset="-122"/>
                <a:ea typeface="楷体" panose="02010609060101010101" pitchFamily="49" charset="-122"/>
              </a:rPr>
              <a:t>根本利益一致</a:t>
            </a:r>
            <a:r>
              <a:rPr lang="zh-CN" altLang="en-US" sz="2400" b="1" dirty="0">
                <a:latin typeface="楷体" panose="02010609060101010101" pitchFamily="49" charset="-122"/>
                <a:ea typeface="楷体" panose="02010609060101010101" pitchFamily="49" charset="-122"/>
              </a:rPr>
              <a:t>基础上的矛盾</a:t>
            </a:r>
            <a:endParaRPr lang="zh-CN" altLang="en-US" sz="2400" b="1" dirty="0">
              <a:latin typeface="楷体" panose="02010609060101010101" pitchFamily="49" charset="-122"/>
              <a:ea typeface="楷体" panose="02010609060101010101" pitchFamily="49" charset="-122"/>
            </a:endParaRPr>
          </a:p>
          <a:p>
            <a:pPr lvl="1">
              <a:lnSpc>
                <a:spcPct val="125000"/>
              </a:lnSpc>
            </a:pPr>
            <a:r>
              <a:rPr lang="zh-CN" altLang="en-US" sz="2400" b="1" dirty="0">
                <a:latin typeface="楷体" panose="02010609060101010101" pitchFamily="49" charset="-122"/>
                <a:ea typeface="楷体" panose="02010609060101010101" pitchFamily="49" charset="-122"/>
              </a:rPr>
              <a:t>解决方式：</a:t>
            </a:r>
            <a:r>
              <a:rPr lang="zh-CN" altLang="en-US" sz="2400" b="1" dirty="0">
                <a:solidFill>
                  <a:srgbClr val="FF0000"/>
                </a:solidFill>
                <a:latin typeface="楷体" panose="02010609060101010101" pitchFamily="49" charset="-122"/>
                <a:ea typeface="楷体" panose="02010609060101010101" pitchFamily="49" charset="-122"/>
              </a:rPr>
              <a:t>协商讨论、批评和自我批评</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9" name="Rectangle 2"/>
          <p:cNvSpPr txBox="1">
            <a:spLocks noChangeArrowheads="1"/>
          </p:cNvSpPr>
          <p:nvPr/>
        </p:nvSpPr>
        <p:spPr>
          <a:xfrm>
            <a:off x="395895" y="376555"/>
            <a:ext cx="8364936" cy="1052498"/>
          </a:xfrm>
          <a:prstGeom prst="rect">
            <a:avLst/>
          </a:prstGeom>
        </p:spPr>
        <p:txBody>
          <a:bodyPr/>
          <a:lstStyle>
            <a:lvl1pPr marL="162560" indent="-162560" algn="l" defTabSz="650240" rtl="0" eaLnBrk="1" latinLnBrk="0" hangingPunct="1">
              <a:lnSpc>
                <a:spcPct val="90000"/>
              </a:lnSpc>
              <a:spcBef>
                <a:spcPts val="710"/>
              </a:spcBef>
              <a:buFont typeface="Arial" panose="020B0604020202020204" pitchFamily="34" charset="0"/>
              <a:buChar char="•"/>
              <a:defRPr sz="2000" kern="1200">
                <a:solidFill>
                  <a:schemeClr val="tx1"/>
                </a:solidFill>
                <a:latin typeface="+mn-lt"/>
                <a:ea typeface="微软雅黑" panose="020B0503020204020204" charset="-122"/>
                <a:cs typeface="+mn-cs"/>
              </a:defRPr>
            </a:lvl1pPr>
            <a:lvl2pPr marL="487680" indent="-162560" algn="l" defTabSz="650240" rtl="0" eaLnBrk="1" latinLnBrk="0" hangingPunct="1">
              <a:lnSpc>
                <a:spcPct val="90000"/>
              </a:lnSpc>
              <a:spcBef>
                <a:spcPts val="355"/>
              </a:spcBef>
              <a:buFont typeface="Arial" panose="020B0604020202020204" pitchFamily="34" charset="0"/>
              <a:buChar char="•"/>
              <a:defRPr sz="1700" kern="1200">
                <a:solidFill>
                  <a:schemeClr val="tx1"/>
                </a:solidFill>
                <a:latin typeface="+mn-lt"/>
                <a:ea typeface="微软雅黑" panose="020B0503020204020204" charset="-122"/>
                <a:cs typeface="+mn-cs"/>
              </a:defRPr>
            </a:lvl2pPr>
            <a:lvl3pPr marL="812800" indent="-162560" algn="l" defTabSz="650240" rtl="0" eaLnBrk="1" latinLnBrk="0" hangingPunct="1">
              <a:lnSpc>
                <a:spcPct val="90000"/>
              </a:lnSpc>
              <a:spcBef>
                <a:spcPts val="355"/>
              </a:spcBef>
              <a:buFont typeface="Arial" panose="020B0604020202020204" pitchFamily="34" charset="0"/>
              <a:buChar char="•"/>
              <a:defRPr sz="1400" kern="1200">
                <a:solidFill>
                  <a:schemeClr val="tx1"/>
                </a:solidFill>
                <a:latin typeface="+mn-lt"/>
                <a:ea typeface="微软雅黑" panose="020B0503020204020204" charset="-122"/>
                <a:cs typeface="+mn-cs"/>
              </a:defRPr>
            </a:lvl3pPr>
            <a:lvl4pPr marL="113792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微软雅黑" panose="020B0503020204020204" charset="-122"/>
                <a:cs typeface="+mn-cs"/>
              </a:defRPr>
            </a:lvl4pPr>
            <a:lvl5pPr marL="146304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微软雅黑" panose="020B0503020204020204" charset="-122"/>
                <a:cs typeface="+mn-cs"/>
              </a:defRPr>
            </a:lvl5pPr>
            <a:lvl6pPr marL="178816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6pPr>
            <a:lvl7pPr marL="211328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7pPr>
            <a:lvl8pPr marL="243840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8pPr>
            <a:lvl9pPr marL="2764155"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9pPr>
          </a:lstStyle>
          <a:p>
            <a:pPr fontAlgn="auto">
              <a:spcAft>
                <a:spcPts val="0"/>
              </a:spcAft>
              <a:buFontTx/>
              <a:buNone/>
            </a:pPr>
            <a:r>
              <a:rPr lang="zh-CN" altLang="en-US" sz="2800" b="1" dirty="0" smtClean="0">
                <a:latin typeface="楷体" panose="02010609060101010101" pitchFamily="49" charset="-122"/>
                <a:ea typeface="楷体" panose="02010609060101010101" pitchFamily="49" charset="-122"/>
              </a:rPr>
              <a:t>矛盾</a:t>
            </a:r>
            <a:r>
              <a:rPr lang="zh-CN" altLang="en-US" sz="2800" b="1" dirty="0">
                <a:latin typeface="楷体" panose="02010609060101010101" pitchFamily="49" charset="-122"/>
                <a:ea typeface="楷体" panose="02010609060101010101" pitchFamily="49" charset="-122"/>
              </a:rPr>
              <a:t>的性质不同，斗争形式也</a:t>
            </a:r>
            <a:r>
              <a:rPr lang="zh-CN" altLang="en-US" sz="2800" b="1" dirty="0" smtClean="0">
                <a:latin typeface="楷体" panose="02010609060101010101" pitchFamily="49" charset="-122"/>
                <a:ea typeface="楷体" panose="02010609060101010101" pitchFamily="49" charset="-122"/>
              </a:rPr>
              <a:t>不同。</a:t>
            </a:r>
            <a:endParaRPr lang="en-US" altLang="zh-CN" sz="2800" b="1" dirty="0" smtClean="0">
              <a:latin typeface="楷体" panose="02010609060101010101" pitchFamily="49" charset="-122"/>
              <a:ea typeface="楷体" panose="02010609060101010101" pitchFamily="49" charset="-122"/>
            </a:endParaRPr>
          </a:p>
          <a:p>
            <a:pPr fontAlgn="auto">
              <a:spcAft>
                <a:spcPts val="0"/>
              </a:spcAft>
              <a:buFontTx/>
              <a:buNone/>
            </a:pPr>
            <a:r>
              <a:rPr lang="zh-CN" altLang="en-US" sz="2800" b="1" dirty="0" smtClean="0">
                <a:latin typeface="楷体" panose="02010609060101010101" pitchFamily="49" charset="-122"/>
                <a:ea typeface="楷体" panose="02010609060101010101" pitchFamily="49" charset="-122"/>
              </a:rPr>
              <a:t>两种</a:t>
            </a:r>
            <a:r>
              <a:rPr lang="zh-CN" altLang="en-US" sz="2800" b="1" dirty="0">
                <a:latin typeface="楷体" panose="02010609060101010101" pitchFamily="49" charset="-122"/>
                <a:ea typeface="楷体" panose="02010609060101010101" pitchFamily="49" charset="-122"/>
              </a:rPr>
              <a:t>基本形式：对抗性矛盾、</a:t>
            </a:r>
            <a:r>
              <a:rPr lang="zh-CN" altLang="en-US" sz="2800" b="1" dirty="0" smtClean="0">
                <a:latin typeface="楷体" panose="02010609060101010101" pitchFamily="49" charset="-122"/>
                <a:ea typeface="楷体" panose="02010609060101010101" pitchFamily="49" charset="-122"/>
              </a:rPr>
              <a:t>非对抗性矛盾。</a:t>
            </a:r>
            <a:endParaRPr lang="zh-CN" altLang="en-US" sz="2800" b="1" dirty="0">
              <a:ea typeface="楷体_GB2312" pitchFamily="1" charset="-122"/>
            </a:endParaRPr>
          </a:p>
        </p:txBody>
      </p:sp>
      <p:sp>
        <p:nvSpPr>
          <p:cNvPr id="11" name="矩形 10"/>
          <p:cNvSpPr/>
          <p:nvPr/>
        </p:nvSpPr>
        <p:spPr>
          <a:xfrm>
            <a:off x="142844" y="4005264"/>
            <a:ext cx="8715436" cy="1708160"/>
          </a:xfrm>
          <a:prstGeom prst="rect">
            <a:avLst/>
          </a:prstGeom>
        </p:spPr>
        <p:txBody>
          <a:bodyPr wrap="square">
            <a:spAutoFit/>
          </a:bodyPr>
          <a:lstStyle/>
          <a:p>
            <a:pPr lvl="1">
              <a:lnSpc>
                <a:spcPct val="125000"/>
              </a:lnSpc>
            </a:pPr>
            <a:r>
              <a:rPr lang="zh-CN" altLang="en-US" sz="2800" b="1" dirty="0" smtClean="0">
                <a:solidFill>
                  <a:srgbClr val="FF0000"/>
                </a:solidFill>
                <a:latin typeface="楷体" panose="02010609060101010101" pitchFamily="49" charset="-122"/>
                <a:ea typeface="楷体" panose="02010609060101010101" pitchFamily="49" charset="-122"/>
              </a:rPr>
              <a:t>注意：</a:t>
            </a:r>
            <a:r>
              <a:rPr lang="zh-CN" altLang="en-US" sz="2800" b="1" dirty="0" smtClean="0">
                <a:latin typeface="楷体" panose="02010609060101010101" pitchFamily="49" charset="-122"/>
                <a:ea typeface="楷体" panose="02010609060101010101" pitchFamily="49" charset="-122"/>
              </a:rPr>
              <a:t>非对抗矛盾也是矛盾斗争性的表现，不能因其表现不明显就否认矛盾斗争性的存在，否定矛盾的斗争性等于否定矛盾本身。</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50" advClick="0" advTm="0">
        <p14:switch dir="r"/>
      </p:transition>
    </mc:Choice>
    <mc:Fallback>
      <p:transition spd="slow" advClick="0" advTm="0">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285720" y="428604"/>
            <a:ext cx="5729288" cy="566737"/>
          </a:xfrm>
        </p:spPr>
        <p:txBody>
          <a:bodyPr>
            <a:normAutofit/>
          </a:bodyPr>
          <a:lstStyle/>
          <a:p>
            <a:pPr algn="l" eaLnBrk="1" hangingPunct="1"/>
            <a:r>
              <a:rPr lang="en-US" altLang="zh-CN" sz="2800" b="1" cap="none" dirty="0" smtClean="0">
                <a:solidFill>
                  <a:srgbClr val="6600FF"/>
                </a:solidFill>
                <a:effectLst/>
                <a:latin typeface="楷体_GB2312" pitchFamily="1" charset="-122"/>
                <a:ea typeface="楷体_GB2312" pitchFamily="1" charset="-122"/>
                <a:cs typeface="+mn-cs"/>
              </a:rPr>
              <a:t>3.</a:t>
            </a:r>
            <a:r>
              <a:rPr lang="zh-CN" altLang="en-US" sz="2800" b="1" cap="none" dirty="0" smtClean="0">
                <a:solidFill>
                  <a:srgbClr val="6600FF"/>
                </a:solidFill>
                <a:effectLst/>
                <a:latin typeface="楷体_GB2312" pitchFamily="1" charset="-122"/>
                <a:ea typeface="楷体_GB2312" pitchFamily="1" charset="-122"/>
                <a:cs typeface="+mn-cs"/>
              </a:rPr>
              <a:t>矛盾同一性和斗争性的辩证关系</a:t>
            </a:r>
            <a:endParaRPr lang="zh-CN" altLang="en-US" sz="2800" b="1" cap="none" dirty="0" smtClean="0">
              <a:solidFill>
                <a:srgbClr val="6600FF"/>
              </a:solidFill>
              <a:effectLst/>
              <a:latin typeface="楷体_GB2312" pitchFamily="1" charset="-122"/>
              <a:ea typeface="楷体_GB2312" pitchFamily="1" charset="-122"/>
              <a:cs typeface="+mn-cs"/>
            </a:endParaRPr>
          </a:p>
        </p:txBody>
      </p:sp>
      <p:sp>
        <p:nvSpPr>
          <p:cNvPr id="16387" name="Rectangle 3"/>
          <p:cNvSpPr>
            <a:spLocks noGrp="1" noChangeArrowheads="1"/>
          </p:cNvSpPr>
          <p:nvPr>
            <p:ph type="body" idx="4294967295"/>
          </p:nvPr>
        </p:nvSpPr>
        <p:spPr>
          <a:xfrm>
            <a:off x="285720" y="1214438"/>
            <a:ext cx="7486680" cy="1295400"/>
          </a:xfrm>
        </p:spPr>
        <p:txBody>
          <a:bodyPr>
            <a:noAutofit/>
          </a:bodyPr>
          <a:lstStyle/>
          <a:p>
            <a:pPr eaLnBrk="1" hangingPunct="1">
              <a:buFontTx/>
              <a:buNone/>
            </a:pPr>
            <a:r>
              <a:rPr lang="zh-CN" altLang="en-US" sz="2400" b="1" dirty="0" smtClean="0">
                <a:solidFill>
                  <a:srgbClr val="D60093"/>
                </a:solidFill>
                <a:latin typeface="楷体_GB2312" pitchFamily="1" charset="-122"/>
                <a:ea typeface="楷体_GB2312" pitchFamily="1" charset="-122"/>
              </a:rPr>
              <a:t>（</a:t>
            </a:r>
            <a:r>
              <a:rPr lang="en-US" altLang="zh-CN" sz="2400" b="1" dirty="0" smtClean="0">
                <a:solidFill>
                  <a:srgbClr val="D60093"/>
                </a:solidFill>
                <a:latin typeface="楷体_GB2312" pitchFamily="1" charset="-122"/>
                <a:ea typeface="楷体_GB2312" pitchFamily="1" charset="-122"/>
              </a:rPr>
              <a:t>1</a:t>
            </a:r>
            <a:r>
              <a:rPr lang="zh-CN" altLang="en-US" sz="2400" b="1" dirty="0" smtClean="0">
                <a:solidFill>
                  <a:srgbClr val="D60093"/>
                </a:solidFill>
                <a:latin typeface="楷体_GB2312" pitchFamily="1" charset="-122"/>
                <a:ea typeface="楷体_GB2312" pitchFamily="1" charset="-122"/>
              </a:rPr>
              <a:t>）联系</a:t>
            </a:r>
            <a:endParaRPr lang="zh-CN" altLang="en-US" sz="2400" b="1" dirty="0" smtClean="0">
              <a:solidFill>
                <a:srgbClr val="D60093"/>
              </a:solidFill>
              <a:latin typeface="楷体_GB2312" pitchFamily="1" charset="-122"/>
              <a:ea typeface="楷体_GB2312" pitchFamily="1" charset="-122"/>
            </a:endParaRPr>
          </a:p>
          <a:p>
            <a:pPr eaLnBrk="1" hangingPunct="1">
              <a:buFontTx/>
              <a:buNone/>
            </a:pPr>
            <a:r>
              <a:rPr lang="zh-CN" altLang="en-US" sz="2400" b="1" dirty="0" smtClean="0">
                <a:solidFill>
                  <a:srgbClr val="000000"/>
                </a:solidFill>
                <a:latin typeface="楷体_GB2312" pitchFamily="1" charset="-122"/>
                <a:ea typeface="楷体_GB2312" pitchFamily="1" charset="-122"/>
              </a:rPr>
              <a:t> 同一性离不开斗争性，同一性中包含着斗争性。</a:t>
            </a:r>
            <a:endParaRPr lang="zh-CN" altLang="en-US" sz="2400" b="1" dirty="0" smtClean="0">
              <a:solidFill>
                <a:srgbClr val="000000"/>
              </a:solidFill>
              <a:latin typeface="楷体_GB2312" pitchFamily="1" charset="-122"/>
              <a:ea typeface="楷体_GB2312" pitchFamily="1" charset="-122"/>
            </a:endParaRPr>
          </a:p>
          <a:p>
            <a:pPr eaLnBrk="1" hangingPunct="1">
              <a:buFontTx/>
              <a:buNone/>
            </a:pPr>
            <a:r>
              <a:rPr lang="zh-CN" altLang="en-US" sz="2400" b="1" dirty="0" smtClean="0">
                <a:solidFill>
                  <a:srgbClr val="000000"/>
                </a:solidFill>
                <a:latin typeface="楷体_GB2312" pitchFamily="1" charset="-122"/>
                <a:ea typeface="楷体_GB2312" pitchFamily="1" charset="-122"/>
              </a:rPr>
              <a:t> 斗争性也离不开同一性，斗争性寓于同一性之中。</a:t>
            </a:r>
            <a:endParaRPr lang="zh-CN" altLang="en-US" sz="2400" b="1" dirty="0" smtClean="0">
              <a:solidFill>
                <a:srgbClr val="D60093"/>
              </a:solidFill>
              <a:latin typeface="楷体_GB2312" pitchFamily="1" charset="-122"/>
              <a:ea typeface="楷体_GB2312" pitchFamily="1" charset="-122"/>
            </a:endParaRPr>
          </a:p>
        </p:txBody>
      </p:sp>
      <p:sp>
        <p:nvSpPr>
          <p:cNvPr id="16388" name="Rectangle 6"/>
          <p:cNvSpPr>
            <a:spLocks noChangeArrowheads="1"/>
          </p:cNvSpPr>
          <p:nvPr/>
        </p:nvSpPr>
        <p:spPr bwMode="auto">
          <a:xfrm>
            <a:off x="285115" y="2571750"/>
            <a:ext cx="8144510" cy="1198880"/>
          </a:xfrm>
          <a:prstGeom prst="rect">
            <a:avLst/>
          </a:prstGeom>
          <a:noFill/>
          <a:ln w="9525">
            <a:noFill/>
            <a:miter lim="800000"/>
          </a:ln>
        </p:spPr>
        <p:txBody>
          <a:bodyPr wrap="square">
            <a:spAutoFit/>
          </a:bodyPr>
          <a:lstStyle/>
          <a:p>
            <a:pPr eaLnBrk="1" hangingPunct="1"/>
            <a:r>
              <a:rPr lang="zh-CN" altLang="en-US" sz="2400" b="1" dirty="0">
                <a:solidFill>
                  <a:srgbClr val="D60093"/>
                </a:solidFill>
                <a:latin typeface="楷体_GB2312" pitchFamily="1" charset="-122"/>
                <a:ea typeface="楷体_GB2312" pitchFamily="1" charset="-122"/>
              </a:rPr>
              <a:t>（</a:t>
            </a:r>
            <a:r>
              <a:rPr lang="en-US" altLang="zh-CN" sz="2400" b="1" dirty="0">
                <a:solidFill>
                  <a:srgbClr val="D60093"/>
                </a:solidFill>
                <a:latin typeface="楷体_GB2312" pitchFamily="1" charset="-122"/>
                <a:ea typeface="楷体_GB2312" pitchFamily="1" charset="-122"/>
              </a:rPr>
              <a:t>2</a:t>
            </a:r>
            <a:r>
              <a:rPr lang="zh-CN" altLang="en-US" sz="2400" b="1" dirty="0">
                <a:solidFill>
                  <a:srgbClr val="D60093"/>
                </a:solidFill>
                <a:latin typeface="楷体_GB2312" pitchFamily="1" charset="-122"/>
                <a:ea typeface="楷体_GB2312" pitchFamily="1" charset="-122"/>
              </a:rPr>
              <a:t>）区别</a:t>
            </a:r>
            <a:endParaRPr lang="zh-CN" altLang="en-US" sz="2400" b="1" dirty="0">
              <a:solidFill>
                <a:srgbClr val="D60093"/>
              </a:solidFill>
              <a:latin typeface="楷体_GB2312" pitchFamily="1" charset="-122"/>
              <a:ea typeface="楷体_GB2312" pitchFamily="1" charset="-122"/>
            </a:endParaRPr>
          </a:p>
          <a:p>
            <a:pPr eaLnBrk="1" hangingPunct="1"/>
            <a:r>
              <a:rPr lang="zh-CN" altLang="en-US" sz="2400" b="1" dirty="0" smtClean="0">
                <a:solidFill>
                  <a:srgbClr val="000000"/>
                </a:solidFill>
                <a:latin typeface="楷体_GB2312" pitchFamily="1" charset="-122"/>
                <a:ea typeface="楷体_GB2312" pitchFamily="1" charset="-122"/>
              </a:rPr>
              <a:t> 同一性：相对、有条件，体现物质静止的相对性</a:t>
            </a:r>
            <a:endParaRPr lang="en-US" altLang="zh-CN" sz="2400" b="1" dirty="0" smtClean="0">
              <a:solidFill>
                <a:srgbClr val="000000"/>
              </a:solidFill>
              <a:latin typeface="楷体_GB2312" pitchFamily="1" charset="-122"/>
              <a:ea typeface="楷体_GB2312" pitchFamily="1" charset="-122"/>
            </a:endParaRPr>
          </a:p>
          <a:p>
            <a:pPr eaLnBrk="1" hangingPunct="1"/>
            <a:r>
              <a:rPr lang="zh-CN" altLang="en-US" sz="2400" b="1" dirty="0" smtClean="0">
                <a:solidFill>
                  <a:srgbClr val="000000"/>
                </a:solidFill>
                <a:latin typeface="楷体_GB2312" pitchFamily="1" charset="-122"/>
                <a:ea typeface="楷体_GB2312" pitchFamily="1" charset="-122"/>
              </a:rPr>
              <a:t> 斗争性：绝对、无条件，体现物质运动的绝对性</a:t>
            </a:r>
            <a:endParaRPr lang="zh-CN" altLang="en-US" sz="2400" b="1" dirty="0">
              <a:solidFill>
                <a:srgbClr val="000000"/>
              </a:solidFill>
              <a:latin typeface="楷体_GB2312" pitchFamily="1" charset="-122"/>
              <a:ea typeface="楷体_GB2312" pitchFamily="1" charset="-122"/>
            </a:endParaRPr>
          </a:p>
        </p:txBody>
      </p:sp>
      <p:sp>
        <p:nvSpPr>
          <p:cNvPr id="7" name="Rectangle 12"/>
          <p:cNvSpPr>
            <a:spLocks noChangeArrowheads="1"/>
          </p:cNvSpPr>
          <p:nvPr/>
        </p:nvSpPr>
        <p:spPr bwMode="auto">
          <a:xfrm>
            <a:off x="428596" y="4500570"/>
            <a:ext cx="8162924" cy="887607"/>
          </a:xfrm>
          <a:prstGeom prst="rect">
            <a:avLst/>
          </a:prstGeom>
          <a:solidFill>
            <a:schemeClr val="bg2"/>
          </a:solidFill>
        </p:spPr>
        <p:style>
          <a:lnRef idx="1">
            <a:schemeClr val="accent6"/>
          </a:lnRef>
          <a:fillRef idx="2">
            <a:schemeClr val="accent6"/>
          </a:fillRef>
          <a:effectRef idx="1">
            <a:schemeClr val="accent6"/>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5000"/>
              </a:lnSpc>
              <a:spcBef>
                <a:spcPct val="20000"/>
              </a:spcBef>
            </a:pPr>
            <a:r>
              <a:rPr lang="zh-CN" altLang="en-US" sz="2000" b="1" dirty="0">
                <a:ea typeface="黑体" panose="02010609060101010101" pitchFamily="49" charset="-122"/>
              </a:rPr>
              <a:t>无条件的绝对的斗争性与有条件的相对的同一性相结合，</a:t>
            </a:r>
            <a:r>
              <a:rPr lang="zh-CN" altLang="en-US" sz="2000" b="1" dirty="0" smtClean="0">
                <a:ea typeface="黑体" panose="02010609060101010101" pitchFamily="49" charset="-122"/>
              </a:rPr>
              <a:t>构成了事</a:t>
            </a:r>
            <a:r>
              <a:rPr lang="zh-CN" altLang="en-US" sz="2000" b="1" dirty="0">
                <a:ea typeface="黑体" panose="02010609060101010101" pitchFamily="49" charset="-122"/>
              </a:rPr>
              <a:t>物的矛盾运动，</a:t>
            </a:r>
            <a:r>
              <a:rPr lang="zh-CN" altLang="en-US" sz="2000" b="1" dirty="0" smtClean="0">
                <a:ea typeface="黑体" panose="02010609060101010101" pitchFamily="49" charset="-122"/>
              </a:rPr>
              <a:t>推动着事物的变化发展</a:t>
            </a:r>
            <a:r>
              <a:rPr lang="zh-CN" altLang="en-US" sz="2000" b="1" dirty="0">
                <a:ea typeface="黑体" panose="02010609060101010101" pitchFamily="49" charset="-122"/>
              </a:rPr>
              <a:t>。</a:t>
            </a:r>
            <a:endParaRPr lang="zh-CN" altLang="en-US" sz="2000" b="1" dirty="0">
              <a:ea typeface="黑体" panose="02010609060101010101"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ox(in)">
                                      <p:cBhvr>
                                        <p:cTn id="7" dur="500"/>
                                        <p:tgtEl>
                                          <p:spTgt spid="16387">
                                            <p:txEl>
                                              <p:pRg st="0" end="0"/>
                                            </p:txEl>
                                          </p:spTgt>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animEffect transition="in" filter="box(in)">
                                      <p:cBhvr>
                                        <p:cTn id="11" dur="500"/>
                                        <p:tgtEl>
                                          <p:spTgt spid="16387">
                                            <p:txEl>
                                              <p:pRg st="1" end="1"/>
                                            </p:txEl>
                                          </p:spTgt>
                                        </p:tgtEl>
                                      </p:cBhvr>
                                    </p:animEffect>
                                  </p:childTnLst>
                                </p:cTn>
                              </p:par>
                            </p:childTnLst>
                          </p:cTn>
                        </p:par>
                        <p:par>
                          <p:cTn id="12" fill="hold">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animEffect transition="in" filter="box(in)">
                                      <p:cBhvr>
                                        <p:cTn id="15" dur="500"/>
                                        <p:tgtEl>
                                          <p:spTgt spid="1638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6388"/>
                                        </p:tgtEl>
                                        <p:attrNameLst>
                                          <p:attrName>style.visibility</p:attrName>
                                        </p:attrNameLst>
                                      </p:cBhvr>
                                      <p:to>
                                        <p:strVal val="visible"/>
                                      </p:to>
                                    </p:set>
                                    <p:anim calcmode="lin" valueType="num">
                                      <p:cBhvr additive="base">
                                        <p:cTn id="20" dur="500" fill="hold"/>
                                        <p:tgtEl>
                                          <p:spTgt spid="16388"/>
                                        </p:tgtEl>
                                        <p:attrNameLst>
                                          <p:attrName>ppt_x</p:attrName>
                                        </p:attrNameLst>
                                      </p:cBhvr>
                                      <p:tavLst>
                                        <p:tav tm="0">
                                          <p:val>
                                            <p:strVal val="#ppt_x"/>
                                          </p:val>
                                        </p:tav>
                                        <p:tav tm="100000">
                                          <p:val>
                                            <p:strVal val="#ppt_x"/>
                                          </p:val>
                                        </p:tav>
                                      </p:tavLst>
                                    </p:anim>
                                    <p:anim calcmode="lin" valueType="num">
                                      <p:cBhvr additive="base">
                                        <p:cTn id="21"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build="p"/>
      <p:bldP spid="1638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2"/>
          <p:cNvGrpSpPr/>
          <p:nvPr/>
        </p:nvGrpSpPr>
        <p:grpSpPr bwMode="auto">
          <a:xfrm>
            <a:off x="2988100" y="1125456"/>
            <a:ext cx="5255300" cy="4703898"/>
            <a:chOff x="2064" y="1298"/>
            <a:chExt cx="3311" cy="2223"/>
          </a:xfrm>
        </p:grpSpPr>
        <p:sp>
          <p:nvSpPr>
            <p:cNvPr id="5" name="Rectangle 2"/>
            <p:cNvSpPr>
              <a:spLocks noChangeArrowheads="1"/>
            </p:cNvSpPr>
            <p:nvPr/>
          </p:nvSpPr>
          <p:spPr bwMode="auto">
            <a:xfrm>
              <a:off x="3742" y="1298"/>
              <a:ext cx="1633" cy="408"/>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a:ea typeface="幼圆" pitchFamily="49" charset="-122"/>
                </a:rPr>
                <a:t>事物存在和发展前提；一方</a:t>
              </a:r>
              <a:endParaRPr lang="zh-CN" altLang="en-US" sz="1600" b="1">
                <a:ea typeface="幼圆" pitchFamily="49" charset="-122"/>
              </a:endParaRPr>
            </a:p>
            <a:p>
              <a:pPr algn="ctr"/>
              <a:r>
                <a:rPr lang="zh-CN" altLang="en-US" sz="1600" b="1">
                  <a:ea typeface="幼圆" pitchFamily="49" charset="-122"/>
                </a:rPr>
                <a:t>发展以另一方发展为条件</a:t>
              </a:r>
              <a:endParaRPr lang="zh-CN" altLang="en-US" sz="1600" b="1">
                <a:ea typeface="幼圆" pitchFamily="49" charset="-122"/>
              </a:endParaRPr>
            </a:p>
          </p:txBody>
        </p:sp>
        <p:sp>
          <p:nvSpPr>
            <p:cNvPr id="6" name="AutoShape 5"/>
            <p:cNvSpPr>
              <a:spLocks noChangeArrowheads="1"/>
            </p:cNvSpPr>
            <p:nvPr/>
          </p:nvSpPr>
          <p:spPr bwMode="auto">
            <a:xfrm rot="-1224593">
              <a:off x="2744" y="2160"/>
              <a:ext cx="318" cy="90"/>
            </a:xfrm>
            <a:prstGeom prst="rightArrow">
              <a:avLst>
                <a:gd name="adj1" fmla="val 50000"/>
                <a:gd name="adj2" fmla="val 88219"/>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7" name="AutoShape 6"/>
            <p:cNvSpPr>
              <a:spLocks noChangeArrowheads="1"/>
            </p:cNvSpPr>
            <p:nvPr/>
          </p:nvSpPr>
          <p:spPr bwMode="auto">
            <a:xfrm rot="1935084">
              <a:off x="2744" y="2477"/>
              <a:ext cx="318" cy="90"/>
            </a:xfrm>
            <a:prstGeom prst="rightArrow">
              <a:avLst>
                <a:gd name="adj1" fmla="val 50000"/>
                <a:gd name="adj2" fmla="val 88219"/>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 name="AutoShape 7"/>
            <p:cNvSpPr>
              <a:spLocks noChangeArrowheads="1"/>
            </p:cNvSpPr>
            <p:nvPr/>
          </p:nvSpPr>
          <p:spPr bwMode="auto">
            <a:xfrm>
              <a:off x="3379" y="1616"/>
              <a:ext cx="363" cy="91"/>
            </a:xfrm>
            <a:prstGeom prst="rightArrow">
              <a:avLst>
                <a:gd name="adj1" fmla="val 50000"/>
                <a:gd name="adj2" fmla="val 99596"/>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 name="AutoShape 8"/>
            <p:cNvSpPr>
              <a:spLocks noChangeArrowheads="1"/>
            </p:cNvSpPr>
            <p:nvPr/>
          </p:nvSpPr>
          <p:spPr bwMode="auto">
            <a:xfrm>
              <a:off x="3379" y="1933"/>
              <a:ext cx="408" cy="91"/>
            </a:xfrm>
            <a:prstGeom prst="rightArrow">
              <a:avLst>
                <a:gd name="adj1" fmla="val 50000"/>
                <a:gd name="adj2" fmla="val 111943"/>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 name="AutoShape 9"/>
            <p:cNvSpPr>
              <a:spLocks noChangeArrowheads="1"/>
            </p:cNvSpPr>
            <p:nvPr/>
          </p:nvSpPr>
          <p:spPr bwMode="auto">
            <a:xfrm>
              <a:off x="3379" y="2886"/>
              <a:ext cx="362" cy="91"/>
            </a:xfrm>
            <a:prstGeom prst="rightArrow">
              <a:avLst>
                <a:gd name="adj1" fmla="val 50000"/>
                <a:gd name="adj2" fmla="val 99322"/>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1" name="Rectangle 14"/>
            <p:cNvSpPr>
              <a:spLocks noChangeArrowheads="1"/>
            </p:cNvSpPr>
            <p:nvPr/>
          </p:nvSpPr>
          <p:spPr bwMode="auto">
            <a:xfrm>
              <a:off x="3061" y="1570"/>
              <a:ext cx="318" cy="770"/>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ea typeface="幼圆" pitchFamily="49" charset="-122"/>
                </a:rPr>
                <a:t>同</a:t>
              </a:r>
              <a:endParaRPr lang="zh-CN" altLang="en-US" sz="2000" b="1" dirty="0">
                <a:ea typeface="幼圆" pitchFamily="49" charset="-122"/>
              </a:endParaRPr>
            </a:p>
            <a:p>
              <a:pPr algn="ctr"/>
              <a:r>
                <a:rPr lang="zh-CN" altLang="en-US" sz="2000" b="1" dirty="0">
                  <a:ea typeface="幼圆" pitchFamily="49" charset="-122"/>
                </a:rPr>
                <a:t>一</a:t>
              </a:r>
              <a:endParaRPr lang="zh-CN" altLang="en-US" sz="2000" b="1" dirty="0">
                <a:ea typeface="幼圆" pitchFamily="49" charset="-122"/>
              </a:endParaRPr>
            </a:p>
            <a:p>
              <a:pPr algn="ctr"/>
              <a:r>
                <a:rPr lang="zh-CN" altLang="en-US" sz="2000" b="1" dirty="0">
                  <a:ea typeface="幼圆" pitchFamily="49" charset="-122"/>
                </a:rPr>
                <a:t>性</a:t>
              </a:r>
              <a:endParaRPr lang="zh-CN" altLang="en-US" sz="2000" b="1" dirty="0">
                <a:ea typeface="幼圆" pitchFamily="49" charset="-122"/>
              </a:endParaRPr>
            </a:p>
          </p:txBody>
        </p:sp>
        <p:sp>
          <p:nvSpPr>
            <p:cNvPr id="12" name="Rectangle 15"/>
            <p:cNvSpPr>
              <a:spLocks noChangeArrowheads="1"/>
            </p:cNvSpPr>
            <p:nvPr/>
          </p:nvSpPr>
          <p:spPr bwMode="auto">
            <a:xfrm>
              <a:off x="3061" y="2523"/>
              <a:ext cx="317" cy="771"/>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ea typeface="幼圆" pitchFamily="49" charset="-122"/>
                </a:rPr>
                <a:t>斗</a:t>
              </a:r>
              <a:endParaRPr lang="zh-CN" altLang="en-US" sz="2000" b="1" dirty="0">
                <a:ea typeface="幼圆" pitchFamily="49" charset="-122"/>
              </a:endParaRPr>
            </a:p>
            <a:p>
              <a:pPr algn="ctr"/>
              <a:r>
                <a:rPr lang="zh-CN" altLang="en-US" sz="2000" b="1" dirty="0">
                  <a:ea typeface="幼圆" pitchFamily="49" charset="-122"/>
                </a:rPr>
                <a:t>争</a:t>
              </a:r>
              <a:endParaRPr lang="zh-CN" altLang="en-US" sz="2000" b="1" dirty="0">
                <a:ea typeface="幼圆" pitchFamily="49" charset="-122"/>
              </a:endParaRPr>
            </a:p>
            <a:p>
              <a:pPr algn="ctr"/>
              <a:r>
                <a:rPr lang="zh-CN" altLang="en-US" sz="2000" b="1" dirty="0">
                  <a:ea typeface="幼圆" pitchFamily="49" charset="-122"/>
                </a:rPr>
                <a:t>性</a:t>
              </a:r>
              <a:endParaRPr lang="zh-CN" altLang="en-US" sz="2000" b="1" dirty="0">
                <a:ea typeface="幼圆" pitchFamily="49" charset="-122"/>
              </a:endParaRPr>
            </a:p>
          </p:txBody>
        </p:sp>
        <p:sp>
          <p:nvSpPr>
            <p:cNvPr id="14" name="AutoShape 24"/>
            <p:cNvSpPr>
              <a:spLocks noChangeArrowheads="1"/>
            </p:cNvSpPr>
            <p:nvPr/>
          </p:nvSpPr>
          <p:spPr bwMode="auto">
            <a:xfrm>
              <a:off x="2064" y="2659"/>
              <a:ext cx="227" cy="635"/>
            </a:xfrm>
            <a:prstGeom prst="downArrow">
              <a:avLst>
                <a:gd name="adj1" fmla="val 50000"/>
                <a:gd name="adj2" fmla="val 109769"/>
              </a:avLst>
            </a:prstGeom>
          </p:spPr>
          <p:style>
            <a:lnRef idx="1">
              <a:schemeClr val="accent4"/>
            </a:lnRef>
            <a:fillRef idx="2">
              <a:schemeClr val="accent4"/>
            </a:fillRef>
            <a:effectRef idx="1">
              <a:schemeClr val="accent4"/>
            </a:effectRef>
            <a:fontRef idx="minor">
              <a:schemeClr val="dk1"/>
            </a:fontRef>
          </p:style>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 name="Rectangle 36"/>
            <p:cNvSpPr>
              <a:spLocks noChangeArrowheads="1"/>
            </p:cNvSpPr>
            <p:nvPr/>
          </p:nvSpPr>
          <p:spPr bwMode="auto">
            <a:xfrm>
              <a:off x="3742" y="1752"/>
              <a:ext cx="1633" cy="408"/>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a:ea typeface="幼圆" pitchFamily="49" charset="-122"/>
                </a:rPr>
                <a:t>相互吸引有利于自身</a:t>
              </a:r>
              <a:endParaRPr lang="zh-CN" altLang="en-US" sz="1600" b="1">
                <a:ea typeface="幼圆" pitchFamily="49" charset="-122"/>
              </a:endParaRPr>
            </a:p>
            <a:p>
              <a:pPr algn="ctr"/>
              <a:r>
                <a:rPr lang="zh-CN" altLang="en-US" sz="1600" b="1">
                  <a:ea typeface="幼圆" pitchFamily="49" charset="-122"/>
                </a:rPr>
                <a:t>因素，作用中各自发展</a:t>
              </a:r>
              <a:endParaRPr lang="zh-CN" altLang="en-US" sz="1600" b="1">
                <a:ea typeface="幼圆" pitchFamily="49" charset="-122"/>
              </a:endParaRPr>
            </a:p>
          </p:txBody>
        </p:sp>
        <p:sp>
          <p:nvSpPr>
            <p:cNvPr id="16" name="AutoShape 37"/>
            <p:cNvSpPr>
              <a:spLocks noChangeArrowheads="1"/>
            </p:cNvSpPr>
            <p:nvPr/>
          </p:nvSpPr>
          <p:spPr bwMode="auto">
            <a:xfrm>
              <a:off x="3379" y="2205"/>
              <a:ext cx="363" cy="91"/>
            </a:xfrm>
            <a:prstGeom prst="rightArrow">
              <a:avLst>
                <a:gd name="adj1" fmla="val 50000"/>
                <a:gd name="adj2" fmla="val 99596"/>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7" name="Rectangle 38"/>
            <p:cNvSpPr>
              <a:spLocks noChangeArrowheads="1"/>
            </p:cNvSpPr>
            <p:nvPr/>
          </p:nvSpPr>
          <p:spPr bwMode="auto">
            <a:xfrm>
              <a:off x="3742" y="2205"/>
              <a:ext cx="1633" cy="408"/>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ea typeface="幼圆" pitchFamily="49" charset="-122"/>
                </a:rPr>
                <a:t>规定着事物发展的</a:t>
              </a:r>
              <a:endParaRPr lang="zh-CN" altLang="en-US" sz="1600" b="1" dirty="0">
                <a:ea typeface="幼圆" pitchFamily="49" charset="-122"/>
              </a:endParaRPr>
            </a:p>
            <a:p>
              <a:pPr algn="ctr"/>
              <a:r>
                <a:rPr lang="zh-CN" altLang="en-US" sz="1600" b="1" dirty="0">
                  <a:ea typeface="幼圆" pitchFamily="49" charset="-122"/>
                </a:rPr>
                <a:t>可能和发展趋势</a:t>
              </a:r>
              <a:endParaRPr lang="zh-CN" altLang="en-US" sz="1600" b="1" dirty="0">
                <a:ea typeface="幼圆" pitchFamily="49" charset="-122"/>
              </a:endParaRPr>
            </a:p>
          </p:txBody>
        </p:sp>
        <p:sp>
          <p:nvSpPr>
            <p:cNvPr id="18" name="Rectangle 39"/>
            <p:cNvSpPr>
              <a:spLocks noChangeArrowheads="1"/>
            </p:cNvSpPr>
            <p:nvPr/>
          </p:nvSpPr>
          <p:spPr bwMode="auto">
            <a:xfrm>
              <a:off x="3742" y="2659"/>
              <a:ext cx="1633" cy="408"/>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ea typeface="幼圆" pitchFamily="49" charset="-122"/>
                </a:rPr>
                <a:t>为对立面的转化、</a:t>
              </a:r>
              <a:endParaRPr lang="zh-CN" altLang="en-US" sz="1600" b="1" dirty="0">
                <a:ea typeface="幼圆" pitchFamily="49" charset="-122"/>
              </a:endParaRPr>
            </a:p>
            <a:p>
              <a:pPr algn="ctr"/>
              <a:r>
                <a:rPr lang="zh-CN" altLang="en-US" sz="1600" b="1" dirty="0">
                  <a:ea typeface="幼圆" pitchFamily="49" charset="-122"/>
                </a:rPr>
                <a:t>事物质变创造条件</a:t>
              </a:r>
              <a:endParaRPr lang="zh-CN" altLang="en-US" sz="1600" b="1" dirty="0">
                <a:ea typeface="幼圆" pitchFamily="49" charset="-122"/>
              </a:endParaRPr>
            </a:p>
          </p:txBody>
        </p:sp>
        <p:sp>
          <p:nvSpPr>
            <p:cNvPr id="19" name="Rectangle 40"/>
            <p:cNvSpPr>
              <a:spLocks noChangeArrowheads="1"/>
            </p:cNvSpPr>
            <p:nvPr/>
          </p:nvSpPr>
          <p:spPr bwMode="auto">
            <a:xfrm>
              <a:off x="3742" y="3113"/>
              <a:ext cx="1633" cy="408"/>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a:ea typeface="幼圆" pitchFamily="49" charset="-122"/>
                </a:rPr>
                <a:t>一种矛盾统一体向另</a:t>
              </a:r>
              <a:endParaRPr lang="zh-CN" altLang="en-US" sz="1600" b="1">
                <a:ea typeface="幼圆" pitchFamily="49" charset="-122"/>
              </a:endParaRPr>
            </a:p>
            <a:p>
              <a:pPr algn="ctr"/>
              <a:r>
                <a:rPr lang="zh-CN" altLang="en-US" sz="1600" b="1">
                  <a:ea typeface="幼圆" pitchFamily="49" charset="-122"/>
                </a:rPr>
                <a:t>一种矛盾统一体过渡</a:t>
              </a:r>
              <a:endParaRPr lang="zh-CN" altLang="en-US" sz="1600" b="1">
                <a:ea typeface="幼圆" pitchFamily="49" charset="-122"/>
              </a:endParaRPr>
            </a:p>
          </p:txBody>
        </p:sp>
        <p:sp>
          <p:nvSpPr>
            <p:cNvPr id="20" name="AutoShape 41"/>
            <p:cNvSpPr>
              <a:spLocks noChangeArrowheads="1"/>
            </p:cNvSpPr>
            <p:nvPr/>
          </p:nvSpPr>
          <p:spPr bwMode="auto">
            <a:xfrm>
              <a:off x="3379" y="3158"/>
              <a:ext cx="362" cy="91"/>
            </a:xfrm>
            <a:prstGeom prst="rightArrow">
              <a:avLst>
                <a:gd name="adj1" fmla="val 50000"/>
                <a:gd name="adj2" fmla="val 99322"/>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sp>
        <p:nvSpPr>
          <p:cNvPr id="21" name="矩形: 圆角 20"/>
          <p:cNvSpPr/>
          <p:nvPr/>
        </p:nvSpPr>
        <p:spPr>
          <a:xfrm>
            <a:off x="2395888" y="2997334"/>
            <a:ext cx="1606209" cy="86333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b="1" dirty="0">
                <a:solidFill>
                  <a:srgbClr val="C00000"/>
                </a:solidFill>
                <a:latin typeface="华文琥珀" panose="02010800040101010101" pitchFamily="2" charset="-122"/>
                <a:ea typeface="幼圆" panose="02010509060101010101"/>
              </a:rPr>
              <a:t>矛盾的两个基本属性</a:t>
            </a:r>
            <a:endParaRPr lang="zh-CN" altLang="en-US" sz="2000" b="1" dirty="0">
              <a:solidFill>
                <a:srgbClr val="C00000"/>
              </a:solidFill>
              <a:latin typeface="华文琥珀" panose="02010800040101010101" pitchFamily="2" charset="-122"/>
              <a:ea typeface="幼圆" panose="02010509060101010101"/>
            </a:endParaRPr>
          </a:p>
        </p:txBody>
      </p:sp>
      <p:sp>
        <p:nvSpPr>
          <p:cNvPr id="23" name="文本框 22"/>
          <p:cNvSpPr txBox="1"/>
          <p:nvPr/>
        </p:nvSpPr>
        <p:spPr>
          <a:xfrm>
            <a:off x="8370641" y="1131074"/>
            <a:ext cx="461665" cy="857715"/>
          </a:xfrm>
          <a:prstGeom prst="rect">
            <a:avLst/>
          </a:prstGeom>
          <a:noFill/>
        </p:spPr>
        <p:txBody>
          <a:bodyPr vert="eaVert" wrap="square" rtlCol="0">
            <a:spAutoFit/>
          </a:bodyPr>
          <a:lstStyle/>
          <a:p>
            <a:r>
              <a:rPr lang="zh-CN" altLang="en-US" b="1" dirty="0"/>
              <a:t>依存</a:t>
            </a:r>
            <a:endParaRPr lang="zh-CN" altLang="en-US" b="1" dirty="0"/>
          </a:p>
        </p:txBody>
      </p:sp>
      <p:sp>
        <p:nvSpPr>
          <p:cNvPr id="24" name="文本框 23"/>
          <p:cNvSpPr txBox="1"/>
          <p:nvPr/>
        </p:nvSpPr>
        <p:spPr>
          <a:xfrm>
            <a:off x="8370641" y="2093920"/>
            <a:ext cx="461665" cy="857715"/>
          </a:xfrm>
          <a:prstGeom prst="rect">
            <a:avLst/>
          </a:prstGeom>
          <a:noFill/>
        </p:spPr>
        <p:txBody>
          <a:bodyPr vert="eaVert" wrap="square" rtlCol="0">
            <a:spAutoFit/>
          </a:bodyPr>
          <a:lstStyle/>
          <a:p>
            <a:r>
              <a:rPr lang="zh-CN" altLang="en-US" b="1" dirty="0"/>
              <a:t>贯通</a:t>
            </a:r>
            <a:endParaRPr lang="zh-CN" altLang="en-US" b="1" dirty="0"/>
          </a:p>
        </p:txBody>
      </p:sp>
      <p:sp>
        <p:nvSpPr>
          <p:cNvPr id="25" name="文本框 24"/>
          <p:cNvSpPr txBox="1"/>
          <p:nvPr/>
        </p:nvSpPr>
        <p:spPr>
          <a:xfrm>
            <a:off x="8370641" y="3087762"/>
            <a:ext cx="461665" cy="857715"/>
          </a:xfrm>
          <a:prstGeom prst="rect">
            <a:avLst/>
          </a:prstGeom>
          <a:noFill/>
        </p:spPr>
        <p:txBody>
          <a:bodyPr vert="eaVert" wrap="square" rtlCol="0">
            <a:spAutoFit/>
          </a:bodyPr>
          <a:lstStyle/>
          <a:p>
            <a:r>
              <a:rPr lang="zh-CN" altLang="en-US" b="1" dirty="0"/>
              <a:t>转化</a:t>
            </a:r>
            <a:endParaRPr lang="zh-CN" altLang="en-US" b="1" dirty="0"/>
          </a:p>
        </p:txBody>
      </p:sp>
      <p:sp>
        <p:nvSpPr>
          <p:cNvPr id="26" name="文本框 25"/>
          <p:cNvSpPr txBox="1"/>
          <p:nvPr/>
        </p:nvSpPr>
        <p:spPr>
          <a:xfrm>
            <a:off x="8370641" y="4037646"/>
            <a:ext cx="461665" cy="857715"/>
          </a:xfrm>
          <a:prstGeom prst="rect">
            <a:avLst/>
          </a:prstGeom>
          <a:noFill/>
        </p:spPr>
        <p:txBody>
          <a:bodyPr vert="eaVert" wrap="square" rtlCol="0">
            <a:spAutoFit/>
          </a:bodyPr>
          <a:lstStyle/>
          <a:p>
            <a:r>
              <a:rPr lang="zh-CN" altLang="en-US" b="1" dirty="0"/>
              <a:t>分离</a:t>
            </a:r>
            <a:endParaRPr lang="zh-CN" altLang="en-US" b="1" dirty="0"/>
          </a:p>
        </p:txBody>
      </p:sp>
      <p:sp>
        <p:nvSpPr>
          <p:cNvPr id="27" name="文本框 26"/>
          <p:cNvSpPr txBox="1"/>
          <p:nvPr/>
        </p:nvSpPr>
        <p:spPr>
          <a:xfrm>
            <a:off x="8370641" y="4966021"/>
            <a:ext cx="461665" cy="857715"/>
          </a:xfrm>
          <a:prstGeom prst="rect">
            <a:avLst/>
          </a:prstGeom>
          <a:noFill/>
        </p:spPr>
        <p:txBody>
          <a:bodyPr vert="eaVert" wrap="square" rtlCol="0">
            <a:spAutoFit/>
          </a:bodyPr>
          <a:lstStyle/>
          <a:p>
            <a:r>
              <a:rPr lang="zh-CN" altLang="en-US" b="1" dirty="0"/>
              <a:t>排斥</a:t>
            </a:r>
            <a:endParaRPr lang="zh-CN" altLang="en-US" b="1" dirty="0"/>
          </a:p>
        </p:txBody>
      </p:sp>
      <p:sp>
        <p:nvSpPr>
          <p:cNvPr id="28" name="矩形: 圆角 27"/>
          <p:cNvSpPr/>
          <p:nvPr/>
        </p:nvSpPr>
        <p:spPr>
          <a:xfrm>
            <a:off x="1836171" y="5460362"/>
            <a:ext cx="2866688" cy="67633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b="1" dirty="0">
                <a:solidFill>
                  <a:schemeClr val="tx1"/>
                </a:solidFill>
                <a:latin typeface="华文琥珀" panose="02010800040101010101" pitchFamily="2" charset="-122"/>
                <a:ea typeface="幼圆" panose="02010509060101010101"/>
              </a:rPr>
              <a:t>共同推动事物向前发展</a:t>
            </a:r>
            <a:endParaRPr lang="zh-CN" altLang="en-US" sz="2000" b="1" dirty="0">
              <a:solidFill>
                <a:schemeClr val="tx1"/>
              </a:solidFill>
              <a:latin typeface="华文琥珀" panose="02010800040101010101" pitchFamily="2" charset="-122"/>
              <a:ea typeface="幼圆" panose="02010509060101010101"/>
            </a:endParaRPr>
          </a:p>
        </p:txBody>
      </p:sp>
      <p:sp>
        <p:nvSpPr>
          <p:cNvPr id="30" name="矩形: 圆角 29"/>
          <p:cNvSpPr/>
          <p:nvPr/>
        </p:nvSpPr>
        <p:spPr>
          <a:xfrm>
            <a:off x="357157" y="1071546"/>
            <a:ext cx="1898997" cy="435771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sz="2400" b="1" dirty="0" smtClean="0"/>
              <a:t>在</a:t>
            </a:r>
            <a:r>
              <a:rPr lang="zh-CN" altLang="en-US" sz="2400" b="1" dirty="0"/>
              <a:t>一定条件下，矛盾的斗争性可能处于主要方面，</a:t>
            </a:r>
            <a:endParaRPr lang="zh-CN" altLang="en-US" sz="2400" b="1" dirty="0"/>
          </a:p>
          <a:p>
            <a:r>
              <a:rPr lang="zh-CN" altLang="en-US" sz="2400" b="1" dirty="0" smtClean="0"/>
              <a:t>在</a:t>
            </a:r>
            <a:r>
              <a:rPr lang="zh-CN" altLang="en-US" sz="2400" b="1" dirty="0"/>
              <a:t>另外条件下，矛盾的同一性又可能处于主要方面。</a:t>
            </a:r>
            <a:endParaRPr lang="zh-CN" altLang="en-US" sz="2400" b="1" dirty="0"/>
          </a:p>
        </p:txBody>
      </p:sp>
      <p:sp>
        <p:nvSpPr>
          <p:cNvPr id="29" name="Rectangle 2"/>
          <p:cNvSpPr txBox="1">
            <a:spLocks noChangeArrowheads="1"/>
          </p:cNvSpPr>
          <p:nvPr/>
        </p:nvSpPr>
        <p:spPr>
          <a:xfrm>
            <a:off x="457200" y="381000"/>
            <a:ext cx="8077200" cy="609600"/>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en-US" altLang="zh-CN" sz="2800" b="1" i="0" u="none" strike="noStrike" kern="1200" cap="none" spc="0" normalizeH="0" baseline="0" noProof="0" smtClean="0">
                <a:ln>
                  <a:noFill/>
                </a:ln>
                <a:solidFill>
                  <a:srgbClr val="6600FF"/>
                </a:solidFill>
                <a:effectLst/>
                <a:uLnTx/>
                <a:uFillTx/>
                <a:latin typeface="楷体_GB2312" pitchFamily="1" charset="-122"/>
                <a:ea typeface="楷体_GB2312" pitchFamily="1" charset="-122"/>
                <a:cs typeface="+mn-cs"/>
              </a:rPr>
              <a:t>4.</a:t>
            </a:r>
            <a:r>
              <a:rPr kumimoji="0" lang="zh-CN" altLang="en-US" sz="2800" b="1" i="0" u="none" strike="noStrike" kern="1200" cap="none" spc="0" normalizeH="0" baseline="0" noProof="0" smtClean="0">
                <a:ln>
                  <a:noFill/>
                </a:ln>
                <a:solidFill>
                  <a:srgbClr val="6600FF"/>
                </a:solidFill>
                <a:effectLst/>
                <a:uLnTx/>
                <a:uFillTx/>
                <a:latin typeface="楷体_GB2312" pitchFamily="1" charset="-122"/>
                <a:ea typeface="楷体_GB2312" pitchFamily="1" charset="-122"/>
                <a:cs typeface="+mn-cs"/>
              </a:rPr>
              <a:t>矛盾的同一性和斗争性在事物发展中的作用</a:t>
            </a:r>
            <a:endParaRPr kumimoji="0" lang="zh-CN" altLang="en-US" sz="2800" b="1" i="0" u="none" strike="noStrike" kern="1200" cap="none" spc="0" normalizeH="0" baseline="0" noProof="0" dirty="0" smtClean="0">
              <a:ln>
                <a:noFill/>
              </a:ln>
              <a:solidFill>
                <a:srgbClr val="6600FF"/>
              </a:solidFill>
              <a:effectLst/>
              <a:uLnTx/>
              <a:uFillTx/>
              <a:latin typeface="楷体_GB2312" pitchFamily="1" charset="-122"/>
              <a:ea typeface="楷体_GB2312" pitchFamily="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250" advClick="0" advTm="0">
        <p14:switch dir="r"/>
      </p:transition>
    </mc:Choice>
    <mc:Fallback>
      <p:transition spd="slow" advClick="0" advTm="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357158" y="2643182"/>
            <a:ext cx="8358246" cy="150019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zh-CN" altLang="en-US" sz="2400" b="1" dirty="0"/>
              <a:t>和谐是矛盾的一种</a:t>
            </a:r>
            <a:r>
              <a:rPr lang="zh-CN" altLang="en-US" sz="2400" b="1" dirty="0">
                <a:solidFill>
                  <a:srgbClr val="FF0000"/>
                </a:solidFill>
              </a:rPr>
              <a:t>特殊表现形式</a:t>
            </a:r>
            <a:r>
              <a:rPr lang="zh-CN" altLang="en-US" sz="2400" b="1" dirty="0"/>
              <a:t>，体现着矛盾双方的相互依存、相互促进、共同发展，并不意味着矛盾的绝对同</a:t>
            </a:r>
            <a:r>
              <a:rPr lang="zh-CN" altLang="en-US" sz="2400" b="1" dirty="0" smtClean="0"/>
              <a:t>一，</a:t>
            </a:r>
            <a:r>
              <a:rPr lang="zh-CN" altLang="en-US" sz="2400" b="1" dirty="0" smtClean="0">
                <a:latin typeface="+mn-ea"/>
              </a:rPr>
              <a:t>和谐是相对的、有条件的。矛盾双方处于</a:t>
            </a:r>
            <a:r>
              <a:rPr lang="zh-CN" altLang="en-US" sz="2400" b="1" dirty="0" smtClean="0">
                <a:solidFill>
                  <a:srgbClr val="FF0000"/>
                </a:solidFill>
                <a:latin typeface="+mn-ea"/>
              </a:rPr>
              <a:t>平衡、协调、合作</a:t>
            </a:r>
            <a:r>
              <a:rPr lang="zh-CN" altLang="en-US" sz="2400" b="1" dirty="0" smtClean="0">
                <a:latin typeface="+mn-ea"/>
              </a:rPr>
              <a:t>的状态</a:t>
            </a:r>
            <a:r>
              <a:rPr lang="zh-CN" altLang="en-US" sz="2400" b="1" dirty="0" smtClean="0"/>
              <a:t>。</a:t>
            </a:r>
            <a:endParaRPr lang="zh-CN" altLang="en-US" sz="2400" b="1" dirty="0"/>
          </a:p>
        </p:txBody>
      </p:sp>
      <p:sp>
        <p:nvSpPr>
          <p:cNvPr id="10" name="矩形: 圆角 9"/>
          <p:cNvSpPr/>
          <p:nvPr/>
        </p:nvSpPr>
        <p:spPr>
          <a:xfrm>
            <a:off x="357158" y="5000636"/>
            <a:ext cx="8380760" cy="120903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l"/>
            <a:r>
              <a:rPr lang="zh-CN" altLang="en-US" sz="2400" b="1" dirty="0" smtClean="0">
                <a:latin typeface="+mn-ea"/>
              </a:rPr>
              <a:t>发扬斗争精神，应对挑战，开拓前进，为中华民族伟大复兴付出努力。</a:t>
            </a:r>
            <a:endParaRPr lang="zh-CN" altLang="en-US" sz="2400" b="1" dirty="0">
              <a:latin typeface="+mn-ea"/>
            </a:endParaRPr>
          </a:p>
        </p:txBody>
      </p:sp>
      <p:sp>
        <p:nvSpPr>
          <p:cNvPr id="11" name="流程图: 终止 10"/>
          <p:cNvSpPr/>
          <p:nvPr/>
        </p:nvSpPr>
        <p:spPr>
          <a:xfrm>
            <a:off x="357158" y="1928802"/>
            <a:ext cx="1908175" cy="609599"/>
          </a:xfrm>
          <a:prstGeom prst="flowChartTerminator">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ln>
                  <a:noFill/>
                </a:ln>
                <a:solidFill>
                  <a:schemeClr val="tx1">
                    <a:lumMod val="95000"/>
                    <a:lumOff val="5000"/>
                  </a:schemeClr>
                </a:solidFill>
                <a:latin typeface="黑体" panose="02010609060101010101" pitchFamily="49" charset="-122"/>
                <a:ea typeface="黑体" panose="02010609060101010101" pitchFamily="49" charset="-122"/>
              </a:rPr>
              <a:t>和谐</a:t>
            </a:r>
            <a:endParaRPr lang="zh-CN" altLang="en-US" sz="3200" b="1" dirty="0">
              <a:ln>
                <a:noFill/>
              </a:ln>
              <a:solidFill>
                <a:schemeClr val="tx1">
                  <a:lumMod val="95000"/>
                  <a:lumOff val="5000"/>
                </a:schemeClr>
              </a:solidFill>
              <a:latin typeface="黑体" panose="02010609060101010101" pitchFamily="49" charset="-122"/>
              <a:ea typeface="黑体" panose="02010609060101010101" pitchFamily="49" charset="-122"/>
            </a:endParaRPr>
          </a:p>
        </p:txBody>
      </p:sp>
      <p:sp>
        <p:nvSpPr>
          <p:cNvPr id="13" name="Rectangle 7"/>
          <p:cNvSpPr>
            <a:spLocks noChangeArrowheads="1"/>
          </p:cNvSpPr>
          <p:nvPr/>
        </p:nvSpPr>
        <p:spPr bwMode="auto">
          <a:xfrm>
            <a:off x="357158" y="500042"/>
            <a:ext cx="8215370" cy="954107"/>
          </a:xfrm>
          <a:prstGeom prst="rect">
            <a:avLst/>
          </a:prstGeom>
          <a:noFill/>
          <a:ln w="9525">
            <a:noFill/>
            <a:miter lim="800000"/>
          </a:ln>
        </p:spPr>
        <p:txBody>
          <a:bodyPr wrap="square">
            <a:spAutoFit/>
          </a:bodyPr>
          <a:lstStyle/>
          <a:p>
            <a:pPr eaLnBrk="1" hangingPunct="1"/>
            <a:r>
              <a:rPr lang="zh-CN" altLang="en-US" sz="2800" b="1" dirty="0">
                <a:solidFill>
                  <a:srgbClr val="6600FF"/>
                </a:solidFill>
                <a:latin typeface="楷体_GB2312" pitchFamily="1" charset="-122"/>
                <a:ea typeface="楷体_GB2312" pitchFamily="1" charset="-122"/>
              </a:rPr>
              <a:t>方法论意义：</a:t>
            </a:r>
            <a:r>
              <a:rPr lang="zh-CN" altLang="en-US" sz="2800" b="1" dirty="0">
                <a:solidFill>
                  <a:srgbClr val="000000"/>
                </a:solidFill>
                <a:latin typeface="楷体_GB2312" pitchFamily="1" charset="-122"/>
                <a:ea typeface="楷体_GB2312" pitchFamily="1" charset="-122"/>
              </a:rPr>
              <a:t>要求我们树立从同一中把握对立，从对立中把握同一的辩证思维方法。</a:t>
            </a:r>
            <a:r>
              <a:rPr lang="zh-CN" altLang="en-US" dirty="0">
                <a:latin typeface="楷体_GB2312" pitchFamily="1" charset="-122"/>
                <a:ea typeface="楷体_GB2312" pitchFamily="1" charset="-122"/>
              </a:rPr>
              <a:t>  </a:t>
            </a:r>
            <a:endParaRPr lang="zh-CN" altLang="en-US" dirty="0">
              <a:latin typeface="楷体_GB2312" pitchFamily="1" charset="-122"/>
              <a:ea typeface="楷体_GB2312" pitchFamily="1" charset="-122"/>
            </a:endParaRPr>
          </a:p>
        </p:txBody>
      </p:sp>
      <p:sp>
        <p:nvSpPr>
          <p:cNvPr id="6" name="流程图: 终止 5"/>
          <p:cNvSpPr/>
          <p:nvPr/>
        </p:nvSpPr>
        <p:spPr>
          <a:xfrm>
            <a:off x="357158" y="4286256"/>
            <a:ext cx="1908175" cy="609599"/>
          </a:xfrm>
          <a:prstGeom prst="flowChartTerminator">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tx1">
                    <a:lumMod val="95000"/>
                    <a:lumOff val="5000"/>
                  </a:schemeClr>
                </a:solidFill>
                <a:latin typeface="黑体" panose="02010609060101010101" pitchFamily="49" charset="-122"/>
                <a:ea typeface="黑体" panose="02010609060101010101" pitchFamily="49" charset="-122"/>
              </a:rPr>
              <a:t>斗争</a:t>
            </a:r>
            <a:endParaRPr lang="zh-CN" altLang="en-US" sz="3200" b="1" dirty="0">
              <a:ln>
                <a:noFill/>
              </a:ln>
              <a:solidFill>
                <a:schemeClr val="tx1">
                  <a:lumMod val="95000"/>
                  <a:lumOff val="5000"/>
                </a:schemeClr>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50" advClick="0" advTm="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609600"/>
            <a:ext cx="8243888" cy="642938"/>
          </a:xfrm>
        </p:spPr>
        <p:txBody>
          <a:bodyPr>
            <a:normAutofit/>
          </a:bodyPr>
          <a:lstStyle/>
          <a:p>
            <a:pPr algn="l" eaLnBrk="1" hangingPunct="1">
              <a:defRPr/>
            </a:pPr>
            <a:r>
              <a:rPr lang="zh-CN" sz="3200" b="1" kern="0" cap="none" dirty="0" smtClean="0">
                <a:solidFill>
                  <a:srgbClr val="9900CC"/>
                </a:solidFill>
                <a:effectLst/>
                <a:ea typeface="华文新魏" pitchFamily="2" charset="-122"/>
              </a:rPr>
              <a:t>（二）矛盾的普遍性和特殊性及其相互关系 </a:t>
            </a:r>
            <a:endParaRPr lang="zh-CN" sz="3200" b="1" kern="0" cap="none" dirty="0" smtClean="0">
              <a:solidFill>
                <a:srgbClr val="9900CC"/>
              </a:solidFill>
              <a:effectLst/>
              <a:ea typeface="华文新魏" pitchFamily="2" charset="-122"/>
            </a:endParaRPr>
          </a:p>
        </p:txBody>
      </p:sp>
      <p:sp>
        <p:nvSpPr>
          <p:cNvPr id="51203" name="Rectangle 3"/>
          <p:cNvSpPr>
            <a:spLocks noGrp="1" noChangeArrowheads="1"/>
          </p:cNvSpPr>
          <p:nvPr>
            <p:ph type="body" idx="4294967295"/>
          </p:nvPr>
        </p:nvSpPr>
        <p:spPr>
          <a:xfrm>
            <a:off x="285720" y="1357298"/>
            <a:ext cx="8458200" cy="1828800"/>
          </a:xfrm>
        </p:spPr>
        <p:txBody>
          <a:bodyPr/>
          <a:lstStyle/>
          <a:p>
            <a:pPr eaLnBrk="1" hangingPunct="1">
              <a:buFontTx/>
              <a:buNone/>
            </a:pPr>
            <a:r>
              <a:rPr lang="en-US" altLang="zh-CN" sz="2800" b="1" dirty="0" smtClean="0">
                <a:solidFill>
                  <a:srgbClr val="6600FF"/>
                </a:solidFill>
                <a:latin typeface="楷体_GB2312" pitchFamily="1" charset="-122"/>
                <a:ea typeface="楷体_GB2312" pitchFamily="1" charset="-122"/>
              </a:rPr>
              <a:t>1.</a:t>
            </a:r>
            <a:r>
              <a:rPr lang="zh-CN" altLang="en-US" sz="2800" b="1" dirty="0" smtClean="0">
                <a:solidFill>
                  <a:srgbClr val="6600FF"/>
                </a:solidFill>
                <a:latin typeface="楷体_GB2312" pitchFamily="1" charset="-122"/>
                <a:ea typeface="楷体_GB2312" pitchFamily="1" charset="-122"/>
              </a:rPr>
              <a:t>矛盾的普遍性：</a:t>
            </a:r>
            <a:r>
              <a:rPr lang="zh-CN" altLang="en-US" sz="2800" b="1" dirty="0" smtClean="0">
                <a:solidFill>
                  <a:srgbClr val="000000"/>
                </a:solidFill>
                <a:latin typeface="楷体_GB2312" pitchFamily="1" charset="-122"/>
                <a:ea typeface="楷体_GB2312" pitchFamily="1" charset="-122"/>
              </a:rPr>
              <a:t>矛盾无处不在，无时不有。即矛盾存在于一切事物中，存在于一切事物发展过程的始终，旧的矛盾解决了，新的矛盾又产生。事物始终在矛盾中运动。</a:t>
            </a:r>
            <a:r>
              <a:rPr lang="zh-CN" altLang="en-US" sz="2800" b="1" dirty="0" smtClean="0">
                <a:solidFill>
                  <a:schemeClr val="folHlink"/>
                </a:solidFill>
                <a:latin typeface="华文楷体" pitchFamily="2" charset="-122"/>
                <a:ea typeface="华文楷体" pitchFamily="2" charset="-122"/>
              </a:rPr>
              <a:t>        </a:t>
            </a:r>
            <a:endParaRPr lang="zh-CN" altLang="en-US" sz="2800" b="1" dirty="0" smtClean="0">
              <a:solidFill>
                <a:srgbClr val="000000"/>
              </a:solidFill>
              <a:latin typeface="楷体_GB2312" pitchFamily="1" charset="-122"/>
              <a:ea typeface="楷体_GB2312" pitchFamily="1" charset="-122"/>
            </a:endParaRPr>
          </a:p>
        </p:txBody>
      </p:sp>
      <p:sp>
        <p:nvSpPr>
          <p:cNvPr id="6" name="Text Box 27"/>
          <p:cNvSpPr txBox="1">
            <a:spLocks noChangeArrowheads="1"/>
          </p:cNvSpPr>
          <p:nvPr/>
        </p:nvSpPr>
        <p:spPr bwMode="auto">
          <a:xfrm>
            <a:off x="285720" y="3214686"/>
            <a:ext cx="8429684" cy="1754326"/>
          </a:xfrm>
          <a:prstGeom prst="rect">
            <a:avLst/>
          </a:prstGeom>
          <a:noFill/>
          <a:ln w="9525">
            <a:noFill/>
            <a:miter lim="800000"/>
          </a:ln>
        </p:spPr>
        <p:txBody>
          <a:bodyPr wrap="square">
            <a:spAutoFit/>
          </a:bodyPr>
          <a:lstStyle/>
          <a:p>
            <a:r>
              <a:rPr lang="zh-CN" altLang="en-US" sz="2800" b="1" kern="0" dirty="0" smtClean="0">
                <a:solidFill>
                  <a:srgbClr val="6600FF"/>
                </a:solidFill>
                <a:latin typeface="楷体_GB2312" pitchFamily="1" charset="-122"/>
                <a:ea typeface="楷体_GB2312" pitchFamily="1" charset="-122"/>
              </a:rPr>
              <a:t>2.矛盾的特殊性：</a:t>
            </a:r>
            <a:r>
              <a:rPr lang="zh-CN" altLang="en-US" sz="2800" b="1" dirty="0" smtClean="0">
                <a:solidFill>
                  <a:srgbClr val="000000"/>
                </a:solidFill>
                <a:latin typeface="楷体_GB2312" pitchFamily="1" charset="-122"/>
                <a:ea typeface="楷体_GB2312" pitchFamily="1" charset="-122"/>
              </a:rPr>
              <a:t>各个具体事物的矛盾、每一个矛盾的各个方面在发展的不同阶段上各有其特点。即矛盾的个性。</a:t>
            </a:r>
            <a:endParaRPr lang="zh-CN" altLang="en-US" sz="2800" b="1" dirty="0" smtClean="0">
              <a:solidFill>
                <a:srgbClr val="000000"/>
              </a:solidFill>
              <a:latin typeface="楷体_GB2312" pitchFamily="1" charset="-122"/>
              <a:ea typeface="楷体_GB2312" pitchFamily="1" charset="-122"/>
            </a:endParaRPr>
          </a:p>
          <a:p>
            <a:pPr eaLnBrk="1" hangingPunct="1"/>
            <a:endParaRPr lang="zh-CN" altLang="en-US" sz="2400" b="1" dirty="0">
              <a:solidFill>
                <a:schemeClr val="bg1"/>
              </a:solidFill>
              <a:latin typeface="楷体" panose="02010609060101010101" pitchFamily="49" charset="-122"/>
              <a:ea typeface="楷体" panose="02010609060101010101" pitchFamily="49" charset="-122"/>
            </a:endParaRPr>
          </a:p>
        </p:txBody>
      </p:sp>
      <p:sp>
        <p:nvSpPr>
          <p:cNvPr id="7" name="Rectangle 13"/>
          <p:cNvSpPr/>
          <p:nvPr/>
        </p:nvSpPr>
        <p:spPr>
          <a:xfrm>
            <a:off x="428596" y="5072074"/>
            <a:ext cx="2040943" cy="830997"/>
          </a:xfrm>
          <a:prstGeom prst="rect">
            <a:avLst/>
          </a:prstGeom>
          <a:solidFill>
            <a:schemeClr val="accent3">
              <a:lumMod val="95000"/>
            </a:schemeClr>
          </a:solidFill>
          <a:ln w="9525">
            <a:noFill/>
          </a:ln>
        </p:spPr>
        <p:txBody>
          <a:bodyPr wrap="none">
            <a:spAutoFit/>
          </a:bodyPr>
          <a:lstStyle/>
          <a:p>
            <a:pPr eaLnBrk="1" hangingPunct="1">
              <a:defRPr/>
            </a:pPr>
            <a:r>
              <a:rPr lang="zh-CN" altLang="en-US" sz="2400" b="1" noProof="1">
                <a:ea typeface="黑体" panose="02010609060101010101" pitchFamily="49" charset="-122"/>
              </a:rPr>
              <a:t>矛盾的</a:t>
            </a:r>
            <a:r>
              <a:rPr lang="zh-CN" altLang="en-US" sz="2400" b="1" noProof="1" smtClean="0">
                <a:ea typeface="黑体" panose="02010609060101010101" pitchFamily="49" charset="-122"/>
              </a:rPr>
              <a:t>特殊性</a:t>
            </a:r>
            <a:endParaRPr lang="en-US" altLang="zh-CN" sz="2400" b="1" noProof="1" smtClean="0">
              <a:ea typeface="黑体" panose="02010609060101010101" pitchFamily="49" charset="-122"/>
            </a:endParaRPr>
          </a:p>
          <a:p>
            <a:pPr eaLnBrk="1" hangingPunct="1">
              <a:defRPr/>
            </a:pPr>
            <a:r>
              <a:rPr lang="zh-CN" altLang="en-US" sz="2400" b="1" noProof="1" smtClean="0">
                <a:ea typeface="黑体" panose="02010609060101010101" pitchFamily="49" charset="-122"/>
              </a:rPr>
              <a:t>有</a:t>
            </a:r>
            <a:r>
              <a:rPr lang="zh-CN" altLang="en-US" sz="2400" b="1" noProof="1">
                <a:ea typeface="黑体" panose="02010609060101010101" pitchFamily="49" charset="-122"/>
              </a:rPr>
              <a:t>三种情形：</a:t>
            </a:r>
            <a:endParaRPr lang="zh-CN" altLang="en-US" sz="2400" b="1" noProof="1">
              <a:ea typeface="黑体" panose="02010609060101010101" pitchFamily="49" charset="-122"/>
            </a:endParaRPr>
          </a:p>
        </p:txBody>
      </p:sp>
      <p:sp>
        <p:nvSpPr>
          <p:cNvPr id="8" name="Rectangle 12"/>
          <p:cNvSpPr>
            <a:spLocks noChangeArrowheads="1"/>
          </p:cNvSpPr>
          <p:nvPr/>
        </p:nvSpPr>
        <p:spPr bwMode="auto">
          <a:xfrm>
            <a:off x="3071802" y="4286256"/>
            <a:ext cx="5603568" cy="2286016"/>
          </a:xfrm>
          <a:prstGeom prst="rect">
            <a:avLst/>
          </a:prstGeom>
          <a:solidFill>
            <a:srgbClr val="FFFFCC"/>
          </a:solidFill>
          <a:ln w="9525">
            <a:solidFill>
              <a:schemeClr val="hlink"/>
            </a:solidFill>
            <a:miter lim="800000"/>
          </a:ln>
        </p:spPr>
        <p:txBody>
          <a:bodyPr/>
          <a:lstStyle/>
          <a:p>
            <a:pPr eaLnBrk="1" hangingPunct="1">
              <a:lnSpc>
                <a:spcPct val="125000"/>
              </a:lnSpc>
              <a:spcBef>
                <a:spcPct val="20000"/>
              </a:spcBef>
            </a:pPr>
            <a:r>
              <a:rPr lang="en-US" altLang="zh-CN" sz="2000" b="1" dirty="0">
                <a:solidFill>
                  <a:srgbClr val="0000FF"/>
                </a:solidFill>
                <a:latin typeface="楷体_GB2312" pitchFamily="1" charset="-122"/>
                <a:ea typeface="楷体_GB2312" pitchFamily="1" charset="-122"/>
              </a:rPr>
              <a:t> </a:t>
            </a:r>
            <a:r>
              <a:rPr lang="en-US" altLang="zh-CN" sz="2000" b="1" dirty="0">
                <a:solidFill>
                  <a:srgbClr val="0000FF"/>
                </a:solidFill>
                <a:latin typeface="楷体" panose="02010609060101010101" pitchFamily="49" charset="-122"/>
                <a:ea typeface="楷体" panose="02010609060101010101" pitchFamily="49" charset="-122"/>
              </a:rPr>
              <a:t>- </a:t>
            </a:r>
            <a:r>
              <a:rPr lang="zh-CN" altLang="en-US" sz="2000" b="1" dirty="0">
                <a:solidFill>
                  <a:srgbClr val="FF0000"/>
                </a:solidFill>
                <a:latin typeface="楷体" panose="02010609060101010101" pitchFamily="49" charset="-122"/>
                <a:ea typeface="楷体" panose="02010609060101010101" pitchFamily="49" charset="-122"/>
              </a:rPr>
              <a:t>不同事物</a:t>
            </a:r>
            <a:r>
              <a:rPr lang="zh-CN" altLang="en-US" sz="2000" b="1" dirty="0">
                <a:solidFill>
                  <a:srgbClr val="0000FF"/>
                </a:solidFill>
                <a:latin typeface="楷体" panose="02010609060101010101" pitchFamily="49" charset="-122"/>
                <a:ea typeface="楷体" panose="02010609060101010101" pitchFamily="49" charset="-122"/>
              </a:rPr>
              <a:t>的矛盾各有其特点。</a:t>
            </a:r>
            <a:endParaRPr lang="zh-CN" altLang="en-US" sz="2000" b="1" dirty="0">
              <a:solidFill>
                <a:srgbClr val="0000FF"/>
              </a:solidFill>
              <a:latin typeface="楷体" panose="02010609060101010101" pitchFamily="49" charset="-122"/>
              <a:ea typeface="楷体" panose="02010609060101010101" pitchFamily="49" charset="-122"/>
            </a:endParaRPr>
          </a:p>
          <a:p>
            <a:pPr eaLnBrk="1" hangingPunct="1">
              <a:lnSpc>
                <a:spcPct val="125000"/>
              </a:lnSpc>
              <a:spcBef>
                <a:spcPct val="20000"/>
              </a:spcBef>
            </a:pPr>
            <a:r>
              <a:rPr lang="zh-CN" altLang="en-US" sz="2000" b="1" dirty="0">
                <a:solidFill>
                  <a:srgbClr val="0000FF"/>
                </a:solidFill>
                <a:latin typeface="楷体" panose="02010609060101010101" pitchFamily="49" charset="-122"/>
                <a:ea typeface="楷体" panose="02010609060101010101" pitchFamily="49" charset="-122"/>
              </a:rPr>
              <a:t> </a:t>
            </a:r>
            <a:r>
              <a:rPr lang="en-US" altLang="zh-CN" sz="2000" b="1" dirty="0">
                <a:solidFill>
                  <a:srgbClr val="0000FF"/>
                </a:solidFill>
                <a:latin typeface="楷体" panose="02010609060101010101" pitchFamily="49" charset="-122"/>
                <a:ea typeface="楷体" panose="02010609060101010101" pitchFamily="49" charset="-122"/>
              </a:rPr>
              <a:t>- </a:t>
            </a:r>
            <a:r>
              <a:rPr lang="zh-CN" altLang="en-US" sz="2000" b="1" dirty="0">
                <a:solidFill>
                  <a:srgbClr val="0000FF"/>
                </a:solidFill>
                <a:latin typeface="楷体" panose="02010609060101010101" pitchFamily="49" charset="-122"/>
                <a:ea typeface="楷体" panose="02010609060101010101" pitchFamily="49" charset="-122"/>
              </a:rPr>
              <a:t>同一事物的矛盾在</a:t>
            </a:r>
            <a:r>
              <a:rPr lang="zh-CN" altLang="en-US" sz="2000" b="1" dirty="0">
                <a:solidFill>
                  <a:srgbClr val="FF0000"/>
                </a:solidFill>
                <a:latin typeface="楷体" panose="02010609060101010101" pitchFamily="49" charset="-122"/>
                <a:ea typeface="楷体" panose="02010609060101010101" pitchFamily="49" charset="-122"/>
              </a:rPr>
              <a:t>不同发展过程和发展阶段</a:t>
            </a:r>
            <a:r>
              <a:rPr lang="zh-CN" altLang="en-US" sz="2000" b="1" dirty="0">
                <a:solidFill>
                  <a:srgbClr val="0000FF"/>
                </a:solidFill>
                <a:latin typeface="楷体" panose="02010609060101010101" pitchFamily="49" charset="-122"/>
                <a:ea typeface="楷体" panose="02010609060101010101" pitchFamily="49" charset="-122"/>
              </a:rPr>
              <a:t>各有不同特点。</a:t>
            </a:r>
            <a:endParaRPr lang="zh-CN" altLang="en-US" sz="2000" b="1" dirty="0">
              <a:solidFill>
                <a:srgbClr val="0000FF"/>
              </a:solidFill>
              <a:latin typeface="楷体" panose="02010609060101010101" pitchFamily="49" charset="-122"/>
              <a:ea typeface="楷体" panose="02010609060101010101" pitchFamily="49" charset="-122"/>
            </a:endParaRPr>
          </a:p>
          <a:p>
            <a:pPr eaLnBrk="1" hangingPunct="1">
              <a:lnSpc>
                <a:spcPct val="125000"/>
              </a:lnSpc>
              <a:spcBef>
                <a:spcPct val="20000"/>
              </a:spcBef>
            </a:pPr>
            <a:r>
              <a:rPr lang="zh-CN" altLang="en-US" sz="2000" b="1" dirty="0">
                <a:solidFill>
                  <a:srgbClr val="0000FF"/>
                </a:solidFill>
                <a:latin typeface="楷体" panose="02010609060101010101" pitchFamily="49" charset="-122"/>
                <a:ea typeface="楷体" panose="02010609060101010101" pitchFamily="49" charset="-122"/>
              </a:rPr>
              <a:t> </a:t>
            </a:r>
            <a:r>
              <a:rPr lang="en-US" altLang="zh-CN" sz="2000" b="1" dirty="0">
                <a:solidFill>
                  <a:srgbClr val="0000FF"/>
                </a:solidFill>
                <a:latin typeface="楷体" panose="02010609060101010101" pitchFamily="49" charset="-122"/>
                <a:ea typeface="楷体" panose="02010609060101010101" pitchFamily="49" charset="-122"/>
              </a:rPr>
              <a:t>- </a:t>
            </a:r>
            <a:r>
              <a:rPr lang="zh-CN" altLang="en-US" sz="2000" b="1" dirty="0">
                <a:solidFill>
                  <a:srgbClr val="0000FF"/>
                </a:solidFill>
                <a:latin typeface="楷体" panose="02010609060101010101" pitchFamily="49" charset="-122"/>
                <a:ea typeface="楷体" panose="02010609060101010101" pitchFamily="49" charset="-122"/>
              </a:rPr>
              <a:t>构成事物的</a:t>
            </a:r>
            <a:r>
              <a:rPr lang="zh-CN" altLang="en-US" sz="2000" b="1" dirty="0">
                <a:solidFill>
                  <a:srgbClr val="FF0000"/>
                </a:solidFill>
                <a:latin typeface="楷体" panose="02010609060101010101" pitchFamily="49" charset="-122"/>
                <a:ea typeface="楷体" panose="02010609060101010101" pitchFamily="49" charset="-122"/>
              </a:rPr>
              <a:t>诸多矛盾</a:t>
            </a:r>
            <a:r>
              <a:rPr lang="zh-CN" altLang="en-US" sz="2000" b="1" dirty="0">
                <a:solidFill>
                  <a:srgbClr val="0000FF"/>
                </a:solidFill>
                <a:latin typeface="楷体" panose="02010609060101010101" pitchFamily="49" charset="-122"/>
                <a:ea typeface="楷体" panose="02010609060101010101" pitchFamily="49" charset="-122"/>
              </a:rPr>
              <a:t>以及</a:t>
            </a:r>
            <a:r>
              <a:rPr lang="zh-CN" altLang="en-US" sz="2000" b="1" dirty="0">
                <a:solidFill>
                  <a:srgbClr val="FF0000"/>
                </a:solidFill>
                <a:latin typeface="楷体" panose="02010609060101010101" pitchFamily="49" charset="-122"/>
                <a:ea typeface="楷体" panose="02010609060101010101" pitchFamily="49" charset="-122"/>
              </a:rPr>
              <a:t>每一矛盾的不同方面</a:t>
            </a:r>
            <a:r>
              <a:rPr lang="zh-CN" altLang="en-US" sz="2000" b="1" dirty="0">
                <a:solidFill>
                  <a:srgbClr val="0000FF"/>
                </a:solidFill>
                <a:latin typeface="楷体" panose="02010609060101010101" pitchFamily="49" charset="-122"/>
                <a:ea typeface="楷体" panose="02010609060101010101" pitchFamily="49" charset="-122"/>
              </a:rPr>
              <a:t>各有不同的性质、地位和作用</a:t>
            </a:r>
            <a:endParaRPr lang="zh-CN" altLang="en-US" sz="2000"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blinds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WordArt 33"/>
          <p:cNvSpPr>
            <a:spLocks noChangeArrowheads="1" noChangeShapeType="1" noTextEdit="1"/>
          </p:cNvSpPr>
          <p:nvPr/>
        </p:nvSpPr>
        <p:spPr bwMode="auto">
          <a:xfrm rot="5400000">
            <a:off x="5756275" y="2820988"/>
            <a:ext cx="5546725" cy="504825"/>
          </a:xfrm>
          <a:prstGeom prst="rect">
            <a:avLst/>
          </a:prstGeom>
        </p:spPr>
        <p:txBody>
          <a:bodyPr vert="eaVert" wrap="none" fromWordArt="1">
            <a:prstTxWarp prst="textPlain">
              <a:avLst>
                <a:gd name="adj" fmla="val 49769"/>
              </a:avLst>
            </a:prstTxWarp>
            <a:scene3d>
              <a:camera prst="legacyPerspectiveFront">
                <a:rot lat="20639990" lon="20699986" rev="0"/>
              </a:camera>
              <a:lightRig rig="legacyNormal3" dir="l"/>
            </a:scene3d>
            <a:sp3d extrusionH="201600" prstMaterial="legacyPlastic">
              <a:extrusionClr>
                <a:srgbClr val="FF9966"/>
              </a:extrusionClr>
            </a:sp3d>
          </a:bodyPr>
          <a:lstStyle/>
          <a:p>
            <a:pPr algn="ctr" fontAlgn="auto"/>
            <a:r>
              <a:rPr lang="zh-CN" altLang="en-US" sz="2400" b="1" kern="10">
                <a:ln w="9525">
                  <a:round/>
                </a:ln>
                <a:solidFill>
                  <a:srgbClr val="CC0000"/>
                </a:solidFill>
                <a:latin typeface="宋体" panose="02010600030101010101" pitchFamily="2" charset="-122"/>
                <a:ea typeface="宋体" panose="02010600030101010101" pitchFamily="2" charset="-122"/>
              </a:rPr>
              <a:t>具体问题具体分析是马克思主义活的灵魂</a:t>
            </a:r>
            <a:endParaRPr lang="zh-CN" altLang="en-US" sz="2400" b="1" kern="10">
              <a:ln w="9525">
                <a:round/>
              </a:ln>
              <a:solidFill>
                <a:srgbClr val="CC0000"/>
              </a:solidFill>
              <a:latin typeface="宋体" panose="02010600030101010101" pitchFamily="2" charset="-122"/>
              <a:ea typeface="宋体" panose="02010600030101010101" pitchFamily="2" charset="-122"/>
            </a:endParaRPr>
          </a:p>
        </p:txBody>
      </p:sp>
      <p:grpSp>
        <p:nvGrpSpPr>
          <p:cNvPr id="4" name="Group 38"/>
          <p:cNvGrpSpPr/>
          <p:nvPr/>
        </p:nvGrpSpPr>
        <p:grpSpPr bwMode="auto">
          <a:xfrm>
            <a:off x="428596" y="142852"/>
            <a:ext cx="7454900" cy="5060764"/>
            <a:chOff x="295" y="-91"/>
            <a:chExt cx="4696" cy="3177"/>
          </a:xfrm>
        </p:grpSpPr>
        <p:sp>
          <p:nvSpPr>
            <p:cNvPr id="53254" name="AutoShape 2"/>
            <p:cNvSpPr>
              <a:spLocks noChangeArrowheads="1"/>
            </p:cNvSpPr>
            <p:nvPr/>
          </p:nvSpPr>
          <p:spPr bwMode="auto">
            <a:xfrm>
              <a:off x="405" y="268"/>
              <a:ext cx="2177" cy="771"/>
            </a:xfrm>
            <a:prstGeom prst="roundRect">
              <a:avLst>
                <a:gd name="adj" fmla="val 16667"/>
              </a:avLst>
            </a:prstGeom>
            <a:solidFill>
              <a:srgbClr val="CCFFFF"/>
            </a:solidFill>
            <a:ln w="38100">
              <a:solidFill>
                <a:schemeClr val="tx2"/>
              </a:solidFill>
              <a:round/>
            </a:ln>
          </p:spPr>
          <p:txBody>
            <a:bodyPr wrap="none" anchor="ctr"/>
            <a:lstStyle/>
            <a:p>
              <a:pPr algn="ctr"/>
              <a:endParaRPr lang="zh-CN" altLang="zh-CN"/>
            </a:p>
          </p:txBody>
        </p:sp>
        <p:sp>
          <p:nvSpPr>
            <p:cNvPr id="53255" name="AutoShape 3"/>
            <p:cNvSpPr>
              <a:spLocks noChangeArrowheads="1"/>
            </p:cNvSpPr>
            <p:nvPr/>
          </p:nvSpPr>
          <p:spPr bwMode="auto">
            <a:xfrm>
              <a:off x="3015" y="357"/>
              <a:ext cx="1950" cy="590"/>
            </a:xfrm>
            <a:prstGeom prst="roundRect">
              <a:avLst>
                <a:gd name="adj" fmla="val 16667"/>
              </a:avLst>
            </a:prstGeom>
            <a:solidFill>
              <a:srgbClr val="CCFFFF"/>
            </a:solidFill>
            <a:ln w="38100">
              <a:solidFill>
                <a:schemeClr val="tx2"/>
              </a:solidFill>
              <a:round/>
            </a:ln>
          </p:spPr>
          <p:txBody>
            <a:bodyPr wrap="none" anchor="ctr"/>
            <a:lstStyle/>
            <a:p>
              <a:pPr algn="ctr"/>
              <a:endParaRPr lang="zh-CN" altLang="zh-CN"/>
            </a:p>
          </p:txBody>
        </p:sp>
        <p:sp>
          <p:nvSpPr>
            <p:cNvPr id="53256" name="Freeform 13"/>
            <p:cNvSpPr>
              <a:spLocks noChangeArrowheads="1"/>
            </p:cNvSpPr>
            <p:nvPr/>
          </p:nvSpPr>
          <p:spPr bwMode="auto">
            <a:xfrm>
              <a:off x="1530" y="133"/>
              <a:ext cx="578" cy="398"/>
            </a:xfrm>
            <a:custGeom>
              <a:avLst/>
              <a:gdLst>
                <a:gd name="T0" fmla="*/ 564 w 580"/>
                <a:gd name="T1" fmla="*/ 0 h 798"/>
                <a:gd name="T2" fmla="*/ 562 w 580"/>
                <a:gd name="T3" fmla="*/ 0 h 798"/>
                <a:gd name="T4" fmla="*/ 552 w 580"/>
                <a:gd name="T5" fmla="*/ 0 h 798"/>
                <a:gd name="T6" fmla="*/ 536 w 580"/>
                <a:gd name="T7" fmla="*/ 0 h 798"/>
                <a:gd name="T8" fmla="*/ 510 w 580"/>
                <a:gd name="T9" fmla="*/ 1 h 798"/>
                <a:gd name="T10" fmla="*/ 478 w 580"/>
                <a:gd name="T11" fmla="*/ 1 h 798"/>
                <a:gd name="T12" fmla="*/ 436 w 580"/>
                <a:gd name="T13" fmla="*/ 1 h 798"/>
                <a:gd name="T14" fmla="*/ 394 w 580"/>
                <a:gd name="T15" fmla="*/ 1 h 798"/>
                <a:gd name="T16" fmla="*/ 334 w 580"/>
                <a:gd name="T17" fmla="*/ 2 h 798"/>
                <a:gd name="T18" fmla="*/ 262 w 580"/>
                <a:gd name="T19" fmla="*/ 2 h 798"/>
                <a:gd name="T20" fmla="*/ 180 w 580"/>
                <a:gd name="T21" fmla="*/ 2 h 798"/>
                <a:gd name="T22" fmla="*/ 180 w 580"/>
                <a:gd name="T23" fmla="*/ 3 h 798"/>
                <a:gd name="T24" fmla="*/ 0 w 580"/>
                <a:gd name="T25" fmla="*/ 2 h 798"/>
                <a:gd name="T26" fmla="*/ 180 w 580"/>
                <a:gd name="T27" fmla="*/ 0 h 798"/>
                <a:gd name="T28" fmla="*/ 180 w 580"/>
                <a:gd name="T29" fmla="*/ 1 h 798"/>
                <a:gd name="T30" fmla="*/ 216 w 580"/>
                <a:gd name="T31" fmla="*/ 1 h 798"/>
                <a:gd name="T32" fmla="*/ 256 w 580"/>
                <a:gd name="T33" fmla="*/ 1 h 798"/>
                <a:gd name="T34" fmla="*/ 298 w 580"/>
                <a:gd name="T35" fmla="*/ 1 h 798"/>
                <a:gd name="T36" fmla="*/ 340 w 580"/>
                <a:gd name="T37" fmla="*/ 1 h 798"/>
                <a:gd name="T38" fmla="*/ 384 w 580"/>
                <a:gd name="T39" fmla="*/ 1 h 798"/>
                <a:gd name="T40" fmla="*/ 424 w 580"/>
                <a:gd name="T41" fmla="*/ 0 h 798"/>
                <a:gd name="T42" fmla="*/ 456 w 580"/>
                <a:gd name="T43" fmla="*/ 0 h 798"/>
                <a:gd name="T44" fmla="*/ 490 w 580"/>
                <a:gd name="T45" fmla="*/ 0 h 798"/>
                <a:gd name="T46" fmla="*/ 520 w 580"/>
                <a:gd name="T47" fmla="*/ 0 h 798"/>
                <a:gd name="T48" fmla="*/ 542 w 580"/>
                <a:gd name="T49" fmla="*/ 0 h 798"/>
                <a:gd name="T50" fmla="*/ 558 w 580"/>
                <a:gd name="T51" fmla="*/ 0 h 798"/>
                <a:gd name="T52" fmla="*/ 562 w 580"/>
                <a:gd name="T53" fmla="*/ 0 h 798"/>
                <a:gd name="T54" fmla="*/ 564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solidFill>
              <a:srgbClr val="0000FF"/>
            </a:solidFill>
            <a:ln w="0">
              <a:noFill/>
              <a:round/>
            </a:ln>
          </p:spPr>
          <p:txBody>
            <a:bodyPr/>
            <a:lstStyle/>
            <a:p>
              <a:endParaRPr lang="zh-CN" altLang="en-US"/>
            </a:p>
          </p:txBody>
        </p:sp>
        <p:sp>
          <p:nvSpPr>
            <p:cNvPr id="31758" name="Text Box 14"/>
            <p:cNvSpPr txBox="1">
              <a:spLocks noChangeArrowheads="1"/>
            </p:cNvSpPr>
            <p:nvPr/>
          </p:nvSpPr>
          <p:spPr bwMode="auto">
            <a:xfrm>
              <a:off x="360" y="268"/>
              <a:ext cx="2292"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17970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lnSpc>
                  <a:spcPct val="125000"/>
                </a:lnSpc>
                <a:defRPr/>
              </a:pPr>
              <a:r>
                <a:rPr lang="zh-CN" altLang="en-US" b="1" dirty="0" smtClean="0">
                  <a:solidFill>
                    <a:srgbClr val="CC0000"/>
                  </a:solidFill>
                  <a:latin typeface="+mn-ea"/>
                  <a:ea typeface="+mn-ea"/>
                </a:rPr>
                <a:t>根本矛盾：</a:t>
              </a:r>
              <a:endParaRPr lang="zh-CN" altLang="en-US" b="1" dirty="0" smtClean="0">
                <a:solidFill>
                  <a:srgbClr val="CC0000"/>
                </a:solidFill>
                <a:latin typeface="+mn-ea"/>
                <a:ea typeface="+mn-ea"/>
              </a:endParaRPr>
            </a:p>
            <a:p>
              <a:pPr lvl="1" eaLnBrk="1" hangingPunct="1">
                <a:lnSpc>
                  <a:spcPct val="125000"/>
                </a:lnSpc>
                <a:defRPr/>
              </a:pPr>
              <a:r>
                <a:rPr lang="zh-CN" altLang="en-US" b="1" dirty="0" smtClean="0">
                  <a:solidFill>
                    <a:srgbClr val="020A53"/>
                  </a:solidFill>
                  <a:latin typeface="幼圆" pitchFamily="49" charset="-122"/>
                  <a:ea typeface="幼圆" pitchFamily="49" charset="-122"/>
                </a:rPr>
                <a:t>  </a:t>
              </a:r>
              <a:r>
                <a:rPr lang="zh-CN" altLang="en-US" b="1" dirty="0" smtClean="0">
                  <a:solidFill>
                    <a:srgbClr val="020A53"/>
                  </a:solidFill>
                  <a:latin typeface="楷体" panose="02010609060101010101" pitchFamily="49" charset="-122"/>
                  <a:ea typeface="楷体" panose="02010609060101010101" pitchFamily="49" charset="-122"/>
                </a:rPr>
                <a:t> 贯穿事物发展过程的始终，规定着事物的性质。 </a:t>
              </a:r>
              <a:endParaRPr lang="zh-CN" altLang="en-US" b="1" dirty="0" smtClean="0">
                <a:solidFill>
                  <a:srgbClr val="020A53"/>
                </a:solidFill>
                <a:latin typeface="楷体" panose="02010609060101010101" pitchFamily="49" charset="-122"/>
                <a:ea typeface="楷体" panose="02010609060101010101" pitchFamily="49" charset="-122"/>
              </a:endParaRPr>
            </a:p>
          </p:txBody>
        </p:sp>
        <p:sp>
          <p:nvSpPr>
            <p:cNvPr id="31759" name="Text Box 15"/>
            <p:cNvSpPr txBox="1">
              <a:spLocks noChangeArrowheads="1"/>
            </p:cNvSpPr>
            <p:nvPr/>
          </p:nvSpPr>
          <p:spPr bwMode="auto">
            <a:xfrm>
              <a:off x="3060" y="402"/>
              <a:ext cx="1905" cy="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17970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lnSpc>
                  <a:spcPct val="125000"/>
                </a:lnSpc>
                <a:defRPr/>
              </a:pPr>
              <a:r>
                <a:rPr lang="zh-CN" altLang="en-US" b="1" dirty="0" smtClean="0">
                  <a:solidFill>
                    <a:srgbClr val="CC0000"/>
                  </a:solidFill>
                  <a:latin typeface="+mn-ea"/>
                  <a:ea typeface="+mn-ea"/>
                </a:rPr>
                <a:t>非根本矛盾：</a:t>
              </a:r>
              <a:endParaRPr lang="zh-CN" altLang="en-US" b="1" dirty="0" smtClean="0">
                <a:solidFill>
                  <a:srgbClr val="CC0000"/>
                </a:solidFill>
                <a:latin typeface="+mn-ea"/>
                <a:ea typeface="+mn-ea"/>
              </a:endParaRPr>
            </a:p>
            <a:p>
              <a:pPr lvl="1" eaLnBrk="1" hangingPunct="1">
                <a:lnSpc>
                  <a:spcPct val="125000"/>
                </a:lnSpc>
                <a:defRPr/>
              </a:pPr>
              <a:r>
                <a:rPr lang="zh-CN" altLang="en-US" b="1" dirty="0" smtClean="0">
                  <a:solidFill>
                    <a:srgbClr val="020A53"/>
                  </a:solidFill>
                  <a:latin typeface="楷体" panose="02010609060101010101" pitchFamily="49" charset="-122"/>
                  <a:ea typeface="楷体" panose="02010609060101010101" pitchFamily="49" charset="-122"/>
                </a:rPr>
                <a:t>     处于服从地位的矛盾 </a:t>
              </a:r>
              <a:endParaRPr lang="zh-CN" altLang="en-US" b="1" dirty="0" smtClean="0">
                <a:solidFill>
                  <a:srgbClr val="020A53"/>
                </a:solidFill>
                <a:latin typeface="楷体" panose="02010609060101010101" pitchFamily="49" charset="-122"/>
                <a:ea typeface="楷体" panose="02010609060101010101" pitchFamily="49" charset="-122"/>
              </a:endParaRPr>
            </a:p>
          </p:txBody>
        </p:sp>
        <p:sp>
          <p:nvSpPr>
            <p:cNvPr id="53259" name="Freeform 16"/>
            <p:cNvSpPr>
              <a:spLocks noChangeArrowheads="1"/>
            </p:cNvSpPr>
            <p:nvPr/>
          </p:nvSpPr>
          <p:spPr bwMode="auto">
            <a:xfrm flipH="1">
              <a:off x="3130" y="133"/>
              <a:ext cx="578" cy="398"/>
            </a:xfrm>
            <a:custGeom>
              <a:avLst/>
              <a:gdLst>
                <a:gd name="T0" fmla="*/ 564 w 580"/>
                <a:gd name="T1" fmla="*/ 0 h 798"/>
                <a:gd name="T2" fmla="*/ 562 w 580"/>
                <a:gd name="T3" fmla="*/ 0 h 798"/>
                <a:gd name="T4" fmla="*/ 552 w 580"/>
                <a:gd name="T5" fmla="*/ 0 h 798"/>
                <a:gd name="T6" fmla="*/ 536 w 580"/>
                <a:gd name="T7" fmla="*/ 0 h 798"/>
                <a:gd name="T8" fmla="*/ 510 w 580"/>
                <a:gd name="T9" fmla="*/ 1 h 798"/>
                <a:gd name="T10" fmla="*/ 478 w 580"/>
                <a:gd name="T11" fmla="*/ 1 h 798"/>
                <a:gd name="T12" fmla="*/ 436 w 580"/>
                <a:gd name="T13" fmla="*/ 1 h 798"/>
                <a:gd name="T14" fmla="*/ 394 w 580"/>
                <a:gd name="T15" fmla="*/ 1 h 798"/>
                <a:gd name="T16" fmla="*/ 334 w 580"/>
                <a:gd name="T17" fmla="*/ 2 h 798"/>
                <a:gd name="T18" fmla="*/ 262 w 580"/>
                <a:gd name="T19" fmla="*/ 2 h 798"/>
                <a:gd name="T20" fmla="*/ 180 w 580"/>
                <a:gd name="T21" fmla="*/ 2 h 798"/>
                <a:gd name="T22" fmla="*/ 180 w 580"/>
                <a:gd name="T23" fmla="*/ 3 h 798"/>
                <a:gd name="T24" fmla="*/ 0 w 580"/>
                <a:gd name="T25" fmla="*/ 2 h 798"/>
                <a:gd name="T26" fmla="*/ 180 w 580"/>
                <a:gd name="T27" fmla="*/ 0 h 798"/>
                <a:gd name="T28" fmla="*/ 180 w 580"/>
                <a:gd name="T29" fmla="*/ 1 h 798"/>
                <a:gd name="T30" fmla="*/ 216 w 580"/>
                <a:gd name="T31" fmla="*/ 1 h 798"/>
                <a:gd name="T32" fmla="*/ 256 w 580"/>
                <a:gd name="T33" fmla="*/ 1 h 798"/>
                <a:gd name="T34" fmla="*/ 298 w 580"/>
                <a:gd name="T35" fmla="*/ 1 h 798"/>
                <a:gd name="T36" fmla="*/ 340 w 580"/>
                <a:gd name="T37" fmla="*/ 1 h 798"/>
                <a:gd name="T38" fmla="*/ 384 w 580"/>
                <a:gd name="T39" fmla="*/ 1 h 798"/>
                <a:gd name="T40" fmla="*/ 424 w 580"/>
                <a:gd name="T41" fmla="*/ 0 h 798"/>
                <a:gd name="T42" fmla="*/ 456 w 580"/>
                <a:gd name="T43" fmla="*/ 0 h 798"/>
                <a:gd name="T44" fmla="*/ 490 w 580"/>
                <a:gd name="T45" fmla="*/ 0 h 798"/>
                <a:gd name="T46" fmla="*/ 520 w 580"/>
                <a:gd name="T47" fmla="*/ 0 h 798"/>
                <a:gd name="T48" fmla="*/ 542 w 580"/>
                <a:gd name="T49" fmla="*/ 0 h 798"/>
                <a:gd name="T50" fmla="*/ 558 w 580"/>
                <a:gd name="T51" fmla="*/ 0 h 798"/>
                <a:gd name="T52" fmla="*/ 562 w 580"/>
                <a:gd name="T53" fmla="*/ 0 h 798"/>
                <a:gd name="T54" fmla="*/ 564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solidFill>
              <a:srgbClr val="666699"/>
            </a:solidFill>
            <a:ln w="0">
              <a:noFill/>
              <a:round/>
            </a:ln>
          </p:spPr>
          <p:txBody>
            <a:bodyPr/>
            <a:lstStyle/>
            <a:p>
              <a:endParaRPr lang="zh-CN" altLang="en-US"/>
            </a:p>
          </p:txBody>
        </p:sp>
        <p:sp>
          <p:nvSpPr>
            <p:cNvPr id="53260" name="Text Box 17"/>
            <p:cNvSpPr txBox="1">
              <a:spLocks noChangeArrowheads="1"/>
            </p:cNvSpPr>
            <p:nvPr/>
          </p:nvSpPr>
          <p:spPr bwMode="auto">
            <a:xfrm>
              <a:off x="585" y="-91"/>
              <a:ext cx="4212" cy="299"/>
            </a:xfrm>
            <a:prstGeom prst="rect">
              <a:avLst/>
            </a:prstGeom>
            <a:noFill/>
            <a:ln w="9525">
              <a:noFill/>
              <a:miter lim="800000"/>
            </a:ln>
          </p:spPr>
          <p:txBody>
            <a:bodyPr wrap="square">
              <a:spAutoFit/>
            </a:bodyPr>
            <a:lstStyle/>
            <a:p>
              <a:pPr>
                <a:lnSpc>
                  <a:spcPct val="125000"/>
                </a:lnSpc>
              </a:pPr>
              <a:r>
                <a:rPr lang="zh-CN" altLang="en-US" sz="2000" b="1" dirty="0">
                  <a:solidFill>
                    <a:srgbClr val="990000"/>
                  </a:solidFill>
                  <a:latin typeface="Arial" panose="020B0604020202020204" pitchFamily="34" charset="0"/>
                  <a:ea typeface="黑体" panose="02010609060101010101" pitchFamily="49" charset="-122"/>
                </a:rPr>
                <a:t>同一事物的矛盾在不同发展过程和发展阶段各有不同特点</a:t>
              </a:r>
              <a:endParaRPr lang="zh-CN" altLang="en-US" sz="2000" b="1" dirty="0">
                <a:solidFill>
                  <a:srgbClr val="990000"/>
                </a:solidFill>
                <a:latin typeface="Arial" panose="020B0604020202020204" pitchFamily="34" charset="0"/>
                <a:ea typeface="黑体" panose="02010609060101010101" pitchFamily="49" charset="-122"/>
              </a:endParaRPr>
            </a:p>
          </p:txBody>
        </p:sp>
        <p:sp>
          <p:nvSpPr>
            <p:cNvPr id="31762" name="Text Box 18"/>
            <p:cNvSpPr txBox="1">
              <a:spLocks noChangeArrowheads="1"/>
            </p:cNvSpPr>
            <p:nvPr/>
          </p:nvSpPr>
          <p:spPr bwMode="auto">
            <a:xfrm>
              <a:off x="2995" y="1568"/>
              <a:ext cx="1996" cy="710"/>
            </a:xfrm>
            <a:prstGeom prst="rect">
              <a:avLst/>
            </a:prstGeom>
            <a:solidFill>
              <a:srgbClr val="FFFF99"/>
            </a:solidFill>
            <a:ln w="76200" cmpd="tri">
              <a:solidFill>
                <a:srgbClr val="FF0000"/>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17970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lnSpc>
                  <a:spcPct val="125000"/>
                </a:lnSpc>
                <a:defRPr/>
              </a:pPr>
              <a:r>
                <a:rPr lang="zh-CN" altLang="en-US" b="1" dirty="0" smtClean="0">
                  <a:solidFill>
                    <a:srgbClr val="CC0000"/>
                  </a:solidFill>
                  <a:latin typeface="+mn-ea"/>
                  <a:ea typeface="+mn-ea"/>
                </a:rPr>
                <a:t>        次要矛盾：</a:t>
              </a:r>
              <a:endParaRPr lang="zh-CN" altLang="en-US" b="1" dirty="0" smtClean="0">
                <a:solidFill>
                  <a:srgbClr val="CC0000"/>
                </a:solidFill>
                <a:latin typeface="+mn-ea"/>
                <a:ea typeface="+mn-ea"/>
              </a:endParaRPr>
            </a:p>
            <a:p>
              <a:pPr lvl="1" eaLnBrk="1" hangingPunct="1">
                <a:lnSpc>
                  <a:spcPct val="125000"/>
                </a:lnSpc>
                <a:defRPr/>
              </a:pPr>
              <a:r>
                <a:rPr lang="zh-CN" altLang="en-US" b="1" dirty="0" smtClean="0">
                  <a:solidFill>
                    <a:srgbClr val="020A53"/>
                  </a:solidFill>
                  <a:latin typeface="楷体" panose="02010609060101010101" pitchFamily="49" charset="-122"/>
                  <a:ea typeface="楷体" panose="02010609060101010101" pitchFamily="49" charset="-122"/>
                </a:rPr>
                <a:t>处于服从地位的矛盾。</a:t>
              </a:r>
              <a:endParaRPr lang="zh-CN" altLang="en-US" b="1" dirty="0" smtClean="0">
                <a:solidFill>
                  <a:srgbClr val="020A53"/>
                </a:solidFill>
                <a:latin typeface="楷体" panose="02010609060101010101" pitchFamily="49" charset="-122"/>
                <a:ea typeface="楷体" panose="02010609060101010101" pitchFamily="49" charset="-122"/>
              </a:endParaRPr>
            </a:p>
            <a:p>
              <a:pPr lvl="1" eaLnBrk="1" hangingPunct="1">
                <a:lnSpc>
                  <a:spcPct val="125000"/>
                </a:lnSpc>
                <a:defRPr/>
              </a:pPr>
              <a:endParaRPr lang="zh-CN" altLang="en-US" b="1" dirty="0" smtClean="0">
                <a:solidFill>
                  <a:srgbClr val="020A53"/>
                </a:solidFill>
                <a:latin typeface="楷体" panose="02010609060101010101" pitchFamily="49" charset="-122"/>
                <a:ea typeface="楷体" panose="02010609060101010101" pitchFamily="49" charset="-122"/>
              </a:endParaRPr>
            </a:p>
          </p:txBody>
        </p:sp>
        <p:sp>
          <p:nvSpPr>
            <p:cNvPr id="53263" name="Freeform 28"/>
            <p:cNvSpPr>
              <a:spLocks noChangeArrowheads="1"/>
            </p:cNvSpPr>
            <p:nvPr/>
          </p:nvSpPr>
          <p:spPr bwMode="auto">
            <a:xfrm flipH="1">
              <a:off x="3175" y="1434"/>
              <a:ext cx="569" cy="415"/>
            </a:xfrm>
            <a:custGeom>
              <a:avLst/>
              <a:gdLst>
                <a:gd name="T0" fmla="*/ 497 w 580"/>
                <a:gd name="T1" fmla="*/ 0 h 798"/>
                <a:gd name="T2" fmla="*/ 495 w 580"/>
                <a:gd name="T3" fmla="*/ 1 h 798"/>
                <a:gd name="T4" fmla="*/ 487 w 580"/>
                <a:gd name="T5" fmla="*/ 1 h 798"/>
                <a:gd name="T6" fmla="*/ 474 w 580"/>
                <a:gd name="T7" fmla="*/ 2 h 798"/>
                <a:gd name="T8" fmla="*/ 451 w 580"/>
                <a:gd name="T9" fmla="*/ 2 h 798"/>
                <a:gd name="T10" fmla="*/ 424 w 580"/>
                <a:gd name="T11" fmla="*/ 2 h 798"/>
                <a:gd name="T12" fmla="*/ 388 w 580"/>
                <a:gd name="T13" fmla="*/ 3 h 798"/>
                <a:gd name="T14" fmla="*/ 345 w 580"/>
                <a:gd name="T15" fmla="*/ 3 h 798"/>
                <a:gd name="T16" fmla="*/ 294 w 580"/>
                <a:gd name="T17" fmla="*/ 3 h 798"/>
                <a:gd name="T18" fmla="*/ 231 w 580"/>
                <a:gd name="T19" fmla="*/ 3 h 798"/>
                <a:gd name="T20" fmla="*/ 163 w 580"/>
                <a:gd name="T21" fmla="*/ 4 h 798"/>
                <a:gd name="T22" fmla="*/ 163 w 580"/>
                <a:gd name="T23" fmla="*/ 4 h 798"/>
                <a:gd name="T24" fmla="*/ 0 w 580"/>
                <a:gd name="T25" fmla="*/ 3 h 798"/>
                <a:gd name="T26" fmla="*/ 163 w 580"/>
                <a:gd name="T27" fmla="*/ 2 h 798"/>
                <a:gd name="T28" fmla="*/ 163 w 580"/>
                <a:gd name="T29" fmla="*/ 2 h 798"/>
                <a:gd name="T30" fmla="*/ 192 w 580"/>
                <a:gd name="T31" fmla="*/ 2 h 798"/>
                <a:gd name="T32" fmla="*/ 226 w 580"/>
                <a:gd name="T33" fmla="*/ 2 h 798"/>
                <a:gd name="T34" fmla="*/ 263 w 580"/>
                <a:gd name="T35" fmla="*/ 2 h 798"/>
                <a:gd name="T36" fmla="*/ 299 w 580"/>
                <a:gd name="T37" fmla="*/ 2 h 798"/>
                <a:gd name="T38" fmla="*/ 336 w 580"/>
                <a:gd name="T39" fmla="*/ 2 h 798"/>
                <a:gd name="T40" fmla="*/ 371 w 580"/>
                <a:gd name="T41" fmla="*/ 2 h 798"/>
                <a:gd name="T42" fmla="*/ 405 w 580"/>
                <a:gd name="T43" fmla="*/ 1 h 798"/>
                <a:gd name="T44" fmla="*/ 434 w 580"/>
                <a:gd name="T45" fmla="*/ 1 h 798"/>
                <a:gd name="T46" fmla="*/ 460 w 580"/>
                <a:gd name="T47" fmla="*/ 1 h 798"/>
                <a:gd name="T48" fmla="*/ 479 w 580"/>
                <a:gd name="T49" fmla="*/ 1 h 798"/>
                <a:gd name="T50" fmla="*/ 492 w 580"/>
                <a:gd name="T51" fmla="*/ 1 h 798"/>
                <a:gd name="T52" fmla="*/ 495 w 580"/>
                <a:gd name="T53" fmla="*/ 0 h 798"/>
                <a:gd name="T54" fmla="*/ 49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solidFill>
              <a:srgbClr val="666699"/>
            </a:solidFill>
            <a:ln w="0">
              <a:noFill/>
              <a:round/>
            </a:ln>
          </p:spPr>
          <p:txBody>
            <a:bodyPr/>
            <a:lstStyle/>
            <a:p>
              <a:endParaRPr lang="zh-CN" altLang="en-US"/>
            </a:p>
          </p:txBody>
        </p:sp>
        <p:sp>
          <p:nvSpPr>
            <p:cNvPr id="31772" name="Text Box 30"/>
            <p:cNvSpPr txBox="1">
              <a:spLocks noChangeArrowheads="1"/>
            </p:cNvSpPr>
            <p:nvPr/>
          </p:nvSpPr>
          <p:spPr bwMode="auto">
            <a:xfrm>
              <a:off x="295" y="2376"/>
              <a:ext cx="2438" cy="710"/>
            </a:xfrm>
            <a:prstGeom prst="rect">
              <a:avLst/>
            </a:prstGeom>
            <a:solidFill>
              <a:srgbClr val="FFFF99"/>
            </a:solidFill>
            <a:ln w="76200" cmpd="tri">
              <a:solidFill>
                <a:schemeClr val="tx2"/>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17970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lnSpc>
                  <a:spcPct val="125000"/>
                </a:lnSpc>
                <a:defRPr/>
              </a:pPr>
              <a:r>
                <a:rPr lang="zh-CN" altLang="en-US" b="1" dirty="0" smtClean="0">
                  <a:solidFill>
                    <a:srgbClr val="CC0000"/>
                  </a:solidFill>
                  <a:latin typeface="+mn-ea"/>
                  <a:ea typeface="+mn-ea"/>
                </a:rPr>
                <a:t>矛盾的主要方面：</a:t>
              </a:r>
              <a:endParaRPr lang="zh-CN" altLang="en-US" b="1" dirty="0" smtClean="0">
                <a:solidFill>
                  <a:srgbClr val="CC0000"/>
                </a:solidFill>
                <a:latin typeface="+mn-ea"/>
                <a:ea typeface="+mn-ea"/>
              </a:endParaRPr>
            </a:p>
            <a:p>
              <a:pPr lvl="1" eaLnBrk="1" hangingPunct="1">
                <a:lnSpc>
                  <a:spcPct val="125000"/>
                </a:lnSpc>
                <a:defRPr/>
              </a:pPr>
              <a:r>
                <a:rPr lang="zh-CN" altLang="en-US" b="1" dirty="0" smtClean="0">
                  <a:solidFill>
                    <a:srgbClr val="020A53"/>
                  </a:solidFill>
                  <a:latin typeface="楷体" panose="02010609060101010101" pitchFamily="49" charset="-122"/>
                  <a:ea typeface="楷体" panose="02010609060101010101" pitchFamily="49" charset="-122"/>
                </a:rPr>
                <a:t>处于支配地位的、对事物发展过程起决定作用的矛盾方面</a:t>
              </a:r>
              <a:endParaRPr lang="zh-CN" altLang="en-US" b="1" dirty="0" smtClean="0">
                <a:solidFill>
                  <a:srgbClr val="020A53"/>
                </a:solidFill>
                <a:latin typeface="楷体" panose="02010609060101010101" pitchFamily="49" charset="-122"/>
                <a:ea typeface="楷体" panose="02010609060101010101" pitchFamily="49" charset="-122"/>
              </a:endParaRPr>
            </a:p>
          </p:txBody>
        </p:sp>
        <p:sp>
          <p:nvSpPr>
            <p:cNvPr id="31773" name="Text Box 31"/>
            <p:cNvSpPr txBox="1">
              <a:spLocks noChangeArrowheads="1"/>
            </p:cNvSpPr>
            <p:nvPr/>
          </p:nvSpPr>
          <p:spPr bwMode="auto">
            <a:xfrm>
              <a:off x="2995" y="2376"/>
              <a:ext cx="1996" cy="710"/>
            </a:xfrm>
            <a:prstGeom prst="rect">
              <a:avLst/>
            </a:prstGeom>
            <a:solidFill>
              <a:srgbClr val="FFFF99"/>
            </a:solidFill>
            <a:ln w="76200" cmpd="tri">
              <a:solidFill>
                <a:srgbClr val="FF0000"/>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17970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lnSpc>
                  <a:spcPct val="125000"/>
                </a:lnSpc>
                <a:defRPr/>
              </a:pPr>
              <a:r>
                <a:rPr lang="zh-CN" altLang="en-US" b="1" dirty="0" smtClean="0">
                  <a:solidFill>
                    <a:srgbClr val="CC0000"/>
                  </a:solidFill>
                  <a:latin typeface="+mn-ea"/>
                  <a:ea typeface="+mn-ea"/>
                </a:rPr>
                <a:t>矛盾的次要方面：</a:t>
              </a:r>
              <a:endParaRPr lang="zh-CN" altLang="en-US" b="1" dirty="0" smtClean="0">
                <a:solidFill>
                  <a:srgbClr val="CC0000"/>
                </a:solidFill>
                <a:latin typeface="+mn-ea"/>
                <a:ea typeface="+mn-ea"/>
              </a:endParaRPr>
            </a:p>
            <a:p>
              <a:pPr lvl="1" eaLnBrk="1" hangingPunct="1">
                <a:lnSpc>
                  <a:spcPct val="125000"/>
                </a:lnSpc>
                <a:defRPr/>
              </a:pPr>
              <a:r>
                <a:rPr lang="zh-CN" altLang="en-US" b="1" dirty="0" smtClean="0">
                  <a:solidFill>
                    <a:srgbClr val="020A53"/>
                  </a:solidFill>
                  <a:latin typeface="楷体" panose="02010609060101010101" pitchFamily="49" charset="-122"/>
                  <a:ea typeface="楷体" panose="02010609060101010101" pitchFamily="49" charset="-122"/>
                </a:rPr>
                <a:t>处于服从地位的矛盾方面。</a:t>
              </a:r>
              <a:endParaRPr lang="zh-CN" altLang="en-US" b="1" dirty="0" smtClean="0">
                <a:solidFill>
                  <a:srgbClr val="020A53"/>
                </a:solidFill>
                <a:latin typeface="楷体" panose="02010609060101010101" pitchFamily="49" charset="-122"/>
                <a:ea typeface="楷体" panose="02010609060101010101" pitchFamily="49" charset="-122"/>
              </a:endParaRPr>
            </a:p>
            <a:p>
              <a:pPr lvl="1" eaLnBrk="1" hangingPunct="1">
                <a:lnSpc>
                  <a:spcPct val="125000"/>
                </a:lnSpc>
                <a:defRPr/>
              </a:pPr>
              <a:endParaRPr lang="en-US" altLang="zh-CN" b="1" dirty="0" smtClean="0">
                <a:solidFill>
                  <a:srgbClr val="020A53"/>
                </a:solidFill>
                <a:latin typeface="楷体" panose="02010609060101010101" pitchFamily="49" charset="-122"/>
                <a:ea typeface="楷体" panose="02010609060101010101" pitchFamily="49" charset="-122"/>
              </a:endParaRPr>
            </a:p>
          </p:txBody>
        </p:sp>
        <p:sp>
          <p:nvSpPr>
            <p:cNvPr id="31774" name="Text Box 32"/>
            <p:cNvSpPr txBox="1">
              <a:spLocks noChangeArrowheads="1"/>
            </p:cNvSpPr>
            <p:nvPr/>
          </p:nvSpPr>
          <p:spPr bwMode="auto">
            <a:xfrm>
              <a:off x="295" y="1568"/>
              <a:ext cx="2438" cy="710"/>
            </a:xfrm>
            <a:prstGeom prst="rect">
              <a:avLst/>
            </a:prstGeom>
            <a:solidFill>
              <a:srgbClr val="FFFF99"/>
            </a:solidFill>
            <a:ln w="76200" cmpd="tri">
              <a:solidFill>
                <a:schemeClr val="tx2"/>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17970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lnSpc>
                  <a:spcPct val="125000"/>
                </a:lnSpc>
                <a:defRPr/>
              </a:pPr>
              <a:r>
                <a:rPr lang="zh-CN" altLang="en-US" b="1" dirty="0" smtClean="0">
                  <a:solidFill>
                    <a:srgbClr val="CC0000"/>
                  </a:solidFill>
                  <a:latin typeface="+mn-ea"/>
                  <a:ea typeface="+mn-ea"/>
                </a:rPr>
                <a:t>主要矛盾：</a:t>
              </a:r>
              <a:endParaRPr lang="zh-CN" altLang="en-US" b="1" dirty="0" smtClean="0">
                <a:solidFill>
                  <a:srgbClr val="CC0000"/>
                </a:solidFill>
                <a:latin typeface="+mn-ea"/>
                <a:ea typeface="+mn-ea"/>
              </a:endParaRPr>
            </a:p>
            <a:p>
              <a:pPr lvl="1" eaLnBrk="1" hangingPunct="1">
                <a:lnSpc>
                  <a:spcPct val="125000"/>
                </a:lnSpc>
                <a:defRPr/>
              </a:pPr>
              <a:r>
                <a:rPr lang="zh-CN" altLang="en-US" b="1" dirty="0" smtClean="0">
                  <a:solidFill>
                    <a:srgbClr val="020A53"/>
                  </a:solidFill>
                  <a:latin typeface="楷体" panose="02010609060101010101" pitchFamily="49" charset="-122"/>
                  <a:ea typeface="楷体" panose="02010609060101010101" pitchFamily="49" charset="-122"/>
                </a:rPr>
                <a:t>矛盾体系中处于支配地位、对事物发展起决定作用的矛盾。 </a:t>
              </a:r>
              <a:endParaRPr lang="zh-CN" altLang="en-US" b="1" dirty="0" smtClean="0">
                <a:solidFill>
                  <a:srgbClr val="020A53"/>
                </a:solidFill>
                <a:latin typeface="楷体" panose="02010609060101010101" pitchFamily="49" charset="-122"/>
                <a:ea typeface="楷体" panose="02010609060101010101" pitchFamily="49" charset="-122"/>
              </a:endParaRPr>
            </a:p>
          </p:txBody>
        </p:sp>
        <p:sp>
          <p:nvSpPr>
            <p:cNvPr id="53267" name="Freeform 34"/>
            <p:cNvSpPr>
              <a:spLocks noChangeArrowheads="1"/>
            </p:cNvSpPr>
            <p:nvPr/>
          </p:nvSpPr>
          <p:spPr bwMode="auto">
            <a:xfrm>
              <a:off x="1629" y="1426"/>
              <a:ext cx="569" cy="464"/>
            </a:xfrm>
            <a:custGeom>
              <a:avLst/>
              <a:gdLst>
                <a:gd name="T0" fmla="*/ 497 w 580"/>
                <a:gd name="T1" fmla="*/ 0 h 798"/>
                <a:gd name="T2" fmla="*/ 495 w 580"/>
                <a:gd name="T3" fmla="*/ 1 h 798"/>
                <a:gd name="T4" fmla="*/ 487 w 580"/>
                <a:gd name="T5" fmla="*/ 2 h 798"/>
                <a:gd name="T6" fmla="*/ 474 w 580"/>
                <a:gd name="T7" fmla="*/ 3 h 798"/>
                <a:gd name="T8" fmla="*/ 451 w 580"/>
                <a:gd name="T9" fmla="*/ 5 h 798"/>
                <a:gd name="T10" fmla="*/ 424 w 580"/>
                <a:gd name="T11" fmla="*/ 5 h 798"/>
                <a:gd name="T12" fmla="*/ 388 w 580"/>
                <a:gd name="T13" fmla="*/ 6 h 798"/>
                <a:gd name="T14" fmla="*/ 345 w 580"/>
                <a:gd name="T15" fmla="*/ 7 h 798"/>
                <a:gd name="T16" fmla="*/ 294 w 580"/>
                <a:gd name="T17" fmla="*/ 8 h 798"/>
                <a:gd name="T18" fmla="*/ 231 w 580"/>
                <a:gd name="T19" fmla="*/ 8 h 798"/>
                <a:gd name="T20" fmla="*/ 163 w 580"/>
                <a:gd name="T21" fmla="*/ 9 h 798"/>
                <a:gd name="T22" fmla="*/ 163 w 580"/>
                <a:gd name="T23" fmla="*/ 10 h 798"/>
                <a:gd name="T24" fmla="*/ 0 w 580"/>
                <a:gd name="T25" fmla="*/ 7 h 798"/>
                <a:gd name="T26" fmla="*/ 163 w 580"/>
                <a:gd name="T27" fmla="*/ 3 h 798"/>
                <a:gd name="T28" fmla="*/ 163 w 580"/>
                <a:gd name="T29" fmla="*/ 5 h 798"/>
                <a:gd name="T30" fmla="*/ 192 w 580"/>
                <a:gd name="T31" fmla="*/ 5 h 798"/>
                <a:gd name="T32" fmla="*/ 226 w 580"/>
                <a:gd name="T33" fmla="*/ 5 h 798"/>
                <a:gd name="T34" fmla="*/ 263 w 580"/>
                <a:gd name="T35" fmla="*/ 5 h 798"/>
                <a:gd name="T36" fmla="*/ 299 w 580"/>
                <a:gd name="T37" fmla="*/ 4 h 798"/>
                <a:gd name="T38" fmla="*/ 336 w 580"/>
                <a:gd name="T39" fmla="*/ 3 h 798"/>
                <a:gd name="T40" fmla="*/ 371 w 580"/>
                <a:gd name="T41" fmla="*/ 3 h 798"/>
                <a:gd name="T42" fmla="*/ 405 w 580"/>
                <a:gd name="T43" fmla="*/ 3 h 798"/>
                <a:gd name="T44" fmla="*/ 434 w 580"/>
                <a:gd name="T45" fmla="*/ 2 h 798"/>
                <a:gd name="T46" fmla="*/ 460 w 580"/>
                <a:gd name="T47" fmla="*/ 2 h 798"/>
                <a:gd name="T48" fmla="*/ 479 w 580"/>
                <a:gd name="T49" fmla="*/ 1 h 798"/>
                <a:gd name="T50" fmla="*/ 492 w 580"/>
                <a:gd name="T51" fmla="*/ 1 h 798"/>
                <a:gd name="T52" fmla="*/ 495 w 580"/>
                <a:gd name="T53" fmla="*/ 0 h 798"/>
                <a:gd name="T54" fmla="*/ 49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solidFill>
              <a:srgbClr val="0000FF"/>
            </a:solidFill>
            <a:ln w="0">
              <a:noFill/>
              <a:round/>
            </a:ln>
          </p:spPr>
          <p:txBody>
            <a:bodyPr/>
            <a:lstStyle/>
            <a:p>
              <a:endParaRPr lang="zh-CN" altLang="en-US"/>
            </a:p>
          </p:txBody>
        </p:sp>
      </p:grpSp>
      <p:sp>
        <p:nvSpPr>
          <p:cNvPr id="53253" name="Text Box 39"/>
          <p:cNvSpPr txBox="1">
            <a:spLocks noChangeArrowheads="1"/>
          </p:cNvSpPr>
          <p:nvPr/>
        </p:nvSpPr>
        <p:spPr bwMode="auto">
          <a:xfrm>
            <a:off x="357158" y="2143116"/>
            <a:ext cx="7850188" cy="473075"/>
          </a:xfrm>
          <a:prstGeom prst="rect">
            <a:avLst/>
          </a:prstGeom>
          <a:noFill/>
          <a:ln w="9525">
            <a:noFill/>
            <a:miter lim="800000"/>
          </a:ln>
        </p:spPr>
        <p:txBody>
          <a:bodyPr>
            <a:spAutoFit/>
          </a:bodyPr>
          <a:lstStyle/>
          <a:p>
            <a:pPr eaLnBrk="1" hangingPunct="1">
              <a:lnSpc>
                <a:spcPct val="125000"/>
              </a:lnSpc>
              <a:spcBef>
                <a:spcPct val="20000"/>
              </a:spcBef>
            </a:pPr>
            <a:r>
              <a:rPr lang="zh-CN" altLang="en-US" sz="2000" b="1" dirty="0">
                <a:solidFill>
                  <a:srgbClr val="990000"/>
                </a:solidFill>
                <a:latin typeface="Arial" panose="020B0604020202020204" pitchFamily="34" charset="0"/>
                <a:ea typeface="黑体" panose="02010609060101010101" pitchFamily="49" charset="-122"/>
              </a:rPr>
              <a:t>构</a:t>
            </a:r>
            <a:r>
              <a:rPr lang="zh-CN" altLang="en-US" b="1" dirty="0">
                <a:solidFill>
                  <a:srgbClr val="990000"/>
                </a:solidFill>
                <a:latin typeface="Arial" panose="020B0604020202020204" pitchFamily="34" charset="0"/>
                <a:ea typeface="黑体" panose="02010609060101010101" pitchFamily="49" charset="-122"/>
              </a:rPr>
              <a:t>成事物的诸多矛盾以及每一矛盾的不同方面各有不同的性质、地位和作用</a:t>
            </a:r>
            <a:endParaRPr lang="zh-CN" altLang="en-US" b="1" dirty="0">
              <a:solidFill>
                <a:srgbClr val="990000"/>
              </a:solidFill>
              <a:latin typeface="Arial" panose="020B0604020202020204" pitchFamily="34" charset="0"/>
              <a:ea typeface="黑体" panose="02010609060101010101" pitchFamily="49" charset="-122"/>
            </a:endParaRPr>
          </a:p>
        </p:txBody>
      </p:sp>
      <p:sp>
        <p:nvSpPr>
          <p:cNvPr id="34" name="矩形 33"/>
          <p:cNvSpPr/>
          <p:nvPr/>
        </p:nvSpPr>
        <p:spPr>
          <a:xfrm>
            <a:off x="357158" y="5319117"/>
            <a:ext cx="7572428" cy="1200329"/>
          </a:xfrm>
          <a:prstGeom prst="rect">
            <a:avLst/>
          </a:prstGeom>
        </p:spPr>
        <p:txBody>
          <a:bodyPr wrap="square">
            <a:spAutoFit/>
          </a:bodyPr>
          <a:lstStyle/>
          <a:p>
            <a:r>
              <a:rPr lang="zh-CN" altLang="en-US" sz="2400" b="1" dirty="0" smtClean="0">
                <a:solidFill>
                  <a:srgbClr val="FF0000"/>
                </a:solidFill>
                <a:latin typeface="楷体" panose="02010609060101010101" pitchFamily="49" charset="-122"/>
                <a:ea typeface="楷体" panose="02010609060101010101" pitchFamily="49" charset="-122"/>
              </a:rPr>
              <a:t>重点论：</a:t>
            </a:r>
            <a:r>
              <a:rPr lang="zh-CN" altLang="en-US" sz="2400" b="1" dirty="0" smtClean="0">
                <a:solidFill>
                  <a:srgbClr val="000000"/>
                </a:solidFill>
                <a:latin typeface="楷体" panose="02010609060101010101" pitchFamily="49" charset="-122"/>
                <a:ea typeface="楷体" panose="02010609060101010101" pitchFamily="49" charset="-122"/>
              </a:rPr>
              <a:t>着重把握</a:t>
            </a:r>
            <a:r>
              <a:rPr lang="zh-CN" altLang="en-US" sz="2400" b="1" dirty="0" smtClean="0">
                <a:solidFill>
                  <a:srgbClr val="FF0000"/>
                </a:solidFill>
                <a:latin typeface="楷体" panose="02010609060101010101" pitchFamily="49" charset="-122"/>
                <a:ea typeface="楷体" panose="02010609060101010101" pitchFamily="49" charset="-122"/>
              </a:rPr>
              <a:t>主要矛盾</a:t>
            </a:r>
            <a:r>
              <a:rPr lang="zh-CN" altLang="en-US" sz="2400" b="1" dirty="0" smtClean="0">
                <a:solidFill>
                  <a:srgbClr val="000000"/>
                </a:solidFill>
                <a:latin typeface="楷体" panose="02010609060101010101" pitchFamily="49" charset="-122"/>
                <a:ea typeface="楷体" panose="02010609060101010101" pitchFamily="49" charset="-122"/>
              </a:rPr>
              <a:t>和矛盾的</a:t>
            </a:r>
            <a:r>
              <a:rPr lang="zh-CN" altLang="en-US" sz="2400" b="1" dirty="0" smtClean="0">
                <a:solidFill>
                  <a:srgbClr val="FF0000"/>
                </a:solidFill>
                <a:latin typeface="楷体" panose="02010609060101010101" pitchFamily="49" charset="-122"/>
                <a:ea typeface="楷体" panose="02010609060101010101" pitchFamily="49" charset="-122"/>
              </a:rPr>
              <a:t>主要方面</a:t>
            </a:r>
            <a:r>
              <a:rPr lang="zh-CN" altLang="en-US" sz="2400" b="1" dirty="0" smtClean="0">
                <a:solidFill>
                  <a:srgbClr val="000000"/>
                </a:solidFill>
                <a:latin typeface="楷体" panose="02010609060101010101" pitchFamily="49" charset="-122"/>
                <a:ea typeface="楷体" panose="02010609060101010101" pitchFamily="49" charset="-122"/>
              </a:rPr>
              <a:t>。</a:t>
            </a:r>
            <a:endParaRPr lang="zh-CN" altLang="en-US" sz="2400" b="1" dirty="0" smtClean="0">
              <a:solidFill>
                <a:srgbClr val="000000"/>
              </a:solidFill>
              <a:latin typeface="楷体" panose="02010609060101010101" pitchFamily="49" charset="-122"/>
              <a:ea typeface="楷体" panose="02010609060101010101" pitchFamily="49" charset="-122"/>
            </a:endParaRPr>
          </a:p>
          <a:p>
            <a:r>
              <a:rPr lang="zh-CN" altLang="en-US" sz="2400" b="1" dirty="0" smtClean="0">
                <a:solidFill>
                  <a:srgbClr val="FF0000"/>
                </a:solidFill>
                <a:latin typeface="楷体" panose="02010609060101010101" pitchFamily="49" charset="-122"/>
                <a:ea typeface="楷体" panose="02010609060101010101" pitchFamily="49" charset="-122"/>
              </a:rPr>
              <a:t>两点论：</a:t>
            </a:r>
            <a:r>
              <a:rPr lang="zh-CN" altLang="en-US" sz="2400" b="1" dirty="0" smtClean="0">
                <a:solidFill>
                  <a:srgbClr val="000000"/>
                </a:solidFill>
                <a:latin typeface="楷体" panose="02010609060101010101" pitchFamily="49" charset="-122"/>
                <a:ea typeface="楷体" panose="02010609060101010101" pitchFamily="49" charset="-122"/>
              </a:rPr>
              <a:t>有对立、有统一；要看到主要矛盾，也要看到次要矛盾；要看到矛盾的主要方面，也要看到次要方面</a:t>
            </a:r>
            <a:endParaRPr lang="en-US" altLang="zh-CN" sz="2400" b="1" dirty="0" smtClean="0">
              <a:solidFill>
                <a:srgbClr val="0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nvSpPr>
        <p:spPr>
          <a:xfrm>
            <a:off x="180340" y="4286255"/>
            <a:ext cx="8535064" cy="2121529"/>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buFontTx/>
              <a:buNone/>
            </a:pPr>
            <a:r>
              <a:rPr lang="en-US" altLang="zh-CN" sz="2800" b="1" dirty="0" smtClean="0">
                <a:solidFill>
                  <a:srgbClr val="6600FF"/>
                </a:solidFill>
                <a:latin typeface="楷体_GB2312" pitchFamily="1" charset="-122"/>
                <a:ea typeface="楷体_GB2312" pitchFamily="1" charset="-122"/>
              </a:rPr>
              <a:t> 4.</a:t>
            </a:r>
            <a:r>
              <a:rPr lang="zh-CN" altLang="en-US" sz="2800" b="1" dirty="0" smtClean="0">
                <a:solidFill>
                  <a:srgbClr val="6600FF"/>
                </a:solidFill>
                <a:latin typeface="楷体_GB2312" pitchFamily="1" charset="-122"/>
                <a:ea typeface="楷体_GB2312" pitchFamily="1" charset="-122"/>
              </a:rPr>
              <a:t>方法论意义：</a:t>
            </a:r>
            <a:endParaRPr lang="en-US" altLang="zh-CN" sz="2800" b="1" dirty="0" smtClean="0">
              <a:solidFill>
                <a:srgbClr val="6600FF"/>
              </a:solidFill>
              <a:latin typeface="楷体_GB2312" pitchFamily="1" charset="-122"/>
              <a:ea typeface="楷体_GB2312" pitchFamily="1" charset="-122"/>
            </a:endParaRPr>
          </a:p>
          <a:p>
            <a:pPr eaLnBrk="1" hangingPunct="1">
              <a:buFontTx/>
              <a:buNone/>
            </a:pPr>
            <a:r>
              <a:rPr lang="zh-CN" altLang="en-US" sz="2400" b="1" dirty="0" smtClean="0">
                <a:solidFill>
                  <a:srgbClr val="000000"/>
                </a:solidFill>
                <a:latin typeface="+mn-ea"/>
              </a:rPr>
              <a:t>     这一原理是马克思主义的普遍真理同各国具体实际相结合的哲学基础，是建设中国特色社会主义的哲学基础。要求我们分析任何事物，既要分析矛盾的普遍性，又要分析矛盾的特殊性；要具体情况具体分析，具体矛盾具体解决。</a:t>
            </a:r>
            <a:endParaRPr lang="en-US" altLang="zh-CN" sz="2800" b="1" dirty="0" smtClean="0">
              <a:solidFill>
                <a:srgbClr val="000000"/>
              </a:solidFill>
              <a:latin typeface="+mn-ea"/>
            </a:endParaRPr>
          </a:p>
          <a:p>
            <a:pPr eaLnBrk="1" hangingPunct="1">
              <a:buFontTx/>
              <a:buNone/>
            </a:pPr>
            <a:endParaRPr lang="zh-CN" altLang="en-US" sz="2400" b="1" dirty="0" smtClean="0">
              <a:latin typeface="华文楷体" pitchFamily="2" charset="-122"/>
              <a:ea typeface="华文楷体" pitchFamily="2" charset="-122"/>
            </a:endParaRPr>
          </a:p>
        </p:txBody>
      </p:sp>
      <p:sp>
        <p:nvSpPr>
          <p:cNvPr id="5" name="Rectangle 3"/>
          <p:cNvSpPr txBox="1">
            <a:spLocks noChangeArrowheads="1"/>
          </p:cNvSpPr>
          <p:nvPr/>
        </p:nvSpPr>
        <p:spPr>
          <a:xfrm>
            <a:off x="228600" y="1143001"/>
            <a:ext cx="8763000" cy="3071818"/>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a:t>
            </a:r>
            <a:r>
              <a:rPr kumimoji="0" lang="en-US" altLang="zh-CN"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1</a:t>
            </a:r>
            <a:r>
              <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）矛盾的共性是无条件的、绝对的，矛盾的个性是有条件的、相对的。</a:t>
            </a:r>
            <a:endPar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a:t>
            </a:r>
            <a:r>
              <a:rPr kumimoji="0" lang="en-US" altLang="zh-CN"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2</a:t>
            </a:r>
            <a:r>
              <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）矛盾的普遍性和特殊性是不可分割的，任何事物的矛盾都是共性和个性的有机统一。</a:t>
            </a:r>
            <a:endPar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zh-CN" altLang="en-US" sz="24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  共性离不开个性，共性寓于个性之中；没有离开个性的共性，也没有离开共性的个性。</a:t>
            </a:r>
            <a:endParaRPr kumimoji="0" lang="zh-CN" altLang="en-US" sz="24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a:t>
            </a:r>
            <a:r>
              <a:rPr kumimoji="0" lang="en-US" altLang="zh-CN"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3</a:t>
            </a:r>
            <a:r>
              <a:rPr kumimoji="0" lang="zh-CN" altLang="en-US" sz="24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）矛盾的普遍性与特殊性在一定条件下相互转化。</a:t>
            </a:r>
            <a:endParaRPr kumimoji="0" lang="zh-CN" altLang="en-US" sz="2400" b="0" i="0" u="none" strike="noStrike" kern="1200" cap="none" spc="0" normalizeH="0" baseline="0" noProof="0" dirty="0" smtClean="0">
              <a:ln>
                <a:noFill/>
              </a:ln>
              <a:solidFill>
                <a:schemeClr val="tx2"/>
              </a:solidFill>
              <a:effectLst/>
              <a:uLnTx/>
              <a:uFillTx/>
              <a:latin typeface="+mn-lt"/>
              <a:ea typeface="+mn-ea"/>
              <a:cs typeface="+mn-cs"/>
            </a:endParaRPr>
          </a:p>
        </p:txBody>
      </p:sp>
      <p:sp>
        <p:nvSpPr>
          <p:cNvPr id="6" name="Text Box 27"/>
          <p:cNvSpPr txBox="1">
            <a:spLocks noChangeArrowheads="1"/>
          </p:cNvSpPr>
          <p:nvPr/>
        </p:nvSpPr>
        <p:spPr bwMode="auto">
          <a:xfrm>
            <a:off x="357158" y="357166"/>
            <a:ext cx="8501122" cy="523220"/>
          </a:xfrm>
          <a:prstGeom prst="rect">
            <a:avLst/>
          </a:prstGeom>
          <a:noFill/>
          <a:ln w="9525">
            <a:noFill/>
            <a:miter lim="800000"/>
          </a:ln>
        </p:spPr>
        <p:txBody>
          <a:bodyPr wrap="square">
            <a:spAutoFit/>
          </a:bodyPr>
          <a:lstStyle/>
          <a:p>
            <a:r>
              <a:rPr lang="en-US" altLang="zh-CN" sz="2800" b="1" kern="0" dirty="0" smtClean="0">
                <a:solidFill>
                  <a:srgbClr val="6600FF"/>
                </a:solidFill>
                <a:latin typeface="楷体_GB2312" pitchFamily="1" charset="-122"/>
                <a:ea typeface="楷体_GB2312" pitchFamily="1" charset="-122"/>
              </a:rPr>
              <a:t>3</a:t>
            </a:r>
            <a:r>
              <a:rPr lang="zh-CN" altLang="en-US" sz="2800" b="1" kern="0" dirty="0" smtClean="0">
                <a:solidFill>
                  <a:srgbClr val="6600FF"/>
                </a:solidFill>
                <a:latin typeface="楷体_GB2312" pitchFamily="1" charset="-122"/>
                <a:ea typeface="楷体_GB2312" pitchFamily="1" charset="-122"/>
              </a:rPr>
              <a:t>.矛盾普遍性（共性）和特殊性（个性）的辩证关系</a:t>
            </a:r>
            <a:endParaRPr lang="zh-CN" altLang="en-US" sz="2800" b="1" dirty="0" smtClean="0">
              <a:solidFill>
                <a:srgbClr val="000000"/>
              </a:solidFill>
              <a:latin typeface="楷体_GB2312" pitchFamily="1" charset="-122"/>
              <a:ea typeface="楷体_GB2312" pitchFamily="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blinds dir="vert"/>
      </p:transition>
    </mc:Choice>
    <mc:Fallback>
      <p:transition spd="slow" advClick="0" advTm="0">
        <p:blinds dir="ver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4294967295"/>
          </p:nvPr>
        </p:nvSpPr>
        <p:spPr>
          <a:xfrm>
            <a:off x="357158" y="3071810"/>
            <a:ext cx="8458200" cy="990600"/>
          </a:xfrm>
        </p:spPr>
        <p:txBody>
          <a:bodyPr/>
          <a:lstStyle/>
          <a:p>
            <a:pPr eaLnBrk="1" hangingPunct="1">
              <a:buFontTx/>
              <a:buNone/>
            </a:pPr>
            <a:r>
              <a:rPr lang="zh-CN" altLang="en-US" sz="2800" b="1" dirty="0" smtClean="0">
                <a:solidFill>
                  <a:srgbClr val="D60093"/>
                </a:solidFill>
                <a:latin typeface="楷体_GB2312" pitchFamily="1" charset="-122"/>
                <a:ea typeface="楷体_GB2312" pitchFamily="1" charset="-122"/>
              </a:rPr>
              <a:t>（</a:t>
            </a:r>
            <a:r>
              <a:rPr lang="en-US" altLang="zh-CN" sz="2800" b="1" dirty="0" smtClean="0">
                <a:solidFill>
                  <a:srgbClr val="D60093"/>
                </a:solidFill>
                <a:latin typeface="楷体_GB2312" pitchFamily="1" charset="-122"/>
                <a:ea typeface="楷体_GB2312" pitchFamily="1" charset="-122"/>
              </a:rPr>
              <a:t>1</a:t>
            </a:r>
            <a:r>
              <a:rPr lang="zh-CN" altLang="en-US" sz="2800" b="1" dirty="0" smtClean="0">
                <a:solidFill>
                  <a:srgbClr val="D60093"/>
                </a:solidFill>
                <a:latin typeface="楷体_GB2312" pitchFamily="1" charset="-122"/>
                <a:ea typeface="楷体_GB2312" pitchFamily="1" charset="-122"/>
              </a:rPr>
              <a:t>）定义：</a:t>
            </a:r>
            <a:r>
              <a:rPr lang="zh-CN" altLang="en-US" sz="2800" b="1" dirty="0" smtClean="0">
                <a:solidFill>
                  <a:srgbClr val="000000"/>
                </a:solidFill>
                <a:latin typeface="楷体_GB2312" pitchFamily="1" charset="-122"/>
                <a:ea typeface="楷体_GB2312" pitchFamily="1" charset="-122"/>
              </a:rPr>
              <a:t>一事物区别于其他事物的内在规定性，是事物各种属性的内在统一。</a:t>
            </a:r>
            <a:endParaRPr lang="zh-CN" altLang="en-US" sz="2800" b="1" dirty="0" smtClean="0">
              <a:solidFill>
                <a:srgbClr val="000000"/>
              </a:solidFill>
              <a:latin typeface="楷体_GB2312" pitchFamily="1" charset="-122"/>
              <a:ea typeface="楷体_GB2312" pitchFamily="1" charset="-122"/>
            </a:endParaRPr>
          </a:p>
        </p:txBody>
      </p:sp>
      <p:sp>
        <p:nvSpPr>
          <p:cNvPr id="62468" name="Rectangle 4"/>
          <p:cNvSpPr>
            <a:spLocks noChangeArrowheads="1"/>
          </p:cNvSpPr>
          <p:nvPr/>
        </p:nvSpPr>
        <p:spPr bwMode="auto">
          <a:xfrm>
            <a:off x="357158" y="857232"/>
            <a:ext cx="8229600" cy="609600"/>
          </a:xfrm>
          <a:prstGeom prst="rect">
            <a:avLst/>
          </a:prstGeom>
          <a:noFill/>
          <a:ln w="9525">
            <a:noFill/>
            <a:miter lim="800000"/>
          </a:ln>
        </p:spPr>
        <p:txBody>
          <a:bodyPr anchor="b"/>
          <a:lstStyle/>
          <a:p>
            <a:pPr eaLnBrk="1" hangingPunct="1">
              <a:lnSpc>
                <a:spcPct val="90000"/>
              </a:lnSpc>
            </a:pPr>
            <a:r>
              <a:rPr lang="zh-CN" altLang="en-US" sz="2800" b="1" dirty="0" smtClean="0">
                <a:solidFill>
                  <a:srgbClr val="6600FF"/>
                </a:solidFill>
                <a:latin typeface="楷体_GB2312" pitchFamily="1" charset="-122"/>
                <a:ea typeface="华文新魏" pitchFamily="2" charset="-122"/>
              </a:rPr>
              <a:t>（一）量变质变规律</a:t>
            </a:r>
            <a:endParaRPr lang="zh-CN" altLang="en-US" sz="2800" b="1" dirty="0" smtClean="0">
              <a:solidFill>
                <a:srgbClr val="6600FF"/>
              </a:solidFill>
              <a:latin typeface="楷体_GB2312" pitchFamily="1" charset="-122"/>
              <a:ea typeface="华文新魏" pitchFamily="2" charset="-122"/>
            </a:endParaRPr>
          </a:p>
        </p:txBody>
      </p:sp>
      <p:sp>
        <p:nvSpPr>
          <p:cNvPr id="26629" name="Rectangle 5"/>
          <p:cNvSpPr>
            <a:spLocks noChangeArrowheads="1"/>
          </p:cNvSpPr>
          <p:nvPr/>
        </p:nvSpPr>
        <p:spPr bwMode="auto">
          <a:xfrm>
            <a:off x="357158" y="4143380"/>
            <a:ext cx="8301038" cy="847724"/>
          </a:xfrm>
          <a:prstGeom prst="rect">
            <a:avLst/>
          </a:prstGeom>
          <a:noFill/>
          <a:ln w="9525">
            <a:noFill/>
            <a:miter lim="800000"/>
          </a:ln>
        </p:spPr>
        <p:txBody>
          <a:bodyPr/>
          <a:lstStyle/>
          <a:p>
            <a:pPr marL="342900" indent="-342900" eaLnBrk="1" hangingPunct="1">
              <a:lnSpc>
                <a:spcPct val="90000"/>
              </a:lnSpc>
              <a:spcBef>
                <a:spcPct val="20000"/>
              </a:spcBef>
            </a:pPr>
            <a:r>
              <a:rPr lang="zh-CN" altLang="en-US" sz="2800" b="1" dirty="0">
                <a:solidFill>
                  <a:srgbClr val="D60093"/>
                </a:solidFill>
                <a:latin typeface="楷体_GB2312" pitchFamily="1" charset="-122"/>
                <a:ea typeface="楷体_GB2312" pitchFamily="1" charset="-122"/>
              </a:rPr>
              <a:t>（</a:t>
            </a:r>
            <a:r>
              <a:rPr lang="en-US" altLang="zh-CN" sz="2800" b="1" dirty="0">
                <a:solidFill>
                  <a:srgbClr val="D60093"/>
                </a:solidFill>
                <a:latin typeface="楷体_GB2312" pitchFamily="1" charset="-122"/>
                <a:ea typeface="楷体_GB2312" pitchFamily="1" charset="-122"/>
              </a:rPr>
              <a:t>2</a:t>
            </a:r>
            <a:r>
              <a:rPr lang="zh-CN" altLang="en-US" sz="2800" b="1" dirty="0">
                <a:solidFill>
                  <a:srgbClr val="D60093"/>
                </a:solidFill>
                <a:latin typeface="楷体_GB2312" pitchFamily="1" charset="-122"/>
                <a:ea typeface="楷体_GB2312" pitchFamily="1" charset="-122"/>
              </a:rPr>
              <a:t>）特点：</a:t>
            </a:r>
            <a:r>
              <a:rPr lang="zh-CN" altLang="en-US" sz="2800" b="1" dirty="0">
                <a:solidFill>
                  <a:srgbClr val="080808"/>
                </a:solidFill>
                <a:latin typeface="楷体_GB2312" pitchFamily="1" charset="-122"/>
                <a:ea typeface="楷体_GB2312" pitchFamily="1" charset="-122"/>
              </a:rPr>
              <a:t>质与事物的存在直接同</a:t>
            </a:r>
            <a:r>
              <a:rPr lang="zh-CN" altLang="en-US" sz="2800" b="1" dirty="0" smtClean="0">
                <a:solidFill>
                  <a:srgbClr val="080808"/>
                </a:solidFill>
                <a:latin typeface="楷体_GB2312" pitchFamily="1" charset="-122"/>
                <a:ea typeface="楷体_GB2312" pitchFamily="1" charset="-122"/>
              </a:rPr>
              <a:t>一；事物</a:t>
            </a:r>
            <a:r>
              <a:rPr lang="zh-CN" altLang="en-US" sz="2800" b="1" dirty="0">
                <a:solidFill>
                  <a:srgbClr val="080808"/>
                </a:solidFill>
                <a:latin typeface="楷体_GB2312" pitchFamily="1" charset="-122"/>
                <a:ea typeface="楷体_GB2312" pitchFamily="1" charset="-122"/>
              </a:rPr>
              <a:t>的质具有多样性。</a:t>
            </a:r>
            <a:endParaRPr lang="zh-CN" altLang="en-US" sz="2800" b="1" dirty="0">
              <a:solidFill>
                <a:srgbClr val="080808"/>
              </a:solidFill>
              <a:latin typeface="楷体_GB2312" pitchFamily="1" charset="-122"/>
              <a:ea typeface="楷体_GB2312" pitchFamily="1" charset="-122"/>
            </a:endParaRPr>
          </a:p>
        </p:txBody>
      </p:sp>
      <p:sp>
        <p:nvSpPr>
          <p:cNvPr id="62470" name="AutoShape 6" descr="元素周期表">
            <a:hlinkClick r:id="rId1" tooltip="元素周期表"/>
          </p:cNvPr>
          <p:cNvSpPr>
            <a:spLocks noChangeAspect="1" noChangeArrowheads="1"/>
          </p:cNvSpPr>
          <p:nvPr/>
        </p:nvSpPr>
        <p:spPr bwMode="auto">
          <a:xfrm>
            <a:off x="155575" y="46038"/>
            <a:ext cx="304800" cy="304800"/>
          </a:xfrm>
          <a:prstGeom prst="rect">
            <a:avLst/>
          </a:prstGeom>
          <a:noFill/>
          <a:ln w="9525">
            <a:noFill/>
            <a:miter lim="800000"/>
          </a:ln>
        </p:spPr>
        <p:txBody>
          <a:bodyPr/>
          <a:lstStyle/>
          <a:p>
            <a:pPr eaLnBrk="1" hangingPunct="1"/>
            <a:endParaRPr lang="zh-CN" altLang="en-US"/>
          </a:p>
        </p:txBody>
      </p:sp>
      <p:sp>
        <p:nvSpPr>
          <p:cNvPr id="62471" name="AutoShape 7" descr="元素周期表">
            <a:hlinkClick r:id="rId1" tooltip="元素周期表"/>
          </p:cNvPr>
          <p:cNvSpPr>
            <a:spLocks noChangeAspect="1" noChangeArrowheads="1"/>
          </p:cNvSpPr>
          <p:nvPr/>
        </p:nvSpPr>
        <p:spPr bwMode="auto">
          <a:xfrm>
            <a:off x="155575" y="46038"/>
            <a:ext cx="304800" cy="304800"/>
          </a:xfrm>
          <a:prstGeom prst="rect">
            <a:avLst/>
          </a:prstGeom>
          <a:noFill/>
          <a:ln w="9525">
            <a:noFill/>
            <a:miter lim="800000"/>
          </a:ln>
        </p:spPr>
        <p:txBody>
          <a:bodyPr/>
          <a:lstStyle/>
          <a:p>
            <a:pPr eaLnBrk="1" hangingPunct="1"/>
            <a:endParaRPr lang="zh-CN" altLang="en-US"/>
          </a:p>
        </p:txBody>
      </p:sp>
      <p:sp>
        <p:nvSpPr>
          <p:cNvPr id="11" name="Rectangle 4"/>
          <p:cNvSpPr>
            <a:spLocks noChangeArrowheads="1"/>
          </p:cNvSpPr>
          <p:nvPr/>
        </p:nvSpPr>
        <p:spPr bwMode="auto">
          <a:xfrm>
            <a:off x="357158" y="1500174"/>
            <a:ext cx="8229600" cy="609600"/>
          </a:xfrm>
          <a:prstGeom prst="rect">
            <a:avLst/>
          </a:prstGeom>
          <a:noFill/>
          <a:ln w="9525">
            <a:noFill/>
            <a:miter lim="800000"/>
          </a:ln>
        </p:spPr>
        <p:txBody>
          <a:bodyPr anchor="b"/>
          <a:lstStyle/>
          <a:p>
            <a:pPr eaLnBrk="1" hangingPunct="1">
              <a:lnSpc>
                <a:spcPct val="90000"/>
              </a:lnSpc>
            </a:pPr>
            <a:r>
              <a:rPr lang="en-US" altLang="zh-CN" sz="2800" b="1" dirty="0">
                <a:solidFill>
                  <a:srgbClr val="6600FF"/>
                </a:solidFill>
                <a:latin typeface="楷体_GB2312" pitchFamily="1" charset="-122"/>
                <a:ea typeface="华文新魏" pitchFamily="2" charset="-122"/>
              </a:rPr>
              <a:t>1.</a:t>
            </a:r>
            <a:r>
              <a:rPr lang="zh-CN" altLang="en-US" sz="2800" b="1" dirty="0">
                <a:solidFill>
                  <a:srgbClr val="6600FF"/>
                </a:solidFill>
                <a:latin typeface="楷体_GB2312" pitchFamily="1" charset="-122"/>
                <a:ea typeface="华文新魏" pitchFamily="2" charset="-122"/>
              </a:rPr>
              <a:t>事物的质、量、度及其方法论意义</a:t>
            </a:r>
            <a:endParaRPr lang="zh-CN" altLang="en-US" sz="2800" b="1" dirty="0">
              <a:solidFill>
                <a:srgbClr val="9900CC"/>
              </a:solidFill>
              <a:latin typeface="华文新魏" pitchFamily="2" charset="-122"/>
              <a:ea typeface="华文新魏" pitchFamily="2" charset="-122"/>
            </a:endParaRPr>
          </a:p>
        </p:txBody>
      </p:sp>
      <p:sp>
        <p:nvSpPr>
          <p:cNvPr id="12" name="Rectangle 4"/>
          <p:cNvSpPr>
            <a:spLocks noChangeArrowheads="1"/>
          </p:cNvSpPr>
          <p:nvPr/>
        </p:nvSpPr>
        <p:spPr bwMode="auto">
          <a:xfrm>
            <a:off x="500034" y="2214554"/>
            <a:ext cx="2071702" cy="609600"/>
          </a:xfrm>
          <a:prstGeom prst="rect">
            <a:avLst/>
          </a:prstGeom>
          <a:noFill/>
          <a:ln w="9525">
            <a:noFill/>
            <a:miter lim="800000"/>
          </a:ln>
        </p:spPr>
        <p:txBody>
          <a:bodyPr anchor="b"/>
          <a:lstStyle/>
          <a:p>
            <a:pPr eaLnBrk="1" hangingPunct="1">
              <a:lnSpc>
                <a:spcPct val="90000"/>
              </a:lnSpc>
            </a:pPr>
            <a:r>
              <a:rPr lang="zh-CN" altLang="en-US" sz="3200" b="1" dirty="0" smtClean="0">
                <a:solidFill>
                  <a:srgbClr val="6600FF"/>
                </a:solidFill>
                <a:latin typeface="楷体" panose="02010609060101010101" pitchFamily="49" charset="-122"/>
                <a:ea typeface="楷体" panose="02010609060101010101" pitchFamily="49" charset="-122"/>
              </a:rPr>
              <a:t>事物的质</a:t>
            </a:r>
            <a:endParaRPr lang="zh-CN" altLang="en-US" sz="3200" b="1" dirty="0">
              <a:solidFill>
                <a:srgbClr val="9900CC"/>
              </a:solidFill>
              <a:latin typeface="楷体" panose="02010609060101010101" pitchFamily="49" charset="-122"/>
              <a:ea typeface="楷体" panose="02010609060101010101" pitchFamily="49" charset="-122"/>
            </a:endParaRPr>
          </a:p>
        </p:txBody>
      </p:sp>
      <p:sp>
        <p:nvSpPr>
          <p:cNvPr id="13" name="Rectangle 2"/>
          <p:cNvSpPr>
            <a:spLocks noChangeArrowheads="1"/>
          </p:cNvSpPr>
          <p:nvPr/>
        </p:nvSpPr>
        <p:spPr bwMode="auto">
          <a:xfrm>
            <a:off x="214282" y="5214950"/>
            <a:ext cx="8458200" cy="990600"/>
          </a:xfrm>
          <a:prstGeom prst="rect">
            <a:avLst/>
          </a:prstGeom>
          <a:noFill/>
          <a:ln w="9525">
            <a:noFill/>
            <a:miter lim="800000"/>
          </a:ln>
        </p:spPr>
        <p:txBody>
          <a:bodyPr/>
          <a:lstStyle/>
          <a:p>
            <a:pPr marL="342900" indent="-342900" eaLnBrk="1" hangingPunct="1">
              <a:lnSpc>
                <a:spcPct val="90000"/>
              </a:lnSpc>
              <a:spcBef>
                <a:spcPct val="20000"/>
              </a:spcBef>
            </a:pPr>
            <a:r>
              <a:rPr lang="en-US" altLang="zh-CN" sz="2800" b="1" dirty="0">
                <a:solidFill>
                  <a:srgbClr val="D60093"/>
                </a:solidFill>
                <a:latin typeface="楷体_GB2312" pitchFamily="1" charset="-122"/>
                <a:ea typeface="楷体_GB2312" pitchFamily="1" charset="-122"/>
              </a:rPr>
              <a:t> </a:t>
            </a:r>
            <a:r>
              <a:rPr lang="zh-CN" altLang="en-US" sz="2800" b="1" dirty="0">
                <a:solidFill>
                  <a:srgbClr val="D60093"/>
                </a:solidFill>
                <a:latin typeface="楷体_GB2312" pitchFamily="1" charset="-122"/>
                <a:ea typeface="楷体_GB2312" pitchFamily="1" charset="-122"/>
              </a:rPr>
              <a:t>（</a:t>
            </a:r>
            <a:r>
              <a:rPr lang="en-US" altLang="zh-CN" sz="2800" b="1" dirty="0">
                <a:solidFill>
                  <a:srgbClr val="D60093"/>
                </a:solidFill>
                <a:latin typeface="楷体_GB2312" pitchFamily="1" charset="-122"/>
                <a:ea typeface="楷体_GB2312" pitchFamily="1" charset="-122"/>
              </a:rPr>
              <a:t>3</a:t>
            </a:r>
            <a:r>
              <a:rPr lang="zh-CN" altLang="en-US" sz="2800" b="1" dirty="0">
                <a:solidFill>
                  <a:srgbClr val="D60093"/>
                </a:solidFill>
                <a:latin typeface="楷体_GB2312" pitchFamily="1" charset="-122"/>
                <a:ea typeface="楷体_GB2312" pitchFamily="1" charset="-122"/>
              </a:rPr>
              <a:t>）认识质的方法论意义：</a:t>
            </a:r>
            <a:r>
              <a:rPr lang="zh-CN" altLang="en-US" sz="2800" b="1" dirty="0">
                <a:solidFill>
                  <a:srgbClr val="000000"/>
                </a:solidFill>
                <a:latin typeface="楷体_GB2312" pitchFamily="1" charset="-122"/>
                <a:ea typeface="楷体_GB2312" pitchFamily="1" charset="-122"/>
              </a:rPr>
              <a:t>对事物质的认识是认识事物和实践的起点和基础。</a:t>
            </a:r>
            <a:endParaRPr lang="zh-CN" altLang="en-US" sz="2800" b="1" dirty="0">
              <a:solidFill>
                <a:srgbClr val="000000"/>
              </a:solidFill>
              <a:latin typeface="楷体_GB2312" pitchFamily="1" charset="-122"/>
              <a:ea typeface="楷体_GB2312" pitchFamily="1" charset="-122"/>
            </a:endParaRPr>
          </a:p>
        </p:txBody>
      </p:sp>
      <p:sp>
        <p:nvSpPr>
          <p:cNvPr id="14" name="Rectangle 2"/>
          <p:cNvSpPr txBox="1">
            <a:spLocks noChangeArrowheads="1"/>
          </p:cNvSpPr>
          <p:nvPr/>
        </p:nvSpPr>
        <p:spPr>
          <a:xfrm>
            <a:off x="571472" y="251437"/>
            <a:ext cx="7072362" cy="642942"/>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smtClean="0">
                <a:ln>
                  <a:noFill/>
                </a:ln>
                <a:solidFill>
                  <a:srgbClr val="9900CC"/>
                </a:solidFill>
                <a:effectLst/>
                <a:uLnTx/>
                <a:uFillTx/>
                <a:latin typeface="+mj-lt"/>
                <a:ea typeface="华文新魏" pitchFamily="2" charset="-122"/>
                <a:cs typeface="+mj-cs"/>
              </a:rPr>
              <a:t>三、</a:t>
            </a:r>
            <a:r>
              <a:rPr kumimoji="0" lang="zh-CN" sz="3200" b="1" i="0" u="none" strike="noStrike" kern="0" cap="none" spc="0" normalizeH="0" baseline="0" noProof="0" dirty="0" smtClean="0">
                <a:ln>
                  <a:noFill/>
                </a:ln>
                <a:solidFill>
                  <a:srgbClr val="9900CC"/>
                </a:solidFill>
                <a:effectLst/>
                <a:uLnTx/>
                <a:uFillTx/>
                <a:latin typeface="+mj-lt"/>
                <a:ea typeface="华文新魏" pitchFamily="2" charset="-122"/>
                <a:cs typeface="+mj-cs"/>
              </a:rPr>
              <a:t>量变质变</a:t>
            </a:r>
            <a:r>
              <a:rPr kumimoji="0" lang="zh-CN" altLang="en-US" sz="3200" b="1" i="0" u="none" strike="noStrike" kern="0" cap="none" spc="0" normalizeH="0" baseline="0" noProof="0" dirty="0" smtClean="0">
                <a:ln>
                  <a:noFill/>
                </a:ln>
                <a:solidFill>
                  <a:srgbClr val="9900CC"/>
                </a:solidFill>
                <a:effectLst/>
                <a:uLnTx/>
                <a:uFillTx/>
                <a:latin typeface="+mj-lt"/>
                <a:ea typeface="华文新魏" pitchFamily="2" charset="-122"/>
                <a:cs typeface="+mj-cs"/>
              </a:rPr>
              <a:t>规律和否定之否定规律</a:t>
            </a:r>
            <a:endParaRPr kumimoji="0" lang="zh-CN" sz="3200" b="1" i="0" u="none" strike="noStrike" kern="0" cap="none" spc="0" normalizeH="0" baseline="0" noProof="0" dirty="0" smtClean="0">
              <a:ln>
                <a:noFill/>
              </a:ln>
              <a:solidFill>
                <a:srgbClr val="9900CC"/>
              </a:solidFill>
              <a:effectLst/>
              <a:uLnTx/>
              <a:uFillTx/>
              <a:latin typeface="+mj-lt"/>
              <a:ea typeface="华文新魏"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strips(downRight)">
                                      <p:cBhvr>
                                        <p:cTn id="7" dur="10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wipe(left)">
                                      <p:cBhvr>
                                        <p:cTn id="12" dur="1000"/>
                                        <p:tgtEl>
                                          <p:spTgt spid="266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build="p"/>
      <p:bldP spid="26629" grpId="0" autoUpdateAnimBg="0"/>
      <p:bldP spid="1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4294967295"/>
          </p:nvPr>
        </p:nvSpPr>
        <p:spPr>
          <a:xfrm>
            <a:off x="285720" y="1071546"/>
            <a:ext cx="8382000" cy="1295400"/>
          </a:xfrm>
        </p:spPr>
        <p:txBody>
          <a:bodyPr/>
          <a:lstStyle/>
          <a:p>
            <a:pPr eaLnBrk="1" hangingPunct="1">
              <a:lnSpc>
                <a:spcPct val="90000"/>
              </a:lnSpc>
              <a:buFontTx/>
              <a:buNone/>
            </a:pPr>
            <a:r>
              <a:rPr lang="en-US" altLang="zh-CN" sz="2800" b="1" dirty="0" smtClean="0">
                <a:solidFill>
                  <a:srgbClr val="D60093"/>
                </a:solidFill>
                <a:latin typeface="楷体_GB2312" pitchFamily="1" charset="-122"/>
                <a:ea typeface="楷体_GB2312" pitchFamily="1" charset="-122"/>
              </a:rPr>
              <a:t> </a:t>
            </a:r>
            <a:r>
              <a:rPr lang="zh-CN" altLang="en-US" sz="2800" b="1" dirty="0" smtClean="0">
                <a:solidFill>
                  <a:srgbClr val="D60093"/>
                </a:solidFill>
                <a:latin typeface="楷体_GB2312" pitchFamily="1" charset="-122"/>
                <a:ea typeface="楷体_GB2312" pitchFamily="1" charset="-122"/>
              </a:rPr>
              <a:t>（</a:t>
            </a:r>
            <a:r>
              <a:rPr lang="en-US" altLang="zh-CN" sz="2800" b="1" dirty="0" smtClean="0">
                <a:solidFill>
                  <a:srgbClr val="D60093"/>
                </a:solidFill>
                <a:latin typeface="楷体_GB2312" pitchFamily="1" charset="-122"/>
                <a:ea typeface="楷体_GB2312" pitchFamily="1" charset="-122"/>
              </a:rPr>
              <a:t>1</a:t>
            </a:r>
            <a:r>
              <a:rPr lang="zh-CN" altLang="en-US" sz="2800" b="1" dirty="0" smtClean="0">
                <a:solidFill>
                  <a:srgbClr val="D60093"/>
                </a:solidFill>
                <a:latin typeface="楷体_GB2312" pitchFamily="1" charset="-122"/>
                <a:ea typeface="楷体_GB2312" pitchFamily="1" charset="-122"/>
              </a:rPr>
              <a:t>）定义：</a:t>
            </a:r>
            <a:r>
              <a:rPr lang="zh-CN" altLang="en-US" sz="2800" b="1" dirty="0" smtClean="0">
                <a:solidFill>
                  <a:srgbClr val="080808"/>
                </a:solidFill>
                <a:latin typeface="楷体_GB2312" pitchFamily="1" charset="-122"/>
                <a:ea typeface="楷体_GB2312" pitchFamily="1" charset="-122"/>
              </a:rPr>
              <a:t>量是事物固有的规定性，是</a:t>
            </a:r>
            <a:r>
              <a:rPr lang="zh-CN" altLang="en-US" sz="2800" b="1" dirty="0" smtClean="0">
                <a:solidFill>
                  <a:srgbClr val="000000"/>
                </a:solidFill>
                <a:latin typeface="楷体_GB2312" pitchFamily="1" charset="-122"/>
                <a:ea typeface="楷体_GB2312" pitchFamily="1" charset="-122"/>
              </a:rPr>
              <a:t>事物的规模、程度、速度，以及它的构成成分在空间上的排列组合等可以用数量表示的规定性。</a:t>
            </a:r>
            <a:endParaRPr lang="zh-CN" altLang="en-US" sz="2800" b="1" dirty="0" smtClean="0">
              <a:solidFill>
                <a:srgbClr val="000000"/>
              </a:solidFill>
              <a:latin typeface="楷体_GB2312" pitchFamily="1" charset="-122"/>
              <a:ea typeface="楷体_GB2312" pitchFamily="1" charset="-122"/>
            </a:endParaRPr>
          </a:p>
        </p:txBody>
      </p:sp>
      <p:sp>
        <p:nvSpPr>
          <p:cNvPr id="28676" name="Rectangle 4"/>
          <p:cNvSpPr>
            <a:spLocks noChangeArrowheads="1"/>
          </p:cNvSpPr>
          <p:nvPr/>
        </p:nvSpPr>
        <p:spPr bwMode="auto">
          <a:xfrm>
            <a:off x="285720" y="2500306"/>
            <a:ext cx="8382000" cy="990600"/>
          </a:xfrm>
          <a:prstGeom prst="rect">
            <a:avLst/>
          </a:prstGeom>
          <a:noFill/>
          <a:ln w="9525">
            <a:noFill/>
            <a:miter lim="800000"/>
          </a:ln>
        </p:spPr>
        <p:txBody>
          <a:bodyPr/>
          <a:lstStyle/>
          <a:p>
            <a:pPr marL="342900" indent="-342900" eaLnBrk="1" hangingPunct="1">
              <a:lnSpc>
                <a:spcPct val="90000"/>
              </a:lnSpc>
              <a:spcBef>
                <a:spcPct val="20000"/>
              </a:spcBef>
            </a:pPr>
            <a:r>
              <a:rPr lang="en-US" altLang="zh-CN" sz="2800" b="1" dirty="0">
                <a:solidFill>
                  <a:srgbClr val="D60093"/>
                </a:solidFill>
                <a:latin typeface="楷体_GB2312" pitchFamily="1" charset="-122"/>
                <a:ea typeface="楷体_GB2312" pitchFamily="1" charset="-122"/>
              </a:rPr>
              <a:t> </a:t>
            </a:r>
            <a:r>
              <a:rPr lang="zh-CN" altLang="en-US" sz="2800" b="1" dirty="0">
                <a:solidFill>
                  <a:srgbClr val="D60093"/>
                </a:solidFill>
                <a:latin typeface="楷体_GB2312" pitchFamily="1" charset="-122"/>
                <a:ea typeface="楷体_GB2312" pitchFamily="1" charset="-122"/>
              </a:rPr>
              <a:t>（</a:t>
            </a:r>
            <a:r>
              <a:rPr lang="en-US" altLang="zh-CN" sz="2800" b="1" dirty="0">
                <a:solidFill>
                  <a:srgbClr val="D60093"/>
                </a:solidFill>
                <a:latin typeface="楷体_GB2312" pitchFamily="1" charset="-122"/>
                <a:ea typeface="楷体_GB2312" pitchFamily="1" charset="-122"/>
              </a:rPr>
              <a:t>2</a:t>
            </a:r>
            <a:r>
              <a:rPr lang="zh-CN" altLang="en-US" sz="2800" b="1" dirty="0">
                <a:solidFill>
                  <a:srgbClr val="D60093"/>
                </a:solidFill>
                <a:latin typeface="楷体_GB2312" pitchFamily="1" charset="-122"/>
                <a:ea typeface="楷体_GB2312" pitchFamily="1" charset="-122"/>
              </a:rPr>
              <a:t>）特点：</a:t>
            </a:r>
            <a:r>
              <a:rPr lang="zh-CN" altLang="en-US" sz="2800" b="1" dirty="0">
                <a:solidFill>
                  <a:srgbClr val="080808"/>
                </a:solidFill>
                <a:latin typeface="楷体_GB2312" pitchFamily="1" charset="-122"/>
                <a:ea typeface="楷体_GB2312" pitchFamily="1" charset="-122"/>
              </a:rPr>
              <a:t>量与事物的存在不直接同一。</a:t>
            </a:r>
            <a:endParaRPr lang="zh-CN" altLang="en-US" sz="2800" b="1" dirty="0">
              <a:solidFill>
                <a:srgbClr val="080808"/>
              </a:solidFill>
              <a:latin typeface="楷体_GB2312" pitchFamily="1" charset="-122"/>
              <a:ea typeface="楷体_GB2312" pitchFamily="1" charset="-122"/>
            </a:endParaRPr>
          </a:p>
          <a:p>
            <a:pPr marL="342900" indent="-342900" eaLnBrk="1" hangingPunct="1">
              <a:lnSpc>
                <a:spcPct val="90000"/>
              </a:lnSpc>
              <a:spcBef>
                <a:spcPct val="20000"/>
              </a:spcBef>
            </a:pPr>
            <a:r>
              <a:rPr lang="zh-CN" altLang="en-US" sz="2800" b="1" dirty="0">
                <a:solidFill>
                  <a:srgbClr val="080808"/>
                </a:solidFill>
                <a:latin typeface="楷体_GB2312" pitchFamily="1" charset="-122"/>
                <a:ea typeface="楷体_GB2312" pitchFamily="1" charset="-122"/>
              </a:rPr>
              <a:t>            另外，事物的量也具有多样性。</a:t>
            </a:r>
            <a:endParaRPr lang="zh-CN" altLang="en-US" sz="2800" b="1" dirty="0">
              <a:solidFill>
                <a:srgbClr val="000000"/>
              </a:solidFill>
              <a:latin typeface="楷体_GB2312" pitchFamily="1" charset="-122"/>
              <a:ea typeface="楷体_GB2312" pitchFamily="1" charset="-122"/>
            </a:endParaRPr>
          </a:p>
        </p:txBody>
      </p:sp>
      <p:sp>
        <p:nvSpPr>
          <p:cNvPr id="9" name="Rectangle 4"/>
          <p:cNvSpPr>
            <a:spLocks noChangeArrowheads="1"/>
          </p:cNvSpPr>
          <p:nvPr/>
        </p:nvSpPr>
        <p:spPr bwMode="auto">
          <a:xfrm>
            <a:off x="500034" y="285728"/>
            <a:ext cx="2071702" cy="609600"/>
          </a:xfrm>
          <a:prstGeom prst="rect">
            <a:avLst/>
          </a:prstGeom>
          <a:noFill/>
          <a:ln w="9525">
            <a:noFill/>
            <a:miter lim="800000"/>
          </a:ln>
        </p:spPr>
        <p:txBody>
          <a:bodyPr anchor="b"/>
          <a:lstStyle/>
          <a:p>
            <a:pPr eaLnBrk="1" hangingPunct="1">
              <a:lnSpc>
                <a:spcPct val="90000"/>
              </a:lnSpc>
            </a:pPr>
            <a:r>
              <a:rPr lang="zh-CN" altLang="en-US" sz="3200" b="1" dirty="0" smtClean="0">
                <a:solidFill>
                  <a:srgbClr val="6600FF"/>
                </a:solidFill>
                <a:latin typeface="楷体" panose="02010609060101010101" pitchFamily="49" charset="-122"/>
                <a:ea typeface="楷体" panose="02010609060101010101" pitchFamily="49" charset="-122"/>
              </a:rPr>
              <a:t>事物</a:t>
            </a:r>
            <a:r>
              <a:rPr lang="zh-CN" altLang="en-US" sz="3200" b="1" dirty="0" smtClean="0">
                <a:solidFill>
                  <a:srgbClr val="6600FF"/>
                </a:solidFill>
                <a:latin typeface="楷体" panose="02010609060101010101" pitchFamily="49" charset="-122"/>
                <a:ea typeface="楷体" panose="02010609060101010101" pitchFamily="49" charset="-122"/>
              </a:rPr>
              <a:t>的量</a:t>
            </a:r>
            <a:endParaRPr lang="zh-CN" altLang="en-US" sz="3200" b="1" dirty="0">
              <a:solidFill>
                <a:srgbClr val="9900CC"/>
              </a:solidFill>
              <a:latin typeface="楷体" panose="02010609060101010101" pitchFamily="49" charset="-122"/>
              <a:ea typeface="楷体" panose="02010609060101010101" pitchFamily="49" charset="-122"/>
            </a:endParaRPr>
          </a:p>
        </p:txBody>
      </p:sp>
      <p:sp>
        <p:nvSpPr>
          <p:cNvPr id="10" name="Rectangle 2"/>
          <p:cNvSpPr txBox="1">
            <a:spLocks noChangeArrowheads="1"/>
          </p:cNvSpPr>
          <p:nvPr/>
        </p:nvSpPr>
        <p:spPr>
          <a:xfrm>
            <a:off x="285720" y="3786190"/>
            <a:ext cx="8572560" cy="1981200"/>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en-US" altLang="zh-CN" sz="28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 </a:t>
            </a:r>
            <a:r>
              <a:rPr kumimoji="0" lang="zh-CN" altLang="en-US" sz="28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a:t>
            </a:r>
            <a:r>
              <a:rPr kumimoji="0" lang="en-US" altLang="zh-CN" sz="28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3</a:t>
            </a:r>
            <a:r>
              <a:rPr kumimoji="0" lang="zh-CN" altLang="en-US" sz="28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）认识量的方法论意义：</a:t>
            </a:r>
            <a:r>
              <a:rPr kumimoji="0" lang="zh-CN" altLang="en-US" sz="2800" b="1" i="0" u="none" strike="noStrike" kern="1200" cap="none" spc="0" normalizeH="0" baseline="0" noProof="0" dirty="0" smtClean="0">
                <a:ln>
                  <a:noFill/>
                </a:ln>
                <a:solidFill>
                  <a:srgbClr val="080808"/>
                </a:solidFill>
                <a:effectLst/>
                <a:uLnTx/>
                <a:uFillTx/>
                <a:latin typeface="楷体_GB2312" pitchFamily="1" charset="-122"/>
                <a:ea typeface="楷体_GB2312" pitchFamily="1" charset="-122"/>
                <a:cs typeface="+mn-cs"/>
              </a:rPr>
              <a:t>对</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事物量的认识是认识的深化和精确化，从定性到定量是认识发展的规律。</a:t>
            </a:r>
            <a:endPar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  认识事物的量能将同质的事物区别开来；定性分析要和定量分析相结合。</a:t>
            </a:r>
            <a:endPar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wipe(left)">
                                      <p:cBhvr>
                                        <p:cTn id="7" dur="10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wipe(left)">
                                      <p:cBhvr>
                                        <p:cTn id="12" dur="1000"/>
                                        <p:tgtEl>
                                          <p:spTgt spid="2867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strips(downRight)">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strips(downRight)">
                                      <p:cBhvr>
                                        <p:cTn id="22"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build="p"/>
      <p:bldP spid="28676" grpId="0" autoUpdateAnimBg="0"/>
      <p:bldP spid="10" grpId="0" autoUpdateAnimBg="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4294967295"/>
          </p:nvPr>
        </p:nvSpPr>
        <p:spPr>
          <a:xfrm>
            <a:off x="142844" y="1071546"/>
            <a:ext cx="8763000" cy="1447800"/>
          </a:xfrm>
        </p:spPr>
        <p:txBody>
          <a:bodyPr/>
          <a:lstStyle/>
          <a:p>
            <a:pPr eaLnBrk="1" hangingPunct="1">
              <a:buFontTx/>
              <a:buNone/>
            </a:pPr>
            <a:r>
              <a:rPr lang="en-US" altLang="zh-CN" b="1" dirty="0" smtClean="0">
                <a:solidFill>
                  <a:srgbClr val="D60093"/>
                </a:solidFill>
                <a:latin typeface="楷体_GB2312" pitchFamily="1" charset="-122"/>
                <a:ea typeface="楷体_GB2312" pitchFamily="1" charset="-122"/>
              </a:rPr>
              <a:t> </a:t>
            </a:r>
            <a:r>
              <a:rPr lang="zh-CN" altLang="en-US" sz="2800" b="1" dirty="0" smtClean="0">
                <a:solidFill>
                  <a:srgbClr val="D60093"/>
                </a:solidFill>
                <a:latin typeface="楷体_GB2312" pitchFamily="1" charset="-122"/>
                <a:ea typeface="楷体_GB2312" pitchFamily="1" charset="-122"/>
              </a:rPr>
              <a:t>（</a:t>
            </a:r>
            <a:r>
              <a:rPr lang="en-US" altLang="zh-CN" sz="2800" b="1" dirty="0" smtClean="0">
                <a:solidFill>
                  <a:srgbClr val="D60093"/>
                </a:solidFill>
                <a:latin typeface="楷体_GB2312" pitchFamily="1" charset="-122"/>
                <a:ea typeface="楷体_GB2312" pitchFamily="1" charset="-122"/>
              </a:rPr>
              <a:t>1</a:t>
            </a:r>
            <a:r>
              <a:rPr lang="zh-CN" altLang="en-US" sz="2800" b="1" dirty="0" smtClean="0">
                <a:solidFill>
                  <a:srgbClr val="D60093"/>
                </a:solidFill>
                <a:latin typeface="楷体_GB2312" pitchFamily="1" charset="-122"/>
                <a:ea typeface="楷体_GB2312" pitchFamily="1" charset="-122"/>
              </a:rPr>
              <a:t>）定义：</a:t>
            </a:r>
            <a:r>
              <a:rPr lang="zh-CN" altLang="en-US" sz="2800" b="1" dirty="0" smtClean="0">
                <a:solidFill>
                  <a:srgbClr val="080808"/>
                </a:solidFill>
                <a:latin typeface="楷体_GB2312" pitchFamily="1" charset="-122"/>
                <a:ea typeface="楷体_GB2312" pitchFamily="1" charset="-122"/>
              </a:rPr>
              <a:t>度</a:t>
            </a:r>
            <a:r>
              <a:rPr lang="zh-CN" altLang="en-US" sz="2800" b="1" dirty="0" smtClean="0">
                <a:solidFill>
                  <a:srgbClr val="000000"/>
                </a:solidFill>
                <a:latin typeface="楷体_GB2312" pitchFamily="1" charset="-122"/>
                <a:ea typeface="楷体_GB2312" pitchFamily="1" charset="-122"/>
              </a:rPr>
              <a:t>是保持事物质的稳定性的数量界限（幅度和范围），体现了事物质和量的统一。度的两端叫做关节点或临界点。</a:t>
            </a:r>
            <a:endParaRPr lang="zh-CN" altLang="en-US" sz="2800" b="1" dirty="0" smtClean="0">
              <a:solidFill>
                <a:srgbClr val="000000"/>
              </a:solidFill>
              <a:latin typeface="楷体_GB2312" pitchFamily="1" charset="-122"/>
              <a:ea typeface="楷体_GB2312" pitchFamily="1" charset="-122"/>
            </a:endParaRPr>
          </a:p>
        </p:txBody>
      </p:sp>
      <p:sp>
        <p:nvSpPr>
          <p:cNvPr id="66564" name="Text Box 17"/>
          <p:cNvSpPr txBox="1">
            <a:spLocks noChangeArrowheads="1"/>
          </p:cNvSpPr>
          <p:nvPr/>
        </p:nvSpPr>
        <p:spPr bwMode="auto">
          <a:xfrm>
            <a:off x="428596" y="428604"/>
            <a:ext cx="6477000" cy="521970"/>
          </a:xfrm>
          <a:prstGeom prst="rect">
            <a:avLst/>
          </a:prstGeom>
          <a:noFill/>
          <a:ln w="9525">
            <a:noFill/>
            <a:miter lim="800000"/>
          </a:ln>
        </p:spPr>
        <p:txBody>
          <a:bodyPr>
            <a:spAutoFit/>
          </a:bodyPr>
          <a:lstStyle/>
          <a:p>
            <a:pPr eaLnBrk="1" hangingPunct="1">
              <a:spcBef>
                <a:spcPct val="50000"/>
              </a:spcBef>
            </a:pPr>
            <a:r>
              <a:rPr lang="zh-CN" altLang="en-US" sz="2800" b="1" dirty="0">
                <a:solidFill>
                  <a:srgbClr val="6600FF"/>
                </a:solidFill>
                <a:latin typeface="楷体_GB2312" pitchFamily="1" charset="-122"/>
                <a:ea typeface="楷体_GB2312" pitchFamily="1" charset="-122"/>
              </a:rPr>
              <a:t>事物的</a:t>
            </a:r>
            <a:r>
              <a:rPr lang="zh-CN" altLang="en-US" sz="2800" b="1" dirty="0" smtClean="0">
                <a:solidFill>
                  <a:srgbClr val="6600FF"/>
                </a:solidFill>
                <a:latin typeface="楷体_GB2312" pitchFamily="1" charset="-122"/>
                <a:ea typeface="楷体_GB2312" pitchFamily="1" charset="-122"/>
              </a:rPr>
              <a:t>度</a:t>
            </a:r>
            <a:endParaRPr lang="en-US" altLang="zh-CN" sz="2800" b="1" dirty="0">
              <a:solidFill>
                <a:srgbClr val="6600FF"/>
              </a:solidFill>
              <a:latin typeface="楷体_GB2312" pitchFamily="1" charset="-122"/>
              <a:ea typeface="楷体_GB2312" pitchFamily="1" charset="-122"/>
            </a:endParaRPr>
          </a:p>
        </p:txBody>
      </p:sp>
      <p:sp>
        <p:nvSpPr>
          <p:cNvPr id="19" name="Rectangle 3"/>
          <p:cNvSpPr>
            <a:spLocks noChangeArrowheads="1"/>
          </p:cNvSpPr>
          <p:nvPr/>
        </p:nvSpPr>
        <p:spPr bwMode="auto">
          <a:xfrm>
            <a:off x="357158" y="2786058"/>
            <a:ext cx="8229600" cy="946150"/>
          </a:xfrm>
          <a:prstGeom prst="rect">
            <a:avLst/>
          </a:prstGeom>
          <a:noFill/>
          <a:ln w="9525">
            <a:noFill/>
            <a:miter lim="800000"/>
          </a:ln>
        </p:spPr>
        <p:txBody>
          <a:bodyPr anchor="ctr">
            <a:spAutoFit/>
          </a:bodyPr>
          <a:lstStyle/>
          <a:p>
            <a:pPr eaLnBrk="1" hangingPunct="1"/>
            <a:r>
              <a:rPr lang="zh-CN" altLang="en-US" sz="2800" b="1" dirty="0">
                <a:solidFill>
                  <a:srgbClr val="D60093"/>
                </a:solidFill>
                <a:latin typeface="楷体_GB2312" pitchFamily="1" charset="-122"/>
                <a:ea typeface="楷体_GB2312" pitchFamily="1" charset="-122"/>
              </a:rPr>
              <a:t>（</a:t>
            </a:r>
            <a:r>
              <a:rPr lang="en-US" altLang="zh-CN" sz="2800" b="1" dirty="0">
                <a:solidFill>
                  <a:srgbClr val="D60093"/>
                </a:solidFill>
                <a:latin typeface="楷体_GB2312" pitchFamily="1" charset="-122"/>
                <a:ea typeface="楷体_GB2312" pitchFamily="1" charset="-122"/>
              </a:rPr>
              <a:t>2</a:t>
            </a:r>
            <a:r>
              <a:rPr lang="zh-CN" altLang="en-US" sz="2800" b="1" dirty="0">
                <a:solidFill>
                  <a:srgbClr val="D60093"/>
                </a:solidFill>
                <a:latin typeface="楷体_GB2312" pitchFamily="1" charset="-122"/>
                <a:ea typeface="楷体_GB2312" pitchFamily="1" charset="-122"/>
              </a:rPr>
              <a:t>）</a:t>
            </a:r>
            <a:r>
              <a:rPr lang="zh-CN" altLang="en-US" sz="2800" b="1" dirty="0">
                <a:solidFill>
                  <a:srgbClr val="D60093"/>
                </a:solidFill>
                <a:ea typeface="楷体_GB2312" pitchFamily="1" charset="-122"/>
              </a:rPr>
              <a:t>认识度的方法论意义：</a:t>
            </a:r>
            <a:r>
              <a:rPr lang="zh-CN" altLang="en-US" sz="2800" b="1" dirty="0">
                <a:solidFill>
                  <a:srgbClr val="000000"/>
                </a:solidFill>
                <a:latin typeface="楷体_GB2312" pitchFamily="1" charset="-122"/>
                <a:ea typeface="楷体_GB2312" pitchFamily="1" charset="-122"/>
              </a:rPr>
              <a:t>在认识和处理问题时要掌握</a:t>
            </a:r>
            <a:r>
              <a:rPr lang="zh-CN" altLang="en-US" sz="2800" b="1" dirty="0">
                <a:solidFill>
                  <a:srgbClr val="FF0066"/>
                </a:solidFill>
                <a:latin typeface="楷体_GB2312" pitchFamily="1" charset="-122"/>
                <a:ea typeface="楷体_GB2312" pitchFamily="1" charset="-122"/>
              </a:rPr>
              <a:t>适度</a:t>
            </a:r>
            <a:r>
              <a:rPr lang="zh-CN" altLang="en-US" sz="2800" b="1" dirty="0">
                <a:solidFill>
                  <a:srgbClr val="080808"/>
                </a:solidFill>
                <a:latin typeface="楷体_GB2312" pitchFamily="1" charset="-122"/>
                <a:ea typeface="楷体_GB2312" pitchFamily="1" charset="-122"/>
              </a:rPr>
              <a:t>原则</a:t>
            </a:r>
            <a:r>
              <a:rPr lang="zh-CN" altLang="en-US" sz="2800" b="1" dirty="0">
                <a:solidFill>
                  <a:srgbClr val="000000"/>
                </a:solidFill>
                <a:latin typeface="楷体_GB2312" pitchFamily="1" charset="-122"/>
                <a:ea typeface="楷体_GB2312" pitchFamily="1" charset="-122"/>
              </a:rPr>
              <a:t>。 </a:t>
            </a:r>
            <a:endParaRPr lang="zh-CN" altLang="en-US" sz="2800" b="1" dirty="0">
              <a:solidFill>
                <a:srgbClr val="000000"/>
              </a:solidFill>
              <a:latin typeface="楷体_GB2312" pitchFamily="1" charset="-122"/>
              <a:ea typeface="楷体_GB2312" pitchFamily="1" charset="-122"/>
            </a:endParaRPr>
          </a:p>
        </p:txBody>
      </p:sp>
      <p:sp>
        <p:nvSpPr>
          <p:cNvPr id="20" name="Text Box 16"/>
          <p:cNvSpPr txBox="1">
            <a:spLocks noChangeArrowheads="1"/>
          </p:cNvSpPr>
          <p:nvPr/>
        </p:nvSpPr>
        <p:spPr bwMode="auto">
          <a:xfrm>
            <a:off x="857224" y="4071942"/>
            <a:ext cx="2743200" cy="531813"/>
          </a:xfrm>
          <a:prstGeom prst="rect">
            <a:avLst/>
          </a:prstGeom>
          <a:solidFill>
            <a:srgbClr val="FF9900">
              <a:alpha val="50195"/>
            </a:srgbClr>
          </a:solidFill>
          <a:ln w="12700" cap="rnd">
            <a:solidFill>
              <a:schemeClr val="tx1"/>
            </a:solidFill>
            <a:prstDash val="sysDot"/>
            <a:miter lim="800000"/>
          </a:ln>
        </p:spPr>
        <p:txBody>
          <a:bodyPr>
            <a:spAutoFit/>
          </a:bodyPr>
          <a:lstStyle/>
          <a:p>
            <a:pPr eaLnBrk="1" hangingPunct="1">
              <a:spcBef>
                <a:spcPct val="50000"/>
              </a:spcBef>
            </a:pPr>
            <a:r>
              <a:rPr lang="zh-CN" altLang="en-US" sz="2800" b="1" dirty="0">
                <a:ea typeface="华文新魏" pitchFamily="2" charset="-122"/>
              </a:rPr>
              <a:t>注意把握关节点</a:t>
            </a:r>
            <a:endParaRPr lang="zh-CN" altLang="en-US" sz="2800" b="1" dirty="0">
              <a:ea typeface="华文新魏" pitchFamily="2" charset="-122"/>
            </a:endParaRPr>
          </a:p>
        </p:txBody>
      </p:sp>
      <p:sp>
        <p:nvSpPr>
          <p:cNvPr id="21" name="Text Box 17"/>
          <p:cNvSpPr txBox="1">
            <a:spLocks noChangeArrowheads="1"/>
          </p:cNvSpPr>
          <p:nvPr/>
        </p:nvSpPr>
        <p:spPr bwMode="auto">
          <a:xfrm>
            <a:off x="857224" y="4929198"/>
            <a:ext cx="3124200" cy="531813"/>
          </a:xfrm>
          <a:prstGeom prst="rect">
            <a:avLst/>
          </a:prstGeom>
          <a:solidFill>
            <a:srgbClr val="FF9900">
              <a:alpha val="50195"/>
            </a:srgbClr>
          </a:solidFill>
          <a:ln w="12700" cap="rnd">
            <a:solidFill>
              <a:schemeClr val="tx1"/>
            </a:solidFill>
            <a:prstDash val="sysDot"/>
            <a:miter lim="800000"/>
          </a:ln>
        </p:spPr>
        <p:txBody>
          <a:bodyPr>
            <a:spAutoFit/>
          </a:bodyPr>
          <a:lstStyle/>
          <a:p>
            <a:pPr eaLnBrk="1" hangingPunct="1">
              <a:spcBef>
                <a:spcPct val="50000"/>
              </a:spcBef>
            </a:pPr>
            <a:r>
              <a:rPr lang="zh-CN" altLang="en-US" sz="2800" b="1" dirty="0">
                <a:ea typeface="华文新魏" pitchFamily="2" charset="-122"/>
              </a:rPr>
              <a:t>注意寻求最佳适度</a:t>
            </a:r>
            <a:endParaRPr lang="zh-CN" altLang="en-US" sz="2800" b="1" dirty="0">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slide(fromLeft)">
                                      <p:cBhvr>
                                        <p:cTn id="7" dur="1000"/>
                                        <p:tgtEl>
                                          <p:spTgt spid="307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strips(downRight)">
                                      <p:cBhvr>
                                        <p:cTn id="12" dur="10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0-#ppt_w/2"/>
                                          </p:val>
                                        </p:tav>
                                        <p:tav tm="100000">
                                          <p:val>
                                            <p:strVal val="#ppt_x"/>
                                          </p:val>
                                        </p:tav>
                                      </p:tavLst>
                                    </p:anim>
                                    <p:anim calcmode="lin" valueType="num">
                                      <p:cBhvr additive="base">
                                        <p:cTn id="1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1+#ppt_w/2"/>
                                          </p:val>
                                        </p:tav>
                                        <p:tav tm="100000">
                                          <p:val>
                                            <p:strVal val="#ppt_x"/>
                                          </p:val>
                                        </p:tav>
                                      </p:tavLst>
                                    </p:anim>
                                    <p:anim calcmode="lin" valueType="num">
                                      <p:cBhvr additive="base">
                                        <p:cTn id="24"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build="p"/>
      <p:bldP spid="19" grpId="0" autoUpdateAnimBg="0"/>
      <p:bldP spid="20" grpId="0" animBg="1" autoUpdateAnimBg="0"/>
      <p:bldP spid="21"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idx="4294967295"/>
          </p:nvPr>
        </p:nvSpPr>
        <p:spPr>
          <a:xfrm>
            <a:off x="214282" y="1142984"/>
            <a:ext cx="8686800" cy="1524000"/>
          </a:xfrm>
        </p:spPr>
        <p:txBody>
          <a:bodyPr/>
          <a:lstStyle/>
          <a:p>
            <a:pPr eaLnBrk="1" hangingPunct="1">
              <a:buFontTx/>
              <a:buNone/>
            </a:pPr>
            <a:r>
              <a:rPr lang="en-US" altLang="zh-CN" sz="2800" b="1" dirty="0" smtClean="0">
                <a:solidFill>
                  <a:srgbClr val="D60093"/>
                </a:solidFill>
                <a:latin typeface="楷体_GB2312" pitchFamily="1" charset="-122"/>
                <a:ea typeface="楷体_GB2312" pitchFamily="1" charset="-122"/>
              </a:rPr>
              <a:t>  </a:t>
            </a:r>
            <a:r>
              <a:rPr lang="zh-CN" altLang="en-US" b="1" dirty="0" smtClean="0">
                <a:solidFill>
                  <a:srgbClr val="D60093"/>
                </a:solidFill>
                <a:latin typeface="楷体_GB2312" pitchFamily="1" charset="-122"/>
                <a:ea typeface="楷体_GB2312" pitchFamily="1" charset="-122"/>
              </a:rPr>
              <a:t>量变：</a:t>
            </a:r>
            <a:r>
              <a:rPr lang="zh-CN" altLang="en-US" sz="2800" b="1" dirty="0" smtClean="0">
                <a:solidFill>
                  <a:srgbClr val="000000"/>
                </a:solidFill>
                <a:latin typeface="楷体_GB2312" pitchFamily="1" charset="-122"/>
                <a:ea typeface="楷体_GB2312" pitchFamily="1" charset="-122"/>
              </a:rPr>
              <a:t>事物数量的增减或组成要素排列次序的变动，是保持事物的质的相对稳定性的不显著变化，体现了事物发展渐进过程和连续性。  </a:t>
            </a:r>
            <a:endParaRPr lang="zh-CN" altLang="en-US" sz="2800" b="1" dirty="0" smtClean="0">
              <a:solidFill>
                <a:srgbClr val="000000"/>
              </a:solidFill>
              <a:latin typeface="楷体_GB2312" pitchFamily="1" charset="-122"/>
              <a:ea typeface="楷体_GB2312" pitchFamily="1" charset="-122"/>
            </a:endParaRPr>
          </a:p>
        </p:txBody>
      </p:sp>
      <p:sp>
        <p:nvSpPr>
          <p:cNvPr id="8" name="Text Box 17"/>
          <p:cNvSpPr txBox="1">
            <a:spLocks noChangeArrowheads="1"/>
          </p:cNvSpPr>
          <p:nvPr/>
        </p:nvSpPr>
        <p:spPr bwMode="auto">
          <a:xfrm>
            <a:off x="428596" y="500042"/>
            <a:ext cx="7329510" cy="523220"/>
          </a:xfrm>
          <a:prstGeom prst="rect">
            <a:avLst/>
          </a:prstGeom>
          <a:noFill/>
          <a:ln w="9525">
            <a:noFill/>
            <a:miter lim="800000"/>
          </a:ln>
        </p:spPr>
        <p:txBody>
          <a:bodyPr wrap="square">
            <a:spAutoFit/>
          </a:bodyPr>
          <a:lstStyle/>
          <a:p>
            <a:pPr eaLnBrk="1" hangingPunct="1">
              <a:spcBef>
                <a:spcPct val="50000"/>
              </a:spcBef>
            </a:pPr>
            <a:r>
              <a:rPr lang="en-US" altLang="zh-CN" sz="2800" b="1" dirty="0" smtClean="0">
                <a:solidFill>
                  <a:srgbClr val="6600FF"/>
                </a:solidFill>
                <a:latin typeface="楷体_GB2312" pitchFamily="1" charset="-122"/>
                <a:ea typeface="楷体_GB2312" pitchFamily="1" charset="-122"/>
              </a:rPr>
              <a:t>2.</a:t>
            </a:r>
            <a:r>
              <a:rPr lang="zh-CN" altLang="en-US" sz="2800" b="1" dirty="0" smtClean="0">
                <a:solidFill>
                  <a:srgbClr val="6600FF"/>
                </a:solidFill>
                <a:latin typeface="楷体_GB2312" pitchFamily="1" charset="-122"/>
                <a:ea typeface="楷体_GB2312" pitchFamily="1" charset="-122"/>
              </a:rPr>
              <a:t>事物的量变与质变及二者之间的辩证关系</a:t>
            </a:r>
            <a:endParaRPr lang="en-US" altLang="zh-CN" sz="2800" b="1" dirty="0">
              <a:solidFill>
                <a:srgbClr val="6600FF"/>
              </a:solidFill>
              <a:latin typeface="楷体_GB2312" pitchFamily="1" charset="-122"/>
              <a:ea typeface="楷体_GB2312" pitchFamily="1" charset="-122"/>
            </a:endParaRPr>
          </a:p>
        </p:txBody>
      </p:sp>
      <p:sp>
        <p:nvSpPr>
          <p:cNvPr id="9" name="Rectangle 2"/>
          <p:cNvSpPr txBox="1">
            <a:spLocks noChangeArrowheads="1"/>
          </p:cNvSpPr>
          <p:nvPr/>
        </p:nvSpPr>
        <p:spPr>
          <a:xfrm>
            <a:off x="214282" y="2643182"/>
            <a:ext cx="8458200" cy="1501775"/>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en-US" altLang="zh-CN" sz="28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  </a:t>
            </a:r>
            <a:r>
              <a:rPr kumimoji="0" lang="zh-CN" altLang="en-US" sz="2800" b="1" i="0" u="none" strike="noStrike" kern="1200" cap="none" spc="0" normalizeH="0" baseline="0" noProof="0" dirty="0" smtClean="0">
                <a:ln>
                  <a:noFill/>
                </a:ln>
                <a:solidFill>
                  <a:srgbClr val="D60093"/>
                </a:solidFill>
                <a:effectLst/>
                <a:uLnTx/>
                <a:uFillTx/>
                <a:latin typeface="楷体_GB2312" pitchFamily="1" charset="-122"/>
                <a:ea typeface="楷体_GB2312" pitchFamily="1" charset="-122"/>
                <a:cs typeface="+mn-cs"/>
              </a:rPr>
              <a:t>质变：</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事物性质的根本变化，是事物由一种质态向另一种质态的飞跃，体现了事物发展渐进过程和连续性的中断。</a:t>
            </a:r>
            <a:r>
              <a:rPr kumimoji="0" lang="zh-CN" altLang="en-US" sz="3200" b="1" i="0" u="none" strike="noStrike" kern="1200" cap="none" spc="0" normalizeH="0" baseline="0" noProof="0" dirty="0" smtClean="0">
                <a:ln>
                  <a:noFill/>
                </a:ln>
                <a:solidFill>
                  <a:schemeClr val="tx2"/>
                </a:solidFill>
                <a:effectLst/>
                <a:uLnTx/>
                <a:uFillTx/>
                <a:latin typeface="华文楷体" pitchFamily="2" charset="-122"/>
                <a:ea typeface="华文楷体" pitchFamily="2" charset="-122"/>
                <a:cs typeface="+mn-cs"/>
              </a:rPr>
              <a:t> </a:t>
            </a:r>
            <a:endParaRPr kumimoji="0" lang="zh-CN" altLang="en-US" sz="3200" b="1" i="0" u="none" strike="noStrike" kern="1200" cap="none" spc="0" normalizeH="0" baseline="0" noProof="0" dirty="0" smtClean="0">
              <a:ln>
                <a:noFill/>
              </a:ln>
              <a:solidFill>
                <a:schemeClr val="tx2"/>
              </a:solidFill>
              <a:effectLst/>
              <a:uLnTx/>
              <a:uFillTx/>
              <a:latin typeface="华文楷体" pitchFamily="2" charset="-122"/>
              <a:ea typeface="华文楷体" pitchFamily="2" charset="-122"/>
              <a:cs typeface="+mn-cs"/>
            </a:endParaRPr>
          </a:p>
        </p:txBody>
      </p:sp>
      <p:sp>
        <p:nvSpPr>
          <p:cNvPr id="10" name="Rectangle 3"/>
          <p:cNvSpPr txBox="1">
            <a:spLocks noChangeArrowheads="1"/>
          </p:cNvSpPr>
          <p:nvPr/>
        </p:nvSpPr>
        <p:spPr>
          <a:xfrm>
            <a:off x="357158" y="4214818"/>
            <a:ext cx="8077200" cy="685800"/>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en-US" altLang="zh-CN" sz="3200" b="0" i="0" u="none" strike="noStrike" kern="1200" cap="none" spc="0" normalizeH="0" baseline="0" noProof="0" dirty="0" smtClean="0">
                <a:ln>
                  <a:noFill/>
                </a:ln>
                <a:solidFill>
                  <a:schemeClr val="tx2"/>
                </a:solidFill>
                <a:effectLst/>
                <a:uLnTx/>
                <a:uFillTx/>
                <a:latin typeface="+mn-lt"/>
                <a:ea typeface="+mn-ea"/>
                <a:cs typeface="+mn-cs"/>
              </a:rPr>
              <a:t> </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第一，量变是质变的必要准备。</a:t>
            </a:r>
            <a:endParaRPr kumimoji="0" lang="zh-CN" altLang="en-US" sz="2800" b="0" i="0" u="none" strike="noStrike" kern="1200" cap="none" spc="0" normalizeH="0" baseline="0" noProof="0" dirty="0" smtClean="0">
              <a:ln>
                <a:noFill/>
              </a:ln>
              <a:solidFill>
                <a:schemeClr val="tx2"/>
              </a:solidFill>
              <a:effectLst/>
              <a:uLnTx/>
              <a:uFillTx/>
              <a:latin typeface="华文楷体" pitchFamily="2" charset="-122"/>
              <a:ea typeface="华文楷体" pitchFamily="2" charset="-122"/>
              <a:cs typeface="+mn-cs"/>
            </a:endParaRPr>
          </a:p>
        </p:txBody>
      </p:sp>
      <p:sp>
        <p:nvSpPr>
          <p:cNvPr id="11" name="Rectangle 3"/>
          <p:cNvSpPr>
            <a:spLocks noChangeArrowheads="1"/>
          </p:cNvSpPr>
          <p:nvPr/>
        </p:nvSpPr>
        <p:spPr bwMode="auto">
          <a:xfrm>
            <a:off x="571472" y="4929198"/>
            <a:ext cx="5364163" cy="519113"/>
          </a:xfrm>
          <a:prstGeom prst="rect">
            <a:avLst/>
          </a:prstGeom>
          <a:noFill/>
          <a:ln w="9525">
            <a:noFill/>
            <a:miter lim="800000"/>
          </a:ln>
        </p:spPr>
        <p:txBody>
          <a:bodyPr wrap="square">
            <a:spAutoFit/>
          </a:bodyPr>
          <a:lstStyle/>
          <a:p>
            <a:pPr eaLnBrk="1" hangingPunct="1">
              <a:spcBef>
                <a:spcPct val="20000"/>
              </a:spcBef>
            </a:pPr>
            <a:r>
              <a:rPr lang="zh-CN" altLang="en-US" sz="2800" b="1" dirty="0">
                <a:solidFill>
                  <a:srgbClr val="000000"/>
                </a:solidFill>
                <a:latin typeface="楷体_GB2312" pitchFamily="1" charset="-122"/>
                <a:ea typeface="楷体_GB2312" pitchFamily="1" charset="-122"/>
              </a:rPr>
              <a:t>第二，质变是量变的必然结果。 </a:t>
            </a:r>
            <a:endParaRPr lang="zh-CN" altLang="en-US" sz="2800" b="1" dirty="0">
              <a:solidFill>
                <a:srgbClr val="000000"/>
              </a:solidFill>
              <a:latin typeface="楷体_GB2312" pitchFamily="1" charset="-122"/>
              <a:ea typeface="楷体_GB2312" pitchFamily="1" charset="-122"/>
            </a:endParaRPr>
          </a:p>
        </p:txBody>
      </p:sp>
      <p:sp>
        <p:nvSpPr>
          <p:cNvPr id="12" name="Rectangle 2"/>
          <p:cNvSpPr txBox="1">
            <a:spLocks noChangeArrowheads="1"/>
          </p:cNvSpPr>
          <p:nvPr/>
        </p:nvSpPr>
        <p:spPr>
          <a:xfrm>
            <a:off x="214282" y="5572140"/>
            <a:ext cx="8501122" cy="1076348"/>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Tx/>
              <a:buNone/>
              <a:defRPr/>
            </a:pPr>
            <a:r>
              <a:rPr kumimoji="0" lang="en-US" altLang="zh-CN"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第三，量变和质变是相互渗透的。在总的量变过程中有部分质变；在质变过程中充满量的收缩</a:t>
            </a:r>
            <a:r>
              <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rPr>
              <a:t>与扩张。</a:t>
            </a:r>
            <a:endParaRPr kumimoji="0" lang="zh-CN" altLang="en-US" sz="2800" b="1" i="0" u="none" strike="noStrike" kern="1200" cap="none" spc="0" normalizeH="0" baseline="0" noProof="0" dirty="0" smtClean="0">
              <a:ln>
                <a:noFill/>
              </a:ln>
              <a:solidFill>
                <a:srgbClr val="000000"/>
              </a:solidFill>
              <a:effectLst/>
              <a:uLnTx/>
              <a:uFillTx/>
              <a:latin typeface="楷体_GB2312" pitchFamily="1" charset="-122"/>
              <a:ea typeface="楷体_GB2312" pitchFamily="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up)">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left)">
                                      <p:cBhvr>
                                        <p:cTn id="12" dur="1000"/>
                                        <p:tgtEl>
                                          <p:spTgt spid="9">
                                            <p:txEl>
                                              <p:pRg st="0" end="0"/>
                                            </p:txEl>
                                          </p:spTgt>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wipe(up)">
                                      <p:cBhvr>
                                        <p:cTn id="16" dur="10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1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wipe(left)">
                                      <p:cBhvr>
                                        <p:cTn id="26" dur="1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build="p"/>
      <p:bldP spid="9" grpId="0" autoUpdateAnimBg="0" build="p"/>
      <p:bldP spid="10" grpId="0" autoUpdateAnimBg="0" build="p"/>
      <p:bldP spid="11" grpId="0" autoUpdateAnimBg="0"/>
      <p:bldP spid="12"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4294967295"/>
          </p:nvPr>
        </p:nvSpPr>
        <p:spPr>
          <a:xfrm>
            <a:off x="214282" y="2714620"/>
            <a:ext cx="8682038" cy="3581400"/>
          </a:xfrm>
        </p:spPr>
        <p:txBody>
          <a:bodyPr/>
          <a:lstStyle/>
          <a:p>
            <a:pPr>
              <a:buNone/>
            </a:pPr>
            <a:r>
              <a:rPr lang="zh-CN" altLang="en-US" sz="2800" b="1" dirty="0" smtClean="0">
                <a:solidFill>
                  <a:srgbClr val="6600FF"/>
                </a:solidFill>
                <a:latin typeface="楷体_GB2312" pitchFamily="1" charset="-122"/>
                <a:ea typeface="楷体_GB2312" pitchFamily="1" charset="-122"/>
              </a:rPr>
              <a:t>     方法论意义：</a:t>
            </a:r>
            <a:r>
              <a:rPr lang="zh-CN" altLang="en-US" sz="2800" b="1" dirty="0" smtClean="0">
                <a:solidFill>
                  <a:srgbClr val="000000"/>
                </a:solidFill>
                <a:latin typeface="楷体_GB2312" pitchFamily="1" charset="-122"/>
                <a:ea typeface="楷体_GB2312" pitchFamily="1" charset="-122"/>
              </a:rPr>
              <a:t>质量互变规律体现了事物发展渐进性和飞跃性的统一。</a:t>
            </a:r>
            <a:endParaRPr lang="zh-CN" altLang="en-US" sz="2800" b="1" dirty="0" smtClean="0">
              <a:solidFill>
                <a:srgbClr val="000000"/>
              </a:solidFill>
              <a:latin typeface="楷体_GB2312" pitchFamily="1" charset="-122"/>
              <a:ea typeface="楷体_GB2312" pitchFamily="1" charset="-122"/>
            </a:endParaRPr>
          </a:p>
          <a:p>
            <a:pPr eaLnBrk="1" hangingPunct="1">
              <a:buFontTx/>
              <a:buNone/>
            </a:pPr>
            <a:r>
              <a:rPr lang="zh-CN" altLang="en-US" sz="2800" b="1" dirty="0" smtClean="0">
                <a:solidFill>
                  <a:srgbClr val="000000"/>
                </a:solidFill>
                <a:latin typeface="楷体_GB2312" pitchFamily="1" charset="-122"/>
                <a:ea typeface="楷体_GB2312" pitchFamily="1" charset="-122"/>
              </a:rPr>
              <a:t>     事物的发展是渐进性和飞跃性的统一，我们要自觉掌握这个规律，脚踏实地，注重点滴积累，并在适当的时候积极促成旧质的突破和新质的飞跃，不断进取，开拓创新。 </a:t>
            </a:r>
            <a:endParaRPr lang="zh-CN" altLang="en-US" sz="2800" b="1" dirty="0" smtClean="0">
              <a:solidFill>
                <a:srgbClr val="000000"/>
              </a:solidFill>
              <a:latin typeface="楷体_GB2312" pitchFamily="1" charset="-122"/>
              <a:ea typeface="楷体_GB2312" pitchFamily="1" charset="-122"/>
            </a:endParaRPr>
          </a:p>
          <a:p>
            <a:pPr eaLnBrk="1" hangingPunct="1">
              <a:buFontTx/>
              <a:buNone/>
            </a:pPr>
            <a:r>
              <a:rPr lang="zh-CN" altLang="en-US" sz="2800" b="1" dirty="0" smtClean="0">
                <a:solidFill>
                  <a:srgbClr val="000000"/>
                </a:solidFill>
                <a:latin typeface="楷体_GB2312" pitchFamily="1" charset="-122"/>
                <a:ea typeface="楷体_GB2312" pitchFamily="1" charset="-122"/>
              </a:rPr>
              <a:t>     反对两种</a:t>
            </a:r>
            <a:r>
              <a:rPr lang="zh-CN" altLang="en-US" sz="2800" b="1" dirty="0" smtClean="0">
                <a:solidFill>
                  <a:srgbClr val="6600FF"/>
                </a:solidFill>
                <a:latin typeface="楷体_GB2312" pitchFamily="1" charset="-122"/>
                <a:ea typeface="楷体_GB2312" pitchFamily="1" charset="-122"/>
              </a:rPr>
              <a:t>错误观点：</a:t>
            </a:r>
            <a:r>
              <a:rPr lang="zh-CN" altLang="en-US" sz="2800" b="1" dirty="0" smtClean="0">
                <a:solidFill>
                  <a:srgbClr val="000000"/>
                </a:solidFill>
                <a:latin typeface="楷体_GB2312" pitchFamily="1" charset="-122"/>
                <a:ea typeface="楷体_GB2312" pitchFamily="1" charset="-122"/>
              </a:rPr>
              <a:t>激变论（只承认质变）和庸俗进化论（只承认量变）。</a:t>
            </a:r>
            <a:r>
              <a:rPr lang="zh-CN" altLang="en-US" b="1" dirty="0" smtClean="0">
                <a:solidFill>
                  <a:srgbClr val="000000"/>
                </a:solidFill>
                <a:latin typeface="楷体_GB2312" pitchFamily="1" charset="-122"/>
                <a:ea typeface="楷体_GB2312" pitchFamily="1" charset="-122"/>
              </a:rPr>
              <a:t>    </a:t>
            </a:r>
            <a:endParaRPr lang="zh-CN" altLang="en-US" b="1" dirty="0" smtClean="0">
              <a:solidFill>
                <a:srgbClr val="000000"/>
              </a:solidFill>
              <a:latin typeface="楷体_GB2312" pitchFamily="1" charset="-122"/>
              <a:ea typeface="楷体_GB2312" pitchFamily="1" charset="-122"/>
            </a:endParaRPr>
          </a:p>
        </p:txBody>
      </p:sp>
      <p:sp>
        <p:nvSpPr>
          <p:cNvPr id="41988" name="Oval 4"/>
          <p:cNvSpPr>
            <a:spLocks noChangeArrowheads="1"/>
          </p:cNvSpPr>
          <p:nvPr/>
        </p:nvSpPr>
        <p:spPr bwMode="auto">
          <a:xfrm>
            <a:off x="714348" y="428604"/>
            <a:ext cx="1143000" cy="1905000"/>
          </a:xfrm>
          <a:prstGeom prst="ellipse">
            <a:avLst/>
          </a:prstGeom>
          <a:solidFill>
            <a:schemeClr val="accent1">
              <a:alpha val="50195"/>
            </a:schemeClr>
          </a:solidFill>
          <a:ln w="9525">
            <a:solidFill>
              <a:schemeClr val="tx1"/>
            </a:solidFill>
            <a:round/>
          </a:ln>
        </p:spPr>
        <p:txBody>
          <a:bodyPr wrap="none" anchor="ctr">
            <a:spAutoFit/>
          </a:bodyPr>
          <a:lstStyle/>
          <a:p>
            <a:pPr eaLnBrk="1" hangingPunct="1"/>
            <a:endParaRPr lang="zh-CN" altLang="en-US"/>
          </a:p>
        </p:txBody>
      </p:sp>
      <p:sp>
        <p:nvSpPr>
          <p:cNvPr id="41989" name="Oval 5"/>
          <p:cNvSpPr>
            <a:spLocks noChangeArrowheads="1"/>
          </p:cNvSpPr>
          <p:nvPr/>
        </p:nvSpPr>
        <p:spPr bwMode="auto">
          <a:xfrm>
            <a:off x="2643174" y="428604"/>
            <a:ext cx="1143000" cy="1905000"/>
          </a:xfrm>
          <a:prstGeom prst="ellipse">
            <a:avLst/>
          </a:prstGeom>
          <a:solidFill>
            <a:schemeClr val="accent1">
              <a:alpha val="50195"/>
            </a:schemeClr>
          </a:solidFill>
          <a:ln w="9525">
            <a:solidFill>
              <a:schemeClr val="tx1"/>
            </a:solidFill>
            <a:round/>
          </a:ln>
        </p:spPr>
        <p:txBody>
          <a:bodyPr wrap="none" anchor="ctr">
            <a:spAutoFit/>
          </a:bodyPr>
          <a:lstStyle/>
          <a:p>
            <a:pPr eaLnBrk="1" hangingPunct="1"/>
            <a:endParaRPr lang="zh-CN" altLang="en-US"/>
          </a:p>
        </p:txBody>
      </p:sp>
      <p:sp>
        <p:nvSpPr>
          <p:cNvPr id="41990" name="Oval 6"/>
          <p:cNvSpPr>
            <a:spLocks noChangeArrowheads="1"/>
          </p:cNvSpPr>
          <p:nvPr/>
        </p:nvSpPr>
        <p:spPr bwMode="auto">
          <a:xfrm>
            <a:off x="4500562" y="428604"/>
            <a:ext cx="1143000" cy="1905000"/>
          </a:xfrm>
          <a:prstGeom prst="ellipse">
            <a:avLst/>
          </a:prstGeom>
          <a:solidFill>
            <a:schemeClr val="accent1">
              <a:alpha val="50195"/>
            </a:schemeClr>
          </a:solidFill>
          <a:ln w="9525">
            <a:solidFill>
              <a:schemeClr val="tx1"/>
            </a:solidFill>
            <a:round/>
          </a:ln>
        </p:spPr>
        <p:txBody>
          <a:bodyPr wrap="none" anchor="ctr">
            <a:spAutoFit/>
          </a:bodyPr>
          <a:lstStyle/>
          <a:p>
            <a:pPr eaLnBrk="1" hangingPunct="1"/>
            <a:endParaRPr lang="zh-CN" altLang="en-US"/>
          </a:p>
        </p:txBody>
      </p:sp>
      <p:sp>
        <p:nvSpPr>
          <p:cNvPr id="41991" name="Oval 7"/>
          <p:cNvSpPr>
            <a:spLocks noChangeArrowheads="1"/>
          </p:cNvSpPr>
          <p:nvPr/>
        </p:nvSpPr>
        <p:spPr bwMode="auto">
          <a:xfrm>
            <a:off x="6429388" y="428604"/>
            <a:ext cx="1143000" cy="1905000"/>
          </a:xfrm>
          <a:prstGeom prst="ellipse">
            <a:avLst/>
          </a:prstGeom>
          <a:solidFill>
            <a:schemeClr val="accent1">
              <a:alpha val="50195"/>
            </a:schemeClr>
          </a:solidFill>
          <a:ln w="9525">
            <a:solidFill>
              <a:schemeClr val="tx1"/>
            </a:solidFill>
            <a:round/>
          </a:ln>
        </p:spPr>
        <p:txBody>
          <a:bodyPr wrap="none" anchor="ctr">
            <a:spAutoFit/>
          </a:bodyPr>
          <a:lstStyle/>
          <a:p>
            <a:pPr eaLnBrk="1" hangingPunct="1"/>
            <a:endParaRPr lang="zh-CN" altLang="en-US"/>
          </a:p>
        </p:txBody>
      </p:sp>
      <p:sp>
        <p:nvSpPr>
          <p:cNvPr id="41992" name="Text Box 8"/>
          <p:cNvSpPr txBox="1">
            <a:spLocks noChangeArrowheads="1"/>
          </p:cNvSpPr>
          <p:nvPr/>
        </p:nvSpPr>
        <p:spPr bwMode="auto">
          <a:xfrm>
            <a:off x="1000100" y="785794"/>
            <a:ext cx="611187" cy="1219200"/>
          </a:xfrm>
          <a:prstGeom prst="rect">
            <a:avLst/>
          </a:prstGeom>
          <a:noFill/>
          <a:ln w="9525">
            <a:noFill/>
            <a:miter lim="800000"/>
          </a:ln>
        </p:spPr>
        <p:txBody>
          <a:bodyPr vert="eaVert">
            <a:spAutoFit/>
          </a:bodyPr>
          <a:lstStyle/>
          <a:p>
            <a:pPr eaLnBrk="1" hangingPunct="1">
              <a:spcBef>
                <a:spcPct val="50000"/>
              </a:spcBef>
            </a:pPr>
            <a:r>
              <a:rPr lang="zh-CN" altLang="en-US" sz="2800" b="1" dirty="0">
                <a:ea typeface="楷体_GB2312" pitchFamily="1" charset="-122"/>
              </a:rPr>
              <a:t>量  变</a:t>
            </a:r>
            <a:endParaRPr lang="zh-CN" altLang="en-US" sz="2800" b="1" dirty="0">
              <a:ea typeface="楷体_GB2312" pitchFamily="1" charset="-122"/>
            </a:endParaRPr>
          </a:p>
        </p:txBody>
      </p:sp>
      <p:sp>
        <p:nvSpPr>
          <p:cNvPr id="41993" name="Text Box 9"/>
          <p:cNvSpPr txBox="1">
            <a:spLocks noChangeArrowheads="1"/>
          </p:cNvSpPr>
          <p:nvPr/>
        </p:nvSpPr>
        <p:spPr bwMode="auto">
          <a:xfrm>
            <a:off x="2928926" y="785794"/>
            <a:ext cx="611187" cy="1219200"/>
          </a:xfrm>
          <a:prstGeom prst="rect">
            <a:avLst/>
          </a:prstGeom>
          <a:noFill/>
          <a:ln w="9525">
            <a:noFill/>
            <a:miter lim="800000"/>
          </a:ln>
        </p:spPr>
        <p:txBody>
          <a:bodyPr vert="eaVert">
            <a:spAutoFit/>
          </a:bodyPr>
          <a:lstStyle/>
          <a:p>
            <a:pPr eaLnBrk="1" hangingPunct="1">
              <a:spcBef>
                <a:spcPct val="50000"/>
              </a:spcBef>
            </a:pPr>
            <a:r>
              <a:rPr lang="zh-CN" altLang="en-US" sz="2800" b="1" dirty="0">
                <a:ea typeface="楷体_GB2312" pitchFamily="1" charset="-122"/>
              </a:rPr>
              <a:t>质  变</a:t>
            </a:r>
            <a:endParaRPr lang="zh-CN" altLang="en-US" sz="2800" b="1" dirty="0">
              <a:ea typeface="楷体_GB2312" pitchFamily="1" charset="-122"/>
            </a:endParaRPr>
          </a:p>
        </p:txBody>
      </p:sp>
      <p:sp>
        <p:nvSpPr>
          <p:cNvPr id="41994" name="Text Box 10"/>
          <p:cNvSpPr txBox="1">
            <a:spLocks noChangeArrowheads="1"/>
          </p:cNvSpPr>
          <p:nvPr/>
        </p:nvSpPr>
        <p:spPr bwMode="auto">
          <a:xfrm>
            <a:off x="4786314" y="642918"/>
            <a:ext cx="611188" cy="1524000"/>
          </a:xfrm>
          <a:prstGeom prst="rect">
            <a:avLst/>
          </a:prstGeom>
          <a:noFill/>
          <a:ln w="9525">
            <a:noFill/>
            <a:miter lim="800000"/>
          </a:ln>
        </p:spPr>
        <p:txBody>
          <a:bodyPr vert="eaVert">
            <a:spAutoFit/>
          </a:bodyPr>
          <a:lstStyle/>
          <a:p>
            <a:pPr eaLnBrk="1" hangingPunct="1">
              <a:spcBef>
                <a:spcPct val="50000"/>
              </a:spcBef>
            </a:pPr>
            <a:r>
              <a:rPr lang="zh-CN" altLang="en-US" sz="2800" b="1" dirty="0">
                <a:ea typeface="楷体_GB2312" pitchFamily="1" charset="-122"/>
              </a:rPr>
              <a:t>新的量变</a:t>
            </a:r>
            <a:endParaRPr lang="zh-CN" altLang="en-US" sz="2800" b="1" dirty="0">
              <a:ea typeface="楷体_GB2312" pitchFamily="1" charset="-122"/>
            </a:endParaRPr>
          </a:p>
        </p:txBody>
      </p:sp>
      <p:sp>
        <p:nvSpPr>
          <p:cNvPr id="41995" name="Text Box 11"/>
          <p:cNvSpPr txBox="1">
            <a:spLocks noChangeArrowheads="1"/>
          </p:cNvSpPr>
          <p:nvPr/>
        </p:nvSpPr>
        <p:spPr bwMode="auto">
          <a:xfrm>
            <a:off x="6572264" y="1000108"/>
            <a:ext cx="838200" cy="457200"/>
          </a:xfrm>
          <a:prstGeom prst="rect">
            <a:avLst/>
          </a:prstGeom>
          <a:noFill/>
          <a:ln w="9525">
            <a:noFill/>
            <a:miter lim="800000"/>
          </a:ln>
        </p:spPr>
        <p:txBody>
          <a:bodyPr>
            <a:spAutoFit/>
          </a:bodyPr>
          <a:lstStyle/>
          <a:p>
            <a:pPr eaLnBrk="1" hangingPunct="1">
              <a:spcBef>
                <a:spcPct val="50000"/>
              </a:spcBef>
            </a:pPr>
            <a:r>
              <a:rPr lang="en-US" altLang="zh-CN" sz="2400" b="1" dirty="0">
                <a:latin typeface="Arial" panose="020B0604020202020204" pitchFamily="34" charset="0"/>
                <a:ea typeface="楷体_GB2312" pitchFamily="1" charset="-122"/>
              </a:rPr>
              <a:t>……</a:t>
            </a:r>
            <a:endParaRPr lang="en-US" altLang="zh-CN" sz="2400" b="1" dirty="0">
              <a:ea typeface="楷体_GB2312" pitchFamily="1" charset="-122"/>
            </a:endParaRPr>
          </a:p>
        </p:txBody>
      </p:sp>
      <p:sp>
        <p:nvSpPr>
          <p:cNvPr id="41996" name="AutoShape 12"/>
          <p:cNvSpPr>
            <a:spLocks noChangeArrowheads="1"/>
          </p:cNvSpPr>
          <p:nvPr/>
        </p:nvSpPr>
        <p:spPr bwMode="auto">
          <a:xfrm>
            <a:off x="2000232" y="1285860"/>
            <a:ext cx="533400" cy="152400"/>
          </a:xfrm>
          <a:prstGeom prst="rightArrow">
            <a:avLst>
              <a:gd name="adj1" fmla="val 50000"/>
              <a:gd name="adj2" fmla="val 87500"/>
            </a:avLst>
          </a:prstGeom>
          <a:solidFill>
            <a:schemeClr val="accent1">
              <a:alpha val="50195"/>
            </a:schemeClr>
          </a:solidFill>
          <a:ln w="9525">
            <a:solidFill>
              <a:schemeClr val="tx1"/>
            </a:solidFill>
            <a:miter lim="800000"/>
          </a:ln>
        </p:spPr>
        <p:txBody>
          <a:bodyPr wrap="none" anchor="ctr">
            <a:spAutoFit/>
          </a:bodyPr>
          <a:lstStyle/>
          <a:p>
            <a:pPr eaLnBrk="1" hangingPunct="1"/>
            <a:endParaRPr lang="zh-CN" altLang="en-US"/>
          </a:p>
        </p:txBody>
      </p:sp>
      <p:sp>
        <p:nvSpPr>
          <p:cNvPr id="41997" name="AutoShape 13"/>
          <p:cNvSpPr>
            <a:spLocks noChangeArrowheads="1"/>
          </p:cNvSpPr>
          <p:nvPr/>
        </p:nvSpPr>
        <p:spPr bwMode="auto">
          <a:xfrm>
            <a:off x="3857620" y="1285860"/>
            <a:ext cx="533400" cy="152400"/>
          </a:xfrm>
          <a:prstGeom prst="rightArrow">
            <a:avLst>
              <a:gd name="adj1" fmla="val 50000"/>
              <a:gd name="adj2" fmla="val 87500"/>
            </a:avLst>
          </a:prstGeom>
          <a:solidFill>
            <a:schemeClr val="accent1">
              <a:alpha val="50195"/>
            </a:schemeClr>
          </a:solidFill>
          <a:ln w="9525">
            <a:solidFill>
              <a:schemeClr val="tx1"/>
            </a:solidFill>
            <a:miter lim="800000"/>
          </a:ln>
        </p:spPr>
        <p:txBody>
          <a:bodyPr wrap="none" anchor="ctr">
            <a:spAutoFit/>
          </a:bodyPr>
          <a:lstStyle/>
          <a:p>
            <a:pPr eaLnBrk="1" hangingPunct="1"/>
            <a:endParaRPr lang="zh-CN" altLang="en-US"/>
          </a:p>
        </p:txBody>
      </p:sp>
      <p:sp>
        <p:nvSpPr>
          <p:cNvPr id="41998" name="AutoShape 14"/>
          <p:cNvSpPr>
            <a:spLocks noChangeArrowheads="1"/>
          </p:cNvSpPr>
          <p:nvPr/>
        </p:nvSpPr>
        <p:spPr bwMode="auto">
          <a:xfrm>
            <a:off x="5715008" y="1285860"/>
            <a:ext cx="533400" cy="152400"/>
          </a:xfrm>
          <a:prstGeom prst="rightArrow">
            <a:avLst>
              <a:gd name="adj1" fmla="val 50000"/>
              <a:gd name="adj2" fmla="val 87500"/>
            </a:avLst>
          </a:prstGeom>
          <a:solidFill>
            <a:schemeClr val="accent1">
              <a:alpha val="50195"/>
            </a:schemeClr>
          </a:solidFill>
          <a:ln w="9525">
            <a:solidFill>
              <a:schemeClr val="tx1"/>
            </a:solidFill>
            <a:miter lim="800000"/>
          </a:ln>
        </p:spPr>
        <p:txBody>
          <a:bodyPr wrap="none" anchor="ctr">
            <a:spAutoFit/>
          </a:body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wipe(up)">
                                      <p:cBhvr>
                                        <p:cTn id="7" dur="500"/>
                                        <p:tgtEl>
                                          <p:spTgt spid="4198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41992"/>
                                        </p:tgtEl>
                                        <p:attrNameLst>
                                          <p:attrName>style.visibility</p:attrName>
                                        </p:attrNameLst>
                                      </p:cBhvr>
                                      <p:to>
                                        <p:strVal val="visible"/>
                                      </p:to>
                                    </p:set>
                                    <p:anim calcmode="lin" valueType="num">
                                      <p:cBhvr additive="base">
                                        <p:cTn id="11" dur="500" fill="hold"/>
                                        <p:tgtEl>
                                          <p:spTgt spid="41992"/>
                                        </p:tgtEl>
                                        <p:attrNameLst>
                                          <p:attrName>ppt_x</p:attrName>
                                        </p:attrNameLst>
                                      </p:cBhvr>
                                      <p:tavLst>
                                        <p:tav tm="0">
                                          <p:val>
                                            <p:strVal val="0-#ppt_w/2"/>
                                          </p:val>
                                        </p:tav>
                                        <p:tav tm="100000">
                                          <p:val>
                                            <p:strVal val="#ppt_x"/>
                                          </p:val>
                                        </p:tav>
                                      </p:tavLst>
                                    </p:anim>
                                    <p:anim calcmode="lin" valueType="num">
                                      <p:cBhvr additive="base">
                                        <p:cTn id="12" dur="500" fill="hold"/>
                                        <p:tgtEl>
                                          <p:spTgt spid="4199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41996"/>
                                        </p:tgtEl>
                                        <p:attrNameLst>
                                          <p:attrName>style.visibility</p:attrName>
                                        </p:attrNameLst>
                                      </p:cBhvr>
                                      <p:to>
                                        <p:strVal val="visible"/>
                                      </p:to>
                                    </p:set>
                                    <p:anim calcmode="lin" valueType="num">
                                      <p:cBhvr additive="base">
                                        <p:cTn id="16" dur="500" fill="hold"/>
                                        <p:tgtEl>
                                          <p:spTgt spid="41996"/>
                                        </p:tgtEl>
                                        <p:attrNameLst>
                                          <p:attrName>ppt_x</p:attrName>
                                        </p:attrNameLst>
                                      </p:cBhvr>
                                      <p:tavLst>
                                        <p:tav tm="0">
                                          <p:val>
                                            <p:strVal val="0-#ppt_w/2"/>
                                          </p:val>
                                        </p:tav>
                                        <p:tav tm="100000">
                                          <p:val>
                                            <p:strVal val="#ppt_x"/>
                                          </p:val>
                                        </p:tav>
                                      </p:tavLst>
                                    </p:anim>
                                    <p:anim calcmode="lin" valueType="num">
                                      <p:cBhvr additive="base">
                                        <p:cTn id="17" dur="500" fill="hold"/>
                                        <p:tgtEl>
                                          <p:spTgt spid="41996"/>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41989"/>
                                        </p:tgtEl>
                                        <p:attrNameLst>
                                          <p:attrName>style.visibility</p:attrName>
                                        </p:attrNameLst>
                                      </p:cBhvr>
                                      <p:to>
                                        <p:strVal val="visible"/>
                                      </p:to>
                                    </p:set>
                                    <p:animEffect transition="in" filter="wipe(up)">
                                      <p:cBhvr>
                                        <p:cTn id="21" dur="500"/>
                                        <p:tgtEl>
                                          <p:spTgt spid="41989"/>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41993"/>
                                        </p:tgtEl>
                                        <p:attrNameLst>
                                          <p:attrName>style.visibility</p:attrName>
                                        </p:attrNameLst>
                                      </p:cBhvr>
                                      <p:to>
                                        <p:strVal val="visible"/>
                                      </p:to>
                                    </p:set>
                                    <p:animEffect transition="in" filter="wipe(up)">
                                      <p:cBhvr>
                                        <p:cTn id="25" dur="500"/>
                                        <p:tgtEl>
                                          <p:spTgt spid="41993"/>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41997"/>
                                        </p:tgtEl>
                                        <p:attrNameLst>
                                          <p:attrName>style.visibility</p:attrName>
                                        </p:attrNameLst>
                                      </p:cBhvr>
                                      <p:to>
                                        <p:strVal val="visible"/>
                                      </p:to>
                                    </p:set>
                                    <p:animEffect transition="in" filter="wipe(left)">
                                      <p:cBhvr>
                                        <p:cTn id="29" dur="500"/>
                                        <p:tgtEl>
                                          <p:spTgt spid="41997"/>
                                        </p:tgtEl>
                                      </p:cBhvr>
                                    </p:animEffect>
                                  </p:childTnLst>
                                </p:cTn>
                              </p:par>
                            </p:childTnLst>
                          </p:cTn>
                        </p:par>
                        <p:par>
                          <p:cTn id="30" fill="hold">
                            <p:stCondLst>
                              <p:cond delay="3000"/>
                            </p:stCondLst>
                            <p:childTnLst>
                              <p:par>
                                <p:cTn id="31" presetID="22" presetClass="entr" presetSubtype="1" fill="hold" grpId="0" nodeType="afterEffect">
                                  <p:stCondLst>
                                    <p:cond delay="0"/>
                                  </p:stCondLst>
                                  <p:childTnLst>
                                    <p:set>
                                      <p:cBhvr>
                                        <p:cTn id="32" dur="1" fill="hold">
                                          <p:stCondLst>
                                            <p:cond delay="0"/>
                                          </p:stCondLst>
                                        </p:cTn>
                                        <p:tgtEl>
                                          <p:spTgt spid="41990"/>
                                        </p:tgtEl>
                                        <p:attrNameLst>
                                          <p:attrName>style.visibility</p:attrName>
                                        </p:attrNameLst>
                                      </p:cBhvr>
                                      <p:to>
                                        <p:strVal val="visible"/>
                                      </p:to>
                                    </p:set>
                                    <p:animEffect transition="in" filter="wipe(up)">
                                      <p:cBhvr>
                                        <p:cTn id="33" dur="500"/>
                                        <p:tgtEl>
                                          <p:spTgt spid="41990"/>
                                        </p:tgtEl>
                                      </p:cBhvr>
                                    </p:animEffect>
                                  </p:childTnLst>
                                </p:cTn>
                              </p:par>
                            </p:childTnLst>
                          </p:cTn>
                        </p:par>
                        <p:par>
                          <p:cTn id="34" fill="hold">
                            <p:stCondLst>
                              <p:cond delay="3500"/>
                            </p:stCondLst>
                            <p:childTnLst>
                              <p:par>
                                <p:cTn id="35" presetID="22" presetClass="entr" presetSubtype="1" fill="hold" grpId="0" nodeType="afterEffect">
                                  <p:stCondLst>
                                    <p:cond delay="0"/>
                                  </p:stCondLst>
                                  <p:childTnLst>
                                    <p:set>
                                      <p:cBhvr>
                                        <p:cTn id="36" dur="1" fill="hold">
                                          <p:stCondLst>
                                            <p:cond delay="0"/>
                                          </p:stCondLst>
                                        </p:cTn>
                                        <p:tgtEl>
                                          <p:spTgt spid="41994"/>
                                        </p:tgtEl>
                                        <p:attrNameLst>
                                          <p:attrName>style.visibility</p:attrName>
                                        </p:attrNameLst>
                                      </p:cBhvr>
                                      <p:to>
                                        <p:strVal val="visible"/>
                                      </p:to>
                                    </p:set>
                                    <p:animEffect transition="in" filter="wipe(up)">
                                      <p:cBhvr>
                                        <p:cTn id="37" dur="500"/>
                                        <p:tgtEl>
                                          <p:spTgt spid="41994"/>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41998"/>
                                        </p:tgtEl>
                                        <p:attrNameLst>
                                          <p:attrName>style.visibility</p:attrName>
                                        </p:attrNameLst>
                                      </p:cBhvr>
                                      <p:to>
                                        <p:strVal val="visible"/>
                                      </p:to>
                                    </p:set>
                                    <p:animEffect transition="in" filter="wipe(left)">
                                      <p:cBhvr>
                                        <p:cTn id="41" dur="500"/>
                                        <p:tgtEl>
                                          <p:spTgt spid="41998"/>
                                        </p:tgtEl>
                                      </p:cBhvr>
                                    </p:animEffect>
                                  </p:childTnLst>
                                </p:cTn>
                              </p:par>
                            </p:childTnLst>
                          </p:cTn>
                        </p:par>
                        <p:par>
                          <p:cTn id="42" fill="hold">
                            <p:stCondLst>
                              <p:cond delay="4500"/>
                            </p:stCondLst>
                            <p:childTnLst>
                              <p:par>
                                <p:cTn id="43" presetID="3" presetClass="entr" presetSubtype="10" fill="hold" grpId="0" nodeType="afterEffect">
                                  <p:stCondLst>
                                    <p:cond delay="0"/>
                                  </p:stCondLst>
                                  <p:childTnLst>
                                    <p:set>
                                      <p:cBhvr>
                                        <p:cTn id="44" dur="1" fill="hold">
                                          <p:stCondLst>
                                            <p:cond delay="0"/>
                                          </p:stCondLst>
                                        </p:cTn>
                                        <p:tgtEl>
                                          <p:spTgt spid="41991"/>
                                        </p:tgtEl>
                                        <p:attrNameLst>
                                          <p:attrName>style.visibility</p:attrName>
                                        </p:attrNameLst>
                                      </p:cBhvr>
                                      <p:to>
                                        <p:strVal val="visible"/>
                                      </p:to>
                                    </p:set>
                                    <p:animEffect transition="in" filter="blinds(horizontal)">
                                      <p:cBhvr>
                                        <p:cTn id="45" dur="500"/>
                                        <p:tgtEl>
                                          <p:spTgt spid="41991"/>
                                        </p:tgtEl>
                                      </p:cBhvr>
                                    </p:animEffect>
                                  </p:childTnLst>
                                </p:cTn>
                              </p:par>
                            </p:childTnLst>
                          </p:cTn>
                        </p:par>
                        <p:par>
                          <p:cTn id="46" fill="hold">
                            <p:stCondLst>
                              <p:cond delay="5000"/>
                            </p:stCondLst>
                            <p:childTnLst>
                              <p:par>
                                <p:cTn id="47" presetID="22" presetClass="entr" presetSubtype="8" fill="hold" grpId="0" nodeType="afterEffect">
                                  <p:stCondLst>
                                    <p:cond delay="0"/>
                                  </p:stCondLst>
                                  <p:childTnLst>
                                    <p:set>
                                      <p:cBhvr>
                                        <p:cTn id="48" dur="1" fill="hold">
                                          <p:stCondLst>
                                            <p:cond delay="0"/>
                                          </p:stCondLst>
                                        </p:cTn>
                                        <p:tgtEl>
                                          <p:spTgt spid="41995"/>
                                        </p:tgtEl>
                                        <p:attrNameLst>
                                          <p:attrName>style.visibility</p:attrName>
                                        </p:attrNameLst>
                                      </p:cBhvr>
                                      <p:to>
                                        <p:strVal val="visible"/>
                                      </p:to>
                                    </p:set>
                                    <p:animEffect transition="in" filter="wipe(left)">
                                      <p:cBhvr>
                                        <p:cTn id="49" dur="500"/>
                                        <p:tgtEl>
                                          <p:spTgt spid="41995"/>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grpId="0" nodeType="clickEffect">
                                  <p:stCondLst>
                                    <p:cond delay="0"/>
                                  </p:stCondLst>
                                  <p:childTnLst>
                                    <p:set>
                                      <p:cBhvr>
                                        <p:cTn id="53" dur="1" fill="hold">
                                          <p:stCondLst>
                                            <p:cond delay="0"/>
                                          </p:stCondLst>
                                        </p:cTn>
                                        <p:tgtEl>
                                          <p:spTgt spid="41987">
                                            <p:txEl>
                                              <p:pRg st="0" end="0"/>
                                            </p:txEl>
                                          </p:spTgt>
                                        </p:tgtEl>
                                        <p:attrNameLst>
                                          <p:attrName>style.visibility</p:attrName>
                                        </p:attrNameLst>
                                      </p:cBhvr>
                                      <p:to>
                                        <p:strVal val="visible"/>
                                      </p:to>
                                    </p:set>
                                    <p:animEffect transition="in" filter="strips(downRight)">
                                      <p:cBhvr>
                                        <p:cTn id="54" dur="1000"/>
                                        <p:tgtEl>
                                          <p:spTgt spid="41987">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grpId="0" nodeType="clickEffect">
                                  <p:stCondLst>
                                    <p:cond delay="0"/>
                                  </p:stCondLst>
                                  <p:childTnLst>
                                    <p:set>
                                      <p:cBhvr>
                                        <p:cTn id="58" dur="1" fill="hold">
                                          <p:stCondLst>
                                            <p:cond delay="0"/>
                                          </p:stCondLst>
                                        </p:cTn>
                                        <p:tgtEl>
                                          <p:spTgt spid="41987">
                                            <p:txEl>
                                              <p:pRg st="1" end="1"/>
                                            </p:txEl>
                                          </p:spTgt>
                                        </p:tgtEl>
                                        <p:attrNameLst>
                                          <p:attrName>style.visibility</p:attrName>
                                        </p:attrNameLst>
                                      </p:cBhvr>
                                      <p:to>
                                        <p:strVal val="visible"/>
                                      </p:to>
                                    </p:set>
                                    <p:animEffect transition="in" filter="strips(downRight)">
                                      <p:cBhvr>
                                        <p:cTn id="59" dur="1000"/>
                                        <p:tgtEl>
                                          <p:spTgt spid="41987">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ntr" presetSubtype="6" fill="hold" grpId="0" nodeType="clickEffect">
                                  <p:stCondLst>
                                    <p:cond delay="0"/>
                                  </p:stCondLst>
                                  <p:childTnLst>
                                    <p:set>
                                      <p:cBhvr>
                                        <p:cTn id="63" dur="1" fill="hold">
                                          <p:stCondLst>
                                            <p:cond delay="0"/>
                                          </p:stCondLst>
                                        </p:cTn>
                                        <p:tgtEl>
                                          <p:spTgt spid="41987">
                                            <p:txEl>
                                              <p:pRg st="2" end="2"/>
                                            </p:txEl>
                                          </p:spTgt>
                                        </p:tgtEl>
                                        <p:attrNameLst>
                                          <p:attrName>style.visibility</p:attrName>
                                        </p:attrNameLst>
                                      </p:cBhvr>
                                      <p:to>
                                        <p:strVal val="visible"/>
                                      </p:to>
                                    </p:set>
                                    <p:animEffect transition="in" filter="strips(downRight)">
                                      <p:cBhvr>
                                        <p:cTn id="64" dur="1000"/>
                                        <p:tgtEl>
                                          <p:spTgt spid="419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autoUpdateAnimBg="0" build="p"/>
      <p:bldP spid="41988" grpId="0" animBg="1" autoUpdateAnimBg="0"/>
      <p:bldP spid="41989" grpId="0" animBg="1" autoUpdateAnimBg="0"/>
      <p:bldP spid="41990" grpId="0" animBg="1" autoUpdateAnimBg="0"/>
      <p:bldP spid="41991" grpId="0" animBg="1" autoUpdateAnimBg="0"/>
      <p:bldP spid="41992" grpId="0" autoUpdateAnimBg="0"/>
      <p:bldP spid="41993" grpId="0" autoUpdateAnimBg="0"/>
      <p:bldP spid="41994" grpId="0" autoUpdateAnimBg="0"/>
      <p:bldP spid="41995" grpId="0" autoUpdateAnimBg="0"/>
      <p:bldP spid="41996" grpId="0" animBg="1" autoUpdateAnimBg="0"/>
      <p:bldP spid="41997" grpId="0" animBg="1" autoUpdateAnimBg="0"/>
      <p:bldP spid="41998"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0" y="285750"/>
            <a:ext cx="8243888" cy="658813"/>
          </a:xfrm>
        </p:spPr>
        <p:txBody>
          <a:bodyPr>
            <a:normAutofit/>
          </a:bodyPr>
          <a:lstStyle/>
          <a:p>
            <a:pPr algn="l" eaLnBrk="1" hangingPunct="1"/>
            <a:r>
              <a:rPr lang="zh-CN" altLang="en-US" sz="3200" b="1" kern="0" cap="none" dirty="0" smtClean="0">
                <a:solidFill>
                  <a:srgbClr val="0035F4"/>
                </a:solidFill>
                <a:effectLst/>
                <a:ea typeface="华文新魏" pitchFamily="2" charset="-122"/>
              </a:rPr>
              <a:t>（二）否定之否定规律</a:t>
            </a:r>
            <a:endParaRPr lang="zh-CN" altLang="en-US" sz="3200" b="1" kern="0" cap="none" dirty="0" smtClean="0">
              <a:solidFill>
                <a:srgbClr val="0035F4"/>
              </a:solidFill>
              <a:effectLst/>
              <a:ea typeface="华文新魏" pitchFamily="2" charset="-122"/>
            </a:endParaRPr>
          </a:p>
        </p:txBody>
      </p:sp>
      <p:sp>
        <p:nvSpPr>
          <p:cNvPr id="46083" name="Rectangle 3"/>
          <p:cNvSpPr>
            <a:spLocks noGrp="1" noChangeArrowheads="1"/>
          </p:cNvSpPr>
          <p:nvPr>
            <p:ph type="body" idx="4294967295"/>
          </p:nvPr>
        </p:nvSpPr>
        <p:spPr>
          <a:xfrm>
            <a:off x="4643438" y="714356"/>
            <a:ext cx="4076700" cy="1500188"/>
          </a:xfrm>
          <a:solidFill>
            <a:srgbClr val="B7ECFF"/>
          </a:solidFill>
        </p:spPr>
        <p:txBody>
          <a:bodyPr>
            <a:normAutofit/>
          </a:bodyPr>
          <a:lstStyle/>
          <a:p>
            <a:pPr eaLnBrk="1" hangingPunct="1">
              <a:spcBef>
                <a:spcPct val="0"/>
              </a:spcBef>
              <a:buFontTx/>
              <a:buNone/>
            </a:pPr>
            <a:r>
              <a:rPr lang="zh-CN" altLang="en-US" sz="2400" b="1" dirty="0" smtClean="0">
                <a:solidFill>
                  <a:srgbClr val="000000"/>
                </a:solidFill>
                <a:latin typeface="楷体_GB2312" pitchFamily="1" charset="-122"/>
                <a:ea typeface="楷体_GB2312" pitchFamily="1" charset="-122"/>
              </a:rPr>
              <a:t>肯定因素：</a:t>
            </a:r>
            <a:endParaRPr lang="en-US" altLang="zh-CN" sz="2400" b="1" dirty="0" smtClean="0">
              <a:solidFill>
                <a:srgbClr val="000000"/>
              </a:solidFill>
              <a:latin typeface="楷体_GB2312" pitchFamily="1" charset="-122"/>
              <a:ea typeface="楷体_GB2312" pitchFamily="1" charset="-122"/>
            </a:endParaRPr>
          </a:p>
          <a:p>
            <a:pPr eaLnBrk="1" hangingPunct="1">
              <a:spcBef>
                <a:spcPct val="0"/>
              </a:spcBef>
              <a:buFontTx/>
              <a:buNone/>
            </a:pPr>
            <a:r>
              <a:rPr lang="zh-CN" altLang="en-US" sz="2400" b="1" dirty="0" smtClean="0">
                <a:solidFill>
                  <a:srgbClr val="000000"/>
                </a:solidFill>
                <a:latin typeface="楷体_GB2312" pitchFamily="1" charset="-122"/>
                <a:ea typeface="楷体_GB2312" pitchFamily="1" charset="-122"/>
              </a:rPr>
              <a:t>  维持现存事物存在的因素；</a:t>
            </a:r>
            <a:endParaRPr lang="en-US" altLang="zh-CN" sz="2400" b="1" dirty="0" smtClean="0">
              <a:solidFill>
                <a:srgbClr val="000000"/>
              </a:solidFill>
              <a:latin typeface="楷体_GB2312" pitchFamily="1" charset="-122"/>
              <a:ea typeface="楷体_GB2312" pitchFamily="1" charset="-122"/>
            </a:endParaRPr>
          </a:p>
          <a:p>
            <a:pPr eaLnBrk="1" hangingPunct="1">
              <a:spcBef>
                <a:spcPct val="0"/>
              </a:spcBef>
              <a:buFontTx/>
              <a:buNone/>
            </a:pPr>
            <a:r>
              <a:rPr lang="zh-CN" altLang="en-US" sz="2400" b="1" dirty="0" smtClean="0">
                <a:solidFill>
                  <a:srgbClr val="000000"/>
                </a:solidFill>
                <a:latin typeface="楷体_GB2312" pitchFamily="1" charset="-122"/>
                <a:ea typeface="楷体_GB2312" pitchFamily="1" charset="-122"/>
              </a:rPr>
              <a:t>否定因素：</a:t>
            </a:r>
            <a:endParaRPr lang="en-US" altLang="zh-CN" sz="2400" b="1" dirty="0" smtClean="0">
              <a:solidFill>
                <a:srgbClr val="000000"/>
              </a:solidFill>
              <a:latin typeface="楷体_GB2312" pitchFamily="1" charset="-122"/>
              <a:ea typeface="楷体_GB2312" pitchFamily="1" charset="-122"/>
            </a:endParaRPr>
          </a:p>
          <a:p>
            <a:pPr eaLnBrk="1" hangingPunct="1">
              <a:spcBef>
                <a:spcPct val="0"/>
              </a:spcBef>
              <a:buFontTx/>
              <a:buNone/>
            </a:pPr>
            <a:r>
              <a:rPr lang="zh-CN" altLang="en-US" sz="2400" b="1" dirty="0" smtClean="0">
                <a:solidFill>
                  <a:srgbClr val="000000"/>
                </a:solidFill>
                <a:latin typeface="楷体_GB2312" pitchFamily="1" charset="-122"/>
                <a:ea typeface="楷体_GB2312" pitchFamily="1" charset="-122"/>
              </a:rPr>
              <a:t>  促成现存事物灭亡的因素。</a:t>
            </a:r>
            <a:endParaRPr lang="zh-CN" altLang="en-US" sz="2400" b="1" dirty="0" smtClean="0">
              <a:solidFill>
                <a:srgbClr val="000000"/>
              </a:solidFill>
              <a:latin typeface="楷体_GB2312" pitchFamily="1" charset="-122"/>
              <a:ea typeface="楷体_GB2312" pitchFamily="1" charset="-122"/>
            </a:endParaRPr>
          </a:p>
        </p:txBody>
      </p:sp>
      <p:sp>
        <p:nvSpPr>
          <p:cNvPr id="81926" name="Rectangle 6"/>
          <p:cNvSpPr>
            <a:spLocks noChangeArrowheads="1"/>
          </p:cNvSpPr>
          <p:nvPr/>
        </p:nvSpPr>
        <p:spPr bwMode="auto">
          <a:xfrm>
            <a:off x="533400" y="1066800"/>
            <a:ext cx="8243888" cy="463550"/>
          </a:xfrm>
          <a:prstGeom prst="rect">
            <a:avLst/>
          </a:prstGeom>
          <a:noFill/>
          <a:ln w="9525">
            <a:noFill/>
            <a:miter lim="800000"/>
          </a:ln>
        </p:spPr>
        <p:txBody>
          <a:bodyPr anchor="b"/>
          <a:lstStyle/>
          <a:p>
            <a:pPr eaLnBrk="1" hangingPunct="1">
              <a:lnSpc>
                <a:spcPct val="90000"/>
              </a:lnSpc>
            </a:pPr>
            <a:endParaRPr lang="zh-CN" altLang="en-US" sz="2800" b="1">
              <a:solidFill>
                <a:srgbClr val="6600FF"/>
              </a:solidFill>
              <a:latin typeface="楷体_GB2312" pitchFamily="1" charset="-122"/>
              <a:ea typeface="楷体_GB2312" pitchFamily="1" charset="-122"/>
            </a:endParaRPr>
          </a:p>
        </p:txBody>
      </p:sp>
      <p:grpSp>
        <p:nvGrpSpPr>
          <p:cNvPr id="7" name="Group 17"/>
          <p:cNvGrpSpPr/>
          <p:nvPr/>
        </p:nvGrpSpPr>
        <p:grpSpPr bwMode="auto">
          <a:xfrm>
            <a:off x="357158" y="1214422"/>
            <a:ext cx="4103687" cy="576263"/>
            <a:chOff x="793" y="2432"/>
            <a:chExt cx="1724" cy="590"/>
          </a:xfrm>
        </p:grpSpPr>
        <p:sp>
          <p:nvSpPr>
            <p:cNvPr id="8" name="AutoShape 18"/>
            <p:cNvSpPr>
              <a:spLocks noChangeArrowheads="1"/>
            </p:cNvSpPr>
            <p:nvPr/>
          </p:nvSpPr>
          <p:spPr bwMode="ltGray">
            <a:xfrm>
              <a:off x="793" y="2432"/>
              <a:ext cx="1724" cy="590"/>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9" name="Text Box 19"/>
            <p:cNvSpPr txBox="1">
              <a:spLocks noChangeArrowheads="1"/>
            </p:cNvSpPr>
            <p:nvPr/>
          </p:nvSpPr>
          <p:spPr bwMode="auto">
            <a:xfrm>
              <a:off x="828" y="2492"/>
              <a:ext cx="1655" cy="473"/>
            </a:xfrm>
            <a:prstGeom prst="rect">
              <a:avLst/>
            </a:prstGeom>
            <a:noFill/>
            <a:ln w="9525">
              <a:noFill/>
              <a:miter lim="800000"/>
            </a:ln>
          </p:spPr>
          <p:txBody>
            <a:bodyPr>
              <a:spAutoFit/>
            </a:bodyPr>
            <a:lstStyle/>
            <a:p>
              <a:pPr eaLnBrk="1" hangingPunct="1"/>
              <a:r>
                <a:rPr lang="en-US" altLang="zh-CN" sz="2400" b="1" dirty="0">
                  <a:solidFill>
                    <a:schemeClr val="bg1"/>
                  </a:solidFill>
                  <a:latin typeface="楷体" panose="02010609060101010101" pitchFamily="49" charset="-122"/>
                  <a:ea typeface="楷体" panose="02010609060101010101" pitchFamily="49" charset="-122"/>
                </a:rPr>
                <a:t> </a:t>
              </a:r>
              <a:r>
                <a:rPr lang="en-US" altLang="zh-CN" sz="2400" b="1" dirty="0" smtClean="0">
                  <a:solidFill>
                    <a:schemeClr val="bg1"/>
                  </a:solidFill>
                  <a:latin typeface="楷体" panose="02010609060101010101" pitchFamily="49" charset="-122"/>
                  <a:ea typeface="楷体" panose="02010609060101010101" pitchFamily="49" charset="-122"/>
                </a:rPr>
                <a:t>1.</a:t>
              </a:r>
              <a:r>
                <a:rPr lang="zh-CN" altLang="en-US" sz="2400" b="1" dirty="0" smtClean="0">
                  <a:solidFill>
                    <a:schemeClr val="bg1"/>
                  </a:solidFill>
                  <a:latin typeface="楷体" panose="02010609060101010101" pitchFamily="49" charset="-122"/>
                  <a:ea typeface="楷体" panose="02010609060101010101" pitchFamily="49" charset="-122"/>
                </a:rPr>
                <a:t>肯定因素与否定因素</a:t>
              </a:r>
              <a:endParaRPr lang="zh-CN" altLang="en-US" sz="2400" b="1" dirty="0">
                <a:solidFill>
                  <a:schemeClr val="bg1"/>
                </a:solidFill>
                <a:latin typeface="楷体" panose="02010609060101010101" pitchFamily="49" charset="-122"/>
                <a:ea typeface="楷体" panose="02010609060101010101" pitchFamily="49" charset="-122"/>
              </a:endParaRPr>
            </a:p>
          </p:txBody>
        </p:sp>
      </p:grpSp>
      <p:grpSp>
        <p:nvGrpSpPr>
          <p:cNvPr id="10" name="Group 17"/>
          <p:cNvGrpSpPr/>
          <p:nvPr/>
        </p:nvGrpSpPr>
        <p:grpSpPr bwMode="auto">
          <a:xfrm>
            <a:off x="357158" y="2357430"/>
            <a:ext cx="4103687" cy="576263"/>
            <a:chOff x="793" y="2432"/>
            <a:chExt cx="1724" cy="590"/>
          </a:xfrm>
        </p:grpSpPr>
        <p:sp>
          <p:nvSpPr>
            <p:cNvPr id="11" name="AutoShape 18"/>
            <p:cNvSpPr>
              <a:spLocks noChangeArrowheads="1"/>
            </p:cNvSpPr>
            <p:nvPr/>
          </p:nvSpPr>
          <p:spPr bwMode="ltGray">
            <a:xfrm>
              <a:off x="793" y="2432"/>
              <a:ext cx="1724" cy="590"/>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12" name="Text Box 19"/>
            <p:cNvSpPr txBox="1">
              <a:spLocks noChangeArrowheads="1"/>
            </p:cNvSpPr>
            <p:nvPr/>
          </p:nvSpPr>
          <p:spPr bwMode="auto">
            <a:xfrm>
              <a:off x="828" y="2492"/>
              <a:ext cx="1655" cy="471"/>
            </a:xfrm>
            <a:prstGeom prst="rect">
              <a:avLst/>
            </a:prstGeom>
            <a:noFill/>
            <a:ln w="9525">
              <a:noFill/>
              <a:miter lim="800000"/>
            </a:ln>
          </p:spPr>
          <p:txBody>
            <a:bodyPr>
              <a:spAutoFit/>
            </a:bodyPr>
            <a:lstStyle/>
            <a:p>
              <a:pPr eaLnBrk="1" hangingPunct="1"/>
              <a:r>
                <a:rPr lang="en-US" altLang="zh-CN" sz="2400" b="1" dirty="0">
                  <a:solidFill>
                    <a:schemeClr val="bg1"/>
                  </a:solidFill>
                  <a:latin typeface="楷体" panose="02010609060101010101" pitchFamily="49" charset="-122"/>
                  <a:ea typeface="楷体" panose="02010609060101010101" pitchFamily="49" charset="-122"/>
                </a:rPr>
                <a:t> 2.</a:t>
              </a:r>
              <a:r>
                <a:rPr lang="zh-CN" altLang="en-US" sz="2400" b="1" dirty="0">
                  <a:solidFill>
                    <a:schemeClr val="bg1"/>
                  </a:solidFill>
                  <a:latin typeface="楷体" panose="02010609060101010101" pitchFamily="49" charset="-122"/>
                  <a:ea typeface="楷体" panose="02010609060101010101" pitchFamily="49" charset="-122"/>
                </a:rPr>
                <a:t>辩证否定观的基本内容</a:t>
              </a:r>
              <a:endParaRPr lang="zh-CN" altLang="en-US" sz="2400" b="1" dirty="0">
                <a:solidFill>
                  <a:schemeClr val="bg1"/>
                </a:solidFill>
                <a:latin typeface="楷体" panose="02010609060101010101" pitchFamily="49" charset="-122"/>
                <a:ea typeface="楷体" panose="02010609060101010101" pitchFamily="49" charset="-122"/>
              </a:endParaRPr>
            </a:p>
          </p:txBody>
        </p:sp>
      </p:grpSp>
      <p:sp>
        <p:nvSpPr>
          <p:cNvPr id="13" name="Rectangle 4"/>
          <p:cNvSpPr txBox="1">
            <a:spLocks noChangeArrowheads="1"/>
          </p:cNvSpPr>
          <p:nvPr/>
        </p:nvSpPr>
        <p:spPr>
          <a:xfrm>
            <a:off x="285720" y="3071810"/>
            <a:ext cx="8572560" cy="574675"/>
          </a:xfrm>
          <a:prstGeom prst="rect">
            <a:avLst/>
          </a:prstGeom>
          <a:solidFill>
            <a:srgbClr val="CFF48C"/>
          </a:solidFill>
          <a:ln>
            <a:solidFill>
              <a:srgbClr val="A50021"/>
            </a:solidFill>
          </a:ln>
        </p:spPr>
        <p:txBody>
          <a:bodyPr/>
          <a:lstStyle/>
          <a:p>
            <a:pPr marL="0" marR="0" lvl="0" indent="0" algn="l" defTabSz="914400" rtl="0" eaLnBrk="1" fontAlgn="auto" latinLnBrk="0" hangingPunct="1">
              <a:lnSpc>
                <a:spcPct val="125000"/>
              </a:lnSpc>
              <a:spcBef>
                <a:spcPct val="20000"/>
              </a:spcBef>
              <a:spcAft>
                <a:spcPts val="0"/>
              </a:spcAft>
              <a:buClr>
                <a:schemeClr val="accent1"/>
              </a:buClr>
              <a:buSzPct val="70000"/>
              <a:buFontTx/>
              <a:buNone/>
              <a:defRPr/>
            </a:pPr>
            <a:r>
              <a:rPr kumimoji="0" lang="en-US" altLang="zh-CN" sz="2000" b="1"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 </a:t>
            </a:r>
            <a:r>
              <a:rPr kumimoji="0" lang="zh-CN" altLang="en-US" sz="2000" b="1"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否定是事物的</a:t>
            </a:r>
            <a:r>
              <a:rPr kumimoji="0" lang="zh-CN" altLang="en-US" sz="2000" b="1" i="0" u="none" strike="noStrike" kern="1200" cap="none" spc="0" normalizeH="0" baseline="0" noProof="0" dirty="0" smtClean="0">
                <a:ln>
                  <a:noFill/>
                </a:ln>
                <a:solidFill>
                  <a:srgbClr val="C00000"/>
                </a:solidFill>
                <a:effectLst/>
                <a:uLnTx/>
                <a:uFillTx/>
                <a:latin typeface="楷体" panose="02010609060101010101" pitchFamily="49" charset="-122"/>
                <a:ea typeface="楷体" panose="02010609060101010101" pitchFamily="49" charset="-122"/>
                <a:cs typeface="+mn-cs"/>
              </a:rPr>
              <a:t>自我否定</a:t>
            </a:r>
            <a:r>
              <a:rPr kumimoji="0" lang="zh-CN" altLang="en-US" sz="2000" b="1"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，是事物内部矛盾运动的结果</a:t>
            </a:r>
            <a:r>
              <a:rPr kumimoji="0" lang="zh-CN" altLang="en-US" sz="2000" b="1" i="0" u="none" strike="noStrike" kern="1200" cap="none" spc="0" normalizeH="0" baseline="0" noProof="0" dirty="0" smtClean="0">
                <a:ln>
                  <a:noFill/>
                </a:ln>
                <a:effectLst/>
                <a:uLnTx/>
                <a:uFillTx/>
                <a:latin typeface="楷体" panose="02010609060101010101" pitchFamily="49" charset="-122"/>
                <a:ea typeface="楷体" panose="02010609060101010101" pitchFamily="49" charset="-122"/>
                <a:cs typeface="+mn-cs"/>
              </a:rPr>
              <a:t>。</a:t>
            </a:r>
            <a:endParaRPr kumimoji="0" lang="zh-CN" altLang="en-US" sz="2000" b="1" i="0" u="none" strike="noStrike" kern="1200" cap="none" spc="0" normalizeH="0" baseline="0" noProof="0" dirty="0" smtClean="0">
              <a:ln>
                <a:noFill/>
              </a:ln>
              <a:effectLst/>
              <a:uLnTx/>
              <a:uFillTx/>
              <a:latin typeface="楷体" panose="02010609060101010101" pitchFamily="49" charset="-122"/>
              <a:ea typeface="楷体" panose="02010609060101010101" pitchFamily="49" charset="-122"/>
              <a:cs typeface="+mn-cs"/>
            </a:endParaRPr>
          </a:p>
        </p:txBody>
      </p:sp>
      <p:sp>
        <p:nvSpPr>
          <p:cNvPr id="14" name="Rectangle 5"/>
          <p:cNvSpPr>
            <a:spLocks noChangeArrowheads="1"/>
          </p:cNvSpPr>
          <p:nvPr/>
        </p:nvSpPr>
        <p:spPr bwMode="auto">
          <a:xfrm>
            <a:off x="285720" y="3714752"/>
            <a:ext cx="8572560" cy="928694"/>
          </a:xfrm>
          <a:prstGeom prst="rect">
            <a:avLst/>
          </a:prstGeom>
          <a:solidFill>
            <a:srgbClr val="CFF48C"/>
          </a:solidFill>
          <a:ln w="9525">
            <a:solidFill>
              <a:srgbClr val="A50021"/>
            </a:solidFill>
            <a:miter lim="800000"/>
          </a:ln>
        </p:spPr>
        <p:txBody>
          <a:bodyPr/>
          <a:lstStyle/>
          <a:p>
            <a:pPr eaLnBrk="1" hangingPunct="1">
              <a:lnSpc>
                <a:spcPct val="125000"/>
              </a:lnSpc>
              <a:spcBef>
                <a:spcPct val="20000"/>
              </a:spcBef>
            </a:pPr>
            <a:r>
              <a:rPr lang="en-US" altLang="zh-CN" sz="2000" b="1" dirty="0" smtClean="0">
                <a:solidFill>
                  <a:srgbClr val="000000"/>
                </a:solidFill>
                <a:latin typeface="楷体" panose="02010609060101010101" pitchFamily="49" charset="-122"/>
                <a:ea typeface="楷体" panose="02010609060101010101" pitchFamily="49" charset="-122"/>
              </a:rPr>
              <a:t>- </a:t>
            </a:r>
            <a:r>
              <a:rPr lang="zh-CN" altLang="en-US" sz="2000" b="1" dirty="0">
                <a:solidFill>
                  <a:srgbClr val="000000"/>
                </a:solidFill>
                <a:latin typeface="楷体" panose="02010609060101010101" pitchFamily="49" charset="-122"/>
                <a:ea typeface="楷体" panose="02010609060101010101" pitchFamily="49" charset="-122"/>
              </a:rPr>
              <a:t>否定是</a:t>
            </a:r>
            <a:r>
              <a:rPr lang="zh-CN" altLang="en-US" sz="2000" b="1" dirty="0">
                <a:solidFill>
                  <a:srgbClr val="CC0000"/>
                </a:solidFill>
                <a:latin typeface="楷体" panose="02010609060101010101" pitchFamily="49" charset="-122"/>
                <a:ea typeface="楷体" panose="02010609060101010101" pitchFamily="49" charset="-122"/>
              </a:rPr>
              <a:t>事物发展的环节</a:t>
            </a:r>
            <a:r>
              <a:rPr lang="zh-CN" altLang="en-US" sz="2000" b="1" dirty="0">
                <a:solidFill>
                  <a:srgbClr val="000000"/>
                </a:solidFill>
                <a:latin typeface="楷体" panose="02010609060101010101" pitchFamily="49" charset="-122"/>
                <a:ea typeface="楷体" panose="02010609060101010101" pitchFamily="49" charset="-122"/>
              </a:rPr>
              <a:t>。它是旧事物向新事物的转变，是从旧质到新质的飞跃。只有经过否定，旧事物才能向新事物转变。</a:t>
            </a:r>
            <a:endParaRPr lang="zh-CN" altLang="en-US" sz="2000" b="1" dirty="0">
              <a:solidFill>
                <a:srgbClr val="000000"/>
              </a:solidFill>
              <a:latin typeface="楷体" panose="02010609060101010101" pitchFamily="49" charset="-122"/>
              <a:ea typeface="楷体" panose="02010609060101010101" pitchFamily="49" charset="-122"/>
            </a:endParaRPr>
          </a:p>
        </p:txBody>
      </p:sp>
      <p:sp>
        <p:nvSpPr>
          <p:cNvPr id="15" name="Rectangle 6"/>
          <p:cNvSpPr>
            <a:spLocks noChangeArrowheads="1"/>
          </p:cNvSpPr>
          <p:nvPr/>
        </p:nvSpPr>
        <p:spPr bwMode="auto">
          <a:xfrm>
            <a:off x="285720" y="4714884"/>
            <a:ext cx="8572560" cy="928694"/>
          </a:xfrm>
          <a:prstGeom prst="rect">
            <a:avLst/>
          </a:prstGeom>
          <a:solidFill>
            <a:srgbClr val="CFF48C"/>
          </a:solidFill>
          <a:ln w="9525">
            <a:solidFill>
              <a:srgbClr val="A50021"/>
            </a:solidFill>
            <a:miter lim="800000"/>
          </a:ln>
        </p:spPr>
        <p:txBody>
          <a:bodyPr/>
          <a:lstStyle/>
          <a:p>
            <a:pPr eaLnBrk="1" hangingPunct="1">
              <a:lnSpc>
                <a:spcPct val="125000"/>
              </a:lnSpc>
              <a:spcBef>
                <a:spcPct val="20000"/>
              </a:spcBef>
            </a:pPr>
            <a:r>
              <a:rPr lang="en-US" altLang="zh-CN" sz="2000" b="1" dirty="0" smtClean="0">
                <a:solidFill>
                  <a:srgbClr val="000000"/>
                </a:solidFill>
                <a:latin typeface="楷体" panose="02010609060101010101" pitchFamily="49" charset="-122"/>
                <a:ea typeface="楷体" panose="02010609060101010101" pitchFamily="49" charset="-122"/>
              </a:rPr>
              <a:t>- </a:t>
            </a:r>
            <a:r>
              <a:rPr lang="zh-CN" altLang="en-US" sz="2000" b="1" dirty="0">
                <a:solidFill>
                  <a:srgbClr val="000000"/>
                </a:solidFill>
                <a:latin typeface="楷体" panose="02010609060101010101" pitchFamily="49" charset="-122"/>
                <a:ea typeface="楷体" panose="02010609060101010101" pitchFamily="49" charset="-122"/>
              </a:rPr>
              <a:t>否定是</a:t>
            </a:r>
            <a:r>
              <a:rPr lang="zh-CN" altLang="en-US" sz="2000" b="1" dirty="0">
                <a:solidFill>
                  <a:srgbClr val="CC0000"/>
                </a:solidFill>
                <a:latin typeface="楷体" panose="02010609060101010101" pitchFamily="49" charset="-122"/>
                <a:ea typeface="楷体" panose="02010609060101010101" pitchFamily="49" charset="-122"/>
              </a:rPr>
              <a:t>新旧事物联系的环节</a:t>
            </a:r>
            <a:r>
              <a:rPr lang="zh-CN" altLang="en-US" sz="2000" b="1" dirty="0">
                <a:solidFill>
                  <a:srgbClr val="000000"/>
                </a:solidFill>
                <a:latin typeface="楷体" panose="02010609060101010101" pitchFamily="49" charset="-122"/>
                <a:ea typeface="楷体" panose="02010609060101010101" pitchFamily="49" charset="-122"/>
              </a:rPr>
              <a:t>，新事物孕育产生于旧事物，新旧事物是通过否定环节联系起来的。</a:t>
            </a:r>
            <a:endParaRPr lang="zh-CN" altLang="en-US" sz="2000" b="1" dirty="0">
              <a:solidFill>
                <a:srgbClr val="000000"/>
              </a:solidFill>
              <a:latin typeface="楷体" panose="02010609060101010101" pitchFamily="49" charset="-122"/>
              <a:ea typeface="楷体" panose="02010609060101010101" pitchFamily="49" charset="-122"/>
            </a:endParaRPr>
          </a:p>
        </p:txBody>
      </p:sp>
      <p:sp>
        <p:nvSpPr>
          <p:cNvPr id="16" name="Rectangle 7"/>
          <p:cNvSpPr>
            <a:spLocks noChangeArrowheads="1"/>
          </p:cNvSpPr>
          <p:nvPr/>
        </p:nvSpPr>
        <p:spPr bwMode="auto">
          <a:xfrm>
            <a:off x="285720" y="5715016"/>
            <a:ext cx="8572560" cy="928670"/>
          </a:xfrm>
          <a:prstGeom prst="rect">
            <a:avLst/>
          </a:prstGeom>
          <a:solidFill>
            <a:srgbClr val="CFF48C"/>
          </a:solidFill>
          <a:ln w="9525">
            <a:solidFill>
              <a:srgbClr val="A50021"/>
            </a:solidFill>
            <a:miter lim="800000"/>
          </a:ln>
        </p:spPr>
        <p:txBody>
          <a:bodyPr/>
          <a:lstStyle/>
          <a:p>
            <a:pPr eaLnBrk="1" hangingPunct="1">
              <a:lnSpc>
                <a:spcPct val="125000"/>
              </a:lnSpc>
              <a:spcBef>
                <a:spcPct val="20000"/>
              </a:spcBef>
            </a:pPr>
            <a:r>
              <a:rPr lang="en-US" altLang="zh-CN" sz="2000" b="1" dirty="0" smtClean="0">
                <a:solidFill>
                  <a:srgbClr val="000000"/>
                </a:solidFill>
                <a:latin typeface="楷体" panose="02010609060101010101" pitchFamily="49" charset="-122"/>
                <a:ea typeface="楷体" panose="02010609060101010101" pitchFamily="49" charset="-122"/>
              </a:rPr>
              <a:t>- </a:t>
            </a:r>
            <a:r>
              <a:rPr lang="zh-CN" altLang="en-US" sz="2000" b="1" dirty="0">
                <a:solidFill>
                  <a:srgbClr val="000000"/>
                </a:solidFill>
                <a:latin typeface="楷体" panose="02010609060101010101" pitchFamily="49" charset="-122"/>
                <a:ea typeface="楷体" panose="02010609060101010101" pitchFamily="49" charset="-122"/>
              </a:rPr>
              <a:t>辩证否定的实质是 </a:t>
            </a:r>
            <a:r>
              <a:rPr lang="zh-CN" altLang="en-US" sz="2000" b="1" dirty="0">
                <a:solidFill>
                  <a:srgbClr val="CC0000"/>
                </a:solidFill>
                <a:latin typeface="楷体" panose="02010609060101010101" pitchFamily="49" charset="-122"/>
                <a:ea typeface="楷体" panose="02010609060101010101" pitchFamily="49" charset="-122"/>
              </a:rPr>
              <a:t>“扬弃”</a:t>
            </a:r>
            <a:r>
              <a:rPr lang="zh-CN" altLang="en-US" sz="2000" b="1" dirty="0">
                <a:solidFill>
                  <a:srgbClr val="000000"/>
                </a:solidFill>
                <a:latin typeface="楷体" panose="02010609060101010101" pitchFamily="49" charset="-122"/>
                <a:ea typeface="楷体" panose="02010609060101010101" pitchFamily="49" charset="-122"/>
              </a:rPr>
              <a:t>，即新事物对旧事物既批判又继承，既克服消极因素又保留其积极因素。</a:t>
            </a:r>
            <a:endParaRPr lang="zh-CN" altLang="en-US" sz="2000" b="1" dirty="0">
              <a:solidFill>
                <a:srgbClr val="000000"/>
              </a:solidFill>
              <a:latin typeface="楷体" panose="02010609060101010101" pitchFamily="49" charset="-122"/>
              <a:ea typeface="楷体" panose="02010609060101010101" pitchFamily="49"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linds(horizontal)">
                                      <p:cBhvr>
                                        <p:cTn id="7" dur="500"/>
                                        <p:tgtEl>
                                          <p:spTgt spid="46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12" dur="500"/>
                                        <p:tgtEl>
                                          <p:spTgt spid="460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blinds(horizontal)">
                                      <p:cBhvr>
                                        <p:cTn id="17" dur="500"/>
                                        <p:tgtEl>
                                          <p:spTgt spid="460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blinds(horizontal)">
                                      <p:cBhvr>
                                        <p:cTn id="22" dur="500"/>
                                        <p:tgtEl>
                                          <p:spTgt spid="46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ChangeArrowheads="1"/>
          </p:cNvSpPr>
          <p:nvPr/>
        </p:nvSpPr>
        <p:spPr bwMode="auto">
          <a:xfrm>
            <a:off x="285720" y="1214422"/>
            <a:ext cx="4105275" cy="2447925"/>
          </a:xfrm>
          <a:prstGeom prst="rect">
            <a:avLst/>
          </a:prstGeom>
          <a:solidFill>
            <a:srgbClr val="CFF48C"/>
          </a:solidFill>
          <a:ln w="9525">
            <a:solidFill>
              <a:srgbClr val="A50021"/>
            </a:solidFill>
            <a:miter lim="800000"/>
          </a:ln>
        </p:spPr>
        <p:txBody>
          <a:bodyPr/>
          <a:lstStyle/>
          <a:p>
            <a:pPr eaLnBrk="1" hangingPunct="1">
              <a:lnSpc>
                <a:spcPct val="125000"/>
              </a:lnSpc>
              <a:spcBef>
                <a:spcPct val="20000"/>
              </a:spcBef>
            </a:pPr>
            <a:r>
              <a:rPr lang="en-US" altLang="zh-CN" sz="2000" dirty="0">
                <a:latin typeface="楷体_GB2312" pitchFamily="1" charset="-122"/>
                <a:ea typeface="楷体_GB2312" pitchFamily="1" charset="-122"/>
              </a:rPr>
              <a:t> </a:t>
            </a:r>
            <a:r>
              <a:rPr lang="en-US" altLang="zh-CN" sz="2000" dirty="0">
                <a:solidFill>
                  <a:srgbClr val="021FF4"/>
                </a:solidFill>
                <a:latin typeface="楷体" panose="02010609060101010101" pitchFamily="49" charset="-122"/>
                <a:ea typeface="楷体" panose="02010609060101010101" pitchFamily="49" charset="-122"/>
              </a:rPr>
              <a:t>- </a:t>
            </a:r>
            <a:r>
              <a:rPr lang="zh-CN" altLang="en-US" sz="2000" b="1" dirty="0">
                <a:solidFill>
                  <a:srgbClr val="021FF4"/>
                </a:solidFill>
                <a:latin typeface="楷体" panose="02010609060101010101" pitchFamily="49" charset="-122"/>
                <a:ea typeface="楷体" panose="02010609060101010101" pitchFamily="49" charset="-122"/>
              </a:rPr>
              <a:t>事物的辩证发展过程经过</a:t>
            </a:r>
            <a:r>
              <a:rPr lang="zh-CN" altLang="en-US" sz="2000" b="1" dirty="0">
                <a:solidFill>
                  <a:srgbClr val="990000"/>
                </a:solidFill>
                <a:latin typeface="楷体" panose="02010609060101010101" pitchFamily="49" charset="-122"/>
                <a:ea typeface="楷体" panose="02010609060101010101" pitchFamily="49" charset="-122"/>
              </a:rPr>
              <a:t>第一次否定</a:t>
            </a:r>
            <a:r>
              <a:rPr lang="zh-CN" altLang="en-US" sz="2000" b="1" dirty="0">
                <a:solidFill>
                  <a:srgbClr val="021FF4"/>
                </a:solidFill>
                <a:latin typeface="楷体" panose="02010609060101010101" pitchFamily="49" charset="-122"/>
                <a:ea typeface="楷体" panose="02010609060101010101" pitchFamily="49" charset="-122"/>
              </a:rPr>
              <a:t>，使矛盾得到初步</a:t>
            </a:r>
            <a:r>
              <a:rPr lang="zh-CN" altLang="en-US" sz="2000" b="1" dirty="0" smtClean="0">
                <a:solidFill>
                  <a:srgbClr val="021FF4"/>
                </a:solidFill>
                <a:latin typeface="楷体" panose="02010609060101010101" pitchFamily="49" charset="-122"/>
                <a:ea typeface="楷体" panose="02010609060101010101" pitchFamily="49" charset="-122"/>
              </a:rPr>
              <a:t>解决。</a:t>
            </a:r>
            <a:endParaRPr lang="zh-CN" altLang="en-US" sz="2000" b="1" dirty="0">
              <a:solidFill>
                <a:srgbClr val="021FF4"/>
              </a:solidFill>
              <a:latin typeface="楷体" panose="02010609060101010101" pitchFamily="49" charset="-122"/>
              <a:ea typeface="楷体" panose="02010609060101010101" pitchFamily="49" charset="-122"/>
            </a:endParaRPr>
          </a:p>
          <a:p>
            <a:pPr eaLnBrk="1" hangingPunct="1">
              <a:lnSpc>
                <a:spcPct val="125000"/>
              </a:lnSpc>
              <a:spcBef>
                <a:spcPct val="20000"/>
              </a:spcBef>
            </a:pPr>
            <a:r>
              <a:rPr lang="zh-CN" altLang="en-US" sz="2000" b="1" dirty="0">
                <a:solidFill>
                  <a:srgbClr val="021FF4"/>
                </a:solidFill>
                <a:latin typeface="楷体" panose="02010609060101010101" pitchFamily="49" charset="-122"/>
                <a:ea typeface="楷体" panose="02010609060101010101" pitchFamily="49" charset="-122"/>
              </a:rPr>
              <a:t> </a:t>
            </a:r>
            <a:r>
              <a:rPr lang="en-US" altLang="zh-CN" sz="2000" b="1" dirty="0">
                <a:solidFill>
                  <a:srgbClr val="021FF4"/>
                </a:solidFill>
                <a:latin typeface="楷体" panose="02010609060101010101" pitchFamily="49" charset="-122"/>
                <a:ea typeface="楷体" panose="02010609060101010101" pitchFamily="49" charset="-122"/>
              </a:rPr>
              <a:t>- </a:t>
            </a:r>
            <a:r>
              <a:rPr lang="zh-CN" altLang="en-US" sz="2000" b="1" dirty="0">
                <a:solidFill>
                  <a:srgbClr val="021FF4"/>
                </a:solidFill>
                <a:latin typeface="楷体" panose="02010609060101010101" pitchFamily="49" charset="-122"/>
                <a:ea typeface="楷体" panose="02010609060101010101" pitchFamily="49" charset="-122"/>
              </a:rPr>
              <a:t>而处于否定阶段的事物仍然具有片面性，还要经过再次否定，即</a:t>
            </a:r>
            <a:r>
              <a:rPr lang="zh-CN" altLang="en-US" sz="2000" b="1" dirty="0">
                <a:solidFill>
                  <a:srgbClr val="990000"/>
                </a:solidFill>
                <a:latin typeface="楷体" panose="02010609060101010101" pitchFamily="49" charset="-122"/>
                <a:ea typeface="楷体" panose="02010609060101010101" pitchFamily="49" charset="-122"/>
              </a:rPr>
              <a:t>否定之否定</a:t>
            </a:r>
            <a:r>
              <a:rPr lang="zh-CN" altLang="en-US" sz="2000" b="1" dirty="0">
                <a:solidFill>
                  <a:srgbClr val="021FF4"/>
                </a:solidFill>
                <a:latin typeface="楷体" panose="02010609060101010101" pitchFamily="49" charset="-122"/>
                <a:ea typeface="楷体" panose="02010609060101010101" pitchFamily="49" charset="-122"/>
              </a:rPr>
              <a:t>，实现对立面的统一，使矛盾得到解决。</a:t>
            </a:r>
            <a:endParaRPr lang="zh-CN" altLang="en-US" sz="2000" b="1" dirty="0">
              <a:solidFill>
                <a:srgbClr val="021FF4"/>
              </a:solidFill>
              <a:latin typeface="楷体" panose="02010609060101010101" pitchFamily="49" charset="-122"/>
              <a:ea typeface="楷体" panose="02010609060101010101" pitchFamily="49" charset="-122"/>
            </a:endParaRPr>
          </a:p>
        </p:txBody>
      </p:sp>
      <p:sp>
        <p:nvSpPr>
          <p:cNvPr id="69634" name="Rectangle 4"/>
          <p:cNvSpPr>
            <a:spLocks noChangeArrowheads="1"/>
          </p:cNvSpPr>
          <p:nvPr/>
        </p:nvSpPr>
        <p:spPr bwMode="auto">
          <a:xfrm>
            <a:off x="285720" y="4071942"/>
            <a:ext cx="8572560" cy="2443161"/>
          </a:xfrm>
          <a:prstGeom prst="rect">
            <a:avLst/>
          </a:prstGeom>
          <a:solidFill>
            <a:srgbClr val="CCFFFF"/>
          </a:solidFill>
          <a:ln w="9525">
            <a:solidFill>
              <a:srgbClr val="A50021"/>
            </a:solidFill>
            <a:miter lim="800000"/>
          </a:ln>
        </p:spPr>
        <p:txBody>
          <a:bodyPr/>
          <a:lstStyle/>
          <a:p>
            <a:pPr eaLnBrk="1" hangingPunct="1">
              <a:lnSpc>
                <a:spcPct val="125000"/>
              </a:lnSpc>
              <a:spcBef>
                <a:spcPct val="20000"/>
              </a:spcBef>
              <a:defRPr/>
            </a:pPr>
            <a:r>
              <a:rPr lang="en-US" altLang="zh-CN" sz="2000" b="1" dirty="0">
                <a:solidFill>
                  <a:schemeClr val="accent2"/>
                </a:solidFill>
              </a:rPr>
              <a:t>    </a:t>
            </a:r>
            <a:r>
              <a:rPr lang="en-US" altLang="zh-CN" sz="2000" b="1" dirty="0" smtClean="0">
                <a:solidFill>
                  <a:schemeClr val="accent2"/>
                </a:solidFill>
              </a:rPr>
              <a:t> </a:t>
            </a:r>
            <a:r>
              <a:rPr lang="zh-CN" altLang="en-US" sz="2400" b="1" dirty="0" smtClean="0">
                <a:solidFill>
                  <a:srgbClr val="990000"/>
                </a:solidFill>
                <a:latin typeface="+mn-ea"/>
                <a:ea typeface="+mn-ea"/>
              </a:rPr>
              <a:t>事物</a:t>
            </a:r>
            <a:r>
              <a:rPr lang="zh-CN" altLang="en-US" sz="2400" b="1" dirty="0">
                <a:solidFill>
                  <a:srgbClr val="990000"/>
                </a:solidFill>
                <a:latin typeface="+mn-ea"/>
                <a:ea typeface="+mn-ea"/>
              </a:rPr>
              <a:t>的辩证发展就是经过</a:t>
            </a:r>
            <a:r>
              <a:rPr lang="zh-CN" altLang="en-US" sz="2400" b="1" dirty="0">
                <a:solidFill>
                  <a:srgbClr val="021FF4"/>
                </a:solidFill>
                <a:latin typeface="+mn-ea"/>
                <a:ea typeface="+mn-ea"/>
              </a:rPr>
              <a:t>两次否定、三个阶段</a:t>
            </a:r>
            <a:r>
              <a:rPr lang="zh-CN" altLang="en-US" sz="2400" b="1" dirty="0">
                <a:solidFill>
                  <a:srgbClr val="990000"/>
                </a:solidFill>
                <a:latin typeface="+mn-ea"/>
                <a:ea typeface="+mn-ea"/>
              </a:rPr>
              <a:t>，形成一个周期。其中否定之否定阶段仿佛是向原来出发点的“回复”，但这是更高阶段的“回复”，是“扬弃”的</a:t>
            </a:r>
            <a:r>
              <a:rPr lang="zh-CN" altLang="en-US" sz="2400" b="1" dirty="0" smtClean="0">
                <a:solidFill>
                  <a:srgbClr val="990000"/>
                </a:solidFill>
                <a:latin typeface="+mn-ea"/>
                <a:ea typeface="+mn-ea"/>
              </a:rPr>
              <a:t>结果</a:t>
            </a:r>
            <a:r>
              <a:rPr lang="zh-CN" altLang="en-US" sz="2400" b="1" dirty="0" smtClean="0">
                <a:solidFill>
                  <a:srgbClr val="990000"/>
                </a:solidFill>
                <a:latin typeface="+mn-ea"/>
              </a:rPr>
              <a:t>。</a:t>
            </a:r>
            <a:r>
              <a:rPr lang="zh-CN" altLang="en-US" sz="2400" b="1" dirty="0" smtClean="0">
                <a:solidFill>
                  <a:srgbClr val="990000"/>
                </a:solidFill>
                <a:latin typeface="+mn-ea"/>
                <a:ea typeface="+mn-ea"/>
              </a:rPr>
              <a:t>上</a:t>
            </a:r>
            <a:r>
              <a:rPr lang="zh-CN" altLang="en-US" sz="2400" b="1" dirty="0">
                <a:solidFill>
                  <a:srgbClr val="990000"/>
                </a:solidFill>
                <a:latin typeface="+mn-ea"/>
                <a:ea typeface="+mn-ea"/>
              </a:rPr>
              <a:t>一个周期和下一个周期的无限交替，使事物的发展呈现出</a:t>
            </a:r>
            <a:r>
              <a:rPr lang="zh-CN" altLang="en-US" sz="2400" b="1" dirty="0">
                <a:solidFill>
                  <a:srgbClr val="0035F4"/>
                </a:solidFill>
                <a:latin typeface="+mn-ea"/>
                <a:ea typeface="+mn-ea"/>
              </a:rPr>
              <a:t>周期性</a:t>
            </a:r>
            <a:r>
              <a:rPr lang="zh-CN" altLang="en-US" sz="2400" b="1" dirty="0">
                <a:solidFill>
                  <a:srgbClr val="990000"/>
                </a:solidFill>
                <a:latin typeface="+mn-ea"/>
                <a:ea typeface="+mn-ea"/>
              </a:rPr>
              <a:t>。</a:t>
            </a:r>
            <a:endParaRPr lang="zh-CN" altLang="en-US" sz="2400" b="1" dirty="0">
              <a:solidFill>
                <a:srgbClr val="990000"/>
              </a:solidFill>
              <a:latin typeface="+mn-ea"/>
              <a:ea typeface="+mn-ea"/>
            </a:endParaRPr>
          </a:p>
        </p:txBody>
      </p:sp>
      <p:grpSp>
        <p:nvGrpSpPr>
          <p:cNvPr id="7" name="Group 37"/>
          <p:cNvGrpSpPr/>
          <p:nvPr/>
        </p:nvGrpSpPr>
        <p:grpSpPr bwMode="auto">
          <a:xfrm>
            <a:off x="4857752" y="1142984"/>
            <a:ext cx="3313112" cy="2465388"/>
            <a:chOff x="113" y="2296"/>
            <a:chExt cx="2087" cy="1553"/>
          </a:xfrm>
        </p:grpSpPr>
        <p:sp>
          <p:nvSpPr>
            <p:cNvPr id="85004" name="WordArt 20" descr="白色大理石"/>
            <p:cNvSpPr>
              <a:spLocks noChangeArrowheads="1" noChangeShapeType="1" noTextEdit="1"/>
            </p:cNvSpPr>
            <p:nvPr/>
          </p:nvSpPr>
          <p:spPr bwMode="auto">
            <a:xfrm>
              <a:off x="113" y="3667"/>
              <a:ext cx="2087" cy="182"/>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a:ln w="9525">
                    <a:round/>
                  </a:ln>
                  <a:solidFill>
                    <a:srgbClr val="FF0000"/>
                  </a:solidFill>
                  <a:latin typeface="宋体" panose="02010600030101010101" pitchFamily="2" charset="-122"/>
                  <a:ea typeface="宋体" panose="02010600030101010101" pitchFamily="2" charset="-122"/>
                </a:rPr>
                <a:t>两次否定，三个阶段</a:t>
              </a:r>
              <a:endParaRPr lang="zh-CN" altLang="en-US" sz="3600" kern="10">
                <a:ln w="9525">
                  <a:round/>
                </a:ln>
                <a:solidFill>
                  <a:srgbClr val="FF0000"/>
                </a:solidFill>
                <a:latin typeface="宋体" panose="02010600030101010101" pitchFamily="2" charset="-122"/>
                <a:ea typeface="宋体" panose="02010600030101010101" pitchFamily="2" charset="-122"/>
              </a:endParaRPr>
            </a:p>
          </p:txBody>
        </p:sp>
        <p:grpSp>
          <p:nvGrpSpPr>
            <p:cNvPr id="8" name="Group 30"/>
            <p:cNvGrpSpPr/>
            <p:nvPr/>
          </p:nvGrpSpPr>
          <p:grpSpPr bwMode="auto">
            <a:xfrm>
              <a:off x="521" y="2296"/>
              <a:ext cx="1406" cy="1134"/>
              <a:chOff x="521" y="2341"/>
              <a:chExt cx="1406" cy="1452"/>
            </a:xfrm>
          </p:grpSpPr>
          <p:sp>
            <p:nvSpPr>
              <p:cNvPr id="85006" name="Rectangle 21"/>
              <p:cNvSpPr>
                <a:spLocks noChangeArrowheads="1"/>
              </p:cNvSpPr>
              <p:nvPr/>
            </p:nvSpPr>
            <p:spPr bwMode="auto">
              <a:xfrm>
                <a:off x="802" y="2886"/>
                <a:ext cx="907" cy="363"/>
              </a:xfrm>
              <a:prstGeom prst="rect">
                <a:avLst/>
              </a:prstGeom>
              <a:solidFill>
                <a:srgbClr val="FFFF99"/>
              </a:solidFill>
              <a:ln w="9525">
                <a:solidFill>
                  <a:srgbClr val="A50021"/>
                </a:solidFill>
                <a:miter lim="800000"/>
              </a:ln>
            </p:spPr>
            <p:txBody>
              <a:bodyPr/>
              <a:lstStyle/>
              <a:p>
                <a:pPr algn="ctr" eaLnBrk="1" hangingPunct="1">
                  <a:lnSpc>
                    <a:spcPct val="125000"/>
                  </a:lnSpc>
                  <a:spcBef>
                    <a:spcPct val="20000"/>
                  </a:spcBef>
                </a:pPr>
                <a:r>
                  <a:rPr lang="zh-CN" altLang="en-US" sz="2000" b="1">
                    <a:solidFill>
                      <a:srgbClr val="000000"/>
                    </a:solidFill>
                    <a:latin typeface="黑体" panose="02010609060101010101" pitchFamily="49" charset="-122"/>
                    <a:ea typeface="黑体" panose="02010609060101010101" pitchFamily="49" charset="-122"/>
                  </a:rPr>
                  <a:t>否 定</a:t>
                </a:r>
                <a:endParaRPr lang="zh-CN" altLang="en-US" sz="2000" b="1">
                  <a:solidFill>
                    <a:srgbClr val="000000"/>
                  </a:solidFill>
                  <a:latin typeface="黑体" panose="02010609060101010101" pitchFamily="49" charset="-122"/>
                  <a:ea typeface="黑体" panose="02010609060101010101" pitchFamily="49" charset="-122"/>
                </a:endParaRPr>
              </a:p>
            </p:txBody>
          </p:sp>
          <p:sp>
            <p:nvSpPr>
              <p:cNvPr id="85007" name="Rectangle 22"/>
              <p:cNvSpPr>
                <a:spLocks noChangeArrowheads="1"/>
              </p:cNvSpPr>
              <p:nvPr/>
            </p:nvSpPr>
            <p:spPr bwMode="auto">
              <a:xfrm>
                <a:off x="793" y="2341"/>
                <a:ext cx="907" cy="363"/>
              </a:xfrm>
              <a:prstGeom prst="rect">
                <a:avLst/>
              </a:prstGeom>
              <a:solidFill>
                <a:srgbClr val="FFFF99"/>
              </a:solidFill>
              <a:ln w="9525">
                <a:solidFill>
                  <a:srgbClr val="A50021"/>
                </a:solidFill>
                <a:miter lim="800000"/>
              </a:ln>
            </p:spPr>
            <p:txBody>
              <a:bodyPr/>
              <a:lstStyle/>
              <a:p>
                <a:pPr algn="ctr" eaLnBrk="1" hangingPunct="1">
                  <a:lnSpc>
                    <a:spcPct val="125000"/>
                  </a:lnSpc>
                  <a:spcBef>
                    <a:spcPct val="20000"/>
                  </a:spcBef>
                </a:pPr>
                <a:r>
                  <a:rPr lang="zh-CN" altLang="en-US" sz="2000" b="1" dirty="0">
                    <a:solidFill>
                      <a:srgbClr val="000000"/>
                    </a:solidFill>
                    <a:latin typeface="黑体" panose="02010609060101010101" pitchFamily="49" charset="-122"/>
                    <a:ea typeface="黑体" panose="02010609060101010101" pitchFamily="49" charset="-122"/>
                  </a:rPr>
                  <a:t>肯 定</a:t>
                </a:r>
                <a:endParaRPr lang="zh-CN" altLang="en-US" sz="2000" b="1" dirty="0">
                  <a:solidFill>
                    <a:srgbClr val="000000"/>
                  </a:solidFill>
                  <a:latin typeface="黑体" panose="02010609060101010101" pitchFamily="49" charset="-122"/>
                  <a:ea typeface="黑体" panose="02010609060101010101" pitchFamily="49" charset="-122"/>
                </a:endParaRPr>
              </a:p>
            </p:txBody>
          </p:sp>
          <p:sp>
            <p:nvSpPr>
              <p:cNvPr id="85008" name="Rectangle 23"/>
              <p:cNvSpPr>
                <a:spLocks noChangeArrowheads="1"/>
              </p:cNvSpPr>
              <p:nvPr/>
            </p:nvSpPr>
            <p:spPr bwMode="auto">
              <a:xfrm>
                <a:off x="521" y="3430"/>
                <a:ext cx="1406" cy="363"/>
              </a:xfrm>
              <a:prstGeom prst="rect">
                <a:avLst/>
              </a:prstGeom>
              <a:solidFill>
                <a:srgbClr val="FFFF99"/>
              </a:solidFill>
              <a:ln w="9525">
                <a:solidFill>
                  <a:srgbClr val="A50021"/>
                </a:solidFill>
                <a:miter lim="800000"/>
              </a:ln>
            </p:spPr>
            <p:txBody>
              <a:bodyPr/>
              <a:lstStyle/>
              <a:p>
                <a:pPr algn="ctr" eaLnBrk="1" hangingPunct="1">
                  <a:lnSpc>
                    <a:spcPct val="125000"/>
                  </a:lnSpc>
                  <a:spcBef>
                    <a:spcPct val="20000"/>
                  </a:spcBef>
                </a:pPr>
                <a:r>
                  <a:rPr lang="zh-CN" altLang="en-US" sz="2000" b="1">
                    <a:solidFill>
                      <a:srgbClr val="000000"/>
                    </a:solidFill>
                    <a:latin typeface="黑体" panose="02010609060101010101" pitchFamily="49" charset="-122"/>
                    <a:ea typeface="黑体" panose="02010609060101010101" pitchFamily="49" charset="-122"/>
                  </a:rPr>
                  <a:t>否定之否定</a:t>
                </a:r>
                <a:endParaRPr lang="zh-CN" altLang="en-US" sz="2000" b="1">
                  <a:solidFill>
                    <a:srgbClr val="000000"/>
                  </a:solidFill>
                  <a:latin typeface="黑体" panose="02010609060101010101" pitchFamily="49" charset="-122"/>
                  <a:ea typeface="黑体" panose="02010609060101010101" pitchFamily="49" charset="-122"/>
                </a:endParaRPr>
              </a:p>
            </p:txBody>
          </p:sp>
          <p:sp>
            <p:nvSpPr>
              <p:cNvPr id="85009" name="Line 24"/>
              <p:cNvSpPr>
                <a:spLocks noChangeShapeType="1"/>
              </p:cNvSpPr>
              <p:nvPr/>
            </p:nvSpPr>
            <p:spPr bwMode="auto">
              <a:xfrm flipH="1">
                <a:off x="1202" y="2704"/>
                <a:ext cx="0" cy="181"/>
              </a:xfrm>
              <a:prstGeom prst="line">
                <a:avLst/>
              </a:prstGeom>
              <a:noFill/>
              <a:ln w="76200">
                <a:solidFill>
                  <a:schemeClr val="tx1"/>
                </a:solidFill>
                <a:round/>
                <a:tailEnd type="triangle" w="med" len="med"/>
              </a:ln>
            </p:spPr>
            <p:txBody>
              <a:bodyPr/>
              <a:lstStyle/>
              <a:p>
                <a:endParaRPr lang="zh-CN" altLang="en-US"/>
              </a:p>
            </p:txBody>
          </p:sp>
          <p:sp>
            <p:nvSpPr>
              <p:cNvPr id="85010" name="Line 25"/>
              <p:cNvSpPr>
                <a:spLocks noChangeShapeType="1"/>
              </p:cNvSpPr>
              <p:nvPr/>
            </p:nvSpPr>
            <p:spPr bwMode="auto">
              <a:xfrm flipH="1">
                <a:off x="1202" y="3249"/>
                <a:ext cx="0" cy="181"/>
              </a:xfrm>
              <a:prstGeom prst="line">
                <a:avLst/>
              </a:prstGeom>
              <a:noFill/>
              <a:ln w="76200">
                <a:solidFill>
                  <a:schemeClr val="tx1"/>
                </a:solidFill>
                <a:round/>
                <a:tailEnd type="triangle" w="med" len="med"/>
              </a:ln>
            </p:spPr>
            <p:txBody>
              <a:bodyPr/>
              <a:lstStyle/>
              <a:p>
                <a:endParaRPr lang="zh-CN" altLang="en-US"/>
              </a:p>
            </p:txBody>
          </p:sp>
        </p:grpSp>
      </p:grpSp>
      <p:grpSp>
        <p:nvGrpSpPr>
          <p:cNvPr id="9" name="Group 34"/>
          <p:cNvGrpSpPr/>
          <p:nvPr/>
        </p:nvGrpSpPr>
        <p:grpSpPr bwMode="auto">
          <a:xfrm>
            <a:off x="285720" y="357166"/>
            <a:ext cx="4103688" cy="579438"/>
            <a:chOff x="793" y="2432"/>
            <a:chExt cx="1724" cy="592"/>
          </a:xfrm>
        </p:grpSpPr>
        <p:sp>
          <p:nvSpPr>
            <p:cNvPr id="85002" name="AutoShape 35"/>
            <p:cNvSpPr>
              <a:spLocks noChangeArrowheads="1"/>
            </p:cNvSpPr>
            <p:nvPr/>
          </p:nvSpPr>
          <p:spPr bwMode="ltGray">
            <a:xfrm>
              <a:off x="793" y="2432"/>
              <a:ext cx="1724" cy="589"/>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85003" name="Text Box 36"/>
            <p:cNvSpPr txBox="1">
              <a:spLocks noChangeArrowheads="1"/>
            </p:cNvSpPr>
            <p:nvPr/>
          </p:nvSpPr>
          <p:spPr bwMode="auto">
            <a:xfrm>
              <a:off x="857" y="2552"/>
              <a:ext cx="1655" cy="472"/>
            </a:xfrm>
            <a:prstGeom prst="rect">
              <a:avLst/>
            </a:prstGeom>
            <a:noFill/>
            <a:ln w="9525">
              <a:noFill/>
              <a:miter lim="800000"/>
            </a:ln>
          </p:spPr>
          <p:txBody>
            <a:bodyPr>
              <a:spAutoFit/>
            </a:bodyPr>
            <a:lstStyle/>
            <a:p>
              <a:pPr eaLnBrk="1" hangingPunct="1"/>
              <a:r>
                <a:rPr lang="en-US" altLang="zh-CN" sz="2400" b="1" dirty="0">
                  <a:solidFill>
                    <a:schemeClr val="bg1"/>
                  </a:solidFill>
                  <a:latin typeface="楷体" panose="02010609060101010101" pitchFamily="49" charset="-122"/>
                  <a:ea typeface="楷体" panose="02010609060101010101" pitchFamily="49" charset="-122"/>
                </a:rPr>
                <a:t>3.</a:t>
              </a:r>
              <a:r>
                <a:rPr lang="zh-CN" altLang="en-US" sz="2400" b="1" dirty="0">
                  <a:solidFill>
                    <a:schemeClr val="bg1"/>
                  </a:solidFill>
                  <a:latin typeface="楷体" panose="02010609060101010101" pitchFamily="49" charset="-122"/>
                  <a:ea typeface="楷体" panose="02010609060101010101" pitchFamily="49" charset="-122"/>
                </a:rPr>
                <a:t>事物发展的辩证否定过程</a:t>
              </a:r>
              <a:endParaRPr lang="zh-CN" altLang="en-US" sz="2400" b="1" dirty="0">
                <a:solidFill>
                  <a:schemeClr val="bg1"/>
                </a:solidFill>
                <a:latin typeface="楷体" panose="02010609060101010101" pitchFamily="49" charset="-122"/>
                <a:ea typeface="楷体" panose="02010609060101010101" pitchFamily="49" charset="-12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285720" y="1142984"/>
            <a:ext cx="8429684" cy="714380"/>
          </a:xfrm>
          <a:prstGeom prst="rect">
            <a:avLst/>
          </a:prstGeom>
          <a:solidFill>
            <a:srgbClr val="CCFFFF"/>
          </a:solidFill>
          <a:ln w="9525">
            <a:solidFill>
              <a:schemeClr val="hlink"/>
            </a:solidFill>
            <a:miter lim="800000"/>
          </a:ln>
        </p:spPr>
        <p:txBody>
          <a:bodyPr anchor="ctr"/>
          <a:lstStyle/>
          <a:p>
            <a:pPr eaLnBrk="1" hangingPunct="1">
              <a:lnSpc>
                <a:spcPct val="125000"/>
              </a:lnSpc>
            </a:pPr>
            <a:r>
              <a:rPr lang="en-US" altLang="zh-CN" sz="1600" b="1" dirty="0">
                <a:solidFill>
                  <a:srgbClr val="A50021"/>
                </a:solidFill>
                <a:ea typeface="幼圆" pitchFamily="49" charset="-122"/>
              </a:rPr>
              <a:t>  </a:t>
            </a:r>
            <a:r>
              <a:rPr lang="zh-CN" altLang="en-US" sz="2400" b="1" dirty="0">
                <a:solidFill>
                  <a:srgbClr val="A50021"/>
                </a:solidFill>
                <a:latin typeface="楷体" panose="02010609060101010101" pitchFamily="49" charset="-122"/>
                <a:ea typeface="楷体" panose="02010609060101010101" pitchFamily="49" charset="-122"/>
              </a:rPr>
              <a:t>否定之否定规律揭示了事物发展的</a:t>
            </a:r>
            <a:r>
              <a:rPr lang="zh-CN" altLang="en-US" sz="2400" b="1" dirty="0">
                <a:solidFill>
                  <a:srgbClr val="021FF4"/>
                </a:solidFill>
                <a:latin typeface="楷体" panose="02010609060101010101" pitchFamily="49" charset="-122"/>
                <a:ea typeface="楷体" panose="02010609060101010101" pitchFamily="49" charset="-122"/>
              </a:rPr>
              <a:t>前进性与曲折性的统一</a:t>
            </a:r>
            <a:endParaRPr lang="zh-CN" altLang="en-US" sz="2400" dirty="0">
              <a:solidFill>
                <a:srgbClr val="021FF4"/>
              </a:solidFill>
              <a:latin typeface="楷体" panose="02010609060101010101" pitchFamily="49" charset="-122"/>
              <a:ea typeface="楷体" panose="02010609060101010101" pitchFamily="49" charset="-122"/>
            </a:endParaRPr>
          </a:p>
        </p:txBody>
      </p:sp>
      <p:sp>
        <p:nvSpPr>
          <p:cNvPr id="89091" name="Rectangle 3"/>
          <p:cNvSpPr>
            <a:spLocks noChangeArrowheads="1"/>
          </p:cNvSpPr>
          <p:nvPr/>
        </p:nvSpPr>
        <p:spPr bwMode="auto">
          <a:xfrm>
            <a:off x="251460" y="2143117"/>
            <a:ext cx="8463944" cy="2714644"/>
          </a:xfrm>
          <a:prstGeom prst="rect">
            <a:avLst/>
          </a:prstGeom>
          <a:solidFill>
            <a:srgbClr val="CFF48C"/>
          </a:solidFill>
          <a:ln w="9525">
            <a:solidFill>
              <a:srgbClr val="A50021"/>
            </a:solidFill>
            <a:miter lim="800000"/>
          </a:ln>
        </p:spPr>
        <p:txBody>
          <a:bodyPr/>
          <a:lstStyle/>
          <a:p>
            <a:pPr eaLnBrk="1" hangingPunct="1">
              <a:lnSpc>
                <a:spcPct val="125000"/>
              </a:lnSpc>
              <a:spcBef>
                <a:spcPct val="20000"/>
              </a:spcBef>
            </a:pPr>
            <a:r>
              <a:rPr lang="zh-CN" altLang="en-US" sz="2000" b="1" dirty="0">
                <a:solidFill>
                  <a:srgbClr val="A50021"/>
                </a:solidFill>
                <a:ea typeface="幼圆" pitchFamily="49" charset="-122"/>
              </a:rPr>
              <a:t>前进性：</a:t>
            </a:r>
            <a:endParaRPr lang="zh-CN" altLang="en-US" sz="2000" b="1" dirty="0">
              <a:solidFill>
                <a:srgbClr val="A50021"/>
              </a:solidFill>
              <a:ea typeface="幼圆" pitchFamily="49" charset="-122"/>
            </a:endParaRPr>
          </a:p>
          <a:p>
            <a:pPr eaLnBrk="1" hangingPunct="1">
              <a:lnSpc>
                <a:spcPct val="125000"/>
              </a:lnSpc>
              <a:spcBef>
                <a:spcPct val="20000"/>
              </a:spcBef>
            </a:pPr>
            <a:r>
              <a:rPr lang="zh-CN" altLang="en-US" sz="2000" b="1" dirty="0">
                <a:solidFill>
                  <a:srgbClr val="A50021"/>
                </a:solidFill>
                <a:ea typeface="幼圆" pitchFamily="49" charset="-122"/>
              </a:rPr>
              <a:t>    </a:t>
            </a:r>
            <a:r>
              <a:rPr lang="zh-CN" altLang="en-US" sz="2000" b="1" dirty="0">
                <a:solidFill>
                  <a:srgbClr val="021FF4"/>
                </a:solidFill>
                <a:latin typeface="楷体" panose="02010609060101010101" pitchFamily="49" charset="-122"/>
                <a:ea typeface="楷体" panose="02010609060101010101" pitchFamily="49" charset="-122"/>
              </a:rPr>
              <a:t>每一次否定都是质变，都把事物推到新阶段；每一周期都是开放的，前一个周期的终点是下一个周期的起点，不存在不被否定的终点。</a:t>
            </a:r>
            <a:endParaRPr lang="zh-CN" altLang="en-US" sz="2000" b="1" dirty="0">
              <a:solidFill>
                <a:srgbClr val="021FF4"/>
              </a:solidFill>
              <a:latin typeface="楷体" panose="02010609060101010101" pitchFamily="49" charset="-122"/>
              <a:ea typeface="楷体" panose="02010609060101010101" pitchFamily="49" charset="-122"/>
            </a:endParaRPr>
          </a:p>
          <a:p>
            <a:pPr eaLnBrk="1" hangingPunct="1">
              <a:lnSpc>
                <a:spcPct val="125000"/>
              </a:lnSpc>
              <a:spcBef>
                <a:spcPct val="20000"/>
              </a:spcBef>
            </a:pPr>
            <a:r>
              <a:rPr lang="zh-CN" altLang="en-US" sz="2000" b="1" dirty="0">
                <a:solidFill>
                  <a:srgbClr val="A50021"/>
                </a:solidFill>
                <a:latin typeface="幼圆" pitchFamily="49" charset="-122"/>
                <a:ea typeface="幼圆" pitchFamily="49" charset="-122"/>
              </a:rPr>
              <a:t>曲折性：</a:t>
            </a:r>
            <a:endParaRPr lang="zh-CN" altLang="en-US" sz="2000" b="1" dirty="0">
              <a:solidFill>
                <a:srgbClr val="A50021"/>
              </a:solidFill>
              <a:latin typeface="幼圆" pitchFamily="49" charset="-122"/>
              <a:ea typeface="幼圆" pitchFamily="49" charset="-122"/>
            </a:endParaRPr>
          </a:p>
          <a:p>
            <a:pPr eaLnBrk="1" hangingPunct="1">
              <a:lnSpc>
                <a:spcPct val="125000"/>
              </a:lnSpc>
              <a:spcBef>
                <a:spcPct val="20000"/>
              </a:spcBef>
            </a:pPr>
            <a:r>
              <a:rPr lang="zh-CN" altLang="en-US" sz="2000" b="1" dirty="0">
                <a:solidFill>
                  <a:srgbClr val="A50021"/>
                </a:solidFill>
                <a:latin typeface="幼圆" pitchFamily="49" charset="-122"/>
                <a:ea typeface="幼圆" pitchFamily="49" charset="-122"/>
              </a:rPr>
              <a:t>  </a:t>
            </a:r>
            <a:r>
              <a:rPr lang="zh-CN" altLang="en-US" sz="2000" b="1" dirty="0" smtClean="0">
                <a:solidFill>
                  <a:srgbClr val="A50021"/>
                </a:solidFill>
                <a:latin typeface="幼圆" pitchFamily="49" charset="-122"/>
                <a:ea typeface="幼圆" pitchFamily="49" charset="-122"/>
              </a:rPr>
              <a:t>  </a:t>
            </a:r>
            <a:r>
              <a:rPr lang="zh-CN" altLang="en-US" sz="2000" b="1" dirty="0" smtClean="0">
                <a:solidFill>
                  <a:srgbClr val="021FF4"/>
                </a:solidFill>
                <a:latin typeface="楷体" panose="02010609060101010101" pitchFamily="49" charset="-122"/>
                <a:ea typeface="楷体" panose="02010609060101010101" pitchFamily="49" charset="-122"/>
              </a:rPr>
              <a:t>回复</a:t>
            </a:r>
            <a:r>
              <a:rPr lang="zh-CN" altLang="en-US" sz="2000" b="1" dirty="0">
                <a:solidFill>
                  <a:srgbClr val="021FF4"/>
                </a:solidFill>
                <a:latin typeface="楷体" panose="02010609060101010101" pitchFamily="49" charset="-122"/>
                <a:ea typeface="楷体" panose="02010609060101010101" pitchFamily="49" charset="-122"/>
              </a:rPr>
              <a:t>性，其中有暂时的停顿或倒退，但是经过曲折终将为事物的发展开辟道路。</a:t>
            </a:r>
            <a:endParaRPr lang="zh-CN" altLang="en-US" sz="2000" b="1" dirty="0">
              <a:solidFill>
                <a:srgbClr val="021FF4"/>
              </a:solidFill>
              <a:latin typeface="楷体" panose="02010609060101010101" pitchFamily="49" charset="-122"/>
              <a:ea typeface="楷体" panose="02010609060101010101" pitchFamily="49" charset="-122"/>
            </a:endParaRPr>
          </a:p>
        </p:txBody>
      </p:sp>
      <p:sp>
        <p:nvSpPr>
          <p:cNvPr id="89092" name="Rectangle 5"/>
          <p:cNvSpPr>
            <a:spLocks noChangeArrowheads="1"/>
          </p:cNvSpPr>
          <p:nvPr/>
        </p:nvSpPr>
        <p:spPr bwMode="auto">
          <a:xfrm>
            <a:off x="285720" y="5286388"/>
            <a:ext cx="8421083" cy="1131079"/>
          </a:xfrm>
          <a:prstGeom prst="rect">
            <a:avLst/>
          </a:prstGeom>
          <a:solidFill>
            <a:srgbClr val="CCFFCC"/>
          </a:solidFill>
          <a:ln w="19050">
            <a:solidFill>
              <a:srgbClr val="FF00FF"/>
            </a:solidFill>
            <a:miter lim="800000"/>
          </a:ln>
        </p:spPr>
        <p:txBody>
          <a:bodyPr wrap="square">
            <a:spAutoFit/>
          </a:bodyPr>
          <a:lstStyle/>
          <a:p>
            <a:pPr eaLnBrk="1" hangingPunct="1">
              <a:lnSpc>
                <a:spcPct val="125000"/>
              </a:lnSpc>
            </a:pPr>
            <a:r>
              <a:rPr lang="en-US" altLang="zh-CN" b="1" dirty="0">
                <a:solidFill>
                  <a:srgbClr val="FF0000"/>
                </a:solidFill>
                <a:ea typeface="黑体" panose="02010609060101010101" pitchFamily="49" charset="-122"/>
              </a:rPr>
              <a:t>  </a:t>
            </a:r>
            <a:r>
              <a:rPr lang="en-US" altLang="zh-CN" b="1" dirty="0" smtClean="0">
                <a:solidFill>
                  <a:srgbClr val="021FF4"/>
                </a:solidFill>
                <a:latin typeface="楷体" panose="02010609060101010101" pitchFamily="49" charset="-122"/>
                <a:ea typeface="楷体" panose="02010609060101010101" pitchFamily="49" charset="-122"/>
              </a:rPr>
              <a:t>- </a:t>
            </a:r>
            <a:r>
              <a:rPr lang="zh-CN" altLang="en-US" b="1" dirty="0">
                <a:solidFill>
                  <a:srgbClr val="021FF4"/>
                </a:solidFill>
                <a:latin typeface="楷体" panose="02010609060101010101" pitchFamily="49" charset="-122"/>
                <a:ea typeface="楷体" panose="02010609060101010101" pitchFamily="49" charset="-122"/>
              </a:rPr>
              <a:t>对于人们正确认识事物发展的曲折性和前进性，具有重要的指导意义。</a:t>
            </a:r>
            <a:r>
              <a:rPr lang="zh-CN" altLang="en-US" b="1" dirty="0">
                <a:solidFill>
                  <a:srgbClr val="FF0000"/>
                </a:solidFill>
                <a:latin typeface="楷体" panose="02010609060101010101" pitchFamily="49" charset="-122"/>
                <a:ea typeface="楷体" panose="02010609060101010101" pitchFamily="49" charset="-122"/>
              </a:rPr>
              <a:t> </a:t>
            </a:r>
            <a:endParaRPr lang="zh-CN" altLang="en-US" b="1" dirty="0">
              <a:solidFill>
                <a:srgbClr val="FF0000"/>
              </a:solidFill>
              <a:latin typeface="楷体" panose="02010609060101010101" pitchFamily="49" charset="-122"/>
              <a:ea typeface="楷体" panose="02010609060101010101" pitchFamily="49" charset="-122"/>
            </a:endParaRPr>
          </a:p>
          <a:p>
            <a:pPr eaLnBrk="1" hangingPunct="1">
              <a:lnSpc>
                <a:spcPct val="125000"/>
              </a:lnSpc>
            </a:pPr>
            <a:r>
              <a:rPr lang="zh-CN" altLang="en-US" b="1" dirty="0">
                <a:solidFill>
                  <a:srgbClr val="FF0000"/>
                </a:solidFill>
                <a:latin typeface="楷体" panose="02010609060101010101" pitchFamily="49" charset="-122"/>
                <a:ea typeface="楷体" panose="02010609060101010101" pitchFamily="49" charset="-122"/>
              </a:rPr>
              <a:t>  </a:t>
            </a:r>
            <a:r>
              <a:rPr lang="en-US" altLang="zh-CN" b="1" dirty="0" smtClean="0">
                <a:solidFill>
                  <a:srgbClr val="021FF4"/>
                </a:solidFill>
                <a:latin typeface="楷体" panose="02010609060101010101" pitchFamily="49" charset="-122"/>
                <a:ea typeface="楷体" panose="02010609060101010101" pitchFamily="49" charset="-122"/>
              </a:rPr>
              <a:t>- </a:t>
            </a:r>
            <a:r>
              <a:rPr lang="zh-CN" altLang="en-US" b="1" dirty="0">
                <a:solidFill>
                  <a:srgbClr val="021FF4"/>
                </a:solidFill>
                <a:latin typeface="楷体" panose="02010609060101010101" pitchFamily="49" charset="-122"/>
                <a:ea typeface="楷体" panose="02010609060101010101" pitchFamily="49" charset="-122"/>
              </a:rPr>
              <a:t>对待一切事物都要采取科学分析的态度，反对肯定一切和否定一切的形而上学否定观。</a:t>
            </a:r>
            <a:endParaRPr lang="zh-CN" altLang="en-US" b="1" dirty="0">
              <a:solidFill>
                <a:srgbClr val="021FF4"/>
              </a:solidFill>
              <a:latin typeface="楷体" panose="02010609060101010101" pitchFamily="49" charset="-122"/>
              <a:ea typeface="楷体" panose="02010609060101010101" pitchFamily="49" charset="-122"/>
            </a:endParaRPr>
          </a:p>
        </p:txBody>
      </p:sp>
      <p:grpSp>
        <p:nvGrpSpPr>
          <p:cNvPr id="2" name="Group 19"/>
          <p:cNvGrpSpPr/>
          <p:nvPr/>
        </p:nvGrpSpPr>
        <p:grpSpPr bwMode="auto">
          <a:xfrm>
            <a:off x="285720" y="357166"/>
            <a:ext cx="2519363" cy="577850"/>
            <a:chOff x="793" y="2432"/>
            <a:chExt cx="1724" cy="591"/>
          </a:xfrm>
        </p:grpSpPr>
        <p:sp>
          <p:nvSpPr>
            <p:cNvPr id="89097" name="AutoShape 20"/>
            <p:cNvSpPr>
              <a:spLocks noChangeArrowheads="1"/>
            </p:cNvSpPr>
            <p:nvPr/>
          </p:nvSpPr>
          <p:spPr bwMode="ltGray">
            <a:xfrm>
              <a:off x="793" y="2432"/>
              <a:ext cx="1724" cy="589"/>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wrap="none" anchor="ctr"/>
            <a:lstStyle/>
            <a:p>
              <a:pPr eaLnBrk="1" hangingPunct="1"/>
              <a:endParaRPr lang="zh-CN" altLang="en-US"/>
            </a:p>
          </p:txBody>
        </p:sp>
        <p:sp>
          <p:nvSpPr>
            <p:cNvPr id="89098" name="Text Box 21"/>
            <p:cNvSpPr txBox="1">
              <a:spLocks noChangeArrowheads="1"/>
            </p:cNvSpPr>
            <p:nvPr/>
          </p:nvSpPr>
          <p:spPr bwMode="auto">
            <a:xfrm>
              <a:off x="827" y="2552"/>
              <a:ext cx="1656" cy="471"/>
            </a:xfrm>
            <a:prstGeom prst="rect">
              <a:avLst/>
            </a:prstGeom>
            <a:noFill/>
            <a:ln w="9525">
              <a:noFill/>
              <a:miter lim="800000"/>
            </a:ln>
          </p:spPr>
          <p:txBody>
            <a:bodyPr>
              <a:spAutoFit/>
            </a:bodyPr>
            <a:lstStyle/>
            <a:p>
              <a:pPr eaLnBrk="1" hangingPunct="1"/>
              <a:r>
                <a:rPr lang="en-US" altLang="zh-CN" sz="2400" b="1">
                  <a:solidFill>
                    <a:schemeClr val="bg1"/>
                  </a:solidFill>
                  <a:latin typeface="楷体" panose="02010609060101010101" pitchFamily="49" charset="-122"/>
                  <a:ea typeface="楷体" panose="02010609060101010101" pitchFamily="49" charset="-122"/>
                </a:rPr>
                <a:t>4.</a:t>
              </a:r>
              <a:r>
                <a:rPr lang="zh-CN" altLang="en-US" sz="2400" b="1">
                  <a:solidFill>
                    <a:schemeClr val="bg1"/>
                  </a:solidFill>
                  <a:latin typeface="楷体" panose="02010609060101010101" pitchFamily="49" charset="-122"/>
                  <a:ea typeface="楷体" panose="02010609060101010101" pitchFamily="49" charset="-122"/>
                </a:rPr>
                <a:t>方法论意义</a:t>
              </a:r>
              <a:endParaRPr lang="zh-CN" altLang="en-US" sz="2400" b="1">
                <a:solidFill>
                  <a:schemeClr val="bg1"/>
                </a:solidFill>
                <a:latin typeface="楷体" panose="02010609060101010101" pitchFamily="49" charset="-122"/>
                <a:ea typeface="楷体" panose="02010609060101010101" pitchFamily="49" charset="-122"/>
              </a:endParaRPr>
            </a:p>
          </p:txBody>
        </p:sp>
      </p:grpSp>
      <p:sp>
        <p:nvSpPr>
          <p:cNvPr id="89096" name="WordArt 15" descr="白色大理石"/>
          <p:cNvSpPr>
            <a:spLocks noChangeArrowheads="1" noChangeShapeType="1" noTextEdit="1"/>
          </p:cNvSpPr>
          <p:nvPr/>
        </p:nvSpPr>
        <p:spPr bwMode="auto">
          <a:xfrm>
            <a:off x="3357554" y="428604"/>
            <a:ext cx="4679950" cy="4318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ln>
                <a:solidFill>
                  <a:srgbClr val="FF0000"/>
                </a:solidFill>
                <a:latin typeface="宋体" panose="02010600030101010101" pitchFamily="2" charset="-122"/>
                <a:ea typeface="宋体" panose="02010600030101010101" pitchFamily="2" charset="-122"/>
              </a:rPr>
              <a:t>事物的发展不是直线式前进而是螺旋式上升的</a:t>
            </a:r>
            <a:endParaRPr lang="zh-CN" altLang="en-US" sz="3600" kern="10" dirty="0">
              <a:ln w="9525">
                <a:round/>
              </a:ln>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ChangeArrowheads="1"/>
          </p:cNvSpPr>
          <p:nvPr/>
        </p:nvSpPr>
        <p:spPr bwMode="auto">
          <a:xfrm>
            <a:off x="3143240" y="2500306"/>
            <a:ext cx="2362200" cy="3257550"/>
          </a:xfrm>
          <a:prstGeom prst="rect">
            <a:avLst/>
          </a:prstGeom>
          <a:solidFill>
            <a:srgbClr val="B7E7D2"/>
          </a:solidFill>
          <a:ln w="9525">
            <a:noFill/>
            <a:miter lim="800000"/>
          </a:ln>
        </p:spPr>
        <p:txBody>
          <a:bodyPr/>
          <a:lstStyle/>
          <a:p>
            <a:pPr marL="342900" indent="-342900" eaLnBrk="1" hangingPunct="1">
              <a:spcBef>
                <a:spcPct val="20000"/>
              </a:spcBef>
            </a:pPr>
            <a:r>
              <a:rPr lang="zh-CN" altLang="en-US" sz="3200" b="1">
                <a:solidFill>
                  <a:srgbClr val="000000"/>
                </a:solidFill>
                <a:latin typeface="楷体_GB2312" pitchFamily="1" charset="-122"/>
                <a:ea typeface="楷体_GB2312" pitchFamily="1" charset="-122"/>
              </a:rPr>
              <a:t>内容与形式</a:t>
            </a:r>
            <a:endParaRPr lang="en-US" altLang="zh-CN" sz="3200" b="1">
              <a:solidFill>
                <a:srgbClr val="000000"/>
              </a:solidFill>
              <a:latin typeface="楷体_GB2312" pitchFamily="1" charset="-122"/>
              <a:ea typeface="楷体_GB2312" pitchFamily="1" charset="-122"/>
            </a:endParaRPr>
          </a:p>
          <a:p>
            <a:pPr marL="342900" indent="-342900" eaLnBrk="1" hangingPunct="1">
              <a:spcBef>
                <a:spcPct val="20000"/>
              </a:spcBef>
            </a:pPr>
            <a:r>
              <a:rPr lang="zh-CN" altLang="en-US" sz="3200" b="1">
                <a:solidFill>
                  <a:srgbClr val="000000"/>
                </a:solidFill>
                <a:latin typeface="楷体_GB2312" pitchFamily="1" charset="-122"/>
                <a:ea typeface="楷体_GB2312" pitchFamily="1" charset="-122"/>
              </a:rPr>
              <a:t>本质与现象</a:t>
            </a:r>
            <a:endParaRPr lang="en-US" altLang="zh-CN" sz="3200" b="1">
              <a:solidFill>
                <a:srgbClr val="000000"/>
              </a:solidFill>
              <a:latin typeface="楷体_GB2312" pitchFamily="1" charset="-122"/>
              <a:ea typeface="楷体_GB2312" pitchFamily="1" charset="-122"/>
            </a:endParaRPr>
          </a:p>
          <a:p>
            <a:pPr marL="342900" indent="-342900" eaLnBrk="1" hangingPunct="1">
              <a:spcBef>
                <a:spcPct val="20000"/>
              </a:spcBef>
            </a:pPr>
            <a:r>
              <a:rPr lang="zh-CN" altLang="en-US" sz="3200" b="1">
                <a:solidFill>
                  <a:srgbClr val="000000"/>
                </a:solidFill>
                <a:latin typeface="楷体_GB2312" pitchFamily="1" charset="-122"/>
                <a:ea typeface="楷体_GB2312" pitchFamily="1" charset="-122"/>
              </a:rPr>
              <a:t>原因与结果</a:t>
            </a:r>
            <a:endParaRPr lang="en-US" altLang="zh-CN" sz="3200" b="1">
              <a:solidFill>
                <a:srgbClr val="000000"/>
              </a:solidFill>
              <a:latin typeface="楷体_GB2312" pitchFamily="1" charset="-122"/>
              <a:ea typeface="楷体_GB2312" pitchFamily="1" charset="-122"/>
            </a:endParaRPr>
          </a:p>
          <a:p>
            <a:pPr marL="342900" indent="-342900" eaLnBrk="1" hangingPunct="1">
              <a:spcBef>
                <a:spcPct val="20000"/>
              </a:spcBef>
            </a:pPr>
            <a:r>
              <a:rPr lang="zh-CN" altLang="en-US" sz="3200" b="1">
                <a:solidFill>
                  <a:srgbClr val="000000"/>
                </a:solidFill>
                <a:latin typeface="楷体_GB2312" pitchFamily="1" charset="-122"/>
                <a:ea typeface="楷体_GB2312" pitchFamily="1" charset="-122"/>
              </a:rPr>
              <a:t>必然与偶然</a:t>
            </a:r>
            <a:endParaRPr lang="en-US" altLang="zh-CN" sz="3200" b="1">
              <a:solidFill>
                <a:srgbClr val="000000"/>
              </a:solidFill>
              <a:latin typeface="楷体_GB2312" pitchFamily="1" charset="-122"/>
              <a:ea typeface="楷体_GB2312" pitchFamily="1" charset="-122"/>
            </a:endParaRPr>
          </a:p>
          <a:p>
            <a:pPr marL="342900" indent="-342900" eaLnBrk="1" hangingPunct="1">
              <a:spcBef>
                <a:spcPct val="20000"/>
              </a:spcBef>
            </a:pPr>
            <a:r>
              <a:rPr lang="zh-CN" altLang="en-US" sz="3200" b="1">
                <a:solidFill>
                  <a:srgbClr val="000000"/>
                </a:solidFill>
                <a:latin typeface="楷体_GB2312" pitchFamily="1" charset="-122"/>
                <a:ea typeface="楷体_GB2312" pitchFamily="1" charset="-122"/>
              </a:rPr>
              <a:t>现实与可能</a:t>
            </a:r>
            <a:endParaRPr lang="zh-CN" altLang="en-US" sz="3200" b="1">
              <a:solidFill>
                <a:srgbClr val="000000"/>
              </a:solidFill>
              <a:latin typeface="楷体_GB2312" pitchFamily="1" charset="-122"/>
              <a:ea typeface="楷体_GB2312" pitchFamily="1" charset="-122"/>
            </a:endParaRPr>
          </a:p>
          <a:p>
            <a:pPr marL="342900" indent="-342900" eaLnBrk="1" hangingPunct="1">
              <a:spcBef>
                <a:spcPct val="20000"/>
              </a:spcBef>
            </a:pPr>
            <a:r>
              <a:rPr lang="zh-CN" altLang="en-US" sz="2800" b="1">
                <a:solidFill>
                  <a:srgbClr val="000000"/>
                </a:solidFill>
                <a:latin typeface="楷体_GB2312" pitchFamily="1" charset="-122"/>
                <a:ea typeface="楷体_GB2312" pitchFamily="1" charset="-122"/>
              </a:rPr>
              <a:t> </a:t>
            </a:r>
            <a:endParaRPr lang="zh-CN" altLang="en-US" sz="3200" b="1"/>
          </a:p>
        </p:txBody>
      </p:sp>
      <p:sp>
        <p:nvSpPr>
          <p:cNvPr id="3" name="矩形 2"/>
          <p:cNvSpPr/>
          <p:nvPr/>
        </p:nvSpPr>
        <p:spPr>
          <a:xfrm>
            <a:off x="392113" y="365125"/>
            <a:ext cx="6172200" cy="590550"/>
          </a:xfrm>
          <a:prstGeom prst="rect">
            <a:avLst/>
          </a:prstGeom>
        </p:spPr>
        <p:txBody>
          <a:bodyPr>
            <a:spAutoFit/>
          </a:bodyPr>
          <a:lstStyle/>
          <a:p>
            <a:pPr eaLnBrk="1" hangingPunct="1">
              <a:lnSpc>
                <a:spcPct val="90000"/>
              </a:lnSpc>
              <a:buFont typeface="Arial" panose="020B0604020202020204" pitchFamily="34" charset="0"/>
              <a:buNone/>
              <a:defRPr/>
            </a:pPr>
            <a:r>
              <a:rPr lang="zh-CN" altLang="en-US" sz="3600" b="1" dirty="0">
                <a:solidFill>
                  <a:srgbClr val="9900FF"/>
                </a:solidFill>
                <a:latin typeface="华文新魏" pitchFamily="2" charset="-122"/>
                <a:ea typeface="华文新魏" pitchFamily="2" charset="-122"/>
                <a:cs typeface="+mj-cs"/>
              </a:rPr>
              <a:t>四</a:t>
            </a:r>
            <a:r>
              <a:rPr lang="zh-CN" altLang="en-US" sz="3600" b="1" dirty="0" smtClean="0">
                <a:solidFill>
                  <a:srgbClr val="9900FF"/>
                </a:solidFill>
                <a:latin typeface="华文新魏" pitchFamily="2" charset="-122"/>
                <a:ea typeface="华文新魏" pitchFamily="2" charset="-122"/>
                <a:cs typeface="+mj-cs"/>
              </a:rPr>
              <a:t>、</a:t>
            </a:r>
            <a:r>
              <a:rPr lang="zh-CN" altLang="en-US" sz="3600" b="1" dirty="0">
                <a:solidFill>
                  <a:srgbClr val="9900FF"/>
                </a:solidFill>
                <a:latin typeface="华文新魏" pitchFamily="2" charset="-122"/>
                <a:ea typeface="华文新魏" pitchFamily="2" charset="-122"/>
                <a:cs typeface="+mj-cs"/>
              </a:rPr>
              <a:t>联系与发展的基本环节</a:t>
            </a:r>
            <a:endParaRPr lang="zh-CN" altLang="en-US" sz="3600" b="1" dirty="0">
              <a:solidFill>
                <a:srgbClr val="9900FF"/>
              </a:solidFill>
              <a:latin typeface="华文新魏" pitchFamily="2" charset="-122"/>
              <a:ea typeface="华文新魏" pitchFamily="2" charset="-122"/>
              <a:cs typeface="+mj-cs"/>
            </a:endParaRPr>
          </a:p>
        </p:txBody>
      </p:sp>
      <p:sp>
        <p:nvSpPr>
          <p:cNvPr id="4" name="Rectangle 5"/>
          <p:cNvSpPr>
            <a:spLocks noChangeArrowheads="1"/>
          </p:cNvSpPr>
          <p:nvPr/>
        </p:nvSpPr>
        <p:spPr bwMode="auto">
          <a:xfrm>
            <a:off x="392113" y="1104900"/>
            <a:ext cx="8180415" cy="952500"/>
          </a:xfrm>
          <a:prstGeom prst="rect">
            <a:avLst/>
          </a:prstGeom>
          <a:solidFill>
            <a:srgbClr val="B7E7D2"/>
          </a:solidFill>
          <a:ln w="9525">
            <a:noFill/>
            <a:miter lim="800000"/>
          </a:ln>
          <a:effectLst/>
        </p:spPr>
        <p:txBody>
          <a:bodyPr/>
          <a:lstStyle/>
          <a:p>
            <a:pPr eaLnBrk="1" hangingPunct="1">
              <a:lnSpc>
                <a:spcPct val="125000"/>
              </a:lnSpc>
              <a:spcBef>
                <a:spcPct val="20000"/>
              </a:spcBef>
              <a:defRPr/>
            </a:pPr>
            <a:r>
              <a:rPr lang="en-US" altLang="zh-CN" sz="2000" b="1" dirty="0">
                <a:solidFill>
                  <a:srgbClr val="000099"/>
                </a:solidFill>
                <a:ea typeface="幼圆" pitchFamily="49" charset="-122"/>
              </a:rPr>
              <a:t>   </a:t>
            </a:r>
            <a:r>
              <a:rPr lang="zh-CN" altLang="en-US" sz="2400" b="1" dirty="0">
                <a:solidFill>
                  <a:srgbClr val="000099"/>
                </a:solidFill>
                <a:latin typeface="+mn-ea"/>
                <a:ea typeface="+mn-ea"/>
              </a:rPr>
              <a:t>联系和发展是通过</a:t>
            </a:r>
            <a:r>
              <a:rPr lang="zh-CN" altLang="en-US" sz="2400" b="1" dirty="0">
                <a:solidFill>
                  <a:srgbClr val="FF0000"/>
                </a:solidFill>
                <a:latin typeface="+mn-ea"/>
                <a:ea typeface="+mn-ea"/>
              </a:rPr>
              <a:t>一系列基本环节</a:t>
            </a:r>
            <a:r>
              <a:rPr lang="zh-CN" altLang="en-US" sz="2400" b="1" dirty="0">
                <a:solidFill>
                  <a:srgbClr val="000099"/>
                </a:solidFill>
                <a:latin typeface="+mn-ea"/>
                <a:ea typeface="+mn-ea"/>
              </a:rPr>
              <a:t>得以实现的。世界的过程性就是“现实的诸环节的全部综合的展开”。</a:t>
            </a:r>
            <a:endParaRPr lang="zh-CN" altLang="en-US" sz="2400" b="1" dirty="0">
              <a:solidFill>
                <a:srgbClr val="000099"/>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blinds(horizontal)">
                                      <p:cBhvr>
                                        <p:cTn id="7" dur="500"/>
                                        <p:tgtEl>
                                          <p:spTgt spid="51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4294967295"/>
          </p:nvPr>
        </p:nvSpPr>
        <p:spPr>
          <a:xfrm>
            <a:off x="214282" y="428604"/>
            <a:ext cx="8715375" cy="2047875"/>
          </a:xfrm>
        </p:spPr>
        <p:txBody>
          <a:bodyPr/>
          <a:lstStyle/>
          <a:p>
            <a:pPr eaLnBrk="1" hangingPunct="1">
              <a:buFontTx/>
              <a:buNone/>
            </a:pPr>
            <a:r>
              <a:rPr lang="zh-CN" altLang="en-US" b="1" dirty="0" smtClean="0">
                <a:solidFill>
                  <a:srgbClr val="CC00FF"/>
                </a:solidFill>
                <a:latin typeface="楷体_GB2312" pitchFamily="1" charset="-122"/>
                <a:ea typeface="楷体_GB2312" pitchFamily="1" charset="-122"/>
              </a:rPr>
              <a:t>（一）内容与形式：</a:t>
            </a:r>
            <a:r>
              <a:rPr lang="zh-CN" altLang="en-US" sz="2400" b="1" dirty="0" smtClean="0">
                <a:solidFill>
                  <a:srgbClr val="000000"/>
                </a:solidFill>
                <a:latin typeface="楷体" panose="02010609060101010101" pitchFamily="49" charset="-122"/>
                <a:ea typeface="楷体" panose="02010609060101010101" pitchFamily="49" charset="-122"/>
              </a:rPr>
              <a:t>从</a:t>
            </a:r>
            <a:r>
              <a:rPr lang="zh-CN" altLang="en-US" sz="2400" b="1" dirty="0" smtClean="0">
                <a:solidFill>
                  <a:srgbClr val="FF0000"/>
                </a:solidFill>
                <a:latin typeface="楷体" panose="02010609060101010101" pitchFamily="49" charset="-122"/>
                <a:ea typeface="楷体" panose="02010609060101010101" pitchFamily="49" charset="-122"/>
              </a:rPr>
              <a:t>构成要素</a:t>
            </a:r>
            <a:r>
              <a:rPr lang="zh-CN" altLang="en-US" sz="2400" b="1" dirty="0" smtClean="0">
                <a:solidFill>
                  <a:srgbClr val="000000"/>
                </a:solidFill>
                <a:latin typeface="楷体" panose="02010609060101010101" pitchFamily="49" charset="-122"/>
                <a:ea typeface="楷体" panose="02010609060101010101" pitchFamily="49" charset="-122"/>
              </a:rPr>
              <a:t>和</a:t>
            </a:r>
            <a:r>
              <a:rPr lang="zh-CN" altLang="en-US" sz="2400" b="1" dirty="0" smtClean="0">
                <a:solidFill>
                  <a:srgbClr val="FF0000"/>
                </a:solidFill>
                <a:latin typeface="楷体" panose="02010609060101010101" pitchFamily="49" charset="-122"/>
                <a:ea typeface="楷体" panose="02010609060101010101" pitchFamily="49" charset="-122"/>
              </a:rPr>
              <a:t>表现形式</a:t>
            </a:r>
            <a:r>
              <a:rPr lang="zh-CN" altLang="en-US" sz="2400" b="1" dirty="0" smtClean="0">
                <a:solidFill>
                  <a:srgbClr val="000000"/>
                </a:solidFill>
                <a:latin typeface="楷体" panose="02010609060101010101" pitchFamily="49" charset="-122"/>
                <a:ea typeface="楷体" panose="02010609060101010101" pitchFamily="49" charset="-122"/>
              </a:rPr>
              <a:t>上反映事物的一对基本范畴。任何事物都是内容和形式的对立统一。</a:t>
            </a:r>
            <a:endParaRPr lang="en-US" altLang="zh-CN" sz="2400" b="1" dirty="0" smtClean="0">
              <a:solidFill>
                <a:srgbClr val="000000"/>
              </a:solidFill>
              <a:latin typeface="楷体" panose="02010609060101010101" pitchFamily="49" charset="-122"/>
              <a:ea typeface="楷体" panose="02010609060101010101" pitchFamily="49" charset="-122"/>
            </a:endParaRPr>
          </a:p>
          <a:p>
            <a:pPr eaLnBrk="1" hangingPunct="1">
              <a:buFontTx/>
              <a:buNone/>
            </a:pPr>
            <a:r>
              <a:rPr lang="en-US" altLang="zh-CN" sz="2800" b="1" dirty="0" smtClean="0">
                <a:solidFill>
                  <a:srgbClr val="000000"/>
                </a:solidFill>
                <a:latin typeface="楷体_GB2312" pitchFamily="1" charset="-122"/>
                <a:ea typeface="楷体_GB2312" pitchFamily="1" charset="-122"/>
              </a:rPr>
              <a:t> </a:t>
            </a:r>
            <a:r>
              <a:rPr lang="zh-CN" altLang="en-US" sz="2800" b="1" dirty="0" smtClean="0">
                <a:solidFill>
                  <a:srgbClr val="6600FF"/>
                </a:solidFill>
                <a:latin typeface="楷体" panose="02010609060101010101" pitchFamily="49" charset="-122"/>
                <a:ea typeface="楷体" panose="02010609060101010101" pitchFamily="49" charset="-122"/>
              </a:rPr>
              <a:t>内容</a:t>
            </a:r>
            <a:r>
              <a:rPr lang="zh-CN" altLang="en-US" sz="2400" b="1" dirty="0" smtClean="0">
                <a:solidFill>
                  <a:srgbClr val="000000"/>
                </a:solidFill>
                <a:latin typeface="楷体" panose="02010609060101010101" pitchFamily="49" charset="-122"/>
                <a:ea typeface="楷体" panose="02010609060101010101" pitchFamily="49" charset="-122"/>
              </a:rPr>
              <a:t>是指构成事物的一切要素的总和。</a:t>
            </a:r>
            <a:endParaRPr lang="en-US" altLang="zh-CN" sz="2400" b="1" dirty="0" smtClean="0">
              <a:solidFill>
                <a:srgbClr val="000000"/>
              </a:solidFill>
              <a:latin typeface="楷体" panose="02010609060101010101" pitchFamily="49" charset="-122"/>
              <a:ea typeface="楷体" panose="02010609060101010101" pitchFamily="49" charset="-122"/>
            </a:endParaRPr>
          </a:p>
          <a:p>
            <a:pPr eaLnBrk="1" hangingPunct="1">
              <a:buFontTx/>
              <a:buNone/>
            </a:pPr>
            <a:r>
              <a:rPr lang="en-US" altLang="zh-CN" sz="2800" b="1" dirty="0" smtClean="0">
                <a:solidFill>
                  <a:srgbClr val="000000"/>
                </a:solidFill>
                <a:latin typeface="楷体" panose="02010609060101010101" pitchFamily="49" charset="-122"/>
                <a:ea typeface="楷体" panose="02010609060101010101" pitchFamily="49" charset="-122"/>
              </a:rPr>
              <a:t> </a:t>
            </a:r>
            <a:r>
              <a:rPr lang="zh-CN" altLang="en-US" sz="2800" b="1" dirty="0" smtClean="0">
                <a:solidFill>
                  <a:srgbClr val="6600FF"/>
                </a:solidFill>
                <a:latin typeface="楷体" panose="02010609060101010101" pitchFamily="49" charset="-122"/>
                <a:ea typeface="楷体" panose="02010609060101010101" pitchFamily="49" charset="-122"/>
              </a:rPr>
              <a:t>形式</a:t>
            </a:r>
            <a:r>
              <a:rPr lang="zh-CN" altLang="en-US" sz="2400" b="1" dirty="0" smtClean="0">
                <a:solidFill>
                  <a:srgbClr val="000000"/>
                </a:solidFill>
                <a:latin typeface="楷体" panose="02010609060101010101" pitchFamily="49" charset="-122"/>
                <a:ea typeface="楷体" panose="02010609060101010101" pitchFamily="49" charset="-122"/>
              </a:rPr>
              <a:t>是指把内容的诸要素统一起来的结构或表现内容的方式。</a:t>
            </a:r>
            <a:endParaRPr lang="zh-CN" altLang="en-US" sz="2400" b="1" dirty="0" smtClean="0">
              <a:solidFill>
                <a:srgbClr val="000000"/>
              </a:solidFill>
              <a:latin typeface="楷体" panose="02010609060101010101" pitchFamily="49" charset="-122"/>
              <a:ea typeface="楷体" panose="02010609060101010101" pitchFamily="49" charset="-122"/>
            </a:endParaRPr>
          </a:p>
        </p:txBody>
      </p:sp>
      <p:sp>
        <p:nvSpPr>
          <p:cNvPr id="5" name="矩形 4"/>
          <p:cNvSpPr/>
          <p:nvPr/>
        </p:nvSpPr>
        <p:spPr>
          <a:xfrm>
            <a:off x="357158" y="2428868"/>
            <a:ext cx="8501122" cy="3010055"/>
          </a:xfrm>
          <a:prstGeom prst="rect">
            <a:avLst/>
          </a:prstGeom>
        </p:spPr>
        <p:txBody>
          <a:bodyPr wrap="square">
            <a:spAutoFit/>
          </a:bodyPr>
          <a:lstStyle/>
          <a:p>
            <a:pPr>
              <a:lnSpc>
                <a:spcPct val="125000"/>
              </a:lnSpc>
              <a:spcBef>
                <a:spcPct val="20000"/>
              </a:spcBef>
            </a:pPr>
            <a:r>
              <a:rPr lang="zh-CN" altLang="en-US" sz="2400" b="1" dirty="0">
                <a:solidFill>
                  <a:srgbClr val="C00000"/>
                </a:solidFill>
                <a:latin typeface="楷体" panose="02010609060101010101" pitchFamily="49" charset="-122"/>
                <a:ea typeface="楷体" panose="02010609060101010101" pitchFamily="49" charset="-122"/>
              </a:rPr>
              <a:t>内容是事物存在的基础，内容决定形式</a:t>
            </a:r>
            <a:r>
              <a:rPr lang="zh-CN" altLang="en-US" sz="2400" b="1" dirty="0" smtClean="0">
                <a:solidFill>
                  <a:srgbClr val="C00000"/>
                </a:solidFill>
                <a:latin typeface="楷体" panose="02010609060101010101" pitchFamily="49" charset="-122"/>
                <a:ea typeface="楷体" panose="02010609060101010101" pitchFamily="49" charset="-122"/>
              </a:rPr>
              <a:t>。</a:t>
            </a:r>
            <a:r>
              <a:rPr lang="zh-CN" altLang="en-US" sz="2400" b="1" dirty="0" smtClean="0">
                <a:latin typeface="楷体" panose="02010609060101010101" pitchFamily="49" charset="-122"/>
                <a:ea typeface="楷体" panose="02010609060101010101" pitchFamily="49" charset="-122"/>
              </a:rPr>
              <a:t>内容</a:t>
            </a:r>
            <a:r>
              <a:rPr lang="zh-CN" altLang="en-US" sz="2400" b="1" dirty="0">
                <a:latin typeface="楷体" panose="02010609060101010101" pitchFamily="49" charset="-122"/>
                <a:ea typeface="楷体" panose="02010609060101010101" pitchFamily="49" charset="-122"/>
              </a:rPr>
              <a:t>变化了，形式迟早会发生变化。</a:t>
            </a:r>
            <a:endParaRPr lang="en-US" altLang="zh-CN" sz="2400" b="1" dirty="0">
              <a:latin typeface="楷体" panose="02010609060101010101" pitchFamily="49" charset="-122"/>
              <a:ea typeface="楷体" panose="02010609060101010101" pitchFamily="49" charset="-122"/>
            </a:endParaRPr>
          </a:p>
          <a:p>
            <a:pPr>
              <a:lnSpc>
                <a:spcPct val="125000"/>
              </a:lnSpc>
              <a:spcBef>
                <a:spcPct val="20000"/>
              </a:spcBef>
            </a:pPr>
            <a:r>
              <a:rPr lang="zh-CN" altLang="en-US" sz="2400" b="1" dirty="0">
                <a:solidFill>
                  <a:srgbClr val="C00000"/>
                </a:solidFill>
                <a:latin typeface="楷体" panose="02010609060101010101" pitchFamily="49" charset="-122"/>
                <a:ea typeface="楷体" panose="02010609060101010101" pitchFamily="49" charset="-122"/>
              </a:rPr>
              <a:t>形式对内容具有反作用</a:t>
            </a:r>
            <a:r>
              <a:rPr lang="zh-CN" altLang="en-US" sz="2400" b="1" dirty="0" smtClean="0">
                <a:solidFill>
                  <a:srgbClr val="C00000"/>
                </a:solidFill>
                <a:latin typeface="楷体" panose="02010609060101010101" pitchFamily="49" charset="-122"/>
                <a:ea typeface="楷体" panose="02010609060101010101" pitchFamily="49" charset="-122"/>
              </a:rPr>
              <a:t>。</a:t>
            </a:r>
            <a:r>
              <a:rPr lang="zh-CN" altLang="en-US" sz="2400" b="1" dirty="0" smtClean="0">
                <a:latin typeface="楷体" panose="02010609060101010101" pitchFamily="49" charset="-122"/>
                <a:ea typeface="楷体" panose="02010609060101010101" pitchFamily="49" charset="-122"/>
              </a:rPr>
              <a:t>适合</a:t>
            </a:r>
            <a:r>
              <a:rPr lang="zh-CN" altLang="en-US" sz="2400" b="1" dirty="0">
                <a:latin typeface="楷体" panose="02010609060101010101" pitchFamily="49" charset="-122"/>
                <a:ea typeface="楷体" panose="02010609060101010101" pitchFamily="49" charset="-122"/>
              </a:rPr>
              <a:t>内容的形式，对内容的发展起积极的推进</a:t>
            </a:r>
            <a:r>
              <a:rPr lang="zh-CN" altLang="en-US" sz="2400" b="1" dirty="0" smtClean="0">
                <a:latin typeface="楷体" panose="02010609060101010101" pitchFamily="49" charset="-122"/>
                <a:ea typeface="楷体" panose="02010609060101010101" pitchFamily="49" charset="-122"/>
              </a:rPr>
              <a:t>作用；不</a:t>
            </a:r>
            <a:r>
              <a:rPr lang="zh-CN" altLang="en-US" sz="2400" b="1" dirty="0">
                <a:latin typeface="楷体" panose="02010609060101010101" pitchFamily="49" charset="-122"/>
                <a:ea typeface="楷体" panose="02010609060101010101" pitchFamily="49" charset="-122"/>
              </a:rPr>
              <a:t>适合内容的形式，对内容的发展起消极的阻碍作用</a:t>
            </a:r>
            <a:r>
              <a:rPr lang="zh-CN" altLang="en-US" sz="2400" b="1" dirty="0" smtClean="0">
                <a:latin typeface="楷体" panose="02010609060101010101" pitchFamily="49" charset="-122"/>
                <a:ea typeface="楷体" panose="02010609060101010101" pitchFamily="49" charset="-122"/>
              </a:rPr>
              <a:t>。形式的反作用表明</a:t>
            </a:r>
            <a:r>
              <a:rPr lang="zh-CN" altLang="en-US" sz="2400" b="1" dirty="0" smtClean="0">
                <a:solidFill>
                  <a:srgbClr val="C00000"/>
                </a:solidFill>
                <a:latin typeface="楷体" panose="02010609060101010101" pitchFamily="49" charset="-122"/>
                <a:ea typeface="楷体" panose="02010609060101010101" pitchFamily="49" charset="-122"/>
              </a:rPr>
              <a:t>形式</a:t>
            </a:r>
            <a:r>
              <a:rPr lang="zh-CN" altLang="en-US" sz="2400" b="1" dirty="0">
                <a:solidFill>
                  <a:srgbClr val="C00000"/>
                </a:solidFill>
                <a:latin typeface="楷体" panose="02010609060101010101" pitchFamily="49" charset="-122"/>
                <a:ea typeface="楷体" panose="02010609060101010101" pitchFamily="49" charset="-122"/>
              </a:rPr>
              <a:t>具有相对</a:t>
            </a:r>
            <a:r>
              <a:rPr lang="zh-CN" altLang="en-US" sz="2400" b="1" dirty="0" smtClean="0">
                <a:solidFill>
                  <a:srgbClr val="C00000"/>
                </a:solidFill>
                <a:latin typeface="楷体" panose="02010609060101010101" pitchFamily="49" charset="-122"/>
                <a:ea typeface="楷体" panose="02010609060101010101" pitchFamily="49" charset="-122"/>
              </a:rPr>
              <a:t>独立。</a:t>
            </a:r>
            <a:endParaRPr lang="en-US" altLang="zh-CN" sz="2400" b="1" dirty="0" smtClean="0">
              <a:solidFill>
                <a:srgbClr val="C00000"/>
              </a:solidFill>
              <a:latin typeface="楷体" panose="02010609060101010101" pitchFamily="49" charset="-122"/>
              <a:ea typeface="楷体" panose="02010609060101010101" pitchFamily="49" charset="-122"/>
            </a:endParaRPr>
          </a:p>
          <a:p>
            <a:pPr>
              <a:lnSpc>
                <a:spcPct val="125000"/>
              </a:lnSpc>
              <a:spcBef>
                <a:spcPct val="20000"/>
              </a:spcBef>
            </a:pPr>
            <a:r>
              <a:rPr lang="zh-CN" altLang="en-US" sz="2400" b="1" dirty="0" smtClean="0">
                <a:solidFill>
                  <a:srgbClr val="C00000"/>
                </a:solidFill>
                <a:latin typeface="楷体" panose="02010609060101010101" pitchFamily="49" charset="-122"/>
                <a:ea typeface="楷体" panose="02010609060101010101" pitchFamily="49" charset="-122"/>
              </a:rPr>
              <a:t>同</a:t>
            </a:r>
            <a:r>
              <a:rPr lang="zh-CN" altLang="en-US" sz="2400" b="1" dirty="0">
                <a:solidFill>
                  <a:srgbClr val="C00000"/>
                </a:solidFill>
                <a:latin typeface="楷体" panose="02010609060101010101" pitchFamily="49" charset="-122"/>
                <a:ea typeface="楷体" panose="02010609060101010101" pitchFamily="49" charset="-122"/>
              </a:rPr>
              <a:t>一内容</a:t>
            </a:r>
            <a:r>
              <a:rPr lang="zh-CN" altLang="en-US" sz="2400" b="1" dirty="0">
                <a:latin typeface="楷体" panose="02010609060101010101" pitchFamily="49" charset="-122"/>
                <a:ea typeface="楷体" panose="02010609060101010101" pitchFamily="49" charset="-122"/>
              </a:rPr>
              <a:t>可以通过</a:t>
            </a:r>
            <a:r>
              <a:rPr lang="zh-CN" altLang="en-US" sz="2400" b="1" dirty="0">
                <a:solidFill>
                  <a:srgbClr val="C00000"/>
                </a:solidFill>
                <a:latin typeface="楷体" panose="02010609060101010101" pitchFamily="49" charset="-122"/>
                <a:ea typeface="楷体" panose="02010609060101010101" pitchFamily="49" charset="-122"/>
              </a:rPr>
              <a:t>多种形式</a:t>
            </a:r>
            <a:r>
              <a:rPr lang="zh-CN" altLang="en-US" sz="2400" b="1" dirty="0">
                <a:latin typeface="楷体" panose="02010609060101010101" pitchFamily="49" charset="-122"/>
                <a:ea typeface="楷体" panose="02010609060101010101" pitchFamily="49" charset="-122"/>
              </a:rPr>
              <a:t>来表现。</a:t>
            </a:r>
            <a:endParaRPr lang="en-US" altLang="zh-CN" sz="2400" b="1" dirty="0">
              <a:latin typeface="楷体" panose="02010609060101010101" pitchFamily="49" charset="-122"/>
              <a:ea typeface="楷体" panose="02010609060101010101" pitchFamily="49" charset="-122"/>
            </a:endParaRPr>
          </a:p>
        </p:txBody>
      </p:sp>
      <p:sp>
        <p:nvSpPr>
          <p:cNvPr id="6" name="矩形 5"/>
          <p:cNvSpPr/>
          <p:nvPr/>
        </p:nvSpPr>
        <p:spPr>
          <a:xfrm>
            <a:off x="357158" y="5500702"/>
            <a:ext cx="8229600" cy="830997"/>
          </a:xfrm>
          <a:prstGeom prst="rect">
            <a:avLst/>
          </a:prstGeom>
        </p:spPr>
        <p:txBody>
          <a:bodyPr wrap="square">
            <a:spAutoFit/>
          </a:bodyPr>
          <a:lstStyle/>
          <a:p>
            <a:pPr eaLnBrk="1" hangingPunct="1">
              <a:buFontTx/>
              <a:buNone/>
            </a:pPr>
            <a:r>
              <a:rPr lang="zh-CN" altLang="en-US" sz="2400" b="1" dirty="0" smtClean="0">
                <a:solidFill>
                  <a:srgbClr val="6600FF"/>
                </a:solidFill>
                <a:latin typeface="楷体" panose="02010609060101010101" pitchFamily="49" charset="-122"/>
                <a:ea typeface="楷体" panose="02010609060101010101" pitchFamily="49" charset="-122"/>
              </a:rPr>
              <a:t>方法论意义：</a:t>
            </a:r>
            <a:r>
              <a:rPr lang="zh-CN" altLang="en-US" sz="2400" b="1" dirty="0" smtClean="0">
                <a:solidFill>
                  <a:srgbClr val="000000"/>
                </a:solidFill>
                <a:latin typeface="楷体" panose="02010609060101010101" pitchFamily="49" charset="-122"/>
                <a:ea typeface="楷体" panose="02010609060101010101" pitchFamily="49" charset="-122"/>
              </a:rPr>
              <a:t>在把握内容与形式这对范畴时，既要重视内容，反对形式主义，又要善于运用形式，发挥其积极作用。</a:t>
            </a:r>
            <a:r>
              <a:rPr lang="zh-CN" altLang="en-US" sz="2400" dirty="0" smtClean="0">
                <a:latin typeface="楷体" panose="02010609060101010101" pitchFamily="49" charset="-122"/>
                <a:ea typeface="楷体" panose="02010609060101010101" pitchFamily="49" charset="-122"/>
              </a:rPr>
              <a:t> </a:t>
            </a:r>
            <a:endParaRPr lang="zh-CN" altLang="en-US" sz="2400" dirty="0" smtClean="0">
              <a:latin typeface="楷体" panose="02010609060101010101" pitchFamily="49" charset="-122"/>
              <a:ea typeface="楷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4294967295"/>
          </p:nvPr>
        </p:nvSpPr>
        <p:spPr>
          <a:xfrm>
            <a:off x="142844" y="285728"/>
            <a:ext cx="8701088" cy="2819400"/>
          </a:xfrm>
        </p:spPr>
        <p:txBody>
          <a:bodyPr>
            <a:normAutofit/>
          </a:bodyPr>
          <a:lstStyle/>
          <a:p>
            <a:pPr eaLnBrk="1" hangingPunct="1">
              <a:buFontTx/>
              <a:buNone/>
            </a:pPr>
            <a:r>
              <a:rPr lang="zh-CN" altLang="en-US" b="1" dirty="0" smtClean="0">
                <a:solidFill>
                  <a:srgbClr val="CC00FF"/>
                </a:solidFill>
                <a:latin typeface="楷体_GB2312" pitchFamily="1" charset="-122"/>
                <a:ea typeface="楷体_GB2312" pitchFamily="1" charset="-122"/>
              </a:rPr>
              <a:t>（二）本质与现象：</a:t>
            </a:r>
            <a:r>
              <a:rPr lang="zh-CN" altLang="en-US" sz="2800" b="1" dirty="0" smtClean="0">
                <a:solidFill>
                  <a:srgbClr val="000000"/>
                </a:solidFill>
                <a:latin typeface="楷体" panose="02010609060101010101" pitchFamily="49" charset="-122"/>
                <a:ea typeface="楷体" panose="02010609060101010101" pitchFamily="49" charset="-122"/>
              </a:rPr>
              <a:t>揭示客观事物</a:t>
            </a:r>
            <a:r>
              <a:rPr lang="zh-CN" altLang="en-US" sz="2800" b="1" dirty="0" smtClean="0">
                <a:solidFill>
                  <a:srgbClr val="FF0000"/>
                </a:solidFill>
                <a:latin typeface="楷体" panose="02010609060101010101" pitchFamily="49" charset="-122"/>
                <a:ea typeface="楷体" panose="02010609060101010101" pitchFamily="49" charset="-122"/>
              </a:rPr>
              <a:t>内在联系</a:t>
            </a:r>
            <a:r>
              <a:rPr lang="zh-CN" altLang="en-US" sz="2800" b="1" dirty="0" smtClean="0">
                <a:solidFill>
                  <a:srgbClr val="000000"/>
                </a:solidFill>
                <a:latin typeface="楷体" panose="02010609060101010101" pitchFamily="49" charset="-122"/>
                <a:ea typeface="楷体" panose="02010609060101010101" pitchFamily="49" charset="-122"/>
              </a:rPr>
              <a:t>和</a:t>
            </a:r>
            <a:r>
              <a:rPr lang="zh-CN" altLang="en-US" sz="2800" b="1" dirty="0" smtClean="0">
                <a:solidFill>
                  <a:srgbClr val="FF0000"/>
                </a:solidFill>
                <a:latin typeface="楷体" panose="02010609060101010101" pitchFamily="49" charset="-122"/>
                <a:ea typeface="楷体" panose="02010609060101010101" pitchFamily="49" charset="-122"/>
              </a:rPr>
              <a:t>外在表现</a:t>
            </a:r>
            <a:r>
              <a:rPr lang="zh-CN" altLang="en-US" sz="2800" b="1" dirty="0" smtClean="0">
                <a:solidFill>
                  <a:srgbClr val="000000"/>
                </a:solidFill>
                <a:latin typeface="楷体" panose="02010609060101010101" pitchFamily="49" charset="-122"/>
                <a:ea typeface="楷体" panose="02010609060101010101" pitchFamily="49" charset="-122"/>
              </a:rPr>
              <a:t>的一对范畴。</a:t>
            </a:r>
            <a:endParaRPr lang="en-US" altLang="zh-CN" sz="2800" b="1" dirty="0" smtClean="0">
              <a:solidFill>
                <a:srgbClr val="000000"/>
              </a:solidFill>
              <a:latin typeface="楷体" panose="02010609060101010101" pitchFamily="49" charset="-122"/>
              <a:ea typeface="楷体" panose="02010609060101010101" pitchFamily="49" charset="-122"/>
            </a:endParaRPr>
          </a:p>
          <a:p>
            <a:pPr eaLnBrk="1" hangingPunct="1">
              <a:buFontTx/>
              <a:buNone/>
            </a:pPr>
            <a:r>
              <a:rPr lang="en-US" altLang="zh-CN" sz="2800" b="1" dirty="0" smtClean="0">
                <a:solidFill>
                  <a:srgbClr val="000000"/>
                </a:solidFill>
                <a:latin typeface="楷体_GB2312" pitchFamily="1" charset="-122"/>
                <a:ea typeface="楷体_GB2312" pitchFamily="1" charset="-122"/>
              </a:rPr>
              <a:t>  </a:t>
            </a:r>
            <a:r>
              <a:rPr lang="zh-CN" altLang="en-US" sz="2800" b="1" dirty="0" smtClean="0">
                <a:solidFill>
                  <a:srgbClr val="6600FF"/>
                </a:solidFill>
                <a:latin typeface="楷体" panose="02010609060101010101" pitchFamily="49" charset="-122"/>
                <a:ea typeface="楷体" panose="02010609060101010101" pitchFamily="49" charset="-122"/>
              </a:rPr>
              <a:t>本质</a:t>
            </a:r>
            <a:r>
              <a:rPr lang="zh-CN" altLang="en-US" sz="2800" b="1" dirty="0" smtClean="0">
                <a:solidFill>
                  <a:srgbClr val="000000"/>
                </a:solidFill>
                <a:latin typeface="楷体" panose="02010609060101010101" pitchFamily="49" charset="-122"/>
                <a:ea typeface="楷体" panose="02010609060101010101" pitchFamily="49" charset="-122"/>
              </a:rPr>
              <a:t>是事物的根本性质，是构成事物</a:t>
            </a:r>
            <a:r>
              <a:rPr lang="zh-CN" altLang="en-US" sz="2800" b="1" dirty="0" smtClean="0">
                <a:solidFill>
                  <a:srgbClr val="FF0000"/>
                </a:solidFill>
                <a:latin typeface="楷体" panose="02010609060101010101" pitchFamily="49" charset="-122"/>
                <a:ea typeface="楷体" panose="02010609060101010101" pitchFamily="49" charset="-122"/>
              </a:rPr>
              <a:t>诸要素之间</a:t>
            </a:r>
            <a:r>
              <a:rPr lang="zh-CN" altLang="en-US" sz="2800" b="1" dirty="0" smtClean="0">
                <a:solidFill>
                  <a:srgbClr val="000000"/>
                </a:solidFill>
                <a:latin typeface="楷体" panose="02010609060101010101" pitchFamily="49" charset="-122"/>
                <a:ea typeface="楷体" panose="02010609060101010101" pitchFamily="49" charset="-122"/>
              </a:rPr>
              <a:t>的</a:t>
            </a:r>
            <a:r>
              <a:rPr lang="zh-CN" altLang="en-US" sz="2800" b="1" dirty="0" smtClean="0">
                <a:solidFill>
                  <a:srgbClr val="FF0000"/>
                </a:solidFill>
                <a:latin typeface="楷体" panose="02010609060101010101" pitchFamily="49" charset="-122"/>
                <a:ea typeface="楷体" panose="02010609060101010101" pitchFamily="49" charset="-122"/>
              </a:rPr>
              <a:t>内在联系</a:t>
            </a:r>
            <a:r>
              <a:rPr lang="zh-CN" altLang="en-US" sz="2800" b="1" dirty="0" smtClean="0">
                <a:solidFill>
                  <a:srgbClr val="000000"/>
                </a:solidFill>
                <a:latin typeface="楷体" panose="02010609060101010101" pitchFamily="49" charset="-122"/>
                <a:ea typeface="楷体" panose="02010609060101010101" pitchFamily="49" charset="-122"/>
              </a:rPr>
              <a:t>。</a:t>
            </a:r>
            <a:endParaRPr lang="en-US" altLang="zh-CN" sz="2800" b="1" dirty="0" smtClean="0">
              <a:solidFill>
                <a:srgbClr val="000000"/>
              </a:solidFill>
              <a:latin typeface="楷体" panose="02010609060101010101" pitchFamily="49" charset="-122"/>
              <a:ea typeface="楷体" panose="02010609060101010101" pitchFamily="49" charset="-122"/>
            </a:endParaRPr>
          </a:p>
          <a:p>
            <a:pPr eaLnBrk="1" hangingPunct="1">
              <a:buFontTx/>
              <a:buNone/>
            </a:pPr>
            <a:r>
              <a:rPr lang="en-US" altLang="zh-CN" sz="2800" b="1" dirty="0" smtClean="0">
                <a:solidFill>
                  <a:srgbClr val="000000"/>
                </a:solidFill>
                <a:latin typeface="楷体" panose="02010609060101010101" pitchFamily="49" charset="-122"/>
                <a:ea typeface="楷体" panose="02010609060101010101" pitchFamily="49" charset="-122"/>
              </a:rPr>
              <a:t>  </a:t>
            </a:r>
            <a:r>
              <a:rPr lang="zh-CN" altLang="en-US" sz="2800" b="1" dirty="0" smtClean="0">
                <a:solidFill>
                  <a:srgbClr val="6600FF"/>
                </a:solidFill>
                <a:latin typeface="楷体" panose="02010609060101010101" pitchFamily="49" charset="-122"/>
                <a:ea typeface="楷体" panose="02010609060101010101" pitchFamily="49" charset="-122"/>
              </a:rPr>
              <a:t>现象</a:t>
            </a:r>
            <a:r>
              <a:rPr lang="zh-CN" altLang="en-US" sz="2800" b="1" dirty="0" smtClean="0">
                <a:solidFill>
                  <a:srgbClr val="000000"/>
                </a:solidFill>
                <a:latin typeface="楷体" panose="02010609060101010101" pitchFamily="49" charset="-122"/>
                <a:ea typeface="楷体" panose="02010609060101010101" pitchFamily="49" charset="-122"/>
              </a:rPr>
              <a:t>是事物的</a:t>
            </a:r>
            <a:r>
              <a:rPr lang="zh-CN" altLang="en-US" sz="2800" b="1" dirty="0" smtClean="0">
                <a:solidFill>
                  <a:srgbClr val="FF0000"/>
                </a:solidFill>
                <a:latin typeface="楷体" panose="02010609060101010101" pitchFamily="49" charset="-122"/>
                <a:ea typeface="楷体" panose="02010609060101010101" pitchFamily="49" charset="-122"/>
              </a:rPr>
              <a:t>外部联系</a:t>
            </a:r>
            <a:r>
              <a:rPr lang="zh-CN" altLang="en-US" sz="2800" b="1" dirty="0" smtClean="0">
                <a:solidFill>
                  <a:srgbClr val="000000"/>
                </a:solidFill>
                <a:latin typeface="楷体" panose="02010609060101010101" pitchFamily="49" charset="-122"/>
                <a:ea typeface="楷体" panose="02010609060101010101" pitchFamily="49" charset="-122"/>
              </a:rPr>
              <a:t>和</a:t>
            </a:r>
            <a:r>
              <a:rPr lang="zh-CN" altLang="en-US" sz="2800" b="1" dirty="0" smtClean="0">
                <a:solidFill>
                  <a:srgbClr val="FF0000"/>
                </a:solidFill>
                <a:latin typeface="楷体" panose="02010609060101010101" pitchFamily="49" charset="-122"/>
                <a:ea typeface="楷体" panose="02010609060101010101" pitchFamily="49" charset="-122"/>
              </a:rPr>
              <a:t>表面特征</a:t>
            </a:r>
            <a:r>
              <a:rPr lang="zh-CN" altLang="en-US" sz="2800" b="1" dirty="0" smtClean="0">
                <a:solidFill>
                  <a:srgbClr val="000000"/>
                </a:solidFill>
                <a:latin typeface="楷体" panose="02010609060101010101" pitchFamily="49" charset="-122"/>
                <a:ea typeface="楷体" panose="02010609060101010101" pitchFamily="49" charset="-122"/>
              </a:rPr>
              <a:t>，是事物本质的外在表现。现象有真象和假象之分。</a:t>
            </a:r>
            <a:endParaRPr lang="en-US" altLang="zh-CN" sz="2800" b="1" dirty="0" smtClean="0">
              <a:solidFill>
                <a:srgbClr val="000000"/>
              </a:solidFill>
              <a:latin typeface="楷体" panose="02010609060101010101" pitchFamily="49" charset="-122"/>
              <a:ea typeface="楷体" panose="02010609060101010101" pitchFamily="49" charset="-122"/>
            </a:endParaRPr>
          </a:p>
        </p:txBody>
      </p:sp>
      <p:sp>
        <p:nvSpPr>
          <p:cNvPr id="5" name="Rectangle 29"/>
          <p:cNvSpPr>
            <a:spLocks noChangeArrowheads="1"/>
          </p:cNvSpPr>
          <p:nvPr/>
        </p:nvSpPr>
        <p:spPr bwMode="auto">
          <a:xfrm>
            <a:off x="500034" y="3143248"/>
            <a:ext cx="8072494" cy="1089529"/>
          </a:xfrm>
          <a:prstGeom prst="rect">
            <a:avLst/>
          </a:prstGeom>
        </p:spPr>
        <p:style>
          <a:lnRef idx="1">
            <a:schemeClr val="accent3"/>
          </a:lnRef>
          <a:fillRef idx="2">
            <a:schemeClr val="accent3"/>
          </a:fillRef>
          <a:effectRef idx="1">
            <a:schemeClr val="accent3"/>
          </a:effectRef>
          <a:fontRef idx="minor">
            <a:schemeClr val="dk1"/>
          </a:fontRef>
        </p:style>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5000"/>
              </a:lnSpc>
              <a:spcBef>
                <a:spcPct val="20000"/>
              </a:spcBef>
            </a:pPr>
            <a:r>
              <a:rPr lang="zh-CN" altLang="en-US" sz="2400" b="1" dirty="0">
                <a:solidFill>
                  <a:srgbClr val="0035F4"/>
                </a:solidFill>
                <a:latin typeface="楷体" panose="02010609060101010101" pitchFamily="49" charset="-122"/>
                <a:ea typeface="楷体" panose="02010609060101010101" pitchFamily="49" charset="-122"/>
              </a:rPr>
              <a:t>现象</a:t>
            </a:r>
            <a:r>
              <a:rPr lang="zh-CN" altLang="en-US" sz="2400" b="1" dirty="0" smtClean="0">
                <a:solidFill>
                  <a:srgbClr val="0035F4"/>
                </a:solidFill>
                <a:latin typeface="楷体" panose="02010609060101010101" pitchFamily="49" charset="-122"/>
                <a:ea typeface="楷体" panose="02010609060101010101" pitchFamily="49" charset="-122"/>
              </a:rPr>
              <a:t>：</a:t>
            </a:r>
            <a:r>
              <a:rPr lang="zh-CN" altLang="en-US" sz="2000" b="1" dirty="0" smtClean="0">
                <a:latin typeface="楷体" panose="02010609060101010101" pitchFamily="49" charset="-122"/>
                <a:ea typeface="楷体" panose="02010609060101010101" pitchFamily="49" charset="-122"/>
              </a:rPr>
              <a:t>个别</a:t>
            </a:r>
            <a:r>
              <a:rPr lang="zh-CN" altLang="en-US" sz="2000" b="1" dirty="0">
                <a:latin typeface="楷体" panose="02010609060101010101" pitchFamily="49" charset="-122"/>
                <a:ea typeface="楷体" panose="02010609060101010101" pitchFamily="49" charset="-122"/>
              </a:rPr>
              <a:t>、片面；多变、易逝；表现于外，由</a:t>
            </a:r>
            <a:r>
              <a:rPr lang="zh-CN" altLang="en-US" sz="2000" b="1" dirty="0">
                <a:solidFill>
                  <a:srgbClr val="C00000"/>
                </a:solidFill>
                <a:latin typeface="楷体" panose="02010609060101010101" pitchFamily="49" charset="-122"/>
                <a:ea typeface="楷体" panose="02010609060101010101" pitchFamily="49" charset="-122"/>
              </a:rPr>
              <a:t>人的感官直接感知</a:t>
            </a:r>
            <a:r>
              <a:rPr lang="zh-CN" altLang="en-US" sz="2000" b="1" dirty="0">
                <a:latin typeface="楷体" panose="02010609060101010101" pitchFamily="49" charset="-122"/>
                <a:ea typeface="楷体" panose="02010609060101010101" pitchFamily="49" charset="-122"/>
              </a:rPr>
              <a:t>。</a:t>
            </a:r>
            <a:endParaRPr lang="zh-CN" altLang="en-US" sz="2000" b="1" dirty="0">
              <a:latin typeface="楷体" panose="02010609060101010101" pitchFamily="49" charset="-122"/>
              <a:ea typeface="楷体" panose="02010609060101010101" pitchFamily="49" charset="-122"/>
            </a:endParaRPr>
          </a:p>
          <a:p>
            <a:pPr>
              <a:lnSpc>
                <a:spcPct val="125000"/>
              </a:lnSpc>
              <a:spcBef>
                <a:spcPct val="20000"/>
              </a:spcBef>
            </a:pPr>
            <a:r>
              <a:rPr lang="zh-CN" altLang="en-US" sz="2400" b="1" dirty="0">
                <a:solidFill>
                  <a:srgbClr val="0035F4"/>
                </a:solidFill>
                <a:latin typeface="楷体" panose="02010609060101010101" pitchFamily="49" charset="-122"/>
                <a:ea typeface="楷体" panose="02010609060101010101" pitchFamily="49" charset="-122"/>
              </a:rPr>
              <a:t>本质</a:t>
            </a:r>
            <a:r>
              <a:rPr lang="zh-CN" altLang="en-US" sz="2400" b="1" dirty="0" smtClean="0">
                <a:solidFill>
                  <a:srgbClr val="0035F4"/>
                </a:solidFill>
                <a:latin typeface="楷体" panose="02010609060101010101" pitchFamily="49" charset="-122"/>
                <a:ea typeface="楷体" panose="02010609060101010101" pitchFamily="49" charset="-122"/>
              </a:rPr>
              <a:t>：</a:t>
            </a:r>
            <a:r>
              <a:rPr lang="zh-CN" altLang="en-US" sz="2000" b="1" dirty="0" smtClean="0">
                <a:latin typeface="楷体" panose="02010609060101010101" pitchFamily="49" charset="-122"/>
                <a:ea typeface="楷体" panose="02010609060101010101" pitchFamily="49" charset="-122"/>
              </a:rPr>
              <a:t>一般</a:t>
            </a:r>
            <a:r>
              <a:rPr lang="zh-CN" altLang="en-US" sz="2000" b="1" dirty="0">
                <a:latin typeface="楷体" panose="02010609060101010101" pitchFamily="49" charset="-122"/>
                <a:ea typeface="楷体" panose="02010609060101010101" pitchFamily="49" charset="-122"/>
              </a:rPr>
              <a:t>、共性；相对稳定；深藏于内，只有</a:t>
            </a:r>
            <a:r>
              <a:rPr lang="zh-CN" altLang="en-US" sz="2000" b="1" dirty="0">
                <a:solidFill>
                  <a:srgbClr val="C00000"/>
                </a:solidFill>
                <a:latin typeface="楷体" panose="02010609060101010101" pitchFamily="49" charset="-122"/>
                <a:ea typeface="楷体" panose="02010609060101010101" pitchFamily="49" charset="-122"/>
              </a:rPr>
              <a:t>靠理性思维</a:t>
            </a:r>
            <a:r>
              <a:rPr lang="zh-CN" altLang="en-US" sz="2000" b="1" dirty="0">
                <a:latin typeface="楷体" panose="02010609060101010101" pitchFamily="49" charset="-122"/>
                <a:ea typeface="楷体" panose="02010609060101010101" pitchFamily="49" charset="-122"/>
              </a:rPr>
              <a:t>才能</a:t>
            </a:r>
            <a:r>
              <a:rPr lang="zh-CN" altLang="en-US" sz="2000" b="1" dirty="0" smtClean="0">
                <a:latin typeface="楷体" panose="02010609060101010101" pitchFamily="49" charset="-122"/>
                <a:ea typeface="楷体" panose="02010609060101010101" pitchFamily="49" charset="-122"/>
              </a:rPr>
              <a:t>把握。</a:t>
            </a:r>
            <a:endParaRPr lang="zh-CN" altLang="en-US" b="1" dirty="0">
              <a:latin typeface="楷体" panose="02010609060101010101" pitchFamily="49" charset="-122"/>
              <a:ea typeface="楷体" panose="02010609060101010101" pitchFamily="49" charset="-122"/>
            </a:endParaRPr>
          </a:p>
        </p:txBody>
      </p:sp>
      <p:sp>
        <p:nvSpPr>
          <p:cNvPr id="6" name="矩形 5"/>
          <p:cNvSpPr/>
          <p:nvPr/>
        </p:nvSpPr>
        <p:spPr>
          <a:xfrm>
            <a:off x="428596" y="4572008"/>
            <a:ext cx="8229600" cy="1815882"/>
          </a:xfrm>
          <a:prstGeom prst="rect">
            <a:avLst/>
          </a:prstGeom>
        </p:spPr>
        <p:txBody>
          <a:bodyPr wrap="square">
            <a:spAutoFit/>
          </a:bodyPr>
          <a:lstStyle/>
          <a:p>
            <a:pPr eaLnBrk="1" hangingPunct="1">
              <a:buFontTx/>
              <a:buNone/>
            </a:pPr>
            <a:r>
              <a:rPr lang="zh-CN" altLang="en-US" sz="2800" b="1" dirty="0" smtClean="0">
                <a:solidFill>
                  <a:srgbClr val="6600FF"/>
                </a:solidFill>
                <a:latin typeface="楷体" panose="02010609060101010101" pitchFamily="49" charset="-122"/>
                <a:ea typeface="楷体" panose="02010609060101010101" pitchFamily="49" charset="-122"/>
              </a:rPr>
              <a:t>方法论意义：</a:t>
            </a:r>
            <a:r>
              <a:rPr lang="zh-CN" altLang="en-US" sz="2800" b="1" dirty="0" smtClean="0">
                <a:solidFill>
                  <a:srgbClr val="000000"/>
                </a:solidFill>
                <a:latin typeface="楷体" panose="02010609060101010101" pitchFamily="49" charset="-122"/>
                <a:ea typeface="楷体" panose="02010609060101010101" pitchFamily="49" charset="-122"/>
              </a:rPr>
              <a:t>对认识活动和科学研究意义重大，要准确辨别真象和假象，透过现象把握本质。通过对大量现象的去粗取精、去伪存真、由此及彼、由表及里，深化对事物本质的认识。</a:t>
            </a:r>
            <a:r>
              <a:rPr lang="zh-CN" altLang="en-US" sz="2800" dirty="0" smtClean="0">
                <a:latin typeface="楷体" panose="02010609060101010101" pitchFamily="49" charset="-122"/>
                <a:ea typeface="楷体" panose="02010609060101010101" pitchFamily="49" charset="-122"/>
              </a:rPr>
              <a:t> </a:t>
            </a:r>
            <a:endParaRPr lang="zh-CN" altLang="en-US" sz="2800" dirty="0" smtClean="0">
              <a:latin typeface="楷体" panose="02010609060101010101" pitchFamily="49" charset="-122"/>
              <a:ea typeface="楷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3"/>
          <p:cNvSpPr txBox="1">
            <a:spLocks noChangeArrowheads="1"/>
          </p:cNvSpPr>
          <p:nvPr/>
        </p:nvSpPr>
        <p:spPr bwMode="auto">
          <a:xfrm>
            <a:off x="304800" y="304800"/>
            <a:ext cx="8610600" cy="1814830"/>
          </a:xfrm>
          <a:prstGeom prst="rect">
            <a:avLst/>
          </a:prstGeom>
          <a:noFill/>
          <a:ln w="9525">
            <a:noFill/>
            <a:miter lim="800000"/>
          </a:ln>
        </p:spPr>
        <p:txBody>
          <a:bodyPr>
            <a:spAutoFit/>
          </a:bodyPr>
          <a:lstStyle/>
          <a:p>
            <a:pPr eaLnBrk="1" hangingPunct="1"/>
            <a:r>
              <a:rPr lang="zh-CN" altLang="en-US" sz="2800" b="1" dirty="0">
                <a:solidFill>
                  <a:srgbClr val="CC00FF"/>
                </a:solidFill>
                <a:latin typeface="楷体_GB2312" pitchFamily="1" charset="-122"/>
                <a:ea typeface="楷体_GB2312" pitchFamily="1" charset="-122"/>
              </a:rPr>
              <a:t>（三）</a:t>
            </a:r>
            <a:r>
              <a:rPr lang="zh-CN" altLang="en-US" sz="2800" b="1" dirty="0" smtClean="0">
                <a:solidFill>
                  <a:srgbClr val="CC00FF"/>
                </a:solidFill>
                <a:latin typeface="楷体_GB2312" pitchFamily="1" charset="-122"/>
                <a:ea typeface="楷体_GB2312" pitchFamily="1" charset="-122"/>
              </a:rPr>
              <a:t>原因与结果</a:t>
            </a:r>
            <a:r>
              <a:rPr lang="zh-CN" altLang="en-US" sz="2800" b="1" dirty="0">
                <a:solidFill>
                  <a:srgbClr val="CC00FF"/>
                </a:solidFill>
                <a:latin typeface="楷体_GB2312" pitchFamily="1" charset="-122"/>
                <a:ea typeface="楷体_GB2312" pitchFamily="1" charset="-122"/>
              </a:rPr>
              <a:t>：</a:t>
            </a:r>
            <a:r>
              <a:rPr lang="zh-CN" altLang="en-US" sz="2800" b="1" dirty="0">
                <a:solidFill>
                  <a:srgbClr val="000000"/>
                </a:solidFill>
                <a:latin typeface="楷体" panose="02010609060101010101" pitchFamily="49" charset="-122"/>
                <a:ea typeface="楷体" panose="02010609060101010101" pitchFamily="49" charset="-122"/>
              </a:rPr>
              <a:t>揭示事物</a:t>
            </a:r>
            <a:r>
              <a:rPr lang="zh-CN" altLang="en-US" sz="2800" b="1" dirty="0">
                <a:solidFill>
                  <a:srgbClr val="FF0000"/>
                </a:solidFill>
                <a:latin typeface="楷体" panose="02010609060101010101" pitchFamily="49" charset="-122"/>
                <a:ea typeface="楷体" panose="02010609060101010101" pitchFamily="49" charset="-122"/>
              </a:rPr>
              <a:t>引起</a:t>
            </a:r>
            <a:r>
              <a:rPr lang="zh-CN" altLang="en-US" sz="2800" b="1" dirty="0">
                <a:solidFill>
                  <a:srgbClr val="000000"/>
                </a:solidFill>
                <a:latin typeface="楷体" panose="02010609060101010101" pitchFamily="49" charset="-122"/>
                <a:ea typeface="楷体" panose="02010609060101010101" pitchFamily="49" charset="-122"/>
              </a:rPr>
              <a:t>和</a:t>
            </a:r>
            <a:r>
              <a:rPr lang="zh-CN" altLang="en-US" sz="2800" b="1" dirty="0">
                <a:solidFill>
                  <a:srgbClr val="FF0000"/>
                </a:solidFill>
                <a:latin typeface="楷体" panose="02010609060101010101" pitchFamily="49" charset="-122"/>
                <a:ea typeface="楷体" panose="02010609060101010101" pitchFamily="49" charset="-122"/>
              </a:rPr>
              <a:t>被引起</a:t>
            </a:r>
            <a:r>
              <a:rPr lang="zh-CN" altLang="en-US" sz="2800" b="1" dirty="0">
                <a:solidFill>
                  <a:srgbClr val="000000"/>
                </a:solidFill>
                <a:latin typeface="楷体" panose="02010609060101010101" pitchFamily="49" charset="-122"/>
                <a:ea typeface="楷体" panose="02010609060101010101" pitchFamily="49" charset="-122"/>
              </a:rPr>
              <a:t>关系的一对范畴</a:t>
            </a:r>
            <a:r>
              <a:rPr lang="zh-CN" altLang="en-US" sz="2800" b="1" dirty="0" smtClean="0">
                <a:solidFill>
                  <a:srgbClr val="000000"/>
                </a:solidFill>
                <a:latin typeface="楷体" panose="02010609060101010101" pitchFamily="49" charset="-122"/>
                <a:ea typeface="楷体" panose="02010609060101010101" pitchFamily="49" charset="-122"/>
              </a:rPr>
              <a:t>。</a:t>
            </a:r>
            <a:endParaRPr lang="en-US" altLang="zh-CN" sz="2800" b="1" dirty="0" smtClean="0">
              <a:solidFill>
                <a:srgbClr val="000000"/>
              </a:solidFill>
              <a:latin typeface="楷体" panose="02010609060101010101" pitchFamily="49" charset="-122"/>
              <a:ea typeface="楷体" panose="02010609060101010101" pitchFamily="49" charset="-122"/>
            </a:endParaRPr>
          </a:p>
          <a:p>
            <a:pPr eaLnBrk="1" hangingPunct="1"/>
            <a:r>
              <a:rPr lang="zh-CN" altLang="en-US" sz="2800" b="1" dirty="0" smtClean="0">
                <a:solidFill>
                  <a:srgbClr val="9900CC"/>
                </a:solidFill>
                <a:ea typeface="楷体_GB2312" pitchFamily="1" charset="-122"/>
              </a:rPr>
              <a:t>  </a:t>
            </a:r>
            <a:r>
              <a:rPr lang="zh-CN" altLang="en-US" sz="2800" b="1" kern="0" dirty="0" smtClean="0">
                <a:solidFill>
                  <a:srgbClr val="6600FF"/>
                </a:solidFill>
                <a:latin typeface="楷体" panose="02010609060101010101" pitchFamily="49" charset="-122"/>
                <a:ea typeface="楷体" panose="02010609060101010101" pitchFamily="49" charset="-122"/>
              </a:rPr>
              <a:t>原因：</a:t>
            </a:r>
            <a:r>
              <a:rPr lang="zh-CN" altLang="en-US" sz="2800" b="1" dirty="0" smtClean="0">
                <a:solidFill>
                  <a:srgbClr val="FF0000"/>
                </a:solidFill>
                <a:latin typeface="楷体" panose="02010609060101010101" pitchFamily="49" charset="-122"/>
                <a:ea typeface="楷体" panose="02010609060101010101" pitchFamily="49" charset="-122"/>
              </a:rPr>
              <a:t>引起</a:t>
            </a:r>
            <a:r>
              <a:rPr lang="zh-CN" altLang="en-US" sz="2800" b="1" dirty="0" smtClean="0">
                <a:solidFill>
                  <a:srgbClr val="000000"/>
                </a:solidFill>
                <a:latin typeface="楷体" panose="02010609060101010101" pitchFamily="49" charset="-122"/>
                <a:ea typeface="楷体" panose="02010609060101010101" pitchFamily="49" charset="-122"/>
              </a:rPr>
              <a:t>某种现象的现象，</a:t>
            </a:r>
            <a:endParaRPr lang="en-US" altLang="zh-CN" sz="2800" b="1" dirty="0" smtClean="0">
              <a:solidFill>
                <a:srgbClr val="000000"/>
              </a:solidFill>
              <a:latin typeface="楷体" panose="02010609060101010101" pitchFamily="49" charset="-122"/>
              <a:ea typeface="楷体" panose="02010609060101010101" pitchFamily="49" charset="-122"/>
            </a:endParaRPr>
          </a:p>
          <a:p>
            <a:pPr eaLnBrk="1" hangingPunct="1"/>
            <a:r>
              <a:rPr lang="zh-CN" altLang="en-US" sz="2800" b="1" dirty="0" smtClean="0">
                <a:solidFill>
                  <a:srgbClr val="9900CC"/>
                </a:solidFill>
                <a:ea typeface="楷体_GB2312" pitchFamily="1" charset="-122"/>
              </a:rPr>
              <a:t>  </a:t>
            </a:r>
            <a:r>
              <a:rPr lang="zh-CN" altLang="en-US" sz="2800" b="1" kern="0" dirty="0" smtClean="0">
                <a:solidFill>
                  <a:srgbClr val="6600FF"/>
                </a:solidFill>
                <a:latin typeface="楷体" panose="02010609060101010101" pitchFamily="49" charset="-122"/>
                <a:ea typeface="楷体" panose="02010609060101010101" pitchFamily="49" charset="-122"/>
              </a:rPr>
              <a:t>结果：</a:t>
            </a:r>
            <a:r>
              <a:rPr lang="zh-CN" altLang="en-US" sz="2800" b="1" dirty="0" smtClean="0">
                <a:solidFill>
                  <a:srgbClr val="FF0000"/>
                </a:solidFill>
                <a:latin typeface="楷体" panose="02010609060101010101" pitchFamily="49" charset="-122"/>
                <a:ea typeface="楷体" panose="02010609060101010101" pitchFamily="49" charset="-122"/>
              </a:rPr>
              <a:t>被</a:t>
            </a:r>
            <a:r>
              <a:rPr lang="zh-CN" altLang="en-US" sz="2800" b="1" dirty="0" smtClean="0">
                <a:solidFill>
                  <a:srgbClr val="000000"/>
                </a:solidFill>
                <a:latin typeface="楷体" panose="02010609060101010101" pitchFamily="49" charset="-122"/>
                <a:ea typeface="楷体" panose="02010609060101010101" pitchFamily="49" charset="-122"/>
              </a:rPr>
              <a:t>某种现象所</a:t>
            </a:r>
            <a:r>
              <a:rPr lang="zh-CN" altLang="en-US" sz="2800" b="1" dirty="0" smtClean="0">
                <a:solidFill>
                  <a:srgbClr val="FF0000"/>
                </a:solidFill>
                <a:latin typeface="楷体" panose="02010609060101010101" pitchFamily="49" charset="-122"/>
                <a:ea typeface="楷体" panose="02010609060101010101" pitchFamily="49" charset="-122"/>
              </a:rPr>
              <a:t>引起</a:t>
            </a:r>
            <a:r>
              <a:rPr lang="zh-CN" altLang="en-US" sz="2800" b="1" dirty="0" smtClean="0">
                <a:solidFill>
                  <a:srgbClr val="000000"/>
                </a:solidFill>
                <a:latin typeface="楷体" panose="02010609060101010101" pitchFamily="49" charset="-122"/>
                <a:ea typeface="楷体" panose="02010609060101010101" pitchFamily="49" charset="-122"/>
              </a:rPr>
              <a:t>的现象。</a:t>
            </a:r>
            <a:endParaRPr lang="zh-CN" altLang="en-US" sz="2800" b="1" dirty="0">
              <a:solidFill>
                <a:srgbClr val="000000"/>
              </a:solidFill>
              <a:latin typeface="楷体" panose="02010609060101010101" pitchFamily="49" charset="-122"/>
              <a:ea typeface="楷体" panose="02010609060101010101" pitchFamily="49" charset="-122"/>
            </a:endParaRPr>
          </a:p>
        </p:txBody>
      </p:sp>
      <p:sp>
        <p:nvSpPr>
          <p:cNvPr id="15" name="矩形 14"/>
          <p:cNvSpPr/>
          <p:nvPr/>
        </p:nvSpPr>
        <p:spPr>
          <a:xfrm>
            <a:off x="214282" y="2285992"/>
            <a:ext cx="8672966" cy="1815882"/>
          </a:xfrm>
          <a:prstGeom prst="rect">
            <a:avLst/>
          </a:prstGeom>
        </p:spPr>
        <p:txBody>
          <a:bodyPr wrap="square">
            <a:spAutoFit/>
          </a:bodyPr>
          <a:lstStyle/>
          <a:p>
            <a:pPr marL="342900" indent="-342900" eaLnBrk="1" hangingPunct="1">
              <a:spcBef>
                <a:spcPct val="20000"/>
              </a:spcBef>
              <a:defRPr/>
            </a:pPr>
            <a:r>
              <a:rPr lang="zh-CN" altLang="en-US" sz="2800" b="1" kern="0" dirty="0" smtClean="0">
                <a:solidFill>
                  <a:srgbClr val="6600FF"/>
                </a:solidFill>
                <a:latin typeface="楷体" panose="02010609060101010101" pitchFamily="49" charset="-122"/>
                <a:ea typeface="楷体" panose="02010609060101010101" pitchFamily="49" charset="-122"/>
              </a:rPr>
              <a:t>  关系：</a:t>
            </a:r>
            <a:r>
              <a:rPr lang="zh-CN" altLang="en-US" sz="2800" b="1" kern="0" dirty="0" smtClean="0">
                <a:solidFill>
                  <a:srgbClr val="000000"/>
                </a:solidFill>
                <a:latin typeface="楷体" panose="02010609060101010101" pitchFamily="49" charset="-122"/>
                <a:ea typeface="楷体" panose="02010609060101010101" pitchFamily="49" charset="-122"/>
              </a:rPr>
              <a:t>二者相互区别、相互依存和转化。在事物的确定关系中，因果区分是确定的，不能倒果为因，也不能倒因为果。但在事物发展的无限链条中，因果区分又是不确定的、相互转化的。</a:t>
            </a:r>
            <a:endParaRPr lang="en-US" altLang="zh-CN" sz="2800" b="1" kern="0" dirty="0">
              <a:solidFill>
                <a:srgbClr val="000000"/>
              </a:solidFill>
              <a:latin typeface="楷体" panose="02010609060101010101" pitchFamily="49" charset="-122"/>
              <a:ea typeface="楷体" panose="02010609060101010101" pitchFamily="49" charset="-122"/>
            </a:endParaRPr>
          </a:p>
        </p:txBody>
      </p:sp>
      <p:sp>
        <p:nvSpPr>
          <p:cNvPr id="16" name="Rectangle 2"/>
          <p:cNvSpPr txBox="1">
            <a:spLocks noChangeArrowheads="1"/>
          </p:cNvSpPr>
          <p:nvPr/>
        </p:nvSpPr>
        <p:spPr>
          <a:xfrm>
            <a:off x="285720" y="4214818"/>
            <a:ext cx="8532918" cy="1721834"/>
          </a:xfrm>
          <a:prstGeom prst="rect">
            <a:avLst/>
          </a:prstGeom>
        </p:spPr>
        <p:txBody>
          <a:bodyPr vert="horz" lIns="65032" tIns="32516" rIns="65032" bIns="32516" rtlCol="0">
            <a:normAutofit/>
          </a:bodyPr>
          <a:lstStyle>
            <a:lvl1pPr marL="162560" indent="-162560" algn="l" defTabSz="650240" rtl="0" eaLnBrk="1" latinLnBrk="0" hangingPunct="1">
              <a:lnSpc>
                <a:spcPct val="90000"/>
              </a:lnSpc>
              <a:spcBef>
                <a:spcPts val="710"/>
              </a:spcBef>
              <a:buFont typeface="Arial" panose="020B0604020202020204" pitchFamily="34" charset="0"/>
              <a:buChar char="•"/>
              <a:defRPr sz="2000" kern="1200">
                <a:solidFill>
                  <a:schemeClr val="tx1"/>
                </a:solidFill>
                <a:latin typeface="+mn-lt"/>
                <a:ea typeface="微软雅黑" panose="020B0503020204020204" charset="-122"/>
                <a:cs typeface="+mn-cs"/>
              </a:defRPr>
            </a:lvl1pPr>
            <a:lvl2pPr marL="487680" indent="-162560" algn="l" defTabSz="650240" rtl="0" eaLnBrk="1" latinLnBrk="0" hangingPunct="1">
              <a:lnSpc>
                <a:spcPct val="90000"/>
              </a:lnSpc>
              <a:spcBef>
                <a:spcPts val="355"/>
              </a:spcBef>
              <a:buFont typeface="Arial" panose="020B0604020202020204" pitchFamily="34" charset="0"/>
              <a:buChar char="•"/>
              <a:defRPr sz="1700" kern="1200">
                <a:solidFill>
                  <a:schemeClr val="tx1"/>
                </a:solidFill>
                <a:latin typeface="+mn-lt"/>
                <a:ea typeface="微软雅黑" panose="020B0503020204020204" charset="-122"/>
                <a:cs typeface="+mn-cs"/>
              </a:defRPr>
            </a:lvl2pPr>
            <a:lvl3pPr marL="812800" indent="-162560" algn="l" defTabSz="650240" rtl="0" eaLnBrk="1" latinLnBrk="0" hangingPunct="1">
              <a:lnSpc>
                <a:spcPct val="90000"/>
              </a:lnSpc>
              <a:spcBef>
                <a:spcPts val="355"/>
              </a:spcBef>
              <a:buFont typeface="Arial" panose="020B0604020202020204" pitchFamily="34" charset="0"/>
              <a:buChar char="•"/>
              <a:defRPr sz="1400" kern="1200">
                <a:solidFill>
                  <a:schemeClr val="tx1"/>
                </a:solidFill>
                <a:latin typeface="+mn-lt"/>
                <a:ea typeface="微软雅黑" panose="020B0503020204020204" charset="-122"/>
                <a:cs typeface="+mn-cs"/>
              </a:defRPr>
            </a:lvl3pPr>
            <a:lvl4pPr marL="113792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微软雅黑" panose="020B0503020204020204" charset="-122"/>
                <a:cs typeface="+mn-cs"/>
              </a:defRPr>
            </a:lvl4pPr>
            <a:lvl5pPr marL="146304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微软雅黑" panose="020B0503020204020204" charset="-122"/>
                <a:cs typeface="+mn-cs"/>
              </a:defRPr>
            </a:lvl5pPr>
            <a:lvl6pPr marL="178816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6pPr>
            <a:lvl7pPr marL="211328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7pPr>
            <a:lvl8pPr marL="2438400"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8pPr>
            <a:lvl9pPr marL="2764155" indent="-162560" algn="l" defTabSz="650240" rtl="0" eaLnBrk="1" latinLnBrk="0" hangingPunct="1">
              <a:lnSpc>
                <a:spcPct val="90000"/>
              </a:lnSpc>
              <a:spcBef>
                <a:spcPts val="355"/>
              </a:spcBef>
              <a:buFont typeface="Arial" panose="020B0604020202020204" pitchFamily="34" charset="0"/>
              <a:buChar char="•"/>
              <a:defRPr sz="1300" kern="1200">
                <a:solidFill>
                  <a:schemeClr val="tx1"/>
                </a:solidFill>
                <a:latin typeface="+mn-lt"/>
                <a:ea typeface="+mn-ea"/>
                <a:cs typeface="+mn-cs"/>
              </a:defRPr>
            </a:lvl9pPr>
          </a:lstStyle>
          <a:p>
            <a:pPr fontAlgn="auto">
              <a:spcAft>
                <a:spcPts val="0"/>
              </a:spcAft>
              <a:buFontTx/>
              <a:buNone/>
            </a:pPr>
            <a:r>
              <a:rPr lang="en-US" altLang="zh-CN" sz="2800" b="1" dirty="0" smtClean="0">
                <a:solidFill>
                  <a:srgbClr val="C00000"/>
                </a:solidFill>
                <a:latin typeface="楷体_GB2312" pitchFamily="1" charset="-122"/>
                <a:ea typeface="楷体_GB2312" pitchFamily="1" charset="-122"/>
              </a:rPr>
              <a:t>  </a:t>
            </a:r>
            <a:r>
              <a:rPr lang="zh-CN" altLang="en-US" sz="2800" b="1" dirty="0" smtClean="0">
                <a:solidFill>
                  <a:srgbClr val="6600FF"/>
                </a:solidFill>
                <a:latin typeface="楷体" panose="02010609060101010101" pitchFamily="49" charset="-122"/>
                <a:ea typeface="楷体" panose="02010609060101010101" pitchFamily="49" charset="-122"/>
              </a:rPr>
              <a:t>方法论意义：</a:t>
            </a:r>
            <a:r>
              <a:rPr lang="zh-CN" altLang="en-US" sz="2800" b="1" dirty="0" smtClean="0">
                <a:solidFill>
                  <a:srgbClr val="000000"/>
                </a:solidFill>
                <a:latin typeface="楷体" panose="02010609060101010101" pitchFamily="49" charset="-122"/>
                <a:ea typeface="楷体" panose="02010609060101010101" pitchFamily="49" charset="-122"/>
              </a:rPr>
              <a:t>辩证地分析事物的因果关系，分析存在和发展的不同原因及其不同结果，可以增强人们活动的自觉性、预测性和调控性。 </a:t>
            </a:r>
            <a:endParaRPr lang="zh-CN" altLang="en-US" sz="2800" b="1" dirty="0">
              <a:solidFill>
                <a:srgbClr val="00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body" idx="4294967295"/>
          </p:nvPr>
        </p:nvSpPr>
        <p:spPr>
          <a:xfrm>
            <a:off x="214282" y="357166"/>
            <a:ext cx="8682038" cy="2286000"/>
          </a:xfrm>
        </p:spPr>
        <p:txBody>
          <a:bodyPr>
            <a:normAutofit/>
          </a:bodyPr>
          <a:lstStyle/>
          <a:p>
            <a:pPr eaLnBrk="1" hangingPunct="1">
              <a:lnSpc>
                <a:spcPct val="90000"/>
              </a:lnSpc>
              <a:buFontTx/>
              <a:buNone/>
              <a:defRPr/>
            </a:pPr>
            <a:r>
              <a:rPr lang="en-US" altLang="zh-CN" sz="2800" b="1" dirty="0" smtClean="0">
                <a:solidFill>
                  <a:srgbClr val="0000CC"/>
                </a:solidFill>
                <a:latin typeface="楷体_GB2312" pitchFamily="1" charset="-122"/>
                <a:ea typeface="楷体_GB2312" pitchFamily="1" charset="-122"/>
              </a:rPr>
              <a:t> </a:t>
            </a:r>
            <a:r>
              <a:rPr lang="zh-CN" altLang="en-US" b="1" kern="1200" dirty="0" smtClean="0">
                <a:solidFill>
                  <a:srgbClr val="CC00FF"/>
                </a:solidFill>
                <a:latin typeface="楷体_GB2312" pitchFamily="1" charset="-122"/>
                <a:ea typeface="楷体_GB2312" pitchFamily="1" charset="-122"/>
              </a:rPr>
              <a:t>（四）必然与偶然：</a:t>
            </a:r>
            <a:r>
              <a:rPr lang="zh-CN" altLang="en-US" sz="2800" b="1" dirty="0" smtClean="0">
                <a:solidFill>
                  <a:srgbClr val="000000"/>
                </a:solidFill>
                <a:latin typeface="楷体" panose="02010609060101010101" pitchFamily="49" charset="-122"/>
                <a:ea typeface="楷体" panose="02010609060101010101" pitchFamily="49" charset="-122"/>
              </a:rPr>
              <a:t>揭示事物产生、发展和衰亡过程中的</a:t>
            </a:r>
            <a:r>
              <a:rPr lang="zh-CN" altLang="en-US" sz="2800" b="1" dirty="0" smtClean="0">
                <a:solidFill>
                  <a:srgbClr val="FF0000"/>
                </a:solidFill>
                <a:latin typeface="楷体" panose="02010609060101010101" pitchFamily="49" charset="-122"/>
                <a:ea typeface="楷体" panose="02010609060101010101" pitchFamily="49" charset="-122"/>
              </a:rPr>
              <a:t>不同趋势</a:t>
            </a:r>
            <a:r>
              <a:rPr lang="zh-CN" altLang="en-US" sz="2800" b="1" dirty="0" smtClean="0">
                <a:solidFill>
                  <a:srgbClr val="000000"/>
                </a:solidFill>
                <a:latin typeface="楷体" panose="02010609060101010101" pitchFamily="49" charset="-122"/>
                <a:ea typeface="楷体" panose="02010609060101010101" pitchFamily="49" charset="-122"/>
              </a:rPr>
              <a:t>的一对范畴。</a:t>
            </a:r>
            <a:endParaRPr lang="zh-CN" altLang="en-US" sz="2800" b="1" dirty="0">
              <a:solidFill>
                <a:srgbClr val="000000"/>
              </a:solidFill>
              <a:latin typeface="楷体" panose="02010609060101010101" pitchFamily="49" charset="-122"/>
              <a:ea typeface="楷体" panose="02010609060101010101" pitchFamily="49" charset="-122"/>
            </a:endParaRPr>
          </a:p>
          <a:p>
            <a:pPr eaLnBrk="1" hangingPunct="1">
              <a:lnSpc>
                <a:spcPct val="90000"/>
              </a:lnSpc>
              <a:buFontTx/>
              <a:buNone/>
              <a:defRPr/>
            </a:pPr>
            <a:r>
              <a:rPr lang="zh-CN" altLang="en-US" sz="2800" b="1" dirty="0" smtClean="0">
                <a:solidFill>
                  <a:srgbClr val="6600FF"/>
                </a:solidFill>
                <a:latin typeface="楷体_GB2312" pitchFamily="1" charset="-122"/>
                <a:ea typeface="楷体_GB2312" pitchFamily="1" charset="-122"/>
              </a:rPr>
              <a:t>  必然</a:t>
            </a:r>
            <a:r>
              <a:rPr lang="zh-CN" altLang="en-US" sz="2800" b="1" dirty="0" smtClean="0">
                <a:solidFill>
                  <a:srgbClr val="000000"/>
                </a:solidFill>
                <a:latin typeface="楷体" panose="02010609060101010101" pitchFamily="49" charset="-122"/>
                <a:ea typeface="楷体" panose="02010609060101010101" pitchFamily="49" charset="-122"/>
              </a:rPr>
              <a:t>是</a:t>
            </a:r>
            <a:r>
              <a:rPr lang="zh-CN" altLang="en-US" sz="2800" b="1" dirty="0">
                <a:solidFill>
                  <a:srgbClr val="000000"/>
                </a:solidFill>
                <a:latin typeface="楷体" panose="02010609060101010101" pitchFamily="49" charset="-122"/>
                <a:ea typeface="楷体" panose="02010609060101010101" pitchFamily="49" charset="-122"/>
              </a:rPr>
              <a:t>指</a:t>
            </a:r>
            <a:r>
              <a:rPr lang="zh-CN" altLang="en-US" sz="2800" b="1" dirty="0" smtClean="0">
                <a:solidFill>
                  <a:srgbClr val="000000"/>
                </a:solidFill>
                <a:latin typeface="楷体" panose="02010609060101010101" pitchFamily="49" charset="-122"/>
                <a:ea typeface="楷体" panose="02010609060101010101" pitchFamily="49" charset="-122"/>
              </a:rPr>
              <a:t>事物联系与发展过程中</a:t>
            </a:r>
            <a:r>
              <a:rPr lang="zh-CN" altLang="en-US" sz="2800" b="1" dirty="0" smtClean="0">
                <a:solidFill>
                  <a:srgbClr val="FF0000"/>
                </a:solidFill>
                <a:latin typeface="楷体" panose="02010609060101010101" pitchFamily="49" charset="-122"/>
                <a:ea typeface="楷体" panose="02010609060101010101" pitchFamily="49" charset="-122"/>
              </a:rPr>
              <a:t>确定不移的趋势</a:t>
            </a:r>
            <a:r>
              <a:rPr lang="zh-CN" altLang="en-US" sz="2800" b="1" dirty="0" smtClean="0">
                <a:solidFill>
                  <a:srgbClr val="000000"/>
                </a:solidFill>
                <a:latin typeface="楷体" panose="02010609060101010101" pitchFamily="49" charset="-122"/>
                <a:ea typeface="楷体" panose="02010609060101010101" pitchFamily="49" charset="-122"/>
              </a:rPr>
              <a:t>，在一定条件下具有不可避免性。</a:t>
            </a:r>
            <a:endParaRPr lang="zh-CN" altLang="en-US" sz="2800" b="1" dirty="0" smtClean="0">
              <a:solidFill>
                <a:srgbClr val="000000"/>
              </a:solidFill>
              <a:latin typeface="楷体" panose="02010609060101010101" pitchFamily="49" charset="-122"/>
              <a:ea typeface="楷体" panose="02010609060101010101" pitchFamily="49" charset="-122"/>
            </a:endParaRPr>
          </a:p>
          <a:p>
            <a:pPr eaLnBrk="1" hangingPunct="1">
              <a:lnSpc>
                <a:spcPct val="90000"/>
              </a:lnSpc>
              <a:buFontTx/>
              <a:buNone/>
              <a:defRPr/>
            </a:pPr>
            <a:r>
              <a:rPr lang="zh-CN" altLang="en-US" sz="2800" b="1" dirty="0" smtClean="0">
                <a:solidFill>
                  <a:srgbClr val="6600FF"/>
                </a:solidFill>
                <a:latin typeface="楷体_GB2312" pitchFamily="1" charset="-122"/>
                <a:ea typeface="楷体_GB2312" pitchFamily="1" charset="-122"/>
              </a:rPr>
              <a:t>  偶然</a:t>
            </a:r>
            <a:r>
              <a:rPr lang="zh-CN" altLang="en-US" sz="2800" b="1" dirty="0">
                <a:solidFill>
                  <a:srgbClr val="000000"/>
                </a:solidFill>
                <a:latin typeface="楷体" panose="02010609060101010101" pitchFamily="49" charset="-122"/>
                <a:ea typeface="楷体" panose="02010609060101010101" pitchFamily="49" charset="-122"/>
              </a:rPr>
              <a:t>是指</a:t>
            </a:r>
            <a:r>
              <a:rPr lang="zh-CN" altLang="en-US" sz="2800" b="1" dirty="0" smtClean="0">
                <a:solidFill>
                  <a:srgbClr val="000000"/>
                </a:solidFill>
                <a:latin typeface="楷体" panose="02010609060101010101" pitchFamily="49" charset="-122"/>
                <a:ea typeface="楷体" panose="02010609060101010101" pitchFamily="49" charset="-122"/>
              </a:rPr>
              <a:t>事物联系与发展过程中</a:t>
            </a:r>
            <a:r>
              <a:rPr lang="zh-CN" altLang="en-US" sz="2800" b="1" dirty="0" smtClean="0">
                <a:solidFill>
                  <a:srgbClr val="FF0000"/>
                </a:solidFill>
                <a:latin typeface="楷体" panose="02010609060101010101" pitchFamily="49" charset="-122"/>
                <a:ea typeface="楷体" panose="02010609060101010101" pitchFamily="49" charset="-122"/>
              </a:rPr>
              <a:t>不确定的趋势</a:t>
            </a:r>
            <a:r>
              <a:rPr lang="zh-CN" altLang="en-US" sz="2800" b="1" dirty="0" smtClean="0">
                <a:solidFill>
                  <a:srgbClr val="000000"/>
                </a:solidFill>
                <a:latin typeface="楷体" panose="02010609060101010101" pitchFamily="49" charset="-122"/>
                <a:ea typeface="楷体" panose="02010609060101010101" pitchFamily="49" charset="-122"/>
              </a:rPr>
              <a:t>。</a:t>
            </a:r>
            <a:endParaRPr lang="zh-CN" altLang="en-US" sz="2800" b="1" dirty="0" smtClean="0">
              <a:solidFill>
                <a:srgbClr val="000000"/>
              </a:solidFill>
              <a:latin typeface="楷体" panose="02010609060101010101" pitchFamily="49" charset="-122"/>
              <a:ea typeface="楷体" panose="02010609060101010101" pitchFamily="49" charset="-122"/>
            </a:endParaRPr>
          </a:p>
        </p:txBody>
      </p:sp>
      <p:sp>
        <p:nvSpPr>
          <p:cNvPr id="5" name="Rectangle 5"/>
          <p:cNvSpPr>
            <a:spLocks noChangeArrowheads="1"/>
          </p:cNvSpPr>
          <p:nvPr/>
        </p:nvSpPr>
        <p:spPr bwMode="auto">
          <a:xfrm>
            <a:off x="500034" y="2857496"/>
            <a:ext cx="8265656" cy="1643074"/>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5000"/>
              </a:lnSpc>
              <a:spcBef>
                <a:spcPct val="20000"/>
              </a:spcBef>
            </a:pPr>
            <a:r>
              <a:rPr lang="zh-CN" altLang="en-US" sz="2800" b="1" dirty="0" smtClean="0">
                <a:solidFill>
                  <a:srgbClr val="6600FF"/>
                </a:solidFill>
                <a:latin typeface="楷体" panose="02010609060101010101" pitchFamily="49" charset="-122"/>
                <a:ea typeface="楷体" panose="02010609060101010101" pitchFamily="49" charset="-122"/>
              </a:rPr>
              <a:t>关系：</a:t>
            </a:r>
            <a:r>
              <a:rPr lang="zh-CN" altLang="en-US" sz="2400" b="1" dirty="0" smtClean="0">
                <a:latin typeface="楷体" panose="02010609060101010101" pitchFamily="49" charset="-122"/>
                <a:ea typeface="楷体" panose="02010609060101010101" pitchFamily="49" charset="-122"/>
              </a:rPr>
              <a:t>两者相互依存，必然性寓于偶然性之中，偶然性背后隐藏着必然性，偶然性为必然性开辟道路。二者在一定条件下可以相互转化。</a:t>
            </a:r>
            <a:endParaRPr lang="zh-CN" altLang="en-US" sz="2400" b="1" dirty="0" smtClean="0">
              <a:latin typeface="楷体" panose="02010609060101010101" pitchFamily="49" charset="-122"/>
              <a:ea typeface="楷体" panose="02010609060101010101" pitchFamily="49" charset="-122"/>
            </a:endParaRPr>
          </a:p>
        </p:txBody>
      </p:sp>
      <p:sp>
        <p:nvSpPr>
          <p:cNvPr id="6" name="矩形 5"/>
          <p:cNvSpPr/>
          <p:nvPr/>
        </p:nvSpPr>
        <p:spPr>
          <a:xfrm>
            <a:off x="428596" y="4500570"/>
            <a:ext cx="8391524" cy="2015936"/>
          </a:xfrm>
          <a:prstGeom prst="rect">
            <a:avLst/>
          </a:prstGeom>
        </p:spPr>
        <p:txBody>
          <a:bodyPr wrap="square">
            <a:spAutoFit/>
          </a:bodyPr>
          <a:lstStyle/>
          <a:p>
            <a:pPr marL="0" indent="0">
              <a:lnSpc>
                <a:spcPct val="125000"/>
              </a:lnSpc>
              <a:buFontTx/>
              <a:buNone/>
            </a:pPr>
            <a:r>
              <a:rPr lang="zh-CN" altLang="en-US" sz="2800" b="1" dirty="0" smtClean="0">
                <a:solidFill>
                  <a:srgbClr val="6600FF"/>
                </a:solidFill>
                <a:latin typeface="楷体" panose="02010609060101010101" pitchFamily="49" charset="-122"/>
                <a:ea typeface="楷体" panose="02010609060101010101" pitchFamily="49" charset="-122"/>
              </a:rPr>
              <a:t>方法论意义：</a:t>
            </a:r>
            <a:r>
              <a:rPr lang="zh-CN" altLang="en-US" sz="2400" b="1" dirty="0" smtClean="0">
                <a:latin typeface="楷体" panose="02010609060101010101" pitchFamily="49" charset="-122"/>
                <a:ea typeface="楷体" panose="02010609060101010101" pitchFamily="49" charset="-122"/>
              </a:rPr>
              <a:t>必须</a:t>
            </a:r>
            <a:r>
              <a:rPr lang="zh-CN" altLang="en-US" sz="2400" b="1" dirty="0">
                <a:latin typeface="楷体" panose="02010609060101010101" pitchFamily="49" charset="-122"/>
                <a:ea typeface="楷体" panose="02010609060101010101" pitchFamily="49" charset="-122"/>
              </a:rPr>
              <a:t>重视事物发展的必然规律和发展</a:t>
            </a:r>
            <a:r>
              <a:rPr lang="zh-CN" altLang="en-US" sz="2400" b="1" dirty="0" smtClean="0">
                <a:latin typeface="楷体" panose="02010609060101010101" pitchFamily="49" charset="-122"/>
                <a:ea typeface="楷体" panose="02010609060101010101" pitchFamily="49" charset="-122"/>
              </a:rPr>
              <a:t>趋势，并以此为依据制度目标与计划，也要充分估计各种偶然因素的作用，善于</a:t>
            </a:r>
            <a:r>
              <a:rPr lang="zh-CN" altLang="en-US" sz="2400" b="1" dirty="0">
                <a:latin typeface="楷体" panose="02010609060101010101" pitchFamily="49" charset="-122"/>
                <a:ea typeface="楷体" panose="02010609060101010101" pitchFamily="49" charset="-122"/>
              </a:rPr>
              <a:t>从偶然中发现</a:t>
            </a:r>
            <a:r>
              <a:rPr lang="zh-CN" altLang="en-US" sz="2400" b="1" dirty="0" smtClean="0">
                <a:latin typeface="楷体" panose="02010609060101010101" pitchFamily="49" charset="-122"/>
                <a:ea typeface="楷体" panose="02010609060101010101" pitchFamily="49" charset="-122"/>
              </a:rPr>
              <a:t>必然，识别和把握机遇，在实践中达到预期目标。</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body" idx="4294967295"/>
          </p:nvPr>
        </p:nvSpPr>
        <p:spPr>
          <a:xfrm>
            <a:off x="285720" y="357167"/>
            <a:ext cx="8553450" cy="4143404"/>
          </a:xfrm>
        </p:spPr>
        <p:txBody>
          <a:bodyPr/>
          <a:lstStyle/>
          <a:p>
            <a:pPr eaLnBrk="1" hangingPunct="1">
              <a:buFontTx/>
              <a:buNone/>
              <a:defRPr/>
            </a:pPr>
            <a:r>
              <a:rPr lang="zh-CN" altLang="en-US" b="1" kern="1200" dirty="0" smtClean="0">
                <a:solidFill>
                  <a:srgbClr val="CC00FF"/>
                </a:solidFill>
                <a:latin typeface="楷体_GB2312" pitchFamily="1" charset="-122"/>
                <a:ea typeface="楷体_GB2312" pitchFamily="1" charset="-122"/>
              </a:rPr>
              <a:t>（五）现实与可能：</a:t>
            </a:r>
            <a:r>
              <a:rPr lang="zh-CN" altLang="en-US" sz="2800" b="1" dirty="0" smtClean="0">
                <a:solidFill>
                  <a:srgbClr val="000000"/>
                </a:solidFill>
                <a:latin typeface="楷体" panose="02010609060101010101" pitchFamily="49" charset="-122"/>
                <a:ea typeface="楷体" panose="02010609060101010101" pitchFamily="49" charset="-122"/>
              </a:rPr>
              <a:t>反映事物的</a:t>
            </a:r>
            <a:r>
              <a:rPr lang="zh-CN" altLang="en-US" sz="2800" b="1" dirty="0" smtClean="0">
                <a:solidFill>
                  <a:srgbClr val="FF0000"/>
                </a:solidFill>
                <a:latin typeface="楷体" panose="02010609060101010101" pitchFamily="49" charset="-122"/>
                <a:ea typeface="楷体" panose="02010609060101010101" pitchFamily="49" charset="-122"/>
              </a:rPr>
              <a:t>过去、现在</a:t>
            </a:r>
            <a:r>
              <a:rPr lang="zh-CN" altLang="en-US" sz="2800" b="1" dirty="0" smtClean="0">
                <a:solidFill>
                  <a:srgbClr val="000000"/>
                </a:solidFill>
                <a:latin typeface="楷体" panose="02010609060101010101" pitchFamily="49" charset="-122"/>
                <a:ea typeface="楷体" panose="02010609060101010101" pitchFamily="49" charset="-122"/>
              </a:rPr>
              <a:t>和</a:t>
            </a:r>
            <a:r>
              <a:rPr lang="zh-CN" altLang="en-US" sz="2800" b="1" dirty="0" smtClean="0">
                <a:solidFill>
                  <a:srgbClr val="FF0000"/>
                </a:solidFill>
                <a:latin typeface="楷体" panose="02010609060101010101" pitchFamily="49" charset="-122"/>
                <a:ea typeface="楷体" panose="02010609060101010101" pitchFamily="49" charset="-122"/>
              </a:rPr>
              <a:t>将来关系</a:t>
            </a:r>
            <a:r>
              <a:rPr lang="zh-CN" altLang="en-US" sz="2800" b="1" dirty="0" smtClean="0">
                <a:solidFill>
                  <a:srgbClr val="000000"/>
                </a:solidFill>
                <a:latin typeface="楷体" panose="02010609060101010101" pitchFamily="49" charset="-122"/>
                <a:ea typeface="楷体" panose="02010609060101010101" pitchFamily="49" charset="-122"/>
              </a:rPr>
              <a:t>的一对范畴。</a:t>
            </a:r>
            <a:endParaRPr lang="en-US" altLang="zh-CN" sz="2800" b="1" dirty="0" smtClean="0">
              <a:solidFill>
                <a:srgbClr val="000000"/>
              </a:solidFill>
              <a:latin typeface="楷体" panose="02010609060101010101" pitchFamily="49" charset="-122"/>
              <a:ea typeface="楷体" panose="02010609060101010101" pitchFamily="49" charset="-122"/>
            </a:endParaRPr>
          </a:p>
          <a:p>
            <a:pPr eaLnBrk="1" hangingPunct="1">
              <a:buFontTx/>
              <a:buNone/>
              <a:defRPr/>
            </a:pPr>
            <a:r>
              <a:rPr lang="en-US" altLang="zh-CN" sz="2800" b="1" dirty="0" smtClean="0">
                <a:solidFill>
                  <a:srgbClr val="000000"/>
                </a:solidFill>
                <a:latin typeface="楷体_GB2312" pitchFamily="1" charset="-122"/>
                <a:ea typeface="楷体_GB2312" pitchFamily="1" charset="-122"/>
              </a:rPr>
              <a:t>  </a:t>
            </a:r>
            <a:r>
              <a:rPr lang="zh-CN" altLang="en-US" sz="2800" b="1" dirty="0" smtClean="0">
                <a:solidFill>
                  <a:srgbClr val="6600FF"/>
                </a:solidFill>
                <a:latin typeface="楷体" panose="02010609060101010101" pitchFamily="49" charset="-122"/>
                <a:ea typeface="楷体" panose="02010609060101010101" pitchFamily="49" charset="-122"/>
              </a:rPr>
              <a:t>现实</a:t>
            </a:r>
            <a:r>
              <a:rPr lang="zh-CN" altLang="en-US" sz="2800" b="1" dirty="0" smtClean="0">
                <a:solidFill>
                  <a:srgbClr val="000000"/>
                </a:solidFill>
                <a:latin typeface="楷体" panose="02010609060101010101" pitchFamily="49" charset="-122"/>
                <a:ea typeface="楷体" panose="02010609060101010101" pitchFamily="49" charset="-122"/>
              </a:rPr>
              <a:t>是指相互联系着的</a:t>
            </a:r>
            <a:r>
              <a:rPr lang="zh-CN" altLang="en-US" sz="2800" b="1" dirty="0" smtClean="0">
                <a:solidFill>
                  <a:srgbClr val="FF0000"/>
                </a:solidFill>
                <a:latin typeface="楷体" panose="02010609060101010101" pitchFamily="49" charset="-122"/>
                <a:ea typeface="楷体" panose="02010609060101010101" pitchFamily="49" charset="-122"/>
              </a:rPr>
              <a:t>实际存在</a:t>
            </a:r>
            <a:r>
              <a:rPr lang="zh-CN" altLang="en-US" sz="2800" b="1" dirty="0" smtClean="0">
                <a:solidFill>
                  <a:srgbClr val="000000"/>
                </a:solidFill>
                <a:latin typeface="楷体" panose="02010609060101010101" pitchFamily="49" charset="-122"/>
                <a:ea typeface="楷体" panose="02010609060101010101" pitchFamily="49" charset="-122"/>
              </a:rPr>
              <a:t>的事物的综合。是</a:t>
            </a:r>
            <a:r>
              <a:rPr lang="zh-CN" altLang="en-US" sz="2800" b="1" dirty="0" smtClean="0">
                <a:solidFill>
                  <a:srgbClr val="FF0000"/>
                </a:solidFill>
                <a:latin typeface="楷体" panose="02010609060101010101" pitchFamily="49" charset="-122"/>
                <a:ea typeface="楷体" panose="02010609060101010101" pitchFamily="49" charset="-122"/>
              </a:rPr>
              <a:t>已经产生出来</a:t>
            </a:r>
            <a:r>
              <a:rPr lang="zh-CN" altLang="en-US" sz="2800" b="1" dirty="0" smtClean="0">
                <a:solidFill>
                  <a:srgbClr val="000000"/>
                </a:solidFill>
                <a:latin typeface="楷体" panose="02010609060101010101" pitchFamily="49" charset="-122"/>
                <a:ea typeface="楷体" panose="02010609060101010101" pitchFamily="49" charset="-122"/>
              </a:rPr>
              <a:t>的有内在根据的、合乎必然性的存在。</a:t>
            </a:r>
            <a:endParaRPr lang="en-US" altLang="zh-CN" sz="2800" b="1" dirty="0" smtClean="0">
              <a:solidFill>
                <a:srgbClr val="000000"/>
              </a:solidFill>
              <a:latin typeface="楷体" panose="02010609060101010101" pitchFamily="49" charset="-122"/>
              <a:ea typeface="楷体" panose="02010609060101010101" pitchFamily="49" charset="-122"/>
            </a:endParaRPr>
          </a:p>
          <a:p>
            <a:pPr eaLnBrk="1" hangingPunct="1">
              <a:buFontTx/>
              <a:buNone/>
              <a:defRPr/>
            </a:pPr>
            <a:r>
              <a:rPr lang="en-US" altLang="zh-CN" sz="2800" b="1" dirty="0" smtClean="0">
                <a:solidFill>
                  <a:srgbClr val="000000"/>
                </a:solidFill>
                <a:latin typeface="楷体" panose="02010609060101010101" pitchFamily="49" charset="-122"/>
                <a:ea typeface="楷体" panose="02010609060101010101" pitchFamily="49" charset="-122"/>
              </a:rPr>
              <a:t>  </a:t>
            </a:r>
            <a:r>
              <a:rPr lang="zh-CN" altLang="en-US" sz="2800" b="1" dirty="0" smtClean="0">
                <a:solidFill>
                  <a:srgbClr val="6600FF"/>
                </a:solidFill>
                <a:latin typeface="楷体" panose="02010609060101010101" pitchFamily="49" charset="-122"/>
                <a:ea typeface="楷体" panose="02010609060101010101" pitchFamily="49" charset="-122"/>
              </a:rPr>
              <a:t>可能</a:t>
            </a:r>
            <a:r>
              <a:rPr lang="zh-CN" altLang="en-US" sz="2800" b="1" dirty="0" smtClean="0">
                <a:solidFill>
                  <a:srgbClr val="000000"/>
                </a:solidFill>
                <a:latin typeface="楷体" panose="02010609060101010101" pitchFamily="49" charset="-122"/>
                <a:ea typeface="楷体" panose="02010609060101010101" pitchFamily="49" charset="-122"/>
              </a:rPr>
              <a:t>是指包含在事物中、预示事物</a:t>
            </a:r>
            <a:r>
              <a:rPr lang="zh-CN" altLang="en-US" sz="2800" b="1" dirty="0" smtClean="0">
                <a:solidFill>
                  <a:srgbClr val="FF0000"/>
                </a:solidFill>
                <a:latin typeface="楷体" panose="02010609060101010101" pitchFamily="49" charset="-122"/>
                <a:ea typeface="楷体" panose="02010609060101010101" pitchFamily="49" charset="-122"/>
              </a:rPr>
              <a:t>发展前途</a:t>
            </a:r>
            <a:r>
              <a:rPr lang="zh-CN" altLang="en-US" sz="2800" b="1" dirty="0" smtClean="0">
                <a:solidFill>
                  <a:srgbClr val="000000"/>
                </a:solidFill>
                <a:latin typeface="楷体" panose="02010609060101010101" pitchFamily="49" charset="-122"/>
                <a:ea typeface="楷体" panose="02010609060101010101" pitchFamily="49" charset="-122"/>
              </a:rPr>
              <a:t>的</a:t>
            </a:r>
            <a:r>
              <a:rPr lang="zh-CN" altLang="en-US" sz="2800" b="1" dirty="0" smtClean="0">
                <a:solidFill>
                  <a:srgbClr val="FF0000"/>
                </a:solidFill>
                <a:latin typeface="楷体" panose="02010609060101010101" pitchFamily="49" charset="-122"/>
                <a:ea typeface="楷体" panose="02010609060101010101" pitchFamily="49" charset="-122"/>
              </a:rPr>
              <a:t>种种趋势</a:t>
            </a:r>
            <a:r>
              <a:rPr lang="zh-CN" altLang="en-US" sz="2800" b="1" dirty="0" smtClean="0">
                <a:solidFill>
                  <a:srgbClr val="000000"/>
                </a:solidFill>
                <a:latin typeface="楷体" panose="02010609060101010101" pitchFamily="49" charset="-122"/>
                <a:ea typeface="楷体" panose="02010609060101010101" pitchFamily="49" charset="-122"/>
              </a:rPr>
              <a:t>，是</a:t>
            </a:r>
            <a:r>
              <a:rPr lang="zh-CN" altLang="en-US" sz="2800" b="1" dirty="0" smtClean="0">
                <a:solidFill>
                  <a:srgbClr val="FF0000"/>
                </a:solidFill>
                <a:latin typeface="楷体" panose="02010609060101010101" pitchFamily="49" charset="-122"/>
                <a:ea typeface="楷体" panose="02010609060101010101" pitchFamily="49" charset="-122"/>
              </a:rPr>
              <a:t>潜在的尚未实现</a:t>
            </a:r>
            <a:r>
              <a:rPr lang="zh-CN" altLang="en-US" sz="2800" b="1" dirty="0" smtClean="0">
                <a:solidFill>
                  <a:srgbClr val="000000"/>
                </a:solidFill>
                <a:latin typeface="楷体" panose="02010609060101010101" pitchFamily="49" charset="-122"/>
                <a:ea typeface="楷体" panose="02010609060101010101" pitchFamily="49" charset="-122"/>
              </a:rPr>
              <a:t>的东西。</a:t>
            </a:r>
            <a:endParaRPr lang="zh-CN" altLang="en-US" sz="2800" b="1" dirty="0" smtClean="0">
              <a:solidFill>
                <a:srgbClr val="000000"/>
              </a:solidFill>
              <a:latin typeface="楷体" panose="02010609060101010101" pitchFamily="49" charset="-122"/>
              <a:ea typeface="楷体" panose="02010609060101010101" pitchFamily="49" charset="-122"/>
            </a:endParaRPr>
          </a:p>
          <a:p>
            <a:pPr eaLnBrk="1" hangingPunct="1">
              <a:buFontTx/>
              <a:buNone/>
              <a:defRPr/>
            </a:pPr>
            <a:r>
              <a:rPr lang="zh-CN" altLang="en-US" sz="2800" b="1" dirty="0" smtClean="0">
                <a:solidFill>
                  <a:srgbClr val="6600FF"/>
                </a:solidFill>
                <a:latin typeface="楷体" panose="02010609060101010101" pitchFamily="49" charset="-122"/>
                <a:ea typeface="楷体" panose="02010609060101010101" pitchFamily="49" charset="-122"/>
              </a:rPr>
              <a:t>  关系：</a:t>
            </a:r>
            <a:r>
              <a:rPr lang="zh-CN" altLang="en-US" sz="2800" b="1" dirty="0" smtClean="0">
                <a:solidFill>
                  <a:srgbClr val="000000"/>
                </a:solidFill>
                <a:latin typeface="楷体" panose="02010609060101010101" pitchFamily="49" charset="-122"/>
                <a:ea typeface="楷体" panose="02010609060101010101" pitchFamily="49" charset="-122"/>
              </a:rPr>
              <a:t>现实性和可能性既相互区别，又相互转化。没有现实就没有可能，反过来，没有可能就没有新的现实。发展就是可能与现实相互转化的过程。</a:t>
            </a:r>
            <a:endParaRPr lang="zh-CN" altLang="en-US" sz="2800" b="1" dirty="0" smtClean="0">
              <a:solidFill>
                <a:srgbClr val="000000"/>
              </a:solidFill>
              <a:latin typeface="楷体" panose="02010609060101010101" pitchFamily="49" charset="-122"/>
              <a:ea typeface="楷体" panose="02010609060101010101" pitchFamily="49" charset="-122"/>
            </a:endParaRPr>
          </a:p>
        </p:txBody>
      </p:sp>
      <p:sp>
        <p:nvSpPr>
          <p:cNvPr id="3" name="矩形 2"/>
          <p:cNvSpPr/>
          <p:nvPr/>
        </p:nvSpPr>
        <p:spPr>
          <a:xfrm>
            <a:off x="214283" y="4643446"/>
            <a:ext cx="8643998" cy="1261884"/>
          </a:xfrm>
          <a:prstGeom prst="rect">
            <a:avLst/>
          </a:prstGeom>
        </p:spPr>
        <p:txBody>
          <a:bodyPr wrap="square">
            <a:spAutoFit/>
          </a:bodyPr>
          <a:lstStyle/>
          <a:p>
            <a:pPr marL="342900" indent="-342900" eaLnBrk="1" hangingPunct="1">
              <a:spcBef>
                <a:spcPct val="20000"/>
              </a:spcBef>
              <a:defRPr/>
            </a:pPr>
            <a:r>
              <a:rPr lang="zh-CN" altLang="en-US" sz="2800" b="1" dirty="0" smtClean="0">
                <a:solidFill>
                  <a:srgbClr val="6600FF"/>
                </a:solidFill>
                <a:latin typeface="楷体" panose="02010609060101010101" pitchFamily="49" charset="-122"/>
                <a:ea typeface="楷体" panose="02010609060101010101" pitchFamily="49" charset="-122"/>
              </a:rPr>
              <a:t>  方法论</a:t>
            </a:r>
            <a:r>
              <a:rPr lang="zh-CN" altLang="en-US" sz="2800" b="1" dirty="0">
                <a:solidFill>
                  <a:srgbClr val="6600FF"/>
                </a:solidFill>
                <a:latin typeface="楷体" panose="02010609060101010101" pitchFamily="49" charset="-122"/>
                <a:ea typeface="楷体" panose="02010609060101010101" pitchFamily="49" charset="-122"/>
              </a:rPr>
              <a:t>意义：</a:t>
            </a:r>
            <a:r>
              <a:rPr lang="zh-CN" altLang="en-US" sz="2400" b="1" kern="0" dirty="0">
                <a:solidFill>
                  <a:srgbClr val="000000"/>
                </a:solidFill>
                <a:latin typeface="楷体" panose="02010609060101010101" pitchFamily="49" charset="-122"/>
                <a:ea typeface="楷体" panose="02010609060101010101" pitchFamily="49" charset="-122"/>
              </a:rPr>
              <a:t>立足现实</a:t>
            </a:r>
            <a:r>
              <a:rPr lang="zh-CN" altLang="en-US" sz="2400" b="1" kern="0" dirty="0" smtClean="0">
                <a:solidFill>
                  <a:srgbClr val="000000"/>
                </a:solidFill>
                <a:latin typeface="楷体" panose="02010609060101010101" pitchFamily="49" charset="-122"/>
                <a:ea typeface="楷体" panose="02010609060101010101" pitchFamily="49" charset="-122"/>
              </a:rPr>
              <a:t>，对</a:t>
            </a:r>
            <a:r>
              <a:rPr lang="zh-CN" altLang="en-US" sz="2400" b="1" kern="0" dirty="0">
                <a:solidFill>
                  <a:srgbClr val="000000"/>
                </a:solidFill>
                <a:latin typeface="楷体" panose="02010609060101010101" pitchFamily="49" charset="-122"/>
                <a:ea typeface="楷体" panose="02010609060101010101" pitchFamily="49" charset="-122"/>
              </a:rPr>
              <a:t>可能性作出全面的分析和预判</a:t>
            </a:r>
            <a:r>
              <a:rPr lang="zh-CN" altLang="en-US" sz="2400" b="1" kern="0" dirty="0" smtClean="0">
                <a:solidFill>
                  <a:srgbClr val="000000"/>
                </a:solidFill>
                <a:latin typeface="楷体" panose="02010609060101010101" pitchFamily="49" charset="-122"/>
                <a:ea typeface="楷体" panose="02010609060101010101" pitchFamily="49" charset="-122"/>
              </a:rPr>
              <a:t>；着眼</a:t>
            </a:r>
            <a:r>
              <a:rPr lang="zh-CN" altLang="en-US" sz="2400" b="1" kern="0" dirty="0">
                <a:solidFill>
                  <a:srgbClr val="000000"/>
                </a:solidFill>
                <a:latin typeface="楷体" panose="02010609060101010101" pitchFamily="49" charset="-122"/>
                <a:ea typeface="楷体" panose="02010609060101010101" pitchFamily="49" charset="-122"/>
              </a:rPr>
              <a:t>长远，防止坏的可能变为现实，</a:t>
            </a:r>
            <a:r>
              <a:rPr lang="zh-CN" altLang="en-US" sz="2400" b="1" kern="0" dirty="0" smtClean="0">
                <a:solidFill>
                  <a:srgbClr val="000000"/>
                </a:solidFill>
                <a:latin typeface="楷体" panose="02010609060101010101" pitchFamily="49" charset="-122"/>
                <a:ea typeface="楷体" panose="02010609060101010101" pitchFamily="49" charset="-122"/>
              </a:rPr>
              <a:t>同时善于创造</a:t>
            </a:r>
            <a:r>
              <a:rPr lang="zh-CN" altLang="en-US" sz="2400" b="1" kern="0" dirty="0">
                <a:solidFill>
                  <a:srgbClr val="000000"/>
                </a:solidFill>
                <a:latin typeface="楷体" panose="02010609060101010101" pitchFamily="49" charset="-122"/>
                <a:ea typeface="楷体" panose="02010609060101010101" pitchFamily="49" charset="-122"/>
              </a:rPr>
              <a:t>条件，促使好的可能获得实现。</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bwMode="auto">
          <a:xfrm>
            <a:off x="285720" y="357166"/>
            <a:ext cx="8225596" cy="5690059"/>
            <a:chOff x="305" y="567"/>
            <a:chExt cx="13279" cy="7825"/>
          </a:xfrm>
        </p:grpSpPr>
        <p:sp>
          <p:nvSpPr>
            <p:cNvPr id="3" name="Text Box 7"/>
            <p:cNvSpPr txBox="1">
              <a:spLocks noChangeArrowheads="1"/>
            </p:cNvSpPr>
            <p:nvPr/>
          </p:nvSpPr>
          <p:spPr bwMode="auto">
            <a:xfrm>
              <a:off x="305" y="567"/>
              <a:ext cx="1052" cy="7825"/>
            </a:xfrm>
            <a:prstGeom prst="rect">
              <a:avLst/>
            </a:prstGeom>
          </p:spPr>
          <p:style>
            <a:lnRef idx="1">
              <a:schemeClr val="accent6"/>
            </a:lnRef>
            <a:fillRef idx="2">
              <a:schemeClr val="accent6"/>
            </a:fillRef>
            <a:effectRef idx="1">
              <a:schemeClr val="accent6"/>
            </a:effectRef>
            <a:fontRef idx="minor">
              <a:schemeClr val="dk1"/>
            </a:fontRef>
          </p:style>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800" b="1" dirty="0">
                  <a:latin typeface="华文新魏" pitchFamily="2" charset="-122"/>
                  <a:ea typeface="华文新魏" pitchFamily="2" charset="-122"/>
                </a:rPr>
                <a:t>联系和发展的基本环节</a:t>
              </a:r>
              <a:endParaRPr lang="zh-CN" altLang="en-US" sz="2800" b="1" dirty="0">
                <a:latin typeface="华文新魏" pitchFamily="2" charset="-122"/>
                <a:ea typeface="华文新魏" pitchFamily="2" charset="-122"/>
              </a:endParaRPr>
            </a:p>
          </p:txBody>
        </p:sp>
        <p:sp>
          <p:nvSpPr>
            <p:cNvPr id="5" name="Rectangle 40"/>
            <p:cNvSpPr>
              <a:spLocks noChangeArrowheads="1"/>
            </p:cNvSpPr>
            <p:nvPr/>
          </p:nvSpPr>
          <p:spPr bwMode="auto">
            <a:xfrm>
              <a:off x="1898" y="2337"/>
              <a:ext cx="974" cy="5050"/>
            </a:xfrm>
            <a:prstGeom prst="rect">
              <a:avLst/>
            </a:prstGeom>
          </p:spPr>
          <p:style>
            <a:lnRef idx="1">
              <a:schemeClr val="accent5"/>
            </a:lnRef>
            <a:fillRef idx="2">
              <a:schemeClr val="accent5"/>
            </a:fillRef>
            <a:effectRef idx="1">
              <a:schemeClr val="accent5"/>
            </a:effectRef>
            <a:fontRef idx="minor">
              <a:schemeClr val="dk1"/>
            </a:fontRef>
          </p:style>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buFont typeface="Wingdings" panose="05000000000000000000" pitchFamily="2" charset="2"/>
                <a:buNone/>
              </a:pPr>
              <a:r>
                <a:rPr lang="zh-CN" altLang="en-US" sz="2000" b="1" dirty="0">
                  <a:ea typeface="幼圆" pitchFamily="49" charset="-122"/>
                </a:rPr>
                <a:t>五对基本范畴</a:t>
              </a:r>
              <a:endParaRPr lang="zh-CN" altLang="en-US" sz="2000" b="1" dirty="0">
                <a:ea typeface="幼圆" pitchFamily="49" charset="-122"/>
              </a:endParaRPr>
            </a:p>
          </p:txBody>
        </p:sp>
        <p:sp>
          <p:nvSpPr>
            <p:cNvPr id="6" name="AutoShape 41"/>
            <p:cNvSpPr>
              <a:spLocks noChangeArrowheads="1"/>
            </p:cNvSpPr>
            <p:nvPr/>
          </p:nvSpPr>
          <p:spPr bwMode="auto">
            <a:xfrm>
              <a:off x="1414" y="4480"/>
              <a:ext cx="452" cy="342"/>
            </a:xfrm>
            <a:prstGeom prst="rightArrow">
              <a:avLst>
                <a:gd name="adj1" fmla="val 49380"/>
                <a:gd name="adj2" fmla="val 32992"/>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7" name="Text Box 43"/>
            <p:cNvSpPr txBox="1">
              <a:spLocks noChangeArrowheads="1"/>
            </p:cNvSpPr>
            <p:nvPr/>
          </p:nvSpPr>
          <p:spPr bwMode="auto">
            <a:xfrm>
              <a:off x="9531" y="4039"/>
              <a:ext cx="4053" cy="107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latin typeface="楷体" panose="02010609060101010101" pitchFamily="49" charset="-122"/>
                  <a:ea typeface="楷体" panose="02010609060101010101" pitchFamily="49" charset="-122"/>
                </a:rPr>
                <a:t>增强</a:t>
              </a:r>
              <a:r>
                <a:rPr lang="zh-CN" altLang="en-US" b="1" dirty="0" smtClean="0">
                  <a:latin typeface="楷体" panose="02010609060101010101" pitchFamily="49" charset="-122"/>
                  <a:ea typeface="楷体" panose="02010609060101010101" pitchFamily="49" charset="-122"/>
                </a:rPr>
                <a:t>活动的自觉性</a:t>
              </a:r>
              <a:r>
                <a:rPr lang="zh-CN" altLang="en-US" b="1" dirty="0">
                  <a:latin typeface="楷体" panose="02010609060101010101" pitchFamily="49" charset="-122"/>
                  <a:ea typeface="楷体" panose="02010609060101010101" pitchFamily="49" charset="-122"/>
                </a:rPr>
                <a:t>、预测性</a:t>
              </a:r>
              <a:r>
                <a:rPr lang="zh-CN" altLang="en-US" b="1" dirty="0" smtClean="0">
                  <a:latin typeface="楷体" panose="02010609060101010101" pitchFamily="49" charset="-122"/>
                  <a:ea typeface="楷体" panose="02010609060101010101" pitchFamily="49" charset="-122"/>
                </a:rPr>
                <a:t>、可调控</a:t>
              </a:r>
              <a:r>
                <a:rPr lang="zh-CN" altLang="en-US" b="1" dirty="0">
                  <a:latin typeface="楷体" panose="02010609060101010101" pitchFamily="49" charset="-122"/>
                  <a:ea typeface="楷体" panose="02010609060101010101" pitchFamily="49" charset="-122"/>
                </a:rPr>
                <a:t>性</a:t>
              </a:r>
              <a:endParaRPr lang="zh-CN" altLang="en-US" b="1" dirty="0">
                <a:latin typeface="楷体" panose="02010609060101010101" pitchFamily="49" charset="-122"/>
                <a:ea typeface="楷体" panose="02010609060101010101" pitchFamily="49" charset="-122"/>
              </a:endParaRPr>
            </a:p>
          </p:txBody>
        </p:sp>
        <p:sp>
          <p:nvSpPr>
            <p:cNvPr id="8" name="Line 44"/>
            <p:cNvSpPr>
              <a:spLocks noChangeShapeType="1"/>
            </p:cNvSpPr>
            <p:nvPr/>
          </p:nvSpPr>
          <p:spPr bwMode="auto">
            <a:xfrm flipV="1">
              <a:off x="9127" y="1885"/>
              <a:ext cx="3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46"/>
            <p:cNvSpPr txBox="1">
              <a:spLocks noChangeArrowheads="1"/>
            </p:cNvSpPr>
            <p:nvPr/>
          </p:nvSpPr>
          <p:spPr bwMode="auto">
            <a:xfrm>
              <a:off x="9531" y="2664"/>
              <a:ext cx="4053" cy="109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latin typeface="楷体" panose="02010609060101010101" pitchFamily="49" charset="-122"/>
                  <a:ea typeface="楷体" panose="02010609060101010101" pitchFamily="49" charset="-122"/>
                </a:rPr>
                <a:t>去粗取精、去伪存真、由此及彼、由表及里</a:t>
              </a:r>
              <a:endParaRPr lang="zh-CN" altLang="en-US" b="1" dirty="0">
                <a:latin typeface="楷体" panose="02010609060101010101" pitchFamily="49" charset="-122"/>
                <a:ea typeface="楷体" panose="02010609060101010101" pitchFamily="49" charset="-122"/>
              </a:endParaRPr>
            </a:p>
          </p:txBody>
        </p:sp>
        <p:sp>
          <p:nvSpPr>
            <p:cNvPr id="10" name="Line 47"/>
            <p:cNvSpPr>
              <a:spLocks noChangeShapeType="1"/>
            </p:cNvSpPr>
            <p:nvPr/>
          </p:nvSpPr>
          <p:spPr bwMode="auto">
            <a:xfrm flipV="1">
              <a:off x="9127" y="5967"/>
              <a:ext cx="3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51"/>
            <p:cNvSpPr txBox="1">
              <a:spLocks noChangeArrowheads="1"/>
            </p:cNvSpPr>
            <p:nvPr/>
          </p:nvSpPr>
          <p:spPr bwMode="auto">
            <a:xfrm>
              <a:off x="9531" y="5414"/>
              <a:ext cx="4053" cy="107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latin typeface="楷体" panose="02010609060101010101" pitchFamily="49" charset="-122"/>
                  <a:ea typeface="楷体" panose="02010609060101010101" pitchFamily="49" charset="-122"/>
                </a:rPr>
                <a:t>善于从偶然中发现</a:t>
              </a:r>
              <a:endParaRPr lang="zh-CN" altLang="en-US" b="1" dirty="0">
                <a:latin typeface="楷体" panose="02010609060101010101" pitchFamily="49" charset="-122"/>
                <a:ea typeface="楷体" panose="02010609060101010101" pitchFamily="49" charset="-122"/>
              </a:endParaRPr>
            </a:p>
            <a:p>
              <a:pPr algn="ctr">
                <a:lnSpc>
                  <a:spcPct val="125000"/>
                </a:lnSpc>
              </a:pPr>
              <a:r>
                <a:rPr lang="zh-CN" altLang="en-US" b="1" dirty="0">
                  <a:latin typeface="楷体" panose="02010609060101010101" pitchFamily="49" charset="-122"/>
                  <a:ea typeface="楷体" panose="02010609060101010101" pitchFamily="49" charset="-122"/>
                </a:rPr>
                <a:t>必然、把握机遇</a:t>
              </a:r>
              <a:endParaRPr lang="zh-CN" altLang="en-US" b="1" dirty="0">
                <a:latin typeface="楷体" panose="02010609060101010101" pitchFamily="49" charset="-122"/>
                <a:ea typeface="楷体" panose="02010609060101010101" pitchFamily="49" charset="-122"/>
              </a:endParaRPr>
            </a:p>
          </p:txBody>
        </p:sp>
        <p:sp>
          <p:nvSpPr>
            <p:cNvPr id="12" name="Line 52"/>
            <p:cNvSpPr>
              <a:spLocks noChangeShapeType="1"/>
            </p:cNvSpPr>
            <p:nvPr/>
          </p:nvSpPr>
          <p:spPr bwMode="auto">
            <a:xfrm>
              <a:off x="9127" y="3245"/>
              <a:ext cx="3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53"/>
            <p:cNvSpPr txBox="1">
              <a:spLocks noChangeArrowheads="1"/>
            </p:cNvSpPr>
            <p:nvPr/>
          </p:nvSpPr>
          <p:spPr bwMode="auto">
            <a:xfrm>
              <a:off x="9531" y="6691"/>
              <a:ext cx="4053" cy="155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latin typeface="楷体" panose="02010609060101010101" pitchFamily="49" charset="-122"/>
                  <a:ea typeface="楷体" panose="02010609060101010101" pitchFamily="49" charset="-122"/>
                </a:rPr>
                <a:t>分析各种可能、</a:t>
              </a:r>
              <a:endParaRPr lang="zh-CN" altLang="en-US" b="1" dirty="0">
                <a:latin typeface="楷体" panose="02010609060101010101" pitchFamily="49" charset="-122"/>
                <a:ea typeface="楷体" panose="02010609060101010101" pitchFamily="49" charset="-122"/>
              </a:endParaRPr>
            </a:p>
            <a:p>
              <a:pPr algn="ctr">
                <a:lnSpc>
                  <a:spcPct val="125000"/>
                </a:lnSpc>
              </a:pPr>
              <a:r>
                <a:rPr lang="zh-CN" altLang="en-US" b="1" dirty="0">
                  <a:latin typeface="楷体" panose="02010609060101010101" pitchFamily="49" charset="-122"/>
                  <a:ea typeface="楷体" panose="02010609060101010101" pitchFamily="49" charset="-122"/>
                </a:rPr>
                <a:t>争取好的</a:t>
              </a:r>
              <a:r>
                <a:rPr lang="zh-CN" altLang="en-US" b="1" dirty="0" smtClean="0">
                  <a:latin typeface="楷体" panose="02010609060101010101" pitchFamily="49" charset="-122"/>
                  <a:ea typeface="楷体" panose="02010609060101010101" pitchFamily="49" charset="-122"/>
                </a:rPr>
                <a:t>可能、避免坏的可能</a:t>
              </a:r>
              <a:endParaRPr lang="zh-CN" altLang="en-US" b="1" dirty="0">
                <a:latin typeface="楷体" panose="02010609060101010101" pitchFamily="49" charset="-122"/>
                <a:ea typeface="楷体" panose="02010609060101010101" pitchFamily="49" charset="-122"/>
              </a:endParaRPr>
            </a:p>
          </p:txBody>
        </p:sp>
        <p:sp>
          <p:nvSpPr>
            <p:cNvPr id="14" name="Line 54"/>
            <p:cNvSpPr>
              <a:spLocks noChangeShapeType="1"/>
            </p:cNvSpPr>
            <p:nvPr/>
          </p:nvSpPr>
          <p:spPr bwMode="auto">
            <a:xfrm flipV="1">
              <a:off x="9127" y="4605"/>
              <a:ext cx="3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55"/>
            <p:cNvSpPr txBox="1">
              <a:spLocks noChangeArrowheads="1"/>
            </p:cNvSpPr>
            <p:nvPr/>
          </p:nvSpPr>
          <p:spPr bwMode="auto">
            <a:xfrm>
              <a:off x="9531" y="1288"/>
              <a:ext cx="4053" cy="107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latin typeface="楷体" panose="02010609060101010101" pitchFamily="49" charset="-122"/>
                  <a:ea typeface="楷体" panose="02010609060101010101" pitchFamily="49" charset="-122"/>
                </a:rPr>
                <a:t>反对形式主义，</a:t>
              </a:r>
              <a:endParaRPr lang="zh-CN" altLang="en-US" b="1" dirty="0">
                <a:latin typeface="楷体" panose="02010609060101010101" pitchFamily="49" charset="-122"/>
                <a:ea typeface="楷体" panose="02010609060101010101" pitchFamily="49" charset="-122"/>
              </a:endParaRPr>
            </a:p>
            <a:p>
              <a:pPr algn="ctr">
                <a:lnSpc>
                  <a:spcPct val="125000"/>
                </a:lnSpc>
              </a:pPr>
              <a:r>
                <a:rPr lang="zh-CN" altLang="en-US" b="1" dirty="0">
                  <a:latin typeface="楷体" panose="02010609060101010101" pitchFamily="49" charset="-122"/>
                  <a:ea typeface="楷体" panose="02010609060101010101" pitchFamily="49" charset="-122"/>
                </a:rPr>
                <a:t>积极利用合适形式</a:t>
              </a:r>
              <a:endParaRPr lang="zh-CN" altLang="en-US" b="1" dirty="0">
                <a:latin typeface="楷体" panose="02010609060101010101" pitchFamily="49" charset="-122"/>
                <a:ea typeface="楷体" panose="02010609060101010101" pitchFamily="49" charset="-122"/>
              </a:endParaRPr>
            </a:p>
          </p:txBody>
        </p:sp>
        <p:sp>
          <p:nvSpPr>
            <p:cNvPr id="16" name="Line 56"/>
            <p:cNvSpPr>
              <a:spLocks noChangeShapeType="1"/>
            </p:cNvSpPr>
            <p:nvPr/>
          </p:nvSpPr>
          <p:spPr bwMode="auto">
            <a:xfrm flipV="1">
              <a:off x="9127" y="7327"/>
              <a:ext cx="3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70"/>
            <p:cNvSpPr>
              <a:spLocks noChangeShapeType="1"/>
            </p:cNvSpPr>
            <p:nvPr/>
          </p:nvSpPr>
          <p:spPr bwMode="auto">
            <a:xfrm>
              <a:off x="2890" y="4720"/>
              <a:ext cx="455" cy="0"/>
            </a:xfrm>
            <a:prstGeom prst="line">
              <a:avLst/>
            </a:prstGeom>
            <a:noFill/>
            <a:ln w="57150">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Text Box 42"/>
            <p:cNvSpPr txBox="1">
              <a:spLocks noChangeArrowheads="1"/>
            </p:cNvSpPr>
            <p:nvPr/>
          </p:nvSpPr>
          <p:spPr bwMode="auto">
            <a:xfrm>
              <a:off x="4249" y="4333"/>
              <a:ext cx="3175" cy="603"/>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latin typeface="幼圆" pitchFamily="49" charset="-122"/>
                  <a:ea typeface="幼圆" pitchFamily="49" charset="-122"/>
                </a:rPr>
                <a:t>原因与结果</a:t>
              </a:r>
              <a:endParaRPr lang="zh-CN" altLang="en-US" b="1" dirty="0">
                <a:latin typeface="幼圆" pitchFamily="49" charset="-122"/>
                <a:ea typeface="幼圆" pitchFamily="49" charset="-122"/>
              </a:endParaRPr>
            </a:p>
          </p:txBody>
        </p:sp>
        <p:sp>
          <p:nvSpPr>
            <p:cNvPr id="19" name="Text Box 45"/>
            <p:cNvSpPr txBox="1">
              <a:spLocks noChangeArrowheads="1"/>
            </p:cNvSpPr>
            <p:nvPr/>
          </p:nvSpPr>
          <p:spPr bwMode="auto">
            <a:xfrm>
              <a:off x="4253" y="5628"/>
              <a:ext cx="3175" cy="538"/>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latin typeface="幼圆" pitchFamily="49" charset="-122"/>
                  <a:ea typeface="幼圆" pitchFamily="49" charset="-122"/>
                </a:rPr>
                <a:t>必然与偶然</a:t>
              </a:r>
              <a:endParaRPr lang="zh-CN" altLang="en-US" sz="1200" b="1" dirty="0">
                <a:latin typeface="幼圆" pitchFamily="49" charset="-122"/>
                <a:ea typeface="幼圆" pitchFamily="49" charset="-122"/>
              </a:endParaRPr>
            </a:p>
          </p:txBody>
        </p:sp>
        <p:sp>
          <p:nvSpPr>
            <p:cNvPr id="20" name="Text Box 48"/>
            <p:cNvSpPr txBox="1">
              <a:spLocks noChangeArrowheads="1"/>
            </p:cNvSpPr>
            <p:nvPr/>
          </p:nvSpPr>
          <p:spPr bwMode="auto">
            <a:xfrm>
              <a:off x="4253" y="7100"/>
              <a:ext cx="3175" cy="538"/>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latin typeface="幼圆" pitchFamily="49" charset="-122"/>
                  <a:ea typeface="幼圆" pitchFamily="49" charset="-122"/>
                </a:rPr>
                <a:t>现实与可能</a:t>
              </a:r>
              <a:endParaRPr lang="zh-CN" altLang="en-US" sz="1200" b="1" dirty="0">
                <a:latin typeface="幼圆" pitchFamily="49" charset="-122"/>
                <a:ea typeface="幼圆" pitchFamily="49" charset="-122"/>
              </a:endParaRPr>
            </a:p>
          </p:txBody>
        </p:sp>
        <p:sp>
          <p:nvSpPr>
            <p:cNvPr id="21" name="Text Box 49"/>
            <p:cNvSpPr txBox="1">
              <a:spLocks noChangeArrowheads="1"/>
            </p:cNvSpPr>
            <p:nvPr/>
          </p:nvSpPr>
          <p:spPr bwMode="auto">
            <a:xfrm>
              <a:off x="4253" y="2905"/>
              <a:ext cx="3175" cy="538"/>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latin typeface="幼圆" pitchFamily="49" charset="-122"/>
                  <a:ea typeface="幼圆" pitchFamily="49" charset="-122"/>
                </a:rPr>
                <a:t>本质与现象</a:t>
              </a:r>
              <a:endParaRPr lang="zh-CN" altLang="en-US" sz="1200" b="1" dirty="0">
                <a:latin typeface="幼圆" pitchFamily="49" charset="-122"/>
                <a:ea typeface="幼圆" pitchFamily="49" charset="-122"/>
              </a:endParaRPr>
            </a:p>
          </p:txBody>
        </p:sp>
        <p:sp>
          <p:nvSpPr>
            <p:cNvPr id="22" name="Text Box 50"/>
            <p:cNvSpPr txBox="1">
              <a:spLocks noChangeArrowheads="1"/>
            </p:cNvSpPr>
            <p:nvPr/>
          </p:nvSpPr>
          <p:spPr bwMode="auto">
            <a:xfrm>
              <a:off x="4249" y="1583"/>
              <a:ext cx="3175" cy="603"/>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a:latin typeface="幼圆" pitchFamily="49" charset="-122"/>
                  <a:ea typeface="幼圆" pitchFamily="49" charset="-122"/>
                </a:rPr>
                <a:t>内容与形式</a:t>
              </a:r>
              <a:endParaRPr lang="zh-CN" altLang="en-US" sz="1200" b="1">
                <a:latin typeface="幼圆" pitchFamily="49" charset="-122"/>
                <a:ea typeface="幼圆" pitchFamily="49" charset="-122"/>
              </a:endParaRPr>
            </a:p>
          </p:txBody>
        </p:sp>
        <p:sp>
          <p:nvSpPr>
            <p:cNvPr id="23" name="Line 57"/>
            <p:cNvSpPr>
              <a:spLocks noChangeShapeType="1"/>
            </p:cNvSpPr>
            <p:nvPr/>
          </p:nvSpPr>
          <p:spPr bwMode="auto">
            <a:xfrm flipV="1">
              <a:off x="3345" y="3245"/>
              <a:ext cx="907" cy="0"/>
            </a:xfrm>
            <a:prstGeom prst="line">
              <a:avLst/>
            </a:prstGeom>
            <a:noFill/>
            <a:ln w="57150">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65"/>
            <p:cNvSpPr>
              <a:spLocks noChangeShapeType="1"/>
            </p:cNvSpPr>
            <p:nvPr/>
          </p:nvSpPr>
          <p:spPr bwMode="auto">
            <a:xfrm>
              <a:off x="4592" y="3925"/>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66"/>
            <p:cNvSpPr>
              <a:spLocks noChangeShapeType="1"/>
            </p:cNvSpPr>
            <p:nvPr/>
          </p:nvSpPr>
          <p:spPr bwMode="auto">
            <a:xfrm flipV="1">
              <a:off x="3345" y="1885"/>
              <a:ext cx="907" cy="0"/>
            </a:xfrm>
            <a:prstGeom prst="line">
              <a:avLst/>
            </a:prstGeom>
            <a:noFill/>
            <a:ln w="57150">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67"/>
            <p:cNvSpPr>
              <a:spLocks noChangeShapeType="1"/>
            </p:cNvSpPr>
            <p:nvPr/>
          </p:nvSpPr>
          <p:spPr bwMode="auto">
            <a:xfrm flipV="1">
              <a:off x="3345" y="4720"/>
              <a:ext cx="907" cy="0"/>
            </a:xfrm>
            <a:prstGeom prst="line">
              <a:avLst/>
            </a:prstGeom>
            <a:noFill/>
            <a:ln w="57150">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p>
          </p:txBody>
        </p:sp>
        <p:sp>
          <p:nvSpPr>
            <p:cNvPr id="27" name="Line 68"/>
            <p:cNvSpPr>
              <a:spLocks noChangeShapeType="1"/>
            </p:cNvSpPr>
            <p:nvPr/>
          </p:nvSpPr>
          <p:spPr bwMode="auto">
            <a:xfrm flipV="1">
              <a:off x="3345" y="5967"/>
              <a:ext cx="907" cy="0"/>
            </a:xfrm>
            <a:prstGeom prst="line">
              <a:avLst/>
            </a:prstGeom>
            <a:noFill/>
            <a:ln w="57150">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69"/>
            <p:cNvSpPr>
              <a:spLocks noChangeShapeType="1"/>
            </p:cNvSpPr>
            <p:nvPr/>
          </p:nvSpPr>
          <p:spPr bwMode="auto">
            <a:xfrm flipV="1">
              <a:off x="3345" y="7555"/>
              <a:ext cx="907" cy="0"/>
            </a:xfrm>
            <a:prstGeom prst="line">
              <a:avLst/>
            </a:prstGeom>
            <a:noFill/>
            <a:ln w="57150">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p>
          </p:txBody>
        </p:sp>
        <p:sp>
          <p:nvSpPr>
            <p:cNvPr id="29" name="Line 71"/>
            <p:cNvSpPr>
              <a:spLocks noChangeShapeType="1"/>
            </p:cNvSpPr>
            <p:nvPr/>
          </p:nvSpPr>
          <p:spPr bwMode="auto">
            <a:xfrm>
              <a:off x="3345" y="1885"/>
              <a:ext cx="0" cy="5670"/>
            </a:xfrm>
            <a:prstGeom prst="line">
              <a:avLst/>
            </a:prstGeom>
            <a:noFill/>
            <a:ln w="57150">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73"/>
            <p:cNvSpPr>
              <a:spLocks noChangeShapeType="1"/>
            </p:cNvSpPr>
            <p:nvPr/>
          </p:nvSpPr>
          <p:spPr bwMode="auto">
            <a:xfrm flipV="1">
              <a:off x="7427" y="1997"/>
              <a:ext cx="2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Text Box 74"/>
            <p:cNvSpPr txBox="1">
              <a:spLocks noChangeArrowheads="1"/>
            </p:cNvSpPr>
            <p:nvPr/>
          </p:nvSpPr>
          <p:spPr bwMode="auto">
            <a:xfrm>
              <a:off x="7709" y="4137"/>
              <a:ext cx="1475" cy="973"/>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 panose="02010609060101010101" pitchFamily="49" charset="-122"/>
                  <a:ea typeface="楷体" panose="02010609060101010101" pitchFamily="49" charset="-122"/>
                </a:rPr>
                <a:t>引起与被引起</a:t>
              </a:r>
              <a:endParaRPr lang="zh-CN" altLang="en-US" sz="1600" b="1" dirty="0">
                <a:latin typeface="楷体" panose="02010609060101010101" pitchFamily="49" charset="-122"/>
                <a:ea typeface="楷体" panose="02010609060101010101" pitchFamily="49" charset="-122"/>
              </a:endParaRPr>
            </a:p>
          </p:txBody>
        </p:sp>
        <p:sp>
          <p:nvSpPr>
            <p:cNvPr id="34" name="Text Box 77"/>
            <p:cNvSpPr txBox="1">
              <a:spLocks noChangeArrowheads="1"/>
            </p:cNvSpPr>
            <p:nvPr/>
          </p:nvSpPr>
          <p:spPr bwMode="auto">
            <a:xfrm>
              <a:off x="7653" y="2678"/>
              <a:ext cx="1475" cy="973"/>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a:latin typeface="楷体" panose="02010609060101010101" pitchFamily="49" charset="-122"/>
                  <a:ea typeface="楷体" panose="02010609060101010101" pitchFamily="49" charset="-122"/>
                </a:rPr>
                <a:t>外在和内在</a:t>
              </a:r>
              <a:endParaRPr lang="zh-CN" altLang="en-US" sz="1600" b="1">
                <a:latin typeface="楷体" panose="02010609060101010101" pitchFamily="49" charset="-122"/>
                <a:ea typeface="楷体" panose="02010609060101010101" pitchFamily="49" charset="-122"/>
              </a:endParaRPr>
            </a:p>
          </p:txBody>
        </p:sp>
        <p:sp>
          <p:nvSpPr>
            <p:cNvPr id="35" name="Line 78"/>
            <p:cNvSpPr>
              <a:spLocks noChangeShapeType="1"/>
            </p:cNvSpPr>
            <p:nvPr/>
          </p:nvSpPr>
          <p:spPr bwMode="auto">
            <a:xfrm flipV="1">
              <a:off x="7427" y="3245"/>
              <a:ext cx="2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Line 79"/>
            <p:cNvSpPr>
              <a:spLocks noChangeShapeType="1"/>
            </p:cNvSpPr>
            <p:nvPr/>
          </p:nvSpPr>
          <p:spPr bwMode="auto">
            <a:xfrm flipV="1">
              <a:off x="7427" y="4605"/>
              <a:ext cx="2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Text Box 80"/>
            <p:cNvSpPr txBox="1">
              <a:spLocks noChangeArrowheads="1"/>
            </p:cNvSpPr>
            <p:nvPr/>
          </p:nvSpPr>
          <p:spPr bwMode="auto">
            <a:xfrm>
              <a:off x="7686" y="1386"/>
              <a:ext cx="1475" cy="973"/>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 panose="02010609060101010101" pitchFamily="49" charset="-122"/>
                  <a:ea typeface="楷体" panose="02010609060101010101" pitchFamily="49" charset="-122"/>
                </a:rPr>
                <a:t>构成和表现</a:t>
              </a:r>
              <a:endParaRPr lang="zh-CN" altLang="en-US" sz="1600" b="1" dirty="0">
                <a:latin typeface="楷体" panose="02010609060101010101" pitchFamily="49" charset="-122"/>
                <a:ea typeface="楷体" panose="02010609060101010101" pitchFamily="49" charset="-122"/>
              </a:endParaRPr>
            </a:p>
          </p:txBody>
        </p:sp>
        <p:sp>
          <p:nvSpPr>
            <p:cNvPr id="38" name="Line 81"/>
            <p:cNvSpPr>
              <a:spLocks noChangeShapeType="1"/>
            </p:cNvSpPr>
            <p:nvPr/>
          </p:nvSpPr>
          <p:spPr bwMode="auto">
            <a:xfrm flipV="1">
              <a:off x="7427" y="5967"/>
              <a:ext cx="2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Text Box 82"/>
            <p:cNvSpPr txBox="1">
              <a:spLocks noChangeArrowheads="1"/>
            </p:cNvSpPr>
            <p:nvPr/>
          </p:nvSpPr>
          <p:spPr bwMode="auto">
            <a:xfrm>
              <a:off x="7653" y="5400"/>
              <a:ext cx="1475" cy="973"/>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a:latin typeface="楷体" panose="02010609060101010101" pitchFamily="49" charset="-122"/>
                  <a:ea typeface="楷体" panose="02010609060101010101" pitchFamily="49" charset="-122"/>
                </a:rPr>
                <a:t>发展不同趋势</a:t>
              </a:r>
              <a:endParaRPr lang="zh-CN" altLang="en-US" sz="1600" b="1">
                <a:latin typeface="楷体" panose="02010609060101010101" pitchFamily="49" charset="-122"/>
                <a:ea typeface="楷体" panose="02010609060101010101" pitchFamily="49" charset="-122"/>
              </a:endParaRPr>
            </a:p>
          </p:txBody>
        </p:sp>
        <p:sp>
          <p:nvSpPr>
            <p:cNvPr id="40" name="Line 83"/>
            <p:cNvSpPr>
              <a:spLocks noChangeShapeType="1"/>
            </p:cNvSpPr>
            <p:nvPr/>
          </p:nvSpPr>
          <p:spPr bwMode="auto">
            <a:xfrm flipV="1">
              <a:off x="7427" y="7440"/>
              <a:ext cx="2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Text Box 84"/>
            <p:cNvSpPr txBox="1">
              <a:spLocks noChangeArrowheads="1"/>
            </p:cNvSpPr>
            <p:nvPr/>
          </p:nvSpPr>
          <p:spPr bwMode="auto">
            <a:xfrm>
              <a:off x="7653" y="6760"/>
              <a:ext cx="1475" cy="973"/>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 panose="02010609060101010101" pitchFamily="49" charset="-122"/>
                  <a:ea typeface="楷体" panose="02010609060101010101" pitchFamily="49" charset="-122"/>
                </a:rPr>
                <a:t>过去现在未来</a:t>
              </a:r>
              <a:endParaRPr lang="zh-CN" altLang="en-US" sz="1600" b="1" dirty="0">
                <a:latin typeface="楷体" panose="02010609060101010101" pitchFamily="49" charset="-122"/>
                <a:ea typeface="楷体" panose="02010609060101010101" pitchFamily="49" charset="-122"/>
              </a:endParaRP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3"/>
          <p:cNvGrpSpPr/>
          <p:nvPr/>
        </p:nvGrpSpPr>
        <p:grpSpPr bwMode="auto">
          <a:xfrm>
            <a:off x="357158" y="285572"/>
            <a:ext cx="8305383" cy="6114183"/>
            <a:chOff x="83" y="127"/>
            <a:chExt cx="5618" cy="4027"/>
          </a:xfrm>
        </p:grpSpPr>
        <p:sp>
          <p:nvSpPr>
            <p:cNvPr id="7" name="Text Box 6"/>
            <p:cNvSpPr txBox="1">
              <a:spLocks noChangeArrowheads="1"/>
            </p:cNvSpPr>
            <p:nvPr/>
          </p:nvSpPr>
          <p:spPr bwMode="auto">
            <a:xfrm>
              <a:off x="2258" y="127"/>
              <a:ext cx="1270" cy="54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C00000"/>
                  </a:solidFill>
                  <a:latin typeface="楷体_GB2312" pitchFamily="1" charset="-122"/>
                  <a:ea typeface="楷体_GB2312" pitchFamily="1" charset="-122"/>
                </a:rPr>
                <a:t>联  系</a:t>
              </a:r>
              <a:endParaRPr lang="zh-CN" altLang="en-US" sz="1400" b="1" dirty="0">
                <a:solidFill>
                  <a:srgbClr val="C00000"/>
                </a:solidFill>
                <a:latin typeface="楷体_GB2312" pitchFamily="1" charset="-122"/>
                <a:ea typeface="楷体_GB2312" pitchFamily="1" charset="-122"/>
              </a:endParaRPr>
            </a:p>
            <a:p>
              <a:pPr algn="ctr"/>
              <a:r>
                <a:rPr lang="zh-CN" altLang="en-US" sz="1600" b="1" dirty="0" smtClean="0">
                  <a:latin typeface="楷体" panose="02010609060101010101" pitchFamily="49" charset="-122"/>
                  <a:ea typeface="楷体" panose="02010609060101010101" pitchFamily="49" charset="-122"/>
                </a:rPr>
                <a:t>（客观性、普遍性、多样性、条件性）</a:t>
              </a:r>
              <a:endParaRPr lang="zh-CN" altLang="en-US" sz="1600" b="1" dirty="0">
                <a:latin typeface="楷体" panose="02010609060101010101" pitchFamily="49" charset="-122"/>
                <a:ea typeface="楷体" panose="02010609060101010101" pitchFamily="49" charset="-122"/>
              </a:endParaRPr>
            </a:p>
          </p:txBody>
        </p:sp>
        <p:sp>
          <p:nvSpPr>
            <p:cNvPr id="8" name="Text Box 7"/>
            <p:cNvSpPr txBox="1">
              <a:spLocks noChangeArrowheads="1"/>
            </p:cNvSpPr>
            <p:nvPr/>
          </p:nvSpPr>
          <p:spPr bwMode="auto">
            <a:xfrm>
              <a:off x="3949" y="127"/>
              <a:ext cx="1704" cy="26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_GB2312" pitchFamily="1" charset="-122"/>
                  <a:ea typeface="楷体_GB2312" pitchFamily="1" charset="-122"/>
                </a:rPr>
                <a:t>系统观</a:t>
              </a:r>
              <a:endParaRPr lang="zh-CN" altLang="en-US" sz="1600" b="1" dirty="0">
                <a:latin typeface="楷体_GB2312" pitchFamily="1" charset="-122"/>
                <a:ea typeface="楷体_GB2312" pitchFamily="1" charset="-122"/>
              </a:endParaRPr>
            </a:p>
          </p:txBody>
        </p:sp>
        <p:sp>
          <p:nvSpPr>
            <p:cNvPr id="9" name="Text Box 8"/>
            <p:cNvSpPr txBox="1">
              <a:spLocks noChangeArrowheads="1"/>
            </p:cNvSpPr>
            <p:nvPr/>
          </p:nvSpPr>
          <p:spPr bwMode="auto">
            <a:xfrm>
              <a:off x="83" y="300"/>
              <a:ext cx="415" cy="3130"/>
            </a:xfrm>
            <a:prstGeom prst="rect">
              <a:avLst/>
            </a:prstGeom>
          </p:spPr>
          <p:style>
            <a:lnRef idx="3">
              <a:schemeClr val="lt1"/>
            </a:lnRef>
            <a:fillRef idx="1">
              <a:schemeClr val="accent6"/>
            </a:fillRef>
            <a:effectRef idx="1">
              <a:schemeClr val="accent6"/>
            </a:effectRef>
            <a:fontRef idx="minor">
              <a:schemeClr val="lt1"/>
            </a:fontRef>
          </p:style>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800" b="1" dirty="0">
                  <a:latin typeface="黑体" panose="02010609060101010101" pitchFamily="49" charset="-122"/>
                  <a:ea typeface="黑体" panose="02010609060101010101" pitchFamily="49" charset="-122"/>
                </a:rPr>
                <a:t>辩  证  法</a:t>
              </a:r>
              <a:endParaRPr lang="zh-CN" altLang="en-US" sz="2800" b="1" dirty="0">
                <a:latin typeface="黑体" panose="02010609060101010101" pitchFamily="49" charset="-122"/>
                <a:ea typeface="黑体" panose="02010609060101010101" pitchFamily="49" charset="-122"/>
              </a:endParaRPr>
            </a:p>
          </p:txBody>
        </p:sp>
        <p:sp>
          <p:nvSpPr>
            <p:cNvPr id="61" name="Rectangle 12"/>
            <p:cNvSpPr>
              <a:spLocks noChangeArrowheads="1"/>
            </p:cNvSpPr>
            <p:nvPr/>
          </p:nvSpPr>
          <p:spPr bwMode="auto">
            <a:xfrm>
              <a:off x="838" y="312"/>
              <a:ext cx="925" cy="288"/>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buFont typeface="Wingdings" panose="05000000000000000000" pitchFamily="2" charset="2"/>
                <a:buNone/>
              </a:pPr>
              <a:r>
                <a:rPr lang="zh-CN" altLang="en-US" sz="1800" b="1" dirty="0">
                  <a:solidFill>
                    <a:schemeClr val="tx1">
                      <a:lumMod val="95000"/>
                      <a:lumOff val="5000"/>
                    </a:schemeClr>
                  </a:solidFill>
                  <a:ea typeface="幼圆" pitchFamily="49" charset="-122"/>
                </a:rPr>
                <a:t>总特征</a:t>
              </a:r>
              <a:endParaRPr lang="zh-CN" altLang="en-US" sz="1800" b="1" dirty="0">
                <a:solidFill>
                  <a:schemeClr val="tx1">
                    <a:lumMod val="95000"/>
                    <a:lumOff val="5000"/>
                  </a:schemeClr>
                </a:solidFill>
                <a:ea typeface="幼圆" pitchFamily="49" charset="-122"/>
              </a:endParaRPr>
            </a:p>
          </p:txBody>
        </p:sp>
        <p:sp>
          <p:nvSpPr>
            <p:cNvPr id="12" name="AutoShape 13"/>
            <p:cNvSpPr>
              <a:spLocks noChangeArrowheads="1"/>
            </p:cNvSpPr>
            <p:nvPr/>
          </p:nvSpPr>
          <p:spPr bwMode="auto">
            <a:xfrm>
              <a:off x="521" y="3158"/>
              <a:ext cx="272" cy="162"/>
            </a:xfrm>
            <a:prstGeom prst="rightArrow">
              <a:avLst>
                <a:gd name="adj1" fmla="val 50000"/>
                <a:gd name="adj2" fmla="val 41921"/>
              </a:avLst>
            </a:prstGeom>
          </p:spPr>
          <p:style>
            <a:lnRef idx="1">
              <a:schemeClr val="accent6"/>
            </a:lnRef>
            <a:fillRef idx="2">
              <a:schemeClr val="accent6"/>
            </a:fillRef>
            <a:effectRef idx="1">
              <a:schemeClr val="accent6"/>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1100"/>
            </a:p>
          </p:txBody>
        </p:sp>
        <p:sp>
          <p:nvSpPr>
            <p:cNvPr id="59" name="Rectangle 17"/>
            <p:cNvSpPr>
              <a:spLocks noChangeArrowheads="1"/>
            </p:cNvSpPr>
            <p:nvPr/>
          </p:nvSpPr>
          <p:spPr bwMode="auto">
            <a:xfrm>
              <a:off x="856" y="1680"/>
              <a:ext cx="925" cy="288"/>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buFont typeface="Wingdings" panose="05000000000000000000" pitchFamily="2" charset="2"/>
                <a:buNone/>
              </a:pPr>
              <a:r>
                <a:rPr lang="zh-CN" altLang="en-US" sz="1800" b="1" dirty="0">
                  <a:solidFill>
                    <a:schemeClr val="tx1">
                      <a:lumMod val="95000"/>
                      <a:lumOff val="5000"/>
                    </a:schemeClr>
                  </a:solidFill>
                  <a:ea typeface="幼圆" pitchFamily="49" charset="-122"/>
                </a:rPr>
                <a:t>基本规律</a:t>
              </a:r>
              <a:endParaRPr lang="zh-CN" altLang="en-US" sz="1800" b="1" dirty="0">
                <a:solidFill>
                  <a:schemeClr val="tx1">
                    <a:lumMod val="95000"/>
                    <a:lumOff val="5000"/>
                  </a:schemeClr>
                </a:solidFill>
                <a:ea typeface="幼圆" pitchFamily="49" charset="-122"/>
              </a:endParaRPr>
            </a:p>
          </p:txBody>
        </p:sp>
        <p:sp>
          <p:nvSpPr>
            <p:cNvPr id="15" name="AutoShape 18"/>
            <p:cNvSpPr>
              <a:spLocks noChangeArrowheads="1"/>
            </p:cNvSpPr>
            <p:nvPr/>
          </p:nvSpPr>
          <p:spPr bwMode="auto">
            <a:xfrm>
              <a:off x="521" y="394"/>
              <a:ext cx="227" cy="162"/>
            </a:xfrm>
            <a:prstGeom prst="rightArrow">
              <a:avLst>
                <a:gd name="adj1" fmla="val 50000"/>
                <a:gd name="adj2" fmla="val 34985"/>
              </a:avLst>
            </a:prstGeom>
          </p:spPr>
          <p:style>
            <a:lnRef idx="1">
              <a:schemeClr val="accent6"/>
            </a:lnRef>
            <a:fillRef idx="2">
              <a:schemeClr val="accent6"/>
            </a:fillRef>
            <a:effectRef idx="1">
              <a:schemeClr val="accent6"/>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1100" dirty="0"/>
            </a:p>
          </p:txBody>
        </p:sp>
        <p:sp>
          <p:nvSpPr>
            <p:cNvPr id="17" name="Text Box 21"/>
            <p:cNvSpPr txBox="1">
              <a:spLocks noChangeArrowheads="1"/>
            </p:cNvSpPr>
            <p:nvPr/>
          </p:nvSpPr>
          <p:spPr bwMode="auto">
            <a:xfrm>
              <a:off x="2258" y="692"/>
              <a:ext cx="1270" cy="38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C00000"/>
                  </a:solidFill>
                  <a:latin typeface="楷体_GB2312" pitchFamily="1" charset="-122"/>
                  <a:ea typeface="楷体_GB2312" pitchFamily="1" charset="-122"/>
                </a:rPr>
                <a:t>发  展</a:t>
              </a:r>
              <a:endParaRPr lang="zh-CN" altLang="en-US" sz="1600" b="1" dirty="0">
                <a:solidFill>
                  <a:srgbClr val="C00000"/>
                </a:solidFill>
                <a:latin typeface="楷体_GB2312" pitchFamily="1" charset="-122"/>
                <a:ea typeface="楷体_GB2312" pitchFamily="1" charset="-122"/>
              </a:endParaRPr>
            </a:p>
            <a:p>
              <a:pPr algn="ctr"/>
              <a:r>
                <a:rPr lang="zh-CN" altLang="en-US" sz="1600" b="1" dirty="0">
                  <a:latin typeface="楷体" panose="02010609060101010101" pitchFamily="49" charset="-122"/>
                  <a:ea typeface="楷体" panose="02010609060101010101" pitchFamily="49" charset="-122"/>
                </a:rPr>
                <a:t>（前进、上升）</a:t>
              </a:r>
              <a:endParaRPr lang="zh-CN" altLang="en-US" sz="1600" b="1" dirty="0">
                <a:latin typeface="楷体" panose="02010609060101010101" pitchFamily="49" charset="-122"/>
                <a:ea typeface="楷体" panose="02010609060101010101" pitchFamily="49" charset="-122"/>
              </a:endParaRPr>
            </a:p>
          </p:txBody>
        </p:sp>
        <p:sp>
          <p:nvSpPr>
            <p:cNvPr id="18" name="Text Box 22"/>
            <p:cNvSpPr txBox="1">
              <a:spLocks noChangeArrowheads="1"/>
            </p:cNvSpPr>
            <p:nvPr/>
          </p:nvSpPr>
          <p:spPr bwMode="auto">
            <a:xfrm>
              <a:off x="3949" y="739"/>
              <a:ext cx="1704" cy="26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buClrTx/>
                <a:buSzTx/>
                <a:buFontTx/>
              </a:pPr>
              <a:r>
                <a:rPr lang="zh-CN" altLang="en-US" sz="1600" b="1" dirty="0">
                  <a:latin typeface="楷体_GB2312" pitchFamily="1" charset="-122"/>
                  <a:ea typeface="楷体_GB2312" pitchFamily="1" charset="-122"/>
                </a:rPr>
                <a:t>新生事物</a:t>
              </a:r>
              <a:r>
                <a:rPr lang="zh-CN" altLang="en-US" sz="1600" b="1" dirty="0" smtClean="0">
                  <a:latin typeface="楷体_GB2312" pitchFamily="1" charset="-122"/>
                  <a:ea typeface="楷体_GB2312" pitchFamily="1" charset="-122"/>
                </a:rPr>
                <a:t>不可战胜</a:t>
              </a:r>
              <a:endParaRPr lang="zh-CN" altLang="en-US" sz="1600" b="1" dirty="0">
                <a:latin typeface="楷体_GB2312" pitchFamily="1" charset="-122"/>
                <a:ea typeface="楷体_GB2312" pitchFamily="1" charset="-122"/>
              </a:endParaRPr>
            </a:p>
          </p:txBody>
        </p:sp>
        <p:sp>
          <p:nvSpPr>
            <p:cNvPr id="20" name="Text Box 24"/>
            <p:cNvSpPr txBox="1">
              <a:spLocks noChangeArrowheads="1"/>
            </p:cNvSpPr>
            <p:nvPr/>
          </p:nvSpPr>
          <p:spPr bwMode="auto">
            <a:xfrm>
              <a:off x="2209" y="1492"/>
              <a:ext cx="492" cy="465"/>
            </a:xfrm>
            <a:prstGeom prst="rect">
              <a:avLst/>
            </a:prstGeom>
          </p:spPr>
          <p:style>
            <a:lnRef idx="1">
              <a:schemeClr val="accent4"/>
            </a:lnRef>
            <a:fillRef idx="2">
              <a:schemeClr val="accent4"/>
            </a:fillRef>
            <a:effectRef idx="1">
              <a:schemeClr val="accent4"/>
            </a:effectRef>
            <a:fontRef idx="minor">
              <a:schemeClr val="dk1"/>
            </a:fontRef>
          </p:style>
          <p:txBody>
            <a:bodyPr vert="horz"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solidFill>
                    <a:srgbClr val="C00000"/>
                  </a:solidFill>
                  <a:latin typeface="楷体_GB2312" pitchFamily="1" charset="-122"/>
                  <a:ea typeface="楷体_GB2312" pitchFamily="1" charset="-122"/>
                </a:rPr>
                <a:t>对立统一</a:t>
              </a:r>
              <a:endParaRPr lang="zh-CN" altLang="en-US" sz="1600" b="1" dirty="0">
                <a:solidFill>
                  <a:srgbClr val="C00000"/>
                </a:solidFill>
                <a:latin typeface="幼圆" pitchFamily="49" charset="-122"/>
                <a:ea typeface="幼圆" pitchFamily="49" charset="-122"/>
              </a:endParaRPr>
            </a:p>
          </p:txBody>
        </p:sp>
        <p:sp>
          <p:nvSpPr>
            <p:cNvPr id="22" name="Line 26"/>
            <p:cNvSpPr>
              <a:spLocks noChangeShapeType="1"/>
            </p:cNvSpPr>
            <p:nvPr/>
          </p:nvSpPr>
          <p:spPr bwMode="auto">
            <a:xfrm flipV="1">
              <a:off x="1893" y="3216"/>
              <a:ext cx="352" cy="0"/>
            </a:xfrm>
            <a:prstGeom prst="line">
              <a:avLst/>
            </a:prstGeom>
            <a:ln>
              <a:tailEnd type="triangle" w="med" len="med"/>
            </a:ln>
            <a:extLst>
              <a:ext uri="{909E8E84-426E-40DD-AFC4-6F175D3DCCD1}">
                <a14:hiddenFill xmlns:a14="http://schemas.microsoft.com/office/drawing/2010/main">
                  <a:noFill/>
                </a14:hiddenFill>
              </a:ext>
            </a:extLst>
          </p:spPr>
          <p:style>
            <a:lnRef idx="3">
              <a:schemeClr val="accent4"/>
            </a:lnRef>
            <a:fillRef idx="0">
              <a:schemeClr val="accent4"/>
            </a:fillRef>
            <a:effectRef idx="2">
              <a:schemeClr val="accent4"/>
            </a:effectRef>
            <a:fontRef idx="minor">
              <a:schemeClr val="tx1"/>
            </a:fontRef>
          </p:style>
          <p:txBody>
            <a:bodyPr/>
            <a:lstStyle/>
            <a:p>
              <a:endParaRPr lang="zh-CN" altLang="en-US" sz="1100"/>
            </a:p>
          </p:txBody>
        </p:sp>
        <p:sp>
          <p:nvSpPr>
            <p:cNvPr id="23" name="Text Box 27"/>
            <p:cNvSpPr txBox="1">
              <a:spLocks noChangeArrowheads="1"/>
            </p:cNvSpPr>
            <p:nvPr/>
          </p:nvSpPr>
          <p:spPr bwMode="auto">
            <a:xfrm>
              <a:off x="2934" y="1303"/>
              <a:ext cx="1043" cy="34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C00000"/>
                  </a:solidFill>
                  <a:latin typeface="楷体_GB2312" pitchFamily="1" charset="-122"/>
                  <a:ea typeface="楷体_GB2312" pitchFamily="1" charset="-122"/>
                </a:rPr>
                <a:t>质量互变</a:t>
              </a:r>
              <a:endParaRPr lang="zh-CN" altLang="en-US" sz="1400" b="1" dirty="0">
                <a:solidFill>
                  <a:srgbClr val="C00000"/>
                </a:solidFill>
                <a:latin typeface="楷体_GB2312" pitchFamily="1" charset="-122"/>
                <a:ea typeface="楷体_GB2312" pitchFamily="1" charset="-122"/>
              </a:endParaRPr>
            </a:p>
            <a:p>
              <a:pPr algn="ctr"/>
              <a:r>
                <a:rPr lang="zh-CN" altLang="en-US" sz="1400" b="1" dirty="0">
                  <a:latin typeface="楷体" panose="02010609060101010101" pitchFamily="49" charset="-122"/>
                  <a:ea typeface="楷体" panose="02010609060101010101" pitchFamily="49" charset="-122"/>
                </a:rPr>
                <a:t>（质、量、度）</a:t>
              </a:r>
              <a:endParaRPr lang="zh-CN" altLang="en-US" sz="1400" b="1" dirty="0">
                <a:latin typeface="楷体" panose="02010609060101010101" pitchFamily="49" charset="-122"/>
                <a:ea typeface="楷体" panose="02010609060101010101" pitchFamily="49" charset="-122"/>
              </a:endParaRPr>
            </a:p>
          </p:txBody>
        </p:sp>
        <p:sp>
          <p:nvSpPr>
            <p:cNvPr id="25" name="Text Box 29"/>
            <p:cNvSpPr txBox="1">
              <a:spLocks noChangeArrowheads="1"/>
            </p:cNvSpPr>
            <p:nvPr/>
          </p:nvSpPr>
          <p:spPr bwMode="auto">
            <a:xfrm>
              <a:off x="4239" y="1162"/>
              <a:ext cx="1411" cy="46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_GB2312" pitchFamily="1" charset="-122"/>
                  <a:ea typeface="楷体_GB2312" pitchFamily="1" charset="-122"/>
                </a:rPr>
                <a:t>量变质变的辩证</a:t>
              </a:r>
              <a:r>
                <a:rPr lang="zh-CN" altLang="en-US" sz="1600" b="1" dirty="0" smtClean="0">
                  <a:latin typeface="楷体_GB2312" pitchFamily="1" charset="-122"/>
                  <a:ea typeface="楷体_GB2312" pitchFamily="1" charset="-122"/>
                </a:rPr>
                <a:t>关系</a:t>
              </a:r>
              <a:endParaRPr lang="zh-CN" altLang="en-US" sz="1600" b="1" dirty="0" smtClean="0">
                <a:latin typeface="楷体_GB2312" pitchFamily="1" charset="-122"/>
                <a:ea typeface="楷体_GB2312" pitchFamily="1" charset="-122"/>
              </a:endParaRPr>
            </a:p>
            <a:p>
              <a:pPr algn="ctr">
                <a:lnSpc>
                  <a:spcPct val="125000"/>
                </a:lnSpc>
              </a:pPr>
              <a:r>
                <a:rPr lang="zh-CN" altLang="en-US" sz="1600" b="1" dirty="0" smtClean="0">
                  <a:latin typeface="楷体_GB2312" pitchFamily="1" charset="-122"/>
                  <a:ea typeface="楷体_GB2312" pitchFamily="1" charset="-122"/>
                </a:rPr>
                <a:t>质量互变规律</a:t>
              </a:r>
              <a:endParaRPr lang="zh-CN" altLang="en-US" sz="1600" b="1" dirty="0">
                <a:latin typeface="楷体_GB2312" pitchFamily="1" charset="-122"/>
                <a:ea typeface="楷体_GB2312" pitchFamily="1" charset="-122"/>
              </a:endParaRPr>
            </a:p>
          </p:txBody>
        </p:sp>
        <p:sp>
          <p:nvSpPr>
            <p:cNvPr id="26" name="Text Box 30"/>
            <p:cNvSpPr txBox="1">
              <a:spLocks noChangeArrowheads="1"/>
            </p:cNvSpPr>
            <p:nvPr/>
          </p:nvSpPr>
          <p:spPr bwMode="auto">
            <a:xfrm>
              <a:off x="2934" y="1774"/>
              <a:ext cx="1043" cy="344"/>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C00000"/>
                  </a:solidFill>
                  <a:latin typeface="楷体_GB2312" pitchFamily="1" charset="-122"/>
                  <a:ea typeface="楷体_GB2312" pitchFamily="1" charset="-122"/>
                </a:rPr>
                <a:t>否定之否定</a:t>
              </a:r>
              <a:endParaRPr lang="zh-CN" altLang="en-US" sz="1400" b="1" dirty="0">
                <a:solidFill>
                  <a:srgbClr val="C00000"/>
                </a:solidFill>
                <a:latin typeface="楷体_GB2312" pitchFamily="1" charset="-122"/>
                <a:ea typeface="楷体_GB2312" pitchFamily="1" charset="-122"/>
              </a:endParaRPr>
            </a:p>
            <a:p>
              <a:pPr algn="ctr"/>
              <a:r>
                <a:rPr lang="zh-CN" altLang="en-US" sz="1400" b="1" dirty="0">
                  <a:latin typeface="楷体" panose="02010609060101010101" pitchFamily="49" charset="-122"/>
                  <a:ea typeface="楷体" panose="02010609060101010101" pitchFamily="49" charset="-122"/>
                </a:rPr>
                <a:t>（辩证否定观）</a:t>
              </a:r>
              <a:endParaRPr lang="zh-CN" altLang="en-US" sz="1400" b="1" dirty="0">
                <a:latin typeface="楷体" panose="02010609060101010101" pitchFamily="49" charset="-122"/>
                <a:ea typeface="楷体" panose="02010609060101010101" pitchFamily="49" charset="-122"/>
              </a:endParaRPr>
            </a:p>
          </p:txBody>
        </p:sp>
        <p:sp>
          <p:nvSpPr>
            <p:cNvPr id="29" name="Text Box 35"/>
            <p:cNvSpPr txBox="1">
              <a:spLocks noChangeArrowheads="1"/>
            </p:cNvSpPr>
            <p:nvPr/>
          </p:nvSpPr>
          <p:spPr bwMode="auto">
            <a:xfrm>
              <a:off x="4239" y="1680"/>
              <a:ext cx="1411" cy="87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_GB2312" pitchFamily="1" charset="-122"/>
                  <a:ea typeface="楷体_GB2312" pitchFamily="1" charset="-122"/>
                </a:rPr>
                <a:t>两次否定、三个阶段的周期</a:t>
              </a:r>
              <a:endParaRPr lang="zh-CN" altLang="en-US" sz="1600" b="1" dirty="0">
                <a:latin typeface="楷体_GB2312" pitchFamily="1" charset="-122"/>
                <a:ea typeface="楷体_GB2312" pitchFamily="1" charset="-122"/>
              </a:endParaRPr>
            </a:p>
            <a:p>
              <a:pPr algn="ctr">
                <a:lnSpc>
                  <a:spcPct val="125000"/>
                </a:lnSpc>
              </a:pPr>
              <a:r>
                <a:rPr lang="zh-CN" altLang="en-US" sz="1600" b="1" dirty="0">
                  <a:latin typeface="楷体_GB2312" pitchFamily="1" charset="-122"/>
                  <a:ea typeface="楷体_GB2312" pitchFamily="1" charset="-122"/>
                </a:rPr>
                <a:t>事物发展的前进性与曲折性</a:t>
              </a:r>
              <a:endParaRPr lang="zh-CN" altLang="en-US" sz="1600" b="1" dirty="0">
                <a:latin typeface="楷体_GB2312" pitchFamily="1" charset="-122"/>
                <a:ea typeface="楷体_GB2312" pitchFamily="1" charset="-122"/>
              </a:endParaRPr>
            </a:p>
          </p:txBody>
        </p:sp>
        <p:sp>
          <p:nvSpPr>
            <p:cNvPr id="30" name="Line 36"/>
            <p:cNvSpPr>
              <a:spLocks noChangeShapeType="1"/>
            </p:cNvSpPr>
            <p:nvPr/>
          </p:nvSpPr>
          <p:spPr bwMode="auto">
            <a:xfrm>
              <a:off x="1339" y="692"/>
              <a:ext cx="0" cy="861"/>
            </a:xfrm>
            <a:prstGeom prst="line">
              <a:avLst/>
            </a:prstGeom>
            <a:ln>
              <a:tailEnd type="triangle" w="med" len="med"/>
            </a:ln>
            <a:extLst>
              <a:ext uri="{909E8E84-426E-40DD-AFC4-6F175D3DCCD1}">
                <a14:hiddenFill xmlns:a14="http://schemas.microsoft.com/office/drawing/2010/main">
                  <a:noFill/>
                </a14:hiddenFill>
              </a:ext>
            </a:extLst>
          </p:spPr>
          <p:style>
            <a:lnRef idx="3">
              <a:schemeClr val="accent4"/>
            </a:lnRef>
            <a:fillRef idx="0">
              <a:schemeClr val="accent4"/>
            </a:fillRef>
            <a:effectRef idx="2">
              <a:schemeClr val="accent4"/>
            </a:effectRef>
            <a:fontRef idx="minor">
              <a:schemeClr val="tx1"/>
            </a:fontRef>
          </p:style>
          <p:txBody>
            <a:bodyPr/>
            <a:lstStyle/>
            <a:p>
              <a:endParaRPr lang="zh-CN" altLang="en-US" sz="1100" dirty="0"/>
            </a:p>
          </p:txBody>
        </p:sp>
        <p:sp>
          <p:nvSpPr>
            <p:cNvPr id="31" name="Rectangle 37"/>
            <p:cNvSpPr>
              <a:spLocks noChangeArrowheads="1"/>
            </p:cNvSpPr>
            <p:nvPr/>
          </p:nvSpPr>
          <p:spPr bwMode="auto">
            <a:xfrm>
              <a:off x="470" y="645"/>
              <a:ext cx="866" cy="1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FF"/>
                  </a:solidFill>
                  <a:ea typeface="幼圆" pitchFamily="49" charset="-122"/>
                </a:rPr>
                <a:t>联系的根本内容</a:t>
              </a:r>
              <a:endParaRPr lang="zh-CN" altLang="en-US" sz="1600" b="1" dirty="0">
                <a:solidFill>
                  <a:srgbClr val="0000FF"/>
                </a:solidFill>
                <a:ea typeface="幼圆" pitchFamily="49" charset="-122"/>
              </a:endParaRPr>
            </a:p>
            <a:p>
              <a:pPr algn="ctr"/>
              <a:r>
                <a:rPr lang="zh-CN" altLang="en-US" sz="1600" b="1" dirty="0">
                  <a:solidFill>
                    <a:srgbClr val="0000FF"/>
                  </a:solidFill>
                  <a:ea typeface="幼圆" pitchFamily="49" charset="-122"/>
                </a:rPr>
                <a:t>发展的内在动力</a:t>
              </a:r>
              <a:endParaRPr lang="zh-CN" altLang="en-US" sz="1600" b="1" dirty="0">
                <a:solidFill>
                  <a:srgbClr val="0000FF"/>
                </a:solidFill>
                <a:ea typeface="幼圆" pitchFamily="49" charset="-122"/>
              </a:endParaRPr>
            </a:p>
            <a:p>
              <a:pPr algn="ctr"/>
              <a:r>
                <a:rPr lang="zh-CN" altLang="en-US" sz="1600" b="1" dirty="0">
                  <a:solidFill>
                    <a:srgbClr val="0000FF"/>
                  </a:solidFill>
                  <a:ea typeface="幼圆" pitchFamily="49" charset="-122"/>
                </a:rPr>
                <a:t>事物为什么发展</a:t>
              </a:r>
              <a:endParaRPr lang="zh-CN" altLang="en-US" sz="1600" b="1" dirty="0">
                <a:solidFill>
                  <a:srgbClr val="0000FF"/>
                </a:solidFill>
                <a:ea typeface="幼圆" pitchFamily="49" charset="-122"/>
              </a:endParaRPr>
            </a:p>
          </p:txBody>
        </p:sp>
        <p:sp>
          <p:nvSpPr>
            <p:cNvPr id="33" name="Line 39"/>
            <p:cNvSpPr>
              <a:spLocks noChangeShapeType="1"/>
            </p:cNvSpPr>
            <p:nvPr/>
          </p:nvSpPr>
          <p:spPr bwMode="auto">
            <a:xfrm>
              <a:off x="2741" y="1868"/>
              <a:ext cx="181" cy="0"/>
            </a:xfrm>
            <a:prstGeom prst="line">
              <a:avLst/>
            </a:prstGeom>
            <a:noFill/>
            <a:ln w="28575">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100"/>
            </a:p>
          </p:txBody>
        </p:sp>
        <p:sp>
          <p:nvSpPr>
            <p:cNvPr id="34" name="Line 40"/>
            <p:cNvSpPr>
              <a:spLocks noChangeShapeType="1"/>
            </p:cNvSpPr>
            <p:nvPr/>
          </p:nvSpPr>
          <p:spPr bwMode="auto">
            <a:xfrm>
              <a:off x="2741" y="1586"/>
              <a:ext cx="181" cy="0"/>
            </a:xfrm>
            <a:prstGeom prst="line">
              <a:avLst/>
            </a:prstGeom>
            <a:noFill/>
            <a:ln w="28575">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100"/>
            </a:p>
          </p:txBody>
        </p:sp>
        <p:sp>
          <p:nvSpPr>
            <p:cNvPr id="35" name="Text Box 41"/>
            <p:cNvSpPr txBox="1">
              <a:spLocks noChangeArrowheads="1"/>
            </p:cNvSpPr>
            <p:nvPr/>
          </p:nvSpPr>
          <p:spPr bwMode="auto">
            <a:xfrm>
              <a:off x="2209" y="2244"/>
              <a:ext cx="1353" cy="416"/>
            </a:xfrm>
            <a:prstGeom prst="rect">
              <a:avLst/>
            </a:prstGeom>
            <a:solidFill>
              <a:schemeClr val="tx2">
                <a:lumMod val="20000"/>
                <a:lumOff val="80000"/>
              </a:schemeClr>
            </a:solidFill>
          </p:spPr>
          <p:style>
            <a:lnRef idx="1">
              <a:schemeClr val="dk1"/>
            </a:lnRef>
            <a:fillRef idx="2">
              <a:schemeClr val="dk1"/>
            </a:fillRef>
            <a:effectRef idx="1">
              <a:schemeClr val="dk1"/>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400" b="1" dirty="0">
                  <a:latin typeface="楷体_GB2312" pitchFamily="1" charset="-122"/>
                  <a:ea typeface="楷体_GB2312" pitchFamily="1" charset="-122"/>
                </a:rPr>
                <a:t>矛盾的同一性</a:t>
              </a:r>
              <a:r>
                <a:rPr lang="zh-CN" altLang="en-US" sz="1400" b="1" dirty="0" smtClean="0">
                  <a:latin typeface="楷体_GB2312" pitchFamily="1" charset="-122"/>
                  <a:ea typeface="楷体_GB2312" pitchFamily="1" charset="-122"/>
                </a:rPr>
                <a:t>和斗争性</a:t>
              </a:r>
              <a:endParaRPr lang="zh-CN" altLang="en-US" sz="1400" b="1" dirty="0">
                <a:latin typeface="楷体_GB2312" pitchFamily="1" charset="-122"/>
                <a:ea typeface="楷体_GB2312" pitchFamily="1" charset="-122"/>
              </a:endParaRPr>
            </a:p>
            <a:p>
              <a:pPr algn="ctr">
                <a:lnSpc>
                  <a:spcPct val="125000"/>
                </a:lnSpc>
              </a:pPr>
              <a:r>
                <a:rPr lang="zh-CN" altLang="en-US" sz="1400" b="1" dirty="0">
                  <a:latin typeface="楷体_GB2312" pitchFamily="1" charset="-122"/>
                  <a:ea typeface="楷体_GB2312" pitchFamily="1" charset="-122"/>
                </a:rPr>
                <a:t>矛盾的普遍性</a:t>
              </a:r>
              <a:r>
                <a:rPr lang="zh-CN" altLang="en-US" sz="1400" b="1" dirty="0" smtClean="0">
                  <a:latin typeface="楷体_GB2312" pitchFamily="1" charset="-122"/>
                  <a:ea typeface="楷体_GB2312" pitchFamily="1" charset="-122"/>
                </a:rPr>
                <a:t>和特殊性</a:t>
              </a:r>
              <a:r>
                <a:rPr lang="zh-CN" altLang="en-US" sz="1400" b="1" dirty="0" smtClean="0">
                  <a:latin typeface="幼圆" pitchFamily="49" charset="-122"/>
                  <a:ea typeface="幼圆" pitchFamily="49" charset="-122"/>
                </a:rPr>
                <a:t> </a:t>
              </a:r>
              <a:endParaRPr lang="zh-CN" altLang="en-US" sz="1400" b="1" dirty="0">
                <a:latin typeface="幼圆" pitchFamily="49" charset="-122"/>
                <a:ea typeface="幼圆" pitchFamily="49" charset="-122"/>
              </a:endParaRPr>
            </a:p>
          </p:txBody>
        </p:sp>
        <p:sp>
          <p:nvSpPr>
            <p:cNvPr id="57" name="Rectangle 46"/>
            <p:cNvSpPr>
              <a:spLocks noChangeArrowheads="1"/>
            </p:cNvSpPr>
            <p:nvPr/>
          </p:nvSpPr>
          <p:spPr bwMode="auto">
            <a:xfrm>
              <a:off x="886" y="3088"/>
              <a:ext cx="925" cy="288"/>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buClrTx/>
                <a:buSzTx/>
                <a:buFont typeface="Wingdings" panose="05000000000000000000" pitchFamily="2" charset="2"/>
                <a:buNone/>
              </a:pPr>
              <a:r>
                <a:rPr lang="zh-CN" altLang="en-US" sz="1800" b="1" dirty="0">
                  <a:solidFill>
                    <a:schemeClr val="tx1">
                      <a:lumMod val="95000"/>
                      <a:lumOff val="5000"/>
                    </a:schemeClr>
                  </a:solidFill>
                  <a:ea typeface="幼圆" pitchFamily="49" charset="-122"/>
                </a:rPr>
                <a:t>基本范畴</a:t>
              </a:r>
              <a:endParaRPr lang="zh-CN" altLang="en-US" sz="1800" b="1" dirty="0">
                <a:solidFill>
                  <a:schemeClr val="tx1">
                    <a:lumMod val="95000"/>
                    <a:lumOff val="5000"/>
                  </a:schemeClr>
                </a:solidFill>
                <a:ea typeface="幼圆" pitchFamily="49" charset="-122"/>
              </a:endParaRPr>
            </a:p>
          </p:txBody>
        </p:sp>
        <p:sp>
          <p:nvSpPr>
            <p:cNvPr id="37" name="AutoShape 47"/>
            <p:cNvSpPr>
              <a:spLocks noChangeArrowheads="1"/>
            </p:cNvSpPr>
            <p:nvPr/>
          </p:nvSpPr>
          <p:spPr bwMode="auto">
            <a:xfrm>
              <a:off x="521" y="1752"/>
              <a:ext cx="272" cy="162"/>
            </a:xfrm>
            <a:prstGeom prst="rightArrow">
              <a:avLst>
                <a:gd name="adj1" fmla="val 50000"/>
                <a:gd name="adj2" fmla="val 41921"/>
              </a:avLst>
            </a:prstGeom>
          </p:spPr>
          <p:style>
            <a:lnRef idx="1">
              <a:schemeClr val="accent6"/>
            </a:lnRef>
            <a:fillRef idx="2">
              <a:schemeClr val="accent6"/>
            </a:fillRef>
            <a:effectRef idx="1">
              <a:schemeClr val="accent6"/>
            </a:effectRef>
            <a:fontRef idx="minor">
              <a:schemeClr val="dk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1100"/>
            </a:p>
          </p:txBody>
        </p:sp>
        <p:sp>
          <p:nvSpPr>
            <p:cNvPr id="38" name="Text Box 49"/>
            <p:cNvSpPr txBox="1">
              <a:spLocks noChangeArrowheads="1"/>
            </p:cNvSpPr>
            <p:nvPr/>
          </p:nvSpPr>
          <p:spPr bwMode="auto">
            <a:xfrm>
              <a:off x="2402" y="3327"/>
              <a:ext cx="1270" cy="26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solidFill>
                    <a:srgbClr val="C00000"/>
                  </a:solidFill>
                  <a:latin typeface="楷体_GB2312" pitchFamily="1" charset="-122"/>
                  <a:ea typeface="楷体_GB2312" pitchFamily="1" charset="-122"/>
                </a:rPr>
                <a:t>原因与结果</a:t>
              </a:r>
              <a:endParaRPr lang="zh-CN" altLang="en-US" sz="1600" b="1" dirty="0">
                <a:solidFill>
                  <a:srgbClr val="C00000"/>
                </a:solidFill>
                <a:latin typeface="楷体_GB2312" pitchFamily="1" charset="-122"/>
                <a:ea typeface="楷体_GB2312" pitchFamily="1" charset="-122"/>
              </a:endParaRPr>
            </a:p>
          </p:txBody>
        </p:sp>
        <p:sp>
          <p:nvSpPr>
            <p:cNvPr id="39" name="Text Box 50"/>
            <p:cNvSpPr txBox="1">
              <a:spLocks noChangeArrowheads="1"/>
            </p:cNvSpPr>
            <p:nvPr/>
          </p:nvSpPr>
          <p:spPr bwMode="auto">
            <a:xfrm>
              <a:off x="3997" y="3327"/>
              <a:ext cx="1704" cy="26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_GB2312" pitchFamily="1" charset="-122"/>
                  <a:ea typeface="楷体_GB2312" pitchFamily="1" charset="-122"/>
                </a:rPr>
                <a:t>自觉性、预测性、调控性</a:t>
              </a:r>
              <a:endParaRPr lang="zh-CN" altLang="en-US" sz="1600" b="1" dirty="0">
                <a:latin typeface="楷体_GB2312" pitchFamily="1" charset="-122"/>
                <a:ea typeface="楷体_GB2312" pitchFamily="1" charset="-122"/>
              </a:endParaRPr>
            </a:p>
          </p:txBody>
        </p:sp>
        <p:sp>
          <p:nvSpPr>
            <p:cNvPr id="41" name="Text Box 54"/>
            <p:cNvSpPr txBox="1">
              <a:spLocks noChangeArrowheads="1"/>
            </p:cNvSpPr>
            <p:nvPr/>
          </p:nvSpPr>
          <p:spPr bwMode="auto">
            <a:xfrm>
              <a:off x="2402" y="3609"/>
              <a:ext cx="1270" cy="26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smtClean="0">
                  <a:solidFill>
                    <a:srgbClr val="C00000"/>
                  </a:solidFill>
                  <a:latin typeface="楷体_GB2312" pitchFamily="1" charset="-122"/>
                  <a:ea typeface="楷体_GB2312" pitchFamily="1" charset="-122"/>
                </a:rPr>
                <a:t>必然和偶然</a:t>
              </a:r>
              <a:endParaRPr lang="zh-CN" altLang="en-US" sz="1600" b="1" dirty="0">
                <a:solidFill>
                  <a:srgbClr val="C00000"/>
                </a:solidFill>
                <a:latin typeface="楷体_GB2312" pitchFamily="1" charset="-122"/>
                <a:ea typeface="楷体_GB2312" pitchFamily="1" charset="-122"/>
              </a:endParaRPr>
            </a:p>
          </p:txBody>
        </p:sp>
        <p:sp>
          <p:nvSpPr>
            <p:cNvPr id="42" name="Text Box 55"/>
            <p:cNvSpPr txBox="1">
              <a:spLocks noChangeArrowheads="1"/>
            </p:cNvSpPr>
            <p:nvPr/>
          </p:nvSpPr>
          <p:spPr bwMode="auto">
            <a:xfrm>
              <a:off x="3997" y="3044"/>
              <a:ext cx="1704" cy="26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smtClean="0">
                  <a:latin typeface="楷体_GB2312" pitchFamily="1" charset="-122"/>
                  <a:ea typeface="楷体_GB2312" pitchFamily="1" charset="-122"/>
                </a:rPr>
                <a:t>透过现象认识</a:t>
              </a:r>
              <a:r>
                <a:rPr lang="zh-CN" altLang="en-US" sz="1600" b="1" dirty="0" smtClean="0">
                  <a:latin typeface="楷体_GB2312" pitchFamily="1" charset="-122"/>
                  <a:ea typeface="楷体_GB2312" pitchFamily="1" charset="-122"/>
                </a:rPr>
                <a:t>事物的本质</a:t>
              </a:r>
              <a:endParaRPr lang="zh-CN" altLang="en-US" sz="1600" b="1" dirty="0">
                <a:latin typeface="楷体_GB2312" pitchFamily="1" charset="-122"/>
                <a:ea typeface="楷体_GB2312" pitchFamily="1" charset="-122"/>
              </a:endParaRPr>
            </a:p>
          </p:txBody>
        </p:sp>
        <p:sp>
          <p:nvSpPr>
            <p:cNvPr id="44" name="Text Box 57"/>
            <p:cNvSpPr txBox="1">
              <a:spLocks noChangeArrowheads="1"/>
            </p:cNvSpPr>
            <p:nvPr/>
          </p:nvSpPr>
          <p:spPr bwMode="auto">
            <a:xfrm>
              <a:off x="2402" y="3891"/>
              <a:ext cx="1270" cy="26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smtClean="0">
                  <a:solidFill>
                    <a:srgbClr val="C00000"/>
                  </a:solidFill>
                  <a:latin typeface="楷体_GB2312" pitchFamily="1" charset="-122"/>
                  <a:ea typeface="楷体_GB2312" pitchFamily="1" charset="-122"/>
                </a:rPr>
                <a:t>现实与可能</a:t>
              </a:r>
              <a:endParaRPr lang="zh-CN" altLang="en-US" sz="1600" b="1" dirty="0">
                <a:solidFill>
                  <a:srgbClr val="C00000"/>
                </a:solidFill>
                <a:latin typeface="楷体_GB2312" pitchFamily="1" charset="-122"/>
                <a:ea typeface="楷体_GB2312" pitchFamily="1" charset="-122"/>
              </a:endParaRPr>
            </a:p>
          </p:txBody>
        </p:sp>
        <p:sp>
          <p:nvSpPr>
            <p:cNvPr id="45" name="Text Box 58"/>
            <p:cNvSpPr txBox="1">
              <a:spLocks noChangeArrowheads="1"/>
            </p:cNvSpPr>
            <p:nvPr/>
          </p:nvSpPr>
          <p:spPr bwMode="auto">
            <a:xfrm>
              <a:off x="2402" y="3044"/>
              <a:ext cx="1270" cy="236"/>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smtClean="0">
                  <a:solidFill>
                    <a:srgbClr val="C00000"/>
                  </a:solidFill>
                  <a:latin typeface="楷体_GB2312" pitchFamily="1" charset="-122"/>
                  <a:ea typeface="楷体_GB2312" pitchFamily="1" charset="-122"/>
                </a:rPr>
                <a:t>本质与现象</a:t>
              </a:r>
              <a:endParaRPr lang="zh-CN" altLang="en-US" sz="1600" b="1" dirty="0">
                <a:solidFill>
                  <a:srgbClr val="C00000"/>
                </a:solidFill>
                <a:latin typeface="幼圆" pitchFamily="49" charset="-122"/>
                <a:ea typeface="幼圆" pitchFamily="49" charset="-122"/>
              </a:endParaRPr>
            </a:p>
          </p:txBody>
        </p:sp>
        <p:sp>
          <p:nvSpPr>
            <p:cNvPr id="46" name="Text Box 59"/>
            <p:cNvSpPr txBox="1">
              <a:spLocks noChangeArrowheads="1"/>
            </p:cNvSpPr>
            <p:nvPr/>
          </p:nvSpPr>
          <p:spPr bwMode="auto">
            <a:xfrm>
              <a:off x="2402" y="2762"/>
              <a:ext cx="1270" cy="26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solidFill>
                    <a:srgbClr val="C00000"/>
                  </a:solidFill>
                  <a:latin typeface="楷体_GB2312" pitchFamily="1" charset="-122"/>
                  <a:ea typeface="楷体_GB2312" pitchFamily="1" charset="-122"/>
                </a:rPr>
                <a:t>内容与形式</a:t>
              </a:r>
              <a:endParaRPr lang="zh-CN" altLang="en-US" sz="1600" b="1" dirty="0">
                <a:solidFill>
                  <a:srgbClr val="C00000"/>
                </a:solidFill>
                <a:latin typeface="幼圆" pitchFamily="49" charset="-122"/>
                <a:ea typeface="幼圆" pitchFamily="49" charset="-122"/>
              </a:endParaRPr>
            </a:p>
          </p:txBody>
        </p:sp>
        <p:sp>
          <p:nvSpPr>
            <p:cNvPr id="47" name="Text Box 63"/>
            <p:cNvSpPr txBox="1">
              <a:spLocks noChangeArrowheads="1"/>
            </p:cNvSpPr>
            <p:nvPr/>
          </p:nvSpPr>
          <p:spPr bwMode="auto">
            <a:xfrm>
              <a:off x="3997" y="3609"/>
              <a:ext cx="1704" cy="26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_GB2312" pitchFamily="1" charset="-122"/>
                  <a:ea typeface="楷体_GB2312" pitchFamily="1" charset="-122"/>
                </a:rPr>
                <a:t>把握总趋势、把握机遇</a:t>
              </a:r>
              <a:endParaRPr lang="zh-CN" altLang="en-US" sz="1600" b="1" dirty="0">
                <a:latin typeface="楷体_GB2312" pitchFamily="1" charset="-122"/>
                <a:ea typeface="楷体_GB2312" pitchFamily="1" charset="-122"/>
              </a:endParaRPr>
            </a:p>
          </p:txBody>
        </p:sp>
        <p:sp>
          <p:nvSpPr>
            <p:cNvPr id="49" name="Text Box 65"/>
            <p:cNvSpPr txBox="1">
              <a:spLocks noChangeArrowheads="1"/>
            </p:cNvSpPr>
            <p:nvPr/>
          </p:nvSpPr>
          <p:spPr bwMode="auto">
            <a:xfrm>
              <a:off x="3997" y="3891"/>
              <a:ext cx="1704" cy="26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a:latin typeface="楷体_GB2312" pitchFamily="1" charset="-122"/>
                  <a:ea typeface="楷体_GB2312" pitchFamily="1" charset="-122"/>
                </a:rPr>
                <a:t>发挥主观能动性</a:t>
              </a:r>
              <a:endParaRPr lang="zh-CN" altLang="en-US" sz="1600" b="1" dirty="0">
                <a:latin typeface="楷体_GB2312" pitchFamily="1" charset="-122"/>
                <a:ea typeface="楷体_GB2312" pitchFamily="1" charset="-122"/>
              </a:endParaRPr>
            </a:p>
          </p:txBody>
        </p:sp>
        <p:sp>
          <p:nvSpPr>
            <p:cNvPr id="51" name="Text Box 67"/>
            <p:cNvSpPr txBox="1">
              <a:spLocks noChangeArrowheads="1"/>
            </p:cNvSpPr>
            <p:nvPr/>
          </p:nvSpPr>
          <p:spPr bwMode="auto">
            <a:xfrm>
              <a:off x="3997" y="2762"/>
              <a:ext cx="1704" cy="26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1600" b="1" dirty="0" smtClean="0">
                  <a:latin typeface="楷体_GB2312" pitchFamily="1" charset="-122"/>
                  <a:ea typeface="楷体_GB2312" pitchFamily="1" charset="-122"/>
                </a:rPr>
                <a:t>重视内容，</a:t>
              </a:r>
              <a:r>
                <a:rPr lang="zh-CN" altLang="en-US" sz="1600" b="1" dirty="0">
                  <a:latin typeface="楷体_GB2312" pitchFamily="1" charset="-122"/>
                  <a:ea typeface="楷体_GB2312" pitchFamily="1" charset="-122"/>
                </a:rPr>
                <a:t>善用形式</a:t>
              </a:r>
              <a:endParaRPr lang="zh-CN" altLang="en-US" sz="1600" b="1" dirty="0">
                <a:latin typeface="楷体_GB2312" pitchFamily="1" charset="-122"/>
                <a:ea typeface="楷体_GB2312" pitchFamily="1" charset="-122"/>
              </a:endParaRPr>
            </a:p>
          </p:txBody>
        </p:sp>
        <p:sp>
          <p:nvSpPr>
            <p:cNvPr id="53" name="Line 70"/>
            <p:cNvSpPr>
              <a:spLocks noChangeShapeType="1"/>
            </p:cNvSpPr>
            <p:nvPr/>
          </p:nvSpPr>
          <p:spPr bwMode="auto">
            <a:xfrm flipV="1">
              <a:off x="1823" y="1821"/>
              <a:ext cx="363" cy="0"/>
            </a:xfrm>
            <a:prstGeom prst="line">
              <a:avLst/>
            </a:prstGeom>
            <a:ln>
              <a:tailEnd type="triangle" w="med" len="med"/>
            </a:ln>
            <a:extLst>
              <a:ext uri="{909E8E84-426E-40DD-AFC4-6F175D3DCCD1}">
                <a14:hiddenFill xmlns:a14="http://schemas.microsoft.com/office/drawing/2010/main">
                  <a:noFill/>
                </a14:hiddenFill>
              </a:ext>
            </a:extLst>
          </p:spPr>
          <p:style>
            <a:lnRef idx="3">
              <a:schemeClr val="accent4"/>
            </a:lnRef>
            <a:fillRef idx="0">
              <a:schemeClr val="accent4"/>
            </a:fillRef>
            <a:effectRef idx="2">
              <a:schemeClr val="accent4"/>
            </a:effectRef>
            <a:fontRef idx="minor">
              <a:schemeClr val="tx1"/>
            </a:fontRef>
          </p:style>
          <p:txBody>
            <a:bodyPr/>
            <a:lstStyle/>
            <a:p>
              <a:endParaRPr lang="zh-CN" altLang="en-US" sz="1100"/>
            </a:p>
          </p:txBody>
        </p:sp>
        <p:sp>
          <p:nvSpPr>
            <p:cNvPr id="54" name="Line 71"/>
            <p:cNvSpPr>
              <a:spLocks noChangeShapeType="1"/>
            </p:cNvSpPr>
            <p:nvPr/>
          </p:nvSpPr>
          <p:spPr bwMode="auto">
            <a:xfrm>
              <a:off x="1339" y="2056"/>
              <a:ext cx="0" cy="907"/>
            </a:xfrm>
            <a:prstGeom prst="line">
              <a:avLst/>
            </a:prstGeom>
            <a:ln>
              <a:tailEnd type="triangle" w="med" len="med"/>
            </a:ln>
            <a:extLst>
              <a:ext uri="{909E8E84-426E-40DD-AFC4-6F175D3DCCD1}">
                <a14:hiddenFill xmlns:a14="http://schemas.microsoft.com/office/drawing/2010/main">
                  <a:noFill/>
                </a14:hiddenFill>
              </a:ext>
            </a:extLst>
          </p:spPr>
          <p:style>
            <a:lnRef idx="3">
              <a:schemeClr val="accent4"/>
            </a:lnRef>
            <a:fillRef idx="0">
              <a:schemeClr val="accent4"/>
            </a:fillRef>
            <a:effectRef idx="2">
              <a:schemeClr val="accent4"/>
            </a:effectRef>
            <a:fontRef idx="minor">
              <a:schemeClr val="tx1"/>
            </a:fontRef>
          </p:style>
          <p:txBody>
            <a:bodyPr/>
            <a:lstStyle/>
            <a:p>
              <a:endParaRPr lang="zh-CN" altLang="en-US" sz="1100"/>
            </a:p>
          </p:txBody>
        </p:sp>
        <p:sp>
          <p:nvSpPr>
            <p:cNvPr id="55" name="Rectangle 72"/>
            <p:cNvSpPr>
              <a:spLocks noChangeArrowheads="1"/>
            </p:cNvSpPr>
            <p:nvPr/>
          </p:nvSpPr>
          <p:spPr bwMode="auto">
            <a:xfrm>
              <a:off x="518" y="2291"/>
              <a:ext cx="816"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0000FF"/>
                  </a:solidFill>
                  <a:ea typeface="幼圆" pitchFamily="49" charset="-122"/>
                </a:rPr>
                <a:t>联系和发展的基本环节</a:t>
              </a:r>
              <a:endParaRPr lang="zh-CN" altLang="en-US" sz="1600" b="1" dirty="0">
                <a:solidFill>
                  <a:srgbClr val="0000FF"/>
                </a:solidFill>
                <a:ea typeface="幼圆" pitchFamily="49" charset="-122"/>
              </a:endParaRPr>
            </a:p>
          </p:txBody>
        </p:sp>
      </p:grpSp>
      <p:sp>
        <p:nvSpPr>
          <p:cNvPr id="62" name="Line 70"/>
          <p:cNvSpPr>
            <a:spLocks noChangeShapeType="1"/>
          </p:cNvSpPr>
          <p:nvPr/>
        </p:nvSpPr>
        <p:spPr bwMode="auto">
          <a:xfrm flipV="1">
            <a:off x="2928926" y="785794"/>
            <a:ext cx="536642" cy="0"/>
          </a:xfrm>
          <a:prstGeom prst="line">
            <a:avLst/>
          </a:prstGeom>
          <a:ln>
            <a:tailEnd type="triangle" w="med" len="med"/>
          </a:ln>
          <a:extLst>
            <a:ext uri="{909E8E84-426E-40DD-AFC4-6F175D3DCCD1}">
              <a14:hiddenFill xmlns:a14="http://schemas.microsoft.com/office/drawing/2010/main">
                <a:noFill/>
              </a14:hiddenFill>
            </a:ext>
          </a:extLst>
        </p:spPr>
        <p:style>
          <a:lnRef idx="3">
            <a:schemeClr val="accent4"/>
          </a:lnRef>
          <a:fillRef idx="0">
            <a:schemeClr val="accent4"/>
          </a:fillRef>
          <a:effectRef idx="2">
            <a:schemeClr val="accent4"/>
          </a:effectRef>
          <a:fontRef idx="minor">
            <a:schemeClr val="tx1"/>
          </a:fontRef>
        </p:style>
        <p:txBody>
          <a:bodyPr/>
          <a:lstStyle/>
          <a:p>
            <a:endParaRPr lang="zh-CN" altLang="en-US" sz="1100"/>
          </a:p>
        </p:txBody>
      </p:sp>
      <p:sp>
        <p:nvSpPr>
          <p:cNvPr id="63" name="右箭头 62"/>
          <p:cNvSpPr/>
          <p:nvPr/>
        </p:nvSpPr>
        <p:spPr bwMode="auto">
          <a:xfrm>
            <a:off x="5715008" y="4429132"/>
            <a:ext cx="357190" cy="142876"/>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64" name="右箭头 63"/>
          <p:cNvSpPr/>
          <p:nvPr/>
        </p:nvSpPr>
        <p:spPr bwMode="auto">
          <a:xfrm>
            <a:off x="5715008" y="4857760"/>
            <a:ext cx="357190" cy="142876"/>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65" name="右箭头 64"/>
          <p:cNvSpPr/>
          <p:nvPr/>
        </p:nvSpPr>
        <p:spPr bwMode="auto">
          <a:xfrm>
            <a:off x="5715008" y="6143644"/>
            <a:ext cx="357190" cy="142876"/>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66" name="右箭头 65"/>
          <p:cNvSpPr/>
          <p:nvPr/>
        </p:nvSpPr>
        <p:spPr bwMode="auto">
          <a:xfrm>
            <a:off x="5715008" y="5715016"/>
            <a:ext cx="357190" cy="142876"/>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67" name="右箭头 66"/>
          <p:cNvSpPr/>
          <p:nvPr/>
        </p:nvSpPr>
        <p:spPr bwMode="auto">
          <a:xfrm>
            <a:off x="5715008" y="5286388"/>
            <a:ext cx="357190" cy="142876"/>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68" name="右箭头 67"/>
          <p:cNvSpPr/>
          <p:nvPr/>
        </p:nvSpPr>
        <p:spPr bwMode="auto">
          <a:xfrm>
            <a:off x="5500694" y="428604"/>
            <a:ext cx="500066" cy="142876"/>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69" name="右箭头 68"/>
          <p:cNvSpPr/>
          <p:nvPr/>
        </p:nvSpPr>
        <p:spPr bwMode="auto">
          <a:xfrm>
            <a:off x="5500694" y="1357298"/>
            <a:ext cx="500066" cy="142876"/>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70" name="右箭头 69"/>
          <p:cNvSpPr/>
          <p:nvPr/>
        </p:nvSpPr>
        <p:spPr bwMode="auto">
          <a:xfrm>
            <a:off x="6143636" y="2285992"/>
            <a:ext cx="276228" cy="80962"/>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71" name="右箭头 70"/>
          <p:cNvSpPr/>
          <p:nvPr/>
        </p:nvSpPr>
        <p:spPr bwMode="auto">
          <a:xfrm>
            <a:off x="6143636" y="3071810"/>
            <a:ext cx="276228" cy="80962"/>
          </a:xfrm>
          <a:prstGeom prst="right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72" name="下箭头 71"/>
          <p:cNvSpPr/>
          <p:nvPr/>
        </p:nvSpPr>
        <p:spPr bwMode="auto">
          <a:xfrm>
            <a:off x="3786182" y="3143248"/>
            <a:ext cx="214314" cy="357190"/>
          </a:xfrm>
          <a:prstGeom prst="downArrow">
            <a:avLst/>
          </a:prstGeom>
          <a:solidFill>
            <a:schemeClr val="accent1"/>
          </a:solidFill>
          <a:ln w="9525">
            <a:noFill/>
            <a:miter lim="800000"/>
          </a:ln>
          <a:effectLst/>
        </p:spPr>
        <p:txBody>
          <a:bodyPr rtlCol="0" anchor="ctr"/>
          <a:lstStyle/>
          <a:p>
            <a:pPr marL="358775" algn="ctr">
              <a:lnSpc>
                <a:spcPct val="125000"/>
              </a:lnSpc>
              <a:spcBef>
                <a:spcPct val="20000"/>
              </a:spcBef>
              <a:buFontTx/>
              <a:buNone/>
            </a:pPr>
            <a:endParaRPr lang="zh-CN" altLang="en-US" sz="2800" b="1"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advClick="0" advTm="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285720" y="642938"/>
            <a:ext cx="8572560" cy="5070475"/>
          </a:xfrm>
          <a:effectLst/>
        </p:spPr>
        <p:txBody>
          <a:bodyPr>
            <a:normAutofit/>
          </a:bodyPr>
          <a:lstStyle/>
          <a:p>
            <a:pPr algn="l">
              <a:lnSpc>
                <a:spcPct val="100000"/>
              </a:lnSpc>
            </a:pPr>
            <a:r>
              <a:rPr lang="zh-CN" altLang="en-US" sz="3600" b="1" dirty="0" smtClean="0">
                <a:solidFill>
                  <a:srgbClr val="6600FF"/>
                </a:solidFill>
                <a:effectLst/>
                <a:latin typeface="华文行楷" pitchFamily="2" charset="-122"/>
                <a:ea typeface="华文行楷" pitchFamily="2" charset="-122"/>
              </a:rPr>
              <a:t>参考阅读书目：</a:t>
            </a:r>
            <a:br>
              <a:rPr lang="en-US" altLang="zh-CN" sz="3600" b="1" dirty="0" smtClean="0">
                <a:solidFill>
                  <a:srgbClr val="6600FF"/>
                </a:solidFill>
                <a:latin typeface="华文行楷" pitchFamily="2" charset="-122"/>
                <a:ea typeface="华文行楷" pitchFamily="2" charset="-122"/>
              </a:rPr>
            </a:br>
            <a:br>
              <a:rPr lang="en-US" altLang="zh-CN" sz="3600" b="1" dirty="0" smtClean="0">
                <a:solidFill>
                  <a:srgbClr val="6600FF"/>
                </a:solidFill>
                <a:latin typeface="华文行楷" pitchFamily="2" charset="-122"/>
                <a:ea typeface="华文行楷" pitchFamily="2" charset="-122"/>
              </a:rPr>
            </a:br>
            <a:r>
              <a:rPr lang="en-US" altLang="zh-CN" sz="3200" b="1" dirty="0" smtClean="0">
                <a:solidFill>
                  <a:srgbClr val="000000"/>
                </a:solidFill>
                <a:effectLst/>
                <a:latin typeface="楷体" panose="02010609060101010101" pitchFamily="49" charset="-122"/>
                <a:ea typeface="楷体" panose="02010609060101010101" pitchFamily="49" charset="-122"/>
              </a:rPr>
              <a:t>1.</a:t>
            </a:r>
            <a:r>
              <a:rPr lang="zh-CN" altLang="en-US" sz="3200" b="1" dirty="0" smtClean="0">
                <a:solidFill>
                  <a:srgbClr val="000000"/>
                </a:solidFill>
                <a:effectLst/>
                <a:latin typeface="楷体" panose="02010609060101010101" pitchFamily="49" charset="-122"/>
                <a:ea typeface="楷体" panose="02010609060101010101" pitchFamily="49" charset="-122"/>
              </a:rPr>
              <a:t>老子：</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道德经</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（王弼版本或河上公版本）</a:t>
            </a:r>
            <a:br>
              <a:rPr lang="en-US" altLang="zh-CN" sz="3200" b="1" dirty="0" smtClean="0">
                <a:solidFill>
                  <a:schemeClr val="tx1"/>
                </a:solidFill>
                <a:latin typeface="楷体" panose="02010609060101010101" pitchFamily="49" charset="-122"/>
                <a:ea typeface="楷体" panose="02010609060101010101" pitchFamily="49" charset="-122"/>
                <a:cs typeface="+mn-cs"/>
              </a:rPr>
            </a:br>
            <a:r>
              <a:rPr lang="en-US" altLang="zh-CN" sz="3200" b="1" dirty="0" smtClean="0">
                <a:solidFill>
                  <a:srgbClr val="000000"/>
                </a:solidFill>
                <a:effectLst/>
                <a:latin typeface="楷体" panose="02010609060101010101" pitchFamily="49" charset="-122"/>
                <a:ea typeface="楷体" panose="02010609060101010101" pitchFamily="49" charset="-122"/>
              </a:rPr>
              <a:t>2.</a:t>
            </a:r>
            <a:r>
              <a:rPr lang="zh-CN" altLang="en-US" sz="3200" b="1" dirty="0" smtClean="0">
                <a:solidFill>
                  <a:srgbClr val="000000"/>
                </a:solidFill>
                <a:effectLst/>
                <a:latin typeface="楷体" panose="02010609060101010101" pitchFamily="49" charset="-122"/>
                <a:ea typeface="楷体" panose="02010609060101010101" pitchFamily="49" charset="-122"/>
              </a:rPr>
              <a:t>陈鼓应：</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老子今注今译</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（商务印书馆）</a:t>
            </a:r>
            <a:br>
              <a:rPr lang="en-US" altLang="zh-CN" sz="3200" b="1" dirty="0" smtClean="0">
                <a:solidFill>
                  <a:srgbClr val="000000"/>
                </a:solidFill>
                <a:effectLst/>
                <a:latin typeface="楷体" panose="02010609060101010101" pitchFamily="49" charset="-122"/>
                <a:ea typeface="楷体" panose="02010609060101010101" pitchFamily="49" charset="-122"/>
              </a:rPr>
            </a:br>
            <a:r>
              <a:rPr lang="en-US" altLang="zh-CN" sz="3200" b="1" dirty="0" smtClean="0">
                <a:solidFill>
                  <a:srgbClr val="000000"/>
                </a:solidFill>
                <a:effectLst/>
                <a:latin typeface="楷体" panose="02010609060101010101" pitchFamily="49" charset="-122"/>
                <a:ea typeface="楷体" panose="02010609060101010101" pitchFamily="49" charset="-122"/>
              </a:rPr>
              <a:t>3.《</a:t>
            </a:r>
            <a:r>
              <a:rPr lang="zh-CN" altLang="en-US" sz="3200" b="1" dirty="0" smtClean="0">
                <a:solidFill>
                  <a:srgbClr val="000000"/>
                </a:solidFill>
                <a:effectLst/>
                <a:latin typeface="楷体" panose="02010609060101010101" pitchFamily="49" charset="-122"/>
                <a:ea typeface="楷体" panose="02010609060101010101" pitchFamily="49" charset="-122"/>
              </a:rPr>
              <a:t>新编诸子集成</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十一家注孙子校理</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（中华书局）</a:t>
            </a:r>
            <a:br>
              <a:rPr lang="en-US" altLang="zh-CN" sz="3200" b="1" dirty="0" smtClean="0">
                <a:solidFill>
                  <a:srgbClr val="000000"/>
                </a:solidFill>
                <a:effectLst/>
                <a:latin typeface="楷体" panose="02010609060101010101" pitchFamily="49" charset="-122"/>
                <a:ea typeface="楷体" panose="02010609060101010101" pitchFamily="49" charset="-122"/>
              </a:rPr>
            </a:br>
            <a:r>
              <a:rPr lang="en-US" altLang="zh-CN" sz="3200" b="1" dirty="0" smtClean="0">
                <a:solidFill>
                  <a:srgbClr val="000000"/>
                </a:solidFill>
                <a:effectLst/>
                <a:latin typeface="楷体" panose="02010609060101010101" pitchFamily="49" charset="-122"/>
                <a:ea typeface="楷体" panose="02010609060101010101" pitchFamily="49" charset="-122"/>
              </a:rPr>
              <a:t>4.[</a:t>
            </a:r>
            <a:r>
              <a:rPr lang="zh-CN" altLang="en-US" sz="3200" b="1" dirty="0" smtClean="0">
                <a:solidFill>
                  <a:srgbClr val="000000"/>
                </a:solidFill>
                <a:effectLst/>
                <a:latin typeface="楷体" panose="02010609060101010101" pitchFamily="49" charset="-122"/>
                <a:ea typeface="楷体" panose="02010609060101010101" pitchFamily="49" charset="-122"/>
              </a:rPr>
              <a:t>美</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约翰</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格雷：</a:t>
            </a:r>
            <a:r>
              <a:rPr lang="en-US" altLang="zh-CN" sz="3200" b="1" dirty="0" smtClean="0">
                <a:solidFill>
                  <a:srgbClr val="000000"/>
                </a:solidFill>
                <a:effectLst/>
                <a:latin typeface="楷体" panose="02010609060101010101" pitchFamily="49" charset="-122"/>
                <a:ea typeface="楷体" panose="02010609060101010101" pitchFamily="49" charset="-122"/>
              </a:rPr>
              <a:t>《</a:t>
            </a:r>
            <a:r>
              <a:rPr lang="zh-CN" altLang="en-US" sz="3200" b="1" dirty="0" smtClean="0">
                <a:solidFill>
                  <a:srgbClr val="000000"/>
                </a:solidFill>
                <a:effectLst/>
                <a:latin typeface="楷体" panose="02010609060101010101" pitchFamily="49" charset="-122"/>
                <a:ea typeface="楷体" panose="02010609060101010101" pitchFamily="49" charset="-122"/>
              </a:rPr>
              <a:t>男人来自火星，女人来自金星</a:t>
            </a:r>
            <a:r>
              <a:rPr lang="en-US" altLang="zh-CN" sz="3200" b="1" dirty="0" smtClean="0">
                <a:solidFill>
                  <a:srgbClr val="000000"/>
                </a:solidFill>
                <a:effectLst/>
                <a:latin typeface="楷体" panose="02010609060101010101" pitchFamily="49" charset="-122"/>
                <a:ea typeface="楷体" panose="02010609060101010101" pitchFamily="49" charset="-122"/>
              </a:rPr>
              <a:t>》</a:t>
            </a:r>
            <a:br>
              <a:rPr lang="en-US" altLang="zh-CN" sz="3600" b="1" dirty="0" smtClean="0">
                <a:ln>
                  <a:noFill/>
                </a:ln>
                <a:solidFill>
                  <a:schemeClr val="tx1"/>
                </a:solidFill>
                <a:effectLst/>
                <a:latin typeface="楷体" panose="02010609060101010101" pitchFamily="49" charset="-122"/>
                <a:ea typeface="楷体" panose="02010609060101010101" pitchFamily="49" charset="-122"/>
              </a:rPr>
            </a:br>
            <a:endParaRPr lang="zh-CN" altLang="en-US" sz="3600" b="1" dirty="0" smtClean="0">
              <a:ln>
                <a:noFill/>
              </a:ln>
              <a:solidFill>
                <a:schemeClr val="tx1"/>
              </a:solidFill>
              <a:effectLst/>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323528" y="1772816"/>
            <a:ext cx="8382000" cy="1295400"/>
          </a:xfrm>
        </p:spPr>
        <p:txBody>
          <a:bodyPr>
            <a:noAutofit/>
          </a:bodyPr>
          <a:lstStyle/>
          <a:p>
            <a:pPr algn="ctr" eaLnBrk="1" hangingPunct="1"/>
            <a:r>
              <a:rPr lang="zh-CN" altLang="en-US" b="1" dirty="0" smtClean="0">
                <a:solidFill>
                  <a:srgbClr val="0000CC"/>
                </a:solidFill>
                <a:ea typeface="华文新魏" pitchFamily="2" charset="-122"/>
              </a:rPr>
              <a:t>第三节  </a:t>
            </a:r>
            <a:r>
              <a:rPr lang="zh-CN" b="1" dirty="0" smtClean="0">
                <a:solidFill>
                  <a:srgbClr val="0000CC"/>
                </a:solidFill>
                <a:ea typeface="华文新魏" pitchFamily="2" charset="-122"/>
              </a:rPr>
              <a:t>唯物辩证法是认识世界和改造世界的根本方法</a:t>
            </a:r>
            <a:endParaRPr lang="zh-CN" b="1" dirty="0" smtClean="0">
              <a:solidFill>
                <a:srgbClr val="0000CC"/>
              </a:solidFill>
              <a:ea typeface="华文新魏"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4" name="矩形 706563"/>
          <p:cNvSpPr/>
          <p:nvPr/>
        </p:nvSpPr>
        <p:spPr>
          <a:xfrm>
            <a:off x="323849" y="476250"/>
            <a:ext cx="7248547" cy="707886"/>
          </a:xfrm>
          <a:prstGeom prst="rect">
            <a:avLst/>
          </a:prstGeom>
          <a:solidFill>
            <a:srgbClr val="CCECFF"/>
          </a:solidFill>
          <a:ln w="38100">
            <a:noFill/>
          </a:ln>
        </p:spPr>
        <p:txBody>
          <a:bodyPr wrap="square">
            <a:spAutoFit/>
          </a:bodyPr>
          <a:lstStyle/>
          <a:p>
            <a:pPr>
              <a:lnSpc>
                <a:spcPct val="125000"/>
              </a:lnSpc>
            </a:pPr>
            <a:r>
              <a:rPr lang="zh-CN" altLang="en-US" sz="3200" b="1" noProof="1" smtClean="0">
                <a:solidFill>
                  <a:srgbClr val="FF0066"/>
                </a:solidFill>
                <a:latin typeface="华文新魏" pitchFamily="2" charset="-122"/>
                <a:ea typeface="华文新魏" pitchFamily="2" charset="-122"/>
                <a:sym typeface="+mn-ea"/>
              </a:rPr>
              <a:t>一</a:t>
            </a:r>
            <a:r>
              <a:rPr lang="zh-CN" altLang="en-US" sz="3200" b="1" noProof="1">
                <a:solidFill>
                  <a:srgbClr val="FF0066"/>
                </a:solidFill>
                <a:latin typeface="华文新魏" pitchFamily="2" charset="-122"/>
                <a:ea typeface="华文新魏" pitchFamily="2" charset="-122"/>
                <a:sym typeface="+mn-ea"/>
              </a:rPr>
              <a:t>、</a:t>
            </a:r>
            <a:r>
              <a:rPr lang="zh-CN" altLang="en-US" sz="3200" b="1" noProof="1" smtClean="0">
                <a:solidFill>
                  <a:srgbClr val="FF0066"/>
                </a:solidFill>
                <a:latin typeface="华文新魏" pitchFamily="2" charset="-122"/>
                <a:ea typeface="华文新魏" pitchFamily="2" charset="-122"/>
                <a:sym typeface="+mn-ea"/>
              </a:rPr>
              <a:t>唯物辩证法的本质特征和认识功能</a:t>
            </a:r>
            <a:endParaRPr lang="zh-CN" altLang="en-US" sz="3200" b="1" noProof="1">
              <a:solidFill>
                <a:srgbClr val="FF0066"/>
              </a:solidFill>
              <a:latin typeface="华文新魏" pitchFamily="2" charset="-122"/>
              <a:ea typeface="华文新魏" pitchFamily="2" charset="-122"/>
              <a:sym typeface="+mn-ea"/>
            </a:endParaRPr>
          </a:p>
        </p:txBody>
      </p:sp>
      <p:sp>
        <p:nvSpPr>
          <p:cNvPr id="8195" name="矩形 706567"/>
          <p:cNvSpPr>
            <a:spLocks noChangeArrowheads="1"/>
          </p:cNvSpPr>
          <p:nvPr/>
        </p:nvSpPr>
        <p:spPr bwMode="auto">
          <a:xfrm>
            <a:off x="323850" y="1268413"/>
            <a:ext cx="8568630" cy="1080467"/>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pPr>
            <a:r>
              <a:rPr lang="en-US" altLang="zh-CN" sz="1600" b="1" dirty="0">
                <a:solidFill>
                  <a:srgbClr val="3333FF"/>
                </a:solidFill>
                <a:latin typeface="幼圆" pitchFamily="49" charset="-122"/>
                <a:ea typeface="幼圆" pitchFamily="49" charset="-122"/>
              </a:rPr>
              <a:t>  </a:t>
            </a:r>
            <a:r>
              <a:rPr lang="zh-CN" altLang="en-US" sz="2400" b="1" dirty="0" smtClean="0">
                <a:latin typeface="+mn-ea"/>
              </a:rPr>
              <a:t>唯物辩证法是马克思主义世界观和方法论的核心内容，为人们</a:t>
            </a:r>
            <a:r>
              <a:rPr lang="zh-CN" altLang="en-US" sz="2400" b="1" dirty="0">
                <a:latin typeface="+mn-ea"/>
              </a:rPr>
              <a:t>认识世界和改造</a:t>
            </a:r>
            <a:r>
              <a:rPr lang="zh-CN" altLang="en-US" sz="2400" b="1" dirty="0" smtClean="0">
                <a:latin typeface="+mn-ea"/>
              </a:rPr>
              <a:t>世界提供了根本</a:t>
            </a:r>
            <a:r>
              <a:rPr lang="zh-CN" altLang="en-US" sz="2400" b="1" dirty="0">
                <a:latin typeface="+mn-ea"/>
              </a:rPr>
              <a:t>方法。</a:t>
            </a:r>
            <a:endParaRPr lang="zh-CN" altLang="en-US" sz="2400" b="1" dirty="0">
              <a:latin typeface="+mn-ea"/>
            </a:endParaRPr>
          </a:p>
        </p:txBody>
      </p:sp>
      <p:sp>
        <p:nvSpPr>
          <p:cNvPr id="8201" name="矩形 706594"/>
          <p:cNvSpPr>
            <a:spLocks noChangeArrowheads="1"/>
          </p:cNvSpPr>
          <p:nvPr/>
        </p:nvSpPr>
        <p:spPr bwMode="auto">
          <a:xfrm>
            <a:off x="323849" y="2716211"/>
            <a:ext cx="6176977" cy="485775"/>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2000" b="1" dirty="0">
                <a:solidFill>
                  <a:srgbClr val="0000FF"/>
                </a:solidFill>
                <a:latin typeface="黑体" panose="02010609060101010101" pitchFamily="49" charset="-122"/>
                <a:ea typeface="黑体" panose="02010609060101010101" pitchFamily="49" charset="-122"/>
              </a:rPr>
              <a:t>（一）</a:t>
            </a:r>
            <a:r>
              <a:rPr lang="zh-CN" altLang="en-US" sz="2000" b="1" dirty="0" smtClean="0">
                <a:solidFill>
                  <a:srgbClr val="0000FF"/>
                </a:solidFill>
                <a:latin typeface="黑体" panose="02010609060101010101" pitchFamily="49" charset="-122"/>
                <a:ea typeface="黑体" panose="02010609060101010101" pitchFamily="49" charset="-122"/>
              </a:rPr>
              <a:t>唯物辩证法本质上是批判的和革命的</a:t>
            </a:r>
            <a:endParaRPr lang="zh-CN" altLang="en-US" sz="2000" b="1" dirty="0">
              <a:solidFill>
                <a:schemeClr val="accent2"/>
              </a:solidFill>
              <a:latin typeface="黑体" panose="02010609060101010101" pitchFamily="49" charset="-122"/>
              <a:ea typeface="黑体" panose="02010609060101010101" pitchFamily="49" charset="-122"/>
            </a:endParaRPr>
          </a:p>
        </p:txBody>
      </p:sp>
      <p:sp>
        <p:nvSpPr>
          <p:cNvPr id="9" name="矩形 884756"/>
          <p:cNvSpPr>
            <a:spLocks noChangeArrowheads="1"/>
          </p:cNvSpPr>
          <p:nvPr/>
        </p:nvSpPr>
        <p:spPr bwMode="auto">
          <a:xfrm>
            <a:off x="285720" y="3357562"/>
            <a:ext cx="8495665" cy="1644681"/>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2000" b="1" dirty="0" smtClean="0">
                <a:solidFill>
                  <a:srgbClr val="0000FF"/>
                </a:solidFill>
                <a:latin typeface="黑体" panose="02010609060101010101" pitchFamily="49" charset="-122"/>
                <a:ea typeface="楷体_GB2312" pitchFamily="1" charset="-122"/>
              </a:rPr>
              <a:t>★马克思和恩格斯指出唯物辩证法的本质是批判的和革命的。</a:t>
            </a:r>
            <a:endParaRPr lang="en-US" altLang="zh-CN" sz="2000" b="1" dirty="0" smtClean="0">
              <a:solidFill>
                <a:srgbClr val="0000FF"/>
              </a:solidFill>
              <a:latin typeface="黑体" panose="02010609060101010101" pitchFamily="49" charset="-122"/>
              <a:ea typeface="楷体_GB2312" pitchFamily="1" charset="-122"/>
            </a:endParaRPr>
          </a:p>
          <a:p>
            <a:pPr>
              <a:lnSpc>
                <a:spcPct val="125000"/>
              </a:lnSpc>
            </a:pPr>
            <a:r>
              <a:rPr lang="zh-CN" altLang="en-US" sz="2000" b="1" dirty="0" smtClean="0">
                <a:solidFill>
                  <a:srgbClr val="0000FF"/>
                </a:solidFill>
                <a:latin typeface="黑体" panose="02010609060101010101" pitchFamily="49" charset="-122"/>
                <a:ea typeface="楷体_GB2312" pitchFamily="1" charset="-122"/>
              </a:rPr>
              <a:t>★马克思</a:t>
            </a:r>
            <a:r>
              <a:rPr lang="zh-CN" altLang="en-US" sz="2000" b="1" dirty="0" smtClean="0">
                <a:solidFill>
                  <a:srgbClr val="0000FF"/>
                </a:solidFill>
                <a:latin typeface="黑体" panose="02010609060101010101" pitchFamily="49" charset="-122"/>
                <a:ea typeface="楷体_GB2312" pitchFamily="1" charset="-122"/>
              </a:rPr>
              <a:t>和恩格斯对资本主义的批判及由此作出的革命性结论，体现了唯物辩证法的批判性和革命性。</a:t>
            </a:r>
            <a:endParaRPr lang="en-US" altLang="zh-CN" sz="2000" b="1" dirty="0" smtClean="0">
              <a:solidFill>
                <a:srgbClr val="0000FF"/>
              </a:solidFill>
              <a:latin typeface="黑体" panose="02010609060101010101" pitchFamily="49" charset="-122"/>
              <a:ea typeface="楷体_GB2312" pitchFamily="1" charset="-122"/>
            </a:endParaRPr>
          </a:p>
          <a:p>
            <a:pPr>
              <a:lnSpc>
                <a:spcPct val="125000"/>
              </a:lnSpc>
            </a:pPr>
            <a:r>
              <a:rPr lang="zh-CN" altLang="en-US" sz="2000" b="1" dirty="0" smtClean="0">
                <a:solidFill>
                  <a:srgbClr val="0000FF"/>
                </a:solidFill>
                <a:latin typeface="黑体" panose="02010609060101010101" pitchFamily="49" charset="-122"/>
                <a:ea typeface="楷体_GB2312" pitchFamily="1" charset="-122"/>
              </a:rPr>
              <a:t>★</a:t>
            </a:r>
            <a:r>
              <a:rPr lang="zh-CN" altLang="en-US" sz="2000" b="1" dirty="0" smtClean="0">
                <a:solidFill>
                  <a:srgbClr val="0000FF"/>
                </a:solidFill>
                <a:latin typeface="黑体" panose="02010609060101010101" pitchFamily="49" charset="-122"/>
                <a:ea typeface="楷体_GB2312" pitchFamily="1" charset="-122"/>
              </a:rPr>
              <a:t>建设中国特色社会主义事业，要坚持和发扬批判的、革命的精神。</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标注 7"/>
          <p:cNvSpPr>
            <a:spLocks noChangeArrowheads="1"/>
          </p:cNvSpPr>
          <p:nvPr/>
        </p:nvSpPr>
        <p:spPr bwMode="auto">
          <a:xfrm>
            <a:off x="357158" y="1071546"/>
            <a:ext cx="8182416" cy="2392952"/>
          </a:xfrm>
          <a:prstGeom prst="wedgeRoundRectCallout">
            <a:avLst>
              <a:gd name="adj1" fmla="val 50053"/>
              <a:gd name="adj2" fmla="val -8738"/>
              <a:gd name="adj3" fmla="val 16667"/>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a:lstStyle>
            <a:lvl1pPr>
              <a:tabLst>
                <a:tab pos="355600" algn="l"/>
              </a:tabLst>
              <a:defRPr>
                <a:solidFill>
                  <a:schemeClr val="tx1"/>
                </a:solidFill>
                <a:latin typeface="Arial" panose="020B0604020202020204" pitchFamily="34" charset="0"/>
                <a:ea typeface="宋体" panose="02010600030101010101" pitchFamily="2" charset="-122"/>
              </a:defRPr>
            </a:lvl1pPr>
            <a:lvl2pPr>
              <a:tabLst>
                <a:tab pos="355600" algn="l"/>
              </a:tabLst>
              <a:defRPr>
                <a:solidFill>
                  <a:schemeClr val="tx1"/>
                </a:solidFill>
                <a:latin typeface="Arial" panose="020B0604020202020204" pitchFamily="34" charset="0"/>
                <a:ea typeface="宋体" panose="02010600030101010101" pitchFamily="2" charset="-122"/>
              </a:defRPr>
            </a:lvl2pPr>
            <a:lvl3pPr>
              <a:tabLst>
                <a:tab pos="355600" algn="l"/>
              </a:tabLst>
              <a:defRPr>
                <a:solidFill>
                  <a:schemeClr val="tx1"/>
                </a:solidFill>
                <a:latin typeface="Arial" panose="020B0604020202020204" pitchFamily="34" charset="0"/>
                <a:ea typeface="宋体" panose="02010600030101010101" pitchFamily="2" charset="-122"/>
              </a:defRPr>
            </a:lvl3pPr>
            <a:lvl4pPr>
              <a:tabLst>
                <a:tab pos="355600" algn="l"/>
              </a:tabLst>
              <a:defRPr>
                <a:solidFill>
                  <a:schemeClr val="tx1"/>
                </a:solidFill>
                <a:latin typeface="Arial" panose="020B0604020202020204" pitchFamily="34" charset="0"/>
                <a:ea typeface="宋体" panose="02010600030101010101" pitchFamily="2" charset="-122"/>
              </a:defRPr>
            </a:lvl4pPr>
            <a:lvl5pPr>
              <a:tabLst>
                <a:tab pos="3556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tabLst>
                <a:tab pos="3556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tabLst>
                <a:tab pos="3556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tabLst>
                <a:tab pos="3556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tabLst>
                <a:tab pos="355600" algn="l"/>
              </a:tabLst>
              <a:defRPr>
                <a:solidFill>
                  <a:schemeClr val="tx1"/>
                </a:solidFill>
                <a:latin typeface="Arial" panose="020B0604020202020204" pitchFamily="34" charset="0"/>
                <a:ea typeface="宋体" panose="02010600030101010101" pitchFamily="2" charset="-122"/>
              </a:defRPr>
            </a:lvl9pPr>
          </a:lstStyle>
          <a:p>
            <a:pPr>
              <a:lnSpc>
                <a:spcPct val="125000"/>
              </a:lnSpc>
              <a:spcBef>
                <a:spcPct val="20000"/>
              </a:spcBef>
            </a:pPr>
            <a:r>
              <a:rPr lang="zh-CN" altLang="en-US" sz="2000" b="1" dirty="0">
                <a:latin typeface="楷体" panose="02010609060101010101" pitchFamily="49" charset="-122"/>
                <a:ea typeface="楷体" panose="02010609060101010101" pitchFamily="49" charset="-122"/>
              </a:rPr>
              <a:t>辩证法是</a:t>
            </a:r>
            <a:r>
              <a:rPr lang="zh-CN" altLang="en-US" sz="2000" b="1" dirty="0">
                <a:solidFill>
                  <a:srgbClr val="C00000"/>
                </a:solidFill>
                <a:latin typeface="幼圆" pitchFamily="49" charset="-122"/>
                <a:ea typeface="幼圆" pitchFamily="49" charset="-122"/>
              </a:rPr>
              <a:t>客观世界本身固有的规律</a:t>
            </a:r>
            <a:r>
              <a:rPr lang="zh-CN" altLang="en-US" sz="2000" b="1" dirty="0">
                <a:latin typeface="幼圆" pitchFamily="49" charset="-122"/>
                <a:ea typeface="幼圆" pitchFamily="49" charset="-122"/>
              </a:rPr>
              <a:t>，</a:t>
            </a:r>
            <a:r>
              <a:rPr lang="zh-CN" altLang="en-US" sz="2000" b="1" dirty="0">
                <a:latin typeface="楷体" panose="02010609060101010101" pitchFamily="49" charset="-122"/>
                <a:ea typeface="楷体" panose="02010609060101010101" pitchFamily="49" charset="-122"/>
              </a:rPr>
              <a:t>而</a:t>
            </a:r>
            <a:r>
              <a:rPr lang="zh-CN" altLang="en-US" sz="2000" b="1" u="sng" dirty="0">
                <a:latin typeface="楷体" panose="02010609060101010101" pitchFamily="49" charset="-122"/>
                <a:ea typeface="楷体" panose="02010609060101010101" pitchFamily="49" charset="-122"/>
              </a:rPr>
              <a:t>思维中的辩证法是</a:t>
            </a:r>
            <a:r>
              <a:rPr lang="zh-CN" altLang="en-US" sz="2000" b="1" dirty="0" smtClean="0">
                <a:latin typeface="楷体" panose="02010609060101010101" pitchFamily="49" charset="-122"/>
                <a:ea typeface="楷体" panose="02010609060101010101" pitchFamily="49" charset="-122"/>
              </a:rPr>
              <a:t>客观规律</a:t>
            </a:r>
            <a:r>
              <a:rPr lang="zh-CN" altLang="en-US" sz="2000" b="1" dirty="0">
                <a:latin typeface="楷体" panose="02010609060101010101" pitchFamily="49" charset="-122"/>
                <a:ea typeface="楷体" panose="02010609060101010101" pitchFamily="49" charset="-122"/>
              </a:rPr>
              <a:t>在人的头脑中的自觉反映。</a:t>
            </a:r>
            <a:endParaRPr lang="zh-CN" altLang="en-US" sz="2000" b="1" dirty="0">
              <a:latin typeface="楷体" panose="02010609060101010101" pitchFamily="49" charset="-122"/>
              <a:ea typeface="楷体" panose="02010609060101010101" pitchFamily="49" charset="-122"/>
            </a:endParaRPr>
          </a:p>
          <a:p>
            <a:pPr>
              <a:lnSpc>
                <a:spcPct val="125000"/>
              </a:lnSpc>
              <a:spcBef>
                <a:spcPct val="20000"/>
              </a:spcBef>
            </a:pPr>
            <a:r>
              <a:rPr lang="zh-CN" altLang="en-US" sz="2000" b="1" dirty="0" smtClean="0">
                <a:latin typeface="楷体" panose="02010609060101010101" pitchFamily="49" charset="-122"/>
                <a:ea typeface="楷体" panose="02010609060101010101" pitchFamily="49" charset="-122"/>
              </a:rPr>
              <a:t>马克思和恩格斯指明</a:t>
            </a:r>
            <a:r>
              <a:rPr lang="zh-CN" altLang="en-US" sz="2000" b="1" dirty="0">
                <a:latin typeface="楷体" panose="02010609060101010101" pitchFamily="49" charset="-122"/>
                <a:ea typeface="楷体" panose="02010609060101010101" pitchFamily="49" charset="-122"/>
              </a:rPr>
              <a:t>了</a:t>
            </a:r>
            <a:r>
              <a:rPr lang="zh-CN" altLang="en-US" sz="2000" b="1" u="sng" dirty="0">
                <a:latin typeface="楷体" panose="02010609060101010101" pitchFamily="49" charset="-122"/>
                <a:ea typeface="楷体" panose="02010609060101010101" pitchFamily="49" charset="-122"/>
              </a:rPr>
              <a:t>主观辩证法是客观辩证法的反映</a:t>
            </a:r>
            <a:r>
              <a:rPr lang="zh-CN" altLang="en-US" sz="2000" b="1" dirty="0">
                <a:latin typeface="楷体" panose="02010609060101010101" pitchFamily="49" charset="-122"/>
                <a:ea typeface="楷体" panose="02010609060101010101" pitchFamily="49" charset="-122"/>
              </a:rPr>
              <a:t>，证明了辩证法规律是来自客观现实，而不是来自主观精神或</a:t>
            </a:r>
            <a:r>
              <a:rPr lang="zh-CN" altLang="en-US" sz="2000" b="1" dirty="0" smtClean="0">
                <a:latin typeface="楷体" panose="02010609060101010101" pitchFamily="49" charset="-122"/>
                <a:ea typeface="楷体" panose="02010609060101010101" pitchFamily="49" charset="-122"/>
              </a:rPr>
              <a:t>绝对观念</a:t>
            </a:r>
            <a:r>
              <a:rPr lang="zh-CN" altLang="en-US" sz="2000" b="1" dirty="0" smtClean="0">
                <a:latin typeface="楷体" panose="02010609060101010101" pitchFamily="49" charset="-122"/>
                <a:ea typeface="楷体" panose="02010609060101010101" pitchFamily="49" charset="-122"/>
              </a:rPr>
              <a:t>，</a:t>
            </a:r>
            <a:r>
              <a:rPr lang="zh-CN" altLang="en-US" sz="2000" b="1" dirty="0" smtClean="0">
                <a:latin typeface="楷体" panose="02010609060101010101" pitchFamily="49" charset="-122"/>
                <a:ea typeface="楷体" panose="02010609060101010101" pitchFamily="49" charset="-122"/>
              </a:rPr>
              <a:t>从而</a:t>
            </a:r>
            <a:r>
              <a:rPr lang="zh-CN" altLang="en-US" sz="2000" b="1" dirty="0">
                <a:latin typeface="楷体" panose="02010609060101010101" pitchFamily="49" charset="-122"/>
                <a:ea typeface="楷体" panose="02010609060101010101" pitchFamily="49" charset="-122"/>
              </a:rPr>
              <a:t>使辩证法的概念在</a:t>
            </a:r>
            <a:r>
              <a:rPr lang="zh-CN" altLang="en-US" sz="2000" b="1" dirty="0">
                <a:solidFill>
                  <a:srgbClr val="C00000"/>
                </a:solidFill>
                <a:latin typeface="幼圆" pitchFamily="49" charset="-122"/>
                <a:ea typeface="幼圆" pitchFamily="49" charset="-122"/>
              </a:rPr>
              <a:t>唯物主义的基础之上</a:t>
            </a:r>
            <a:r>
              <a:rPr lang="zh-CN" altLang="en-US" sz="2000" b="1" dirty="0">
                <a:latin typeface="楷体" panose="02010609060101010101" pitchFamily="49" charset="-122"/>
                <a:ea typeface="楷体" panose="02010609060101010101" pitchFamily="49" charset="-122"/>
              </a:rPr>
              <a:t>获得了</a:t>
            </a:r>
            <a:r>
              <a:rPr lang="zh-CN" altLang="en-US" sz="2000" b="1" dirty="0">
                <a:solidFill>
                  <a:srgbClr val="C00000"/>
                </a:solidFill>
                <a:latin typeface="幼圆" pitchFamily="49" charset="-122"/>
                <a:ea typeface="幼圆" pitchFamily="49" charset="-122"/>
              </a:rPr>
              <a:t>真实的科学内容</a:t>
            </a:r>
            <a:r>
              <a:rPr lang="zh-CN" altLang="en-US" sz="2000" b="1" dirty="0">
                <a:latin typeface="楷体" panose="02010609060101010101" pitchFamily="49" charset="-122"/>
                <a:ea typeface="楷体" panose="02010609060101010101" pitchFamily="49" charset="-122"/>
              </a:rPr>
              <a:t>。</a:t>
            </a:r>
            <a:endParaRPr lang="zh-CN" altLang="en-US" sz="2000" b="1" dirty="0">
              <a:latin typeface="楷体" panose="02010609060101010101" pitchFamily="49" charset="-122"/>
              <a:ea typeface="楷体" panose="02010609060101010101" pitchFamily="49" charset="-122"/>
            </a:endParaRPr>
          </a:p>
        </p:txBody>
      </p:sp>
      <p:sp>
        <p:nvSpPr>
          <p:cNvPr id="7" name="矩形 764939"/>
          <p:cNvSpPr>
            <a:spLocks noChangeArrowheads="1"/>
          </p:cNvSpPr>
          <p:nvPr/>
        </p:nvSpPr>
        <p:spPr bwMode="auto">
          <a:xfrm>
            <a:off x="428596" y="357166"/>
            <a:ext cx="7345362" cy="552450"/>
          </a:xfrm>
          <a:prstGeom prst="rect">
            <a:avLst/>
          </a:prstGeom>
          <a:solidFill>
            <a:srgbClr val="CCFFFF"/>
          </a:solidFill>
          <a:ln w="12700">
            <a:solidFill>
              <a:srgbClr val="FF3300"/>
            </a:solidFill>
            <a:miter lim="800000"/>
          </a:ln>
        </p:spPr>
        <p:txBody>
          <a:bodyPr>
            <a:spAutoFit/>
          </a:bodyPr>
          <a:lstStyle/>
          <a:p>
            <a:pPr>
              <a:lnSpc>
                <a:spcPct val="125000"/>
              </a:lnSpc>
            </a:pPr>
            <a:r>
              <a:rPr lang="zh-CN" altLang="en-US" sz="2400" b="1" dirty="0" smtClean="0">
                <a:solidFill>
                  <a:srgbClr val="0000FF"/>
                </a:solidFill>
                <a:latin typeface="黑体" panose="02010609060101010101" pitchFamily="49" charset="-122"/>
                <a:ea typeface="黑体" panose="02010609060101010101" pitchFamily="49" charset="-122"/>
              </a:rPr>
              <a:t>（二）</a:t>
            </a:r>
            <a:r>
              <a:rPr lang="zh-CN" altLang="en-US" sz="2400" b="1" dirty="0">
                <a:solidFill>
                  <a:srgbClr val="0000FF"/>
                </a:solidFill>
                <a:latin typeface="黑体" panose="02010609060101010101" pitchFamily="49" charset="-122"/>
                <a:ea typeface="黑体" panose="02010609060101010101" pitchFamily="49" charset="-122"/>
              </a:rPr>
              <a:t>唯物辩证法是客观辩证法与主观辩证法的统一</a:t>
            </a:r>
            <a:endParaRPr lang="zh-CN" altLang="en-US" sz="2400" b="1" dirty="0">
              <a:solidFill>
                <a:schemeClr val="accent2"/>
              </a:solidFill>
              <a:latin typeface="黑体" panose="02010609060101010101" pitchFamily="49" charset="-122"/>
              <a:ea typeface="黑体" panose="02010609060101010101" pitchFamily="49" charset="-122"/>
            </a:endParaRPr>
          </a:p>
        </p:txBody>
      </p:sp>
      <p:sp>
        <p:nvSpPr>
          <p:cNvPr id="9" name="矩形 764931"/>
          <p:cNvSpPr>
            <a:spLocks noChangeArrowheads="1"/>
          </p:cNvSpPr>
          <p:nvPr/>
        </p:nvSpPr>
        <p:spPr bwMode="auto">
          <a:xfrm>
            <a:off x="357158" y="3643314"/>
            <a:ext cx="8215370" cy="2400657"/>
          </a:xfrm>
          <a:prstGeom prst="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wrap="square" anchor="ctr">
            <a:spAutoFit/>
          </a:bodyPr>
          <a:lstStyle/>
          <a:p>
            <a:pPr>
              <a:lnSpc>
                <a:spcPct val="125000"/>
              </a:lnSpc>
            </a:pPr>
            <a:r>
              <a:rPr lang="zh-CN" altLang="en-US" sz="2000" b="1" dirty="0">
                <a:solidFill>
                  <a:schemeClr val="tx1"/>
                </a:solidFill>
                <a:latin typeface="+mn-ea"/>
              </a:rPr>
              <a:t>客观辩证法：</a:t>
            </a:r>
            <a:r>
              <a:rPr lang="zh-CN" altLang="en-US" sz="2000" b="1" dirty="0">
                <a:solidFill>
                  <a:srgbClr val="FF0000"/>
                </a:solidFill>
                <a:latin typeface="+mn-ea"/>
              </a:rPr>
              <a:t>客观事物或客观存在的辩证法</a:t>
            </a:r>
            <a:r>
              <a:rPr lang="zh-CN" altLang="en-US" sz="2000" b="1" dirty="0" smtClean="0">
                <a:solidFill>
                  <a:schemeClr val="tx1"/>
                </a:solidFill>
                <a:latin typeface="+mn-ea"/>
              </a:rPr>
              <a:t>，</a:t>
            </a:r>
            <a:r>
              <a:rPr lang="zh-CN" altLang="en-US" sz="2000" b="1" dirty="0" smtClean="0">
                <a:solidFill>
                  <a:schemeClr val="tx1"/>
                </a:solidFill>
                <a:latin typeface="楷体" panose="02010609060101010101" pitchFamily="49" charset="-122"/>
                <a:ea typeface="楷体" panose="02010609060101010101" pitchFamily="49" charset="-122"/>
              </a:rPr>
              <a:t>客观</a:t>
            </a:r>
            <a:r>
              <a:rPr lang="zh-CN" altLang="en-US" sz="2000" b="1" dirty="0">
                <a:solidFill>
                  <a:schemeClr val="tx1"/>
                </a:solidFill>
                <a:latin typeface="楷体" panose="02010609060101010101" pitchFamily="49" charset="-122"/>
                <a:ea typeface="楷体" panose="02010609060101010101" pitchFamily="49" charset="-122"/>
              </a:rPr>
              <a:t>事物以相互作用、相互联系的形式呈现出的各种物质形态的辩证运动和发展规律。       </a:t>
            </a:r>
            <a:endParaRPr lang="zh-CN" altLang="en-US" sz="2000" b="1" dirty="0">
              <a:solidFill>
                <a:schemeClr val="tx1"/>
              </a:solidFill>
              <a:latin typeface="楷体_GB2312" pitchFamily="1" charset="-122"/>
              <a:ea typeface="楷体_GB2312" pitchFamily="1" charset="-122"/>
            </a:endParaRPr>
          </a:p>
          <a:p>
            <a:pPr>
              <a:lnSpc>
                <a:spcPct val="125000"/>
              </a:lnSpc>
            </a:pPr>
            <a:r>
              <a:rPr lang="zh-CN" altLang="en-US" sz="2000" b="1" dirty="0">
                <a:solidFill>
                  <a:schemeClr val="tx1"/>
                </a:solidFill>
                <a:latin typeface="+mn-ea"/>
              </a:rPr>
              <a:t>主观辩证法：</a:t>
            </a:r>
            <a:r>
              <a:rPr lang="zh-CN" altLang="en-US" sz="2000" b="1" dirty="0">
                <a:solidFill>
                  <a:srgbClr val="FF0000"/>
                </a:solidFill>
                <a:latin typeface="+mn-ea"/>
              </a:rPr>
              <a:t>人类认识和思维运动的辩证法</a:t>
            </a:r>
            <a:r>
              <a:rPr lang="zh-CN" altLang="en-US" sz="2000" b="1" dirty="0" smtClean="0">
                <a:solidFill>
                  <a:schemeClr val="tx1"/>
                </a:solidFill>
                <a:latin typeface="+mn-ea"/>
              </a:rPr>
              <a:t>，</a:t>
            </a:r>
            <a:r>
              <a:rPr lang="zh-CN" altLang="en-US" sz="2000" b="1" dirty="0" smtClean="0">
                <a:solidFill>
                  <a:schemeClr val="tx1"/>
                </a:solidFill>
                <a:latin typeface="楷体" panose="02010609060101010101" pitchFamily="49" charset="-122"/>
                <a:ea typeface="楷体" panose="02010609060101010101" pitchFamily="49" charset="-122"/>
              </a:rPr>
              <a:t>以</a:t>
            </a:r>
            <a:r>
              <a:rPr lang="zh-CN" altLang="en-US" sz="2000" b="1" dirty="0">
                <a:solidFill>
                  <a:schemeClr val="tx1"/>
                </a:solidFill>
                <a:latin typeface="楷体" panose="02010609060101010101" pitchFamily="49" charset="-122"/>
                <a:ea typeface="楷体" panose="02010609060101010101" pitchFamily="49" charset="-122"/>
              </a:rPr>
              <a:t>概念作为思维细胞的辩证思维运动和发展的规律</a:t>
            </a:r>
            <a:r>
              <a:rPr lang="zh-CN" altLang="en-US" sz="2000" b="1" dirty="0" smtClean="0">
                <a:solidFill>
                  <a:schemeClr val="tx1"/>
                </a:solidFill>
                <a:latin typeface="楷体" panose="02010609060101010101" pitchFamily="49" charset="-122"/>
                <a:ea typeface="楷体" panose="02010609060101010101" pitchFamily="49" charset="-122"/>
              </a:rPr>
              <a:t>。</a:t>
            </a:r>
            <a:endParaRPr lang="en-US" altLang="zh-CN" sz="2000" b="1" dirty="0" smtClean="0">
              <a:solidFill>
                <a:schemeClr val="tx1"/>
              </a:solidFill>
              <a:latin typeface="楷体" panose="02010609060101010101" pitchFamily="49" charset="-122"/>
              <a:ea typeface="楷体" panose="02010609060101010101" pitchFamily="49" charset="-122"/>
            </a:endParaRPr>
          </a:p>
          <a:p>
            <a:pPr>
              <a:lnSpc>
                <a:spcPct val="125000"/>
              </a:lnSpc>
            </a:pPr>
            <a:r>
              <a:rPr lang="zh-CN" altLang="en-US" sz="2000" b="1" dirty="0" smtClean="0">
                <a:solidFill>
                  <a:schemeClr val="tx1"/>
                </a:solidFill>
                <a:latin typeface="+mn-ea"/>
              </a:rPr>
              <a:t>主观辩证法是客观辩证法的反映，客观辩证法与主观辩证法在</a:t>
            </a:r>
            <a:r>
              <a:rPr lang="zh-CN" altLang="en-US" sz="2000" b="1" dirty="0" smtClean="0">
                <a:solidFill>
                  <a:srgbClr val="FF0000"/>
                </a:solidFill>
                <a:latin typeface="+mn-ea"/>
              </a:rPr>
              <a:t>本质上是统一的</a:t>
            </a:r>
            <a:r>
              <a:rPr lang="zh-CN" altLang="en-US" sz="2000" b="1" dirty="0" smtClean="0">
                <a:solidFill>
                  <a:schemeClr val="tx1"/>
                </a:solidFill>
                <a:latin typeface="+mn-ea"/>
              </a:rPr>
              <a:t>，但在</a:t>
            </a:r>
            <a:r>
              <a:rPr lang="zh-CN" altLang="en-US" sz="2000" b="1" dirty="0" smtClean="0">
                <a:solidFill>
                  <a:srgbClr val="FF0000"/>
                </a:solidFill>
                <a:latin typeface="+mn-ea"/>
              </a:rPr>
              <a:t>表现形式上却是不同的</a:t>
            </a:r>
            <a:r>
              <a:rPr lang="zh-CN" altLang="en-US" sz="2000" b="1" dirty="0" smtClean="0">
                <a:solidFill>
                  <a:schemeClr val="tx1"/>
                </a:solidFill>
                <a:latin typeface="+mn-ea"/>
              </a:rPr>
              <a:t>。</a:t>
            </a:r>
            <a:endParaRPr lang="zh-CN" altLang="en-US" sz="2000" b="1" dirty="0">
              <a:solidFill>
                <a:schemeClr val="tx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Click="0" advTm="0">
        <p15:prstTrans prst="prestige"/>
      </p:transition>
    </mc:Choice>
    <mc:Fallback>
      <p:transition spd="slow" advClick="0" advTm="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标注 5"/>
          <p:cNvSpPr>
            <a:spLocks noChangeArrowheads="1"/>
          </p:cNvSpPr>
          <p:nvPr/>
        </p:nvSpPr>
        <p:spPr bwMode="auto">
          <a:xfrm>
            <a:off x="285720" y="357166"/>
            <a:ext cx="8465737" cy="1857387"/>
          </a:xfrm>
          <a:prstGeom prst="wedgeRoundRectCallout">
            <a:avLst>
              <a:gd name="adj1" fmla="val 8118"/>
              <a:gd name="adj2" fmla="val 50271"/>
              <a:gd name="adj3" fmla="val 16667"/>
            </a:avLst>
          </a:prstGeom>
        </p:spPr>
        <p:style>
          <a:lnRef idx="1">
            <a:schemeClr val="accent3"/>
          </a:lnRef>
          <a:fillRef idx="2">
            <a:schemeClr val="accent3"/>
          </a:fillRef>
          <a:effectRef idx="1">
            <a:schemeClr val="accent3"/>
          </a:effectRef>
          <a:fontRef idx="minor">
            <a:schemeClr val="dk1"/>
          </a:fontRef>
        </p:style>
        <p:txBody>
          <a:bodyPr/>
          <a:lstStyle/>
          <a:p>
            <a:pPr>
              <a:lnSpc>
                <a:spcPct val="125000"/>
              </a:lnSpc>
            </a:pPr>
            <a:r>
              <a:rPr lang="en-US" altLang="zh-CN" sz="2800" dirty="0">
                <a:solidFill>
                  <a:schemeClr val="tx1"/>
                </a:solidFill>
                <a:latin typeface="Times New Roman" panose="02020603050405020304" pitchFamily="18" charset="0"/>
                <a:ea typeface="华文新魏" pitchFamily="2" charset="-122"/>
              </a:rPr>
              <a:t>      </a:t>
            </a:r>
            <a:r>
              <a:rPr lang="zh-CN" altLang="en-US" sz="2800" b="1" dirty="0">
                <a:solidFill>
                  <a:schemeClr val="tx1"/>
                </a:solidFill>
                <a:latin typeface="楷体" panose="02010609060101010101" pitchFamily="49" charset="-122"/>
                <a:ea typeface="楷体" panose="02010609060101010101" pitchFamily="49" charset="-122"/>
              </a:rPr>
              <a:t>所谓的客观辩证法是在整个自然界中起支配作用的，而所谓的主观辩证法，即辩证的思维，不过是在自然界中到处发生作用的、对立中的运动的反映。</a:t>
            </a:r>
            <a:endParaRPr lang="zh-CN" altLang="en-US" sz="2800" b="1" dirty="0">
              <a:solidFill>
                <a:schemeClr val="tx1"/>
              </a:solidFill>
              <a:latin typeface="楷体" panose="02010609060101010101" pitchFamily="49" charset="-122"/>
              <a:ea typeface="楷体" panose="02010609060101010101" pitchFamily="49" charset="-122"/>
            </a:endParaRPr>
          </a:p>
        </p:txBody>
      </p:sp>
      <p:graphicFrame>
        <p:nvGraphicFramePr>
          <p:cNvPr id="11" name="图示 10"/>
          <p:cNvGraphicFramePr/>
          <p:nvPr/>
        </p:nvGraphicFramePr>
        <p:xfrm>
          <a:off x="357158" y="2428868"/>
          <a:ext cx="3058339" cy="322029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2" name="矩形 11"/>
          <p:cNvSpPr/>
          <p:nvPr/>
        </p:nvSpPr>
        <p:spPr>
          <a:xfrm>
            <a:off x="3500430" y="2928934"/>
            <a:ext cx="5214974" cy="784830"/>
          </a:xfrm>
          <a:prstGeom prst="rect">
            <a:avLst/>
          </a:prstGeom>
          <a:solidFill>
            <a:schemeClr val="accent1">
              <a:lumMod val="20000"/>
              <a:lumOff val="80000"/>
            </a:schemeClr>
          </a:solidFill>
        </p:spPr>
        <p:txBody>
          <a:bodyPr wrap="square">
            <a:spAutoFit/>
          </a:bodyPr>
          <a:lstStyle/>
          <a:p>
            <a:pPr>
              <a:lnSpc>
                <a:spcPct val="125000"/>
              </a:lnSpc>
            </a:pPr>
            <a:r>
              <a:rPr lang="zh-CN" altLang="en-US" b="1" u="sng" dirty="0">
                <a:solidFill>
                  <a:srgbClr val="C00000"/>
                </a:solidFill>
                <a:latin typeface="楷体" panose="02010609060101010101" pitchFamily="49" charset="-122"/>
                <a:ea typeface="楷体" panose="02010609060101010101" pitchFamily="49" charset="-122"/>
              </a:rPr>
              <a:t>外部必然性形式</a:t>
            </a:r>
            <a:r>
              <a:rPr lang="zh-CN" altLang="en-US" b="1" dirty="0" smtClean="0">
                <a:latin typeface="楷体" panose="02010609060101010101" pitchFamily="49" charset="-122"/>
                <a:ea typeface="楷体" panose="02010609060101010101" pitchFamily="49" charset="-122"/>
              </a:rPr>
              <a:t>，不</a:t>
            </a:r>
            <a:r>
              <a:rPr lang="zh-CN" altLang="en-US" b="1" dirty="0">
                <a:latin typeface="楷体" panose="02010609060101010101" pitchFamily="49" charset="-122"/>
                <a:ea typeface="楷体" panose="02010609060101010101" pitchFamily="49" charset="-122"/>
              </a:rPr>
              <a:t>以人的意志为</a:t>
            </a:r>
            <a:r>
              <a:rPr lang="zh-CN" altLang="en-US" b="1" dirty="0" smtClean="0">
                <a:latin typeface="楷体" panose="02010609060101010101" pitchFamily="49" charset="-122"/>
                <a:ea typeface="楷体" panose="02010609060101010101" pitchFamily="49" charset="-122"/>
              </a:rPr>
              <a:t>转移。是物质</a:t>
            </a:r>
            <a:r>
              <a:rPr lang="zh-CN" altLang="en-US" b="1" dirty="0">
                <a:latin typeface="楷体" panose="02010609060101010101" pitchFamily="49" charset="-122"/>
                <a:ea typeface="楷体" panose="02010609060101010101" pitchFamily="49" charset="-122"/>
              </a:rPr>
              <a:t>世界本身的联系与发展</a:t>
            </a:r>
            <a:r>
              <a:rPr lang="zh-CN" altLang="en-US" b="1" dirty="0" smtClean="0">
                <a:latin typeface="楷体" panose="02010609060101010101" pitchFamily="49" charset="-122"/>
                <a:ea typeface="楷体" panose="02010609060101010101" pitchFamily="49" charset="-122"/>
              </a:rPr>
              <a:t>。即</a:t>
            </a:r>
            <a:r>
              <a:rPr lang="zh-CN" altLang="en-US" b="1" dirty="0" smtClean="0">
                <a:solidFill>
                  <a:srgbClr val="FF0000"/>
                </a:solidFill>
                <a:latin typeface="楷体" panose="02010609060101010101" pitchFamily="49" charset="-122"/>
                <a:ea typeface="楷体" panose="02010609060101010101" pitchFamily="49" charset="-122"/>
              </a:rPr>
              <a:t>世界本身的辩证法。</a:t>
            </a:r>
            <a:endParaRPr lang="zh-CN" altLang="en-US" b="1" dirty="0">
              <a:solidFill>
                <a:srgbClr val="FF0000"/>
              </a:solidFill>
              <a:latin typeface="楷体" panose="02010609060101010101" pitchFamily="49" charset="-122"/>
              <a:ea typeface="楷体" panose="02010609060101010101" pitchFamily="49" charset="-122"/>
            </a:endParaRPr>
          </a:p>
        </p:txBody>
      </p:sp>
      <p:sp>
        <p:nvSpPr>
          <p:cNvPr id="13" name="矩形 12"/>
          <p:cNvSpPr/>
          <p:nvPr/>
        </p:nvSpPr>
        <p:spPr>
          <a:xfrm>
            <a:off x="3500430" y="4071942"/>
            <a:ext cx="5214974" cy="1131079"/>
          </a:xfrm>
          <a:prstGeom prst="rect">
            <a:avLst/>
          </a:prstGeom>
          <a:solidFill>
            <a:schemeClr val="accent1">
              <a:lumMod val="20000"/>
              <a:lumOff val="80000"/>
            </a:schemeClr>
          </a:solidFill>
        </p:spPr>
        <p:txBody>
          <a:bodyPr wrap="square">
            <a:spAutoFit/>
          </a:bodyPr>
          <a:lstStyle/>
          <a:p>
            <a:pPr>
              <a:lnSpc>
                <a:spcPct val="125000"/>
              </a:lnSpc>
            </a:pPr>
            <a:r>
              <a:rPr lang="zh-CN" altLang="en-US" b="1" u="sng" dirty="0">
                <a:solidFill>
                  <a:srgbClr val="C00000"/>
                </a:solidFill>
                <a:latin typeface="楷体" panose="02010609060101010101" pitchFamily="49" charset="-122"/>
                <a:ea typeface="楷体" panose="02010609060101010101" pitchFamily="49" charset="-122"/>
              </a:rPr>
              <a:t>观念的、逻辑的形式</a:t>
            </a:r>
            <a:r>
              <a:rPr lang="zh-CN" altLang="en-US" b="1" dirty="0">
                <a:latin typeface="楷体" panose="02010609060101010101" pitchFamily="49" charset="-122"/>
                <a:ea typeface="楷体" panose="02010609060101010101" pitchFamily="49" charset="-122"/>
              </a:rPr>
              <a:t>，同人类的思维的自觉活动相联系</a:t>
            </a:r>
            <a:r>
              <a:rPr lang="zh-CN" altLang="en-US" b="1" dirty="0" smtClean="0">
                <a:latin typeface="楷体" panose="02010609060101010101" pitchFamily="49" charset="-122"/>
                <a:ea typeface="楷体" panose="02010609060101010101" pitchFamily="49" charset="-122"/>
              </a:rPr>
              <a:t>，以</a:t>
            </a:r>
            <a:r>
              <a:rPr lang="zh-CN" altLang="en-US" b="1" dirty="0">
                <a:latin typeface="楷体" panose="02010609060101010101" pitchFamily="49" charset="-122"/>
                <a:ea typeface="楷体" panose="02010609060101010101" pitchFamily="49" charset="-122"/>
              </a:rPr>
              <a:t>概念为基础的辩证思维规律，是辩证法的科学体系</a:t>
            </a:r>
            <a:r>
              <a:rPr lang="zh-CN" altLang="en-US" b="1" dirty="0" smtClean="0">
                <a:latin typeface="楷体" panose="02010609060101010101" pitchFamily="49" charset="-122"/>
                <a:ea typeface="楷体" panose="02010609060101010101" pitchFamily="49" charset="-122"/>
              </a:rPr>
              <a:t>。即</a:t>
            </a:r>
            <a:r>
              <a:rPr lang="zh-CN" altLang="en-US" b="1" dirty="0" smtClean="0">
                <a:solidFill>
                  <a:srgbClr val="FF0000"/>
                </a:solidFill>
                <a:latin typeface="楷体" panose="02010609060101010101" pitchFamily="49" charset="-122"/>
                <a:ea typeface="楷体" panose="02010609060101010101" pitchFamily="49" charset="-122"/>
              </a:rPr>
              <a:t>概念的辩证法。</a:t>
            </a:r>
            <a:endParaRPr lang="zh-CN"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矩形 884737"/>
          <p:cNvSpPr>
            <a:spLocks noChangeArrowheads="1"/>
          </p:cNvSpPr>
          <p:nvPr/>
        </p:nvSpPr>
        <p:spPr bwMode="auto">
          <a:xfrm>
            <a:off x="285720" y="285728"/>
            <a:ext cx="5472112" cy="552450"/>
          </a:xfrm>
          <a:prstGeom prst="rect">
            <a:avLst/>
          </a:prstGeom>
          <a:solidFill>
            <a:srgbClr val="CCFFFF"/>
          </a:solidFill>
          <a:ln w="12700">
            <a:solidFill>
              <a:srgbClr val="FF3300"/>
            </a:solidFill>
            <a:miter lim="800000"/>
          </a:ln>
        </p:spPr>
        <p:txBody>
          <a:bodyPr>
            <a:spAutoFit/>
          </a:bodyPr>
          <a:lstStyle/>
          <a:p>
            <a:pPr>
              <a:lnSpc>
                <a:spcPct val="125000"/>
              </a:lnSpc>
            </a:pPr>
            <a:r>
              <a:rPr lang="zh-CN" altLang="en-US" sz="2400" b="1" dirty="0" smtClean="0">
                <a:solidFill>
                  <a:srgbClr val="0000FF"/>
                </a:solidFill>
                <a:latin typeface="黑体" panose="02010609060101010101" pitchFamily="49" charset="-122"/>
                <a:ea typeface="黑体" panose="02010609060101010101" pitchFamily="49" charset="-122"/>
              </a:rPr>
              <a:t>（三）</a:t>
            </a:r>
            <a:r>
              <a:rPr lang="zh-CN" altLang="en-US" sz="2400" b="1" dirty="0">
                <a:solidFill>
                  <a:srgbClr val="0000FF"/>
                </a:solidFill>
                <a:latin typeface="黑体" panose="02010609060101010101" pitchFamily="49" charset="-122"/>
                <a:ea typeface="黑体" panose="02010609060101010101" pitchFamily="49" charset="-122"/>
              </a:rPr>
              <a:t>唯物辩证法</a:t>
            </a:r>
            <a:r>
              <a:rPr lang="zh-CN" altLang="en-US" sz="2400" b="1" dirty="0" smtClean="0">
                <a:solidFill>
                  <a:srgbClr val="0000FF"/>
                </a:solidFill>
                <a:latin typeface="黑体" panose="02010609060101010101" pitchFamily="49" charset="-122"/>
                <a:ea typeface="黑体" panose="02010609060101010101" pitchFamily="49" charset="-122"/>
              </a:rPr>
              <a:t>是科学的</a:t>
            </a:r>
            <a:r>
              <a:rPr lang="zh-CN" altLang="en-US" sz="2400" b="1" dirty="0" smtClean="0">
                <a:solidFill>
                  <a:srgbClr val="0000FF"/>
                </a:solidFill>
                <a:latin typeface="黑体" panose="02010609060101010101" pitchFamily="49" charset="-122"/>
                <a:ea typeface="黑体" panose="02010609060101010101" pitchFamily="49" charset="-122"/>
              </a:rPr>
              <a:t>认识</a:t>
            </a:r>
            <a:r>
              <a:rPr lang="zh-CN" altLang="en-US" sz="2400" b="1" dirty="0" smtClean="0">
                <a:solidFill>
                  <a:srgbClr val="0000FF"/>
                </a:solidFill>
                <a:latin typeface="黑体" panose="02010609060101010101" pitchFamily="49" charset="-122"/>
                <a:ea typeface="黑体" panose="02010609060101010101" pitchFamily="49" charset="-122"/>
              </a:rPr>
              <a:t>方法</a:t>
            </a:r>
            <a:endParaRPr lang="zh-CN" altLang="en-US" sz="2400" b="1" dirty="0">
              <a:solidFill>
                <a:schemeClr val="accent2"/>
              </a:solidFill>
              <a:latin typeface="黑体" panose="02010609060101010101" pitchFamily="49" charset="-122"/>
              <a:ea typeface="黑体" panose="02010609060101010101" pitchFamily="49" charset="-122"/>
            </a:endParaRPr>
          </a:p>
        </p:txBody>
      </p:sp>
      <p:sp>
        <p:nvSpPr>
          <p:cNvPr id="11271" name="矩形 884756"/>
          <p:cNvSpPr>
            <a:spLocks noChangeArrowheads="1"/>
          </p:cNvSpPr>
          <p:nvPr/>
        </p:nvSpPr>
        <p:spPr bwMode="auto">
          <a:xfrm>
            <a:off x="252730" y="981075"/>
            <a:ext cx="8495665" cy="1477328"/>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2400" b="1" dirty="0" smtClean="0">
                <a:latin typeface="楷体" panose="02010609060101010101" pitchFamily="49" charset="-122"/>
                <a:ea typeface="楷体" panose="02010609060101010101" pitchFamily="49" charset="-122"/>
              </a:rPr>
              <a:t>唯物辩证法的一系列规律和范畴，揭示</a:t>
            </a:r>
            <a:r>
              <a:rPr lang="zh-CN" altLang="en-US" sz="2400" b="1" dirty="0">
                <a:latin typeface="楷体" panose="02010609060101010101" pitchFamily="49" charset="-122"/>
                <a:ea typeface="楷体" panose="02010609060101010101" pitchFamily="49" charset="-122"/>
              </a:rPr>
              <a:t>了世界普遍联系和永恒发展的普遍规律，既是科学的世界观</a:t>
            </a:r>
            <a:r>
              <a:rPr lang="zh-CN" altLang="en-US" sz="2400" b="1" dirty="0" smtClean="0">
                <a:latin typeface="楷体" panose="02010609060101010101" pitchFamily="49" charset="-122"/>
                <a:ea typeface="楷体" panose="02010609060101010101" pitchFamily="49" charset="-122"/>
              </a:rPr>
              <a:t>，同时也</a:t>
            </a:r>
            <a:r>
              <a:rPr lang="zh-CN" altLang="en-US" sz="2400" b="1" dirty="0">
                <a:latin typeface="楷体" panose="02010609060101010101" pitchFamily="49" charset="-122"/>
                <a:ea typeface="楷体" panose="02010609060101010101" pitchFamily="49" charset="-122"/>
              </a:rPr>
              <a:t>是我们认识世界和改造世界</a:t>
            </a:r>
            <a:r>
              <a:rPr lang="zh-CN" altLang="en-US" sz="2400" b="1" dirty="0" smtClean="0">
                <a:latin typeface="楷体" panose="02010609060101010101" pitchFamily="49" charset="-122"/>
                <a:ea typeface="楷体" panose="02010609060101010101" pitchFamily="49" charset="-122"/>
              </a:rPr>
              <a:t>的基本</a:t>
            </a:r>
            <a:r>
              <a:rPr lang="zh-CN" altLang="en-US" sz="2400" b="1" dirty="0">
                <a:latin typeface="楷体" panose="02010609060101010101" pitchFamily="49" charset="-122"/>
                <a:ea typeface="楷体" panose="02010609060101010101" pitchFamily="49" charset="-122"/>
              </a:rPr>
              <a:t>方法论。</a:t>
            </a:r>
            <a:endParaRPr lang="zh-CN" altLang="en-US" sz="2400" b="1" dirty="0">
              <a:latin typeface="楷体" panose="02010609060101010101" pitchFamily="49" charset="-122"/>
              <a:ea typeface="楷体" panose="02010609060101010101" pitchFamily="49" charset="-122"/>
            </a:endParaRPr>
          </a:p>
        </p:txBody>
      </p:sp>
      <p:sp>
        <p:nvSpPr>
          <p:cNvPr id="11272" name="矩形 884757"/>
          <p:cNvSpPr>
            <a:spLocks noChangeArrowheads="1"/>
          </p:cNvSpPr>
          <p:nvPr/>
        </p:nvSpPr>
        <p:spPr bwMode="auto">
          <a:xfrm>
            <a:off x="252730" y="2559685"/>
            <a:ext cx="8495665" cy="1193596"/>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2000" b="1" dirty="0">
                <a:latin typeface="楷体" panose="02010609060101010101" pitchFamily="49" charset="-122"/>
                <a:ea typeface="楷体" panose="02010609060101010101" pitchFamily="49" charset="-122"/>
              </a:rPr>
              <a:t>学习唯物辩证法的目的和内在要求：按照世界本身的客观辩证本性与辩证运动的法则去认识世界、去辩证思维。</a:t>
            </a:r>
            <a:endParaRPr lang="zh-CN" altLang="en-US" sz="2000" b="1" dirty="0">
              <a:latin typeface="楷体" panose="02010609060101010101" pitchFamily="49" charset="-122"/>
              <a:ea typeface="楷体" panose="02010609060101010101" pitchFamily="49" charset="-122"/>
            </a:endParaRPr>
          </a:p>
          <a:p>
            <a:pPr>
              <a:lnSpc>
                <a:spcPct val="125000"/>
              </a:lnSpc>
            </a:pPr>
            <a:r>
              <a:rPr lang="zh-CN" altLang="en-US" sz="2000" b="1" dirty="0">
                <a:latin typeface="楷体" panose="02010609060101010101" pitchFamily="49" charset="-122"/>
                <a:ea typeface="楷体" panose="02010609060101010101" pitchFamily="49" charset="-122"/>
              </a:rPr>
              <a:t>人的认识活动本身既要符合客观辩证法，又有其固有的辩证运动的规律。</a:t>
            </a:r>
            <a:endParaRPr lang="zh-CN" altLang="en-US" sz="2000" b="1" dirty="0">
              <a:latin typeface="楷体" panose="02010609060101010101" pitchFamily="49" charset="-122"/>
              <a:ea typeface="楷体" panose="02010609060101010101" pitchFamily="49" charset="-122"/>
            </a:endParaRPr>
          </a:p>
        </p:txBody>
      </p:sp>
      <p:sp>
        <p:nvSpPr>
          <p:cNvPr id="11273" name="矩形 884758"/>
          <p:cNvSpPr>
            <a:spLocks noChangeArrowheads="1"/>
          </p:cNvSpPr>
          <p:nvPr/>
        </p:nvSpPr>
        <p:spPr bwMode="auto">
          <a:xfrm>
            <a:off x="252652" y="3925421"/>
            <a:ext cx="8495812" cy="1822450"/>
          </a:xfrm>
          <a:prstGeom prst="rect">
            <a:avLst/>
          </a:prstGeom>
          <a:solidFill>
            <a:srgbClr val="CCFFFF"/>
          </a:solidFill>
          <a:ln w="12700">
            <a:solidFill>
              <a:srgbClr val="FF3300"/>
            </a:solidFill>
            <a:miter lim="800000"/>
          </a:ln>
        </p:spPr>
        <p:txBody>
          <a:bodyPr wrap="square">
            <a:spAutoFit/>
          </a:bodyPr>
          <a:lstStyle/>
          <a:p>
            <a:pPr>
              <a:lnSpc>
                <a:spcPct val="125000"/>
              </a:lnSpc>
            </a:pPr>
            <a:r>
              <a:rPr lang="en-US" altLang="zh-CN" b="1" dirty="0" smtClean="0">
                <a:solidFill>
                  <a:srgbClr val="000099"/>
                </a:solidFill>
                <a:latin typeface="黑体" panose="02010609060101010101" pitchFamily="49" charset="-122"/>
                <a:ea typeface="黑体" panose="02010609060101010101" pitchFamily="49" charset="-122"/>
              </a:rPr>
              <a:t>- </a:t>
            </a:r>
            <a:r>
              <a:rPr lang="zh-CN" altLang="en-US" b="1" dirty="0" smtClean="0">
                <a:solidFill>
                  <a:srgbClr val="000099"/>
                </a:solidFill>
                <a:latin typeface="黑体" panose="02010609060101010101" pitchFamily="49" charset="-122"/>
                <a:ea typeface="黑体" panose="02010609060101010101" pitchFamily="49" charset="-122"/>
              </a:rPr>
              <a:t>对立统一规律：为人们的认识活动提供了</a:t>
            </a:r>
            <a:r>
              <a:rPr lang="zh-CN" altLang="en-US" b="1" dirty="0" smtClean="0">
                <a:solidFill>
                  <a:srgbClr val="FF0000"/>
                </a:solidFill>
                <a:latin typeface="黑体" panose="02010609060101010101" pitchFamily="49" charset="-122"/>
                <a:ea typeface="黑体" panose="02010609060101010101" pitchFamily="49" charset="-122"/>
              </a:rPr>
              <a:t>方法论上的遵循</a:t>
            </a:r>
            <a:r>
              <a:rPr lang="zh-CN" altLang="en-US" b="1" dirty="0" smtClean="0">
                <a:solidFill>
                  <a:srgbClr val="000099"/>
                </a:solidFill>
                <a:latin typeface="黑体" panose="02010609060101010101" pitchFamily="49" charset="-122"/>
                <a:ea typeface="黑体" panose="02010609060101010101" pitchFamily="49" charset="-122"/>
              </a:rPr>
              <a:t>。</a:t>
            </a:r>
            <a:endParaRPr lang="zh-CN" altLang="en-US" b="1" dirty="0">
              <a:solidFill>
                <a:srgbClr val="000099"/>
              </a:solidFill>
              <a:latin typeface="黑体" panose="02010609060101010101" pitchFamily="49" charset="-122"/>
              <a:ea typeface="黑体" panose="02010609060101010101" pitchFamily="49" charset="-122"/>
            </a:endParaRPr>
          </a:p>
          <a:p>
            <a:pPr>
              <a:lnSpc>
                <a:spcPct val="125000"/>
              </a:lnSpc>
            </a:pPr>
            <a:r>
              <a:rPr lang="en-US" altLang="zh-CN" b="1" dirty="0">
                <a:solidFill>
                  <a:srgbClr val="000099"/>
                </a:solidFill>
                <a:latin typeface="黑体" panose="02010609060101010101" pitchFamily="49" charset="-122"/>
                <a:ea typeface="黑体" panose="02010609060101010101" pitchFamily="49" charset="-122"/>
              </a:rPr>
              <a:t>- </a:t>
            </a:r>
            <a:r>
              <a:rPr lang="zh-CN" altLang="en-US" b="1" dirty="0">
                <a:solidFill>
                  <a:srgbClr val="000099"/>
                </a:solidFill>
                <a:latin typeface="黑体" panose="02010609060101010101" pitchFamily="49" charset="-122"/>
                <a:ea typeface="黑体" panose="02010609060101010101" pitchFamily="49" charset="-122"/>
              </a:rPr>
              <a:t>量变质变规律：科研活动中把</a:t>
            </a:r>
            <a:r>
              <a:rPr lang="zh-CN" altLang="en-US" b="1" dirty="0">
                <a:solidFill>
                  <a:srgbClr val="FF0000"/>
                </a:solidFill>
                <a:latin typeface="黑体" panose="02010609060101010101" pitchFamily="49" charset="-122"/>
                <a:ea typeface="黑体" panose="02010609060101010101" pitchFamily="49" charset="-122"/>
              </a:rPr>
              <a:t>定量分析与定性研究</a:t>
            </a:r>
            <a:r>
              <a:rPr lang="zh-CN" altLang="en-US" b="1" dirty="0">
                <a:solidFill>
                  <a:srgbClr val="000099"/>
                </a:solidFill>
                <a:latin typeface="黑体" panose="02010609060101010101" pitchFamily="49" charset="-122"/>
                <a:ea typeface="黑体" panose="02010609060101010101" pitchFamily="49" charset="-122"/>
              </a:rPr>
              <a:t>相结合，认识和把握事物运动变化发展的</a:t>
            </a:r>
            <a:r>
              <a:rPr lang="zh-CN" altLang="en-US" b="1" dirty="0">
                <a:solidFill>
                  <a:srgbClr val="FF0000"/>
                </a:solidFill>
                <a:latin typeface="黑体" panose="02010609060101010101" pitchFamily="49" charset="-122"/>
                <a:ea typeface="黑体" panose="02010609060101010101" pitchFamily="49" charset="-122"/>
              </a:rPr>
              <a:t>阶段性</a:t>
            </a:r>
            <a:r>
              <a:rPr lang="zh-CN" altLang="en-US" b="1" dirty="0">
                <a:solidFill>
                  <a:srgbClr val="000099"/>
                </a:solidFill>
                <a:latin typeface="黑体" panose="02010609060101010101" pitchFamily="49" charset="-122"/>
                <a:ea typeface="黑体" panose="02010609060101010101" pitchFamily="49" charset="-122"/>
              </a:rPr>
              <a:t>与</a:t>
            </a:r>
            <a:r>
              <a:rPr lang="zh-CN" altLang="en-US" b="1" dirty="0">
                <a:solidFill>
                  <a:srgbClr val="FF0000"/>
                </a:solidFill>
                <a:latin typeface="黑体" panose="02010609060101010101" pitchFamily="49" charset="-122"/>
                <a:ea typeface="黑体" panose="02010609060101010101" pitchFamily="49" charset="-122"/>
              </a:rPr>
              <a:t>不同发展状态</a:t>
            </a:r>
            <a:r>
              <a:rPr lang="zh-CN" altLang="en-US" b="1" dirty="0">
                <a:solidFill>
                  <a:srgbClr val="000099"/>
                </a:solidFill>
                <a:latin typeface="黑体" panose="02010609060101010101" pitchFamily="49" charset="-122"/>
                <a:ea typeface="黑体" panose="02010609060101010101" pitchFamily="49" charset="-122"/>
              </a:rPr>
              <a:t>的转化。</a:t>
            </a:r>
            <a:endParaRPr lang="zh-CN" altLang="en-US" b="1" dirty="0">
              <a:solidFill>
                <a:srgbClr val="000099"/>
              </a:solidFill>
              <a:latin typeface="黑体" panose="02010609060101010101" pitchFamily="49" charset="-122"/>
              <a:ea typeface="黑体" panose="02010609060101010101" pitchFamily="49" charset="-122"/>
            </a:endParaRPr>
          </a:p>
          <a:p>
            <a:pPr>
              <a:lnSpc>
                <a:spcPct val="125000"/>
              </a:lnSpc>
            </a:pPr>
            <a:r>
              <a:rPr lang="en-US" altLang="zh-CN" b="1" dirty="0">
                <a:solidFill>
                  <a:srgbClr val="000099"/>
                </a:solidFill>
                <a:latin typeface="黑体" panose="02010609060101010101" pitchFamily="49" charset="-122"/>
                <a:ea typeface="黑体" panose="02010609060101010101" pitchFamily="49" charset="-122"/>
              </a:rPr>
              <a:t>- </a:t>
            </a:r>
            <a:r>
              <a:rPr lang="zh-CN" altLang="en-US" b="1" dirty="0">
                <a:solidFill>
                  <a:srgbClr val="000099"/>
                </a:solidFill>
                <a:latin typeface="黑体" panose="02010609060101010101" pitchFamily="49" charset="-122"/>
                <a:ea typeface="黑体" panose="02010609060101010101" pitchFamily="49" charset="-122"/>
              </a:rPr>
              <a:t>否定之否定规律：事物在发展过程中实现</a:t>
            </a:r>
            <a:r>
              <a:rPr lang="zh-CN" altLang="en-US" b="1" dirty="0">
                <a:solidFill>
                  <a:srgbClr val="FF0000"/>
                </a:solidFill>
                <a:latin typeface="黑体" panose="02010609060101010101" pitchFamily="49" charset="-122"/>
                <a:ea typeface="黑体" panose="02010609060101010101" pitchFamily="49" charset="-122"/>
              </a:rPr>
              <a:t>自我否定</a:t>
            </a:r>
            <a:r>
              <a:rPr lang="zh-CN" altLang="en-US" b="1" dirty="0">
                <a:solidFill>
                  <a:srgbClr val="000099"/>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周期性</a:t>
            </a:r>
            <a:r>
              <a:rPr lang="zh-CN" altLang="en-US" b="1" dirty="0">
                <a:solidFill>
                  <a:srgbClr val="000099"/>
                </a:solidFill>
                <a:latin typeface="黑体" panose="02010609060101010101" pitchFamily="49" charset="-122"/>
                <a:ea typeface="黑体" panose="02010609060101010101" pitchFamily="49" charset="-122"/>
              </a:rPr>
              <a:t>地向</a:t>
            </a:r>
            <a:r>
              <a:rPr lang="zh-CN" altLang="en-US" b="1" dirty="0">
                <a:solidFill>
                  <a:srgbClr val="FF0000"/>
                </a:solidFill>
                <a:latin typeface="黑体" panose="02010609060101010101" pitchFamily="49" charset="-122"/>
                <a:ea typeface="黑体" panose="02010609060101010101" pitchFamily="49" charset="-122"/>
              </a:rPr>
              <a:t>更高级的存在形态</a:t>
            </a:r>
            <a:r>
              <a:rPr lang="zh-CN" altLang="en-US" b="1" dirty="0">
                <a:solidFill>
                  <a:srgbClr val="000099"/>
                </a:solidFill>
                <a:latin typeface="黑体" panose="02010609060101010101" pitchFamily="49" charset="-122"/>
                <a:ea typeface="黑体" panose="02010609060101010101" pitchFamily="49" charset="-122"/>
              </a:rPr>
              <a:t>前进，把握好</a:t>
            </a:r>
            <a:r>
              <a:rPr lang="zh-CN" altLang="en-US" b="1" dirty="0">
                <a:solidFill>
                  <a:srgbClr val="FF0000"/>
                </a:solidFill>
                <a:latin typeface="黑体" panose="02010609060101010101" pitchFamily="49" charset="-122"/>
                <a:ea typeface="黑体" panose="02010609060101010101" pitchFamily="49" charset="-122"/>
              </a:rPr>
              <a:t>前进性与曲折性</a:t>
            </a:r>
            <a:r>
              <a:rPr lang="zh-CN" altLang="en-US" b="1" dirty="0">
                <a:solidFill>
                  <a:srgbClr val="000099"/>
                </a:solidFill>
                <a:latin typeface="黑体" panose="02010609060101010101" pitchFamily="49" charset="-122"/>
                <a:ea typeface="黑体" panose="02010609060101010101" pitchFamily="49" charset="-122"/>
              </a:rPr>
              <a:t>的统一。</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2" name="矩形 884757"/>
          <p:cNvSpPr>
            <a:spLocks noChangeArrowheads="1"/>
          </p:cNvSpPr>
          <p:nvPr/>
        </p:nvSpPr>
        <p:spPr bwMode="auto">
          <a:xfrm>
            <a:off x="252730" y="5857892"/>
            <a:ext cx="8495665" cy="475615"/>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2000" b="1" dirty="0">
                <a:solidFill>
                  <a:srgbClr val="990000"/>
                </a:solidFill>
                <a:latin typeface="楷体" panose="02010609060101010101" pitchFamily="49" charset="-122"/>
                <a:ea typeface="楷体" panose="02010609060101010101" pitchFamily="49" charset="-122"/>
              </a:rPr>
              <a:t>五对基本范畴的作用和各自的方法论意义</a:t>
            </a:r>
            <a:endParaRPr lang="zh-CN" altLang="en-US" sz="2000" b="1" dirty="0">
              <a:solidFill>
                <a:srgbClr val="99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矩形 885764"/>
          <p:cNvSpPr>
            <a:spLocks noChangeArrowheads="1"/>
          </p:cNvSpPr>
          <p:nvPr/>
        </p:nvSpPr>
        <p:spPr bwMode="auto">
          <a:xfrm>
            <a:off x="285720" y="2143116"/>
            <a:ext cx="8501122" cy="1938992"/>
          </a:xfrm>
          <a:prstGeom prst="rect">
            <a:avLst/>
          </a:prstGeom>
          <a:solidFill>
            <a:srgbClr val="E9F5A1"/>
          </a:solidFill>
          <a:ln w="19050">
            <a:solidFill>
              <a:srgbClr val="FF00FF"/>
            </a:solidFill>
            <a:miter lim="800000"/>
          </a:ln>
        </p:spPr>
        <p:txBody>
          <a:bodyPr wrap="square" anchor="ctr">
            <a:spAutoFit/>
          </a:bodyPr>
          <a:lstStyle/>
          <a:p>
            <a:pPr>
              <a:lnSpc>
                <a:spcPct val="125000"/>
              </a:lnSpc>
            </a:pPr>
            <a:r>
              <a:rPr lang="zh-CN" altLang="en-US" sz="2400" b="1" dirty="0">
                <a:solidFill>
                  <a:srgbClr val="990000"/>
                </a:solidFill>
                <a:latin typeface="楷体" panose="02010609060101010101" pitchFamily="49" charset="-122"/>
                <a:ea typeface="楷体" panose="02010609060101010101" pitchFamily="49" charset="-122"/>
              </a:rPr>
              <a:t>（</a:t>
            </a:r>
            <a:r>
              <a:rPr lang="en-US" altLang="zh-CN" sz="2400" b="1" dirty="0">
                <a:solidFill>
                  <a:srgbClr val="990000"/>
                </a:solidFill>
                <a:latin typeface="楷体" panose="02010609060101010101" pitchFamily="49" charset="-122"/>
                <a:ea typeface="楷体" panose="02010609060101010101" pitchFamily="49" charset="-122"/>
              </a:rPr>
              <a:t>1</a:t>
            </a:r>
            <a:r>
              <a:rPr lang="zh-CN" altLang="en-US" sz="2400" b="1" dirty="0">
                <a:solidFill>
                  <a:srgbClr val="990000"/>
                </a:solidFill>
                <a:latin typeface="楷体" panose="02010609060101010101" pitchFamily="49" charset="-122"/>
                <a:ea typeface="楷体" panose="02010609060101010101" pitchFamily="49" charset="-122"/>
              </a:rPr>
              <a:t>）分析</a:t>
            </a:r>
            <a:r>
              <a:rPr lang="zh-CN" altLang="en-US" sz="2400" b="1" dirty="0" smtClean="0">
                <a:solidFill>
                  <a:srgbClr val="990000"/>
                </a:solidFill>
                <a:latin typeface="楷体" panose="02010609060101010101" pitchFamily="49" charset="-122"/>
                <a:ea typeface="楷体" panose="02010609060101010101" pitchFamily="49" charset="-122"/>
              </a:rPr>
              <a:t>矛盾的特殊性，具体矛盾具体分析</a:t>
            </a:r>
            <a:endParaRPr lang="zh-CN" altLang="en-US" sz="2400" b="1" dirty="0">
              <a:solidFill>
                <a:srgbClr val="990000"/>
              </a:solidFill>
              <a:latin typeface="楷体" panose="02010609060101010101" pitchFamily="49" charset="-122"/>
              <a:ea typeface="楷体" panose="02010609060101010101" pitchFamily="49" charset="-122"/>
            </a:endParaRPr>
          </a:p>
          <a:p>
            <a:pPr>
              <a:lnSpc>
                <a:spcPct val="125000"/>
              </a:lnSpc>
            </a:pPr>
            <a:r>
              <a:rPr lang="zh-CN" altLang="en-US" sz="2400" b="1" dirty="0">
                <a:solidFill>
                  <a:srgbClr val="990000"/>
                </a:solidFill>
                <a:latin typeface="楷体" panose="02010609060101010101" pitchFamily="49" charset="-122"/>
                <a:ea typeface="楷体" panose="02010609060101010101" pitchFamily="49" charset="-122"/>
              </a:rPr>
              <a:t>（</a:t>
            </a:r>
            <a:r>
              <a:rPr lang="en-US" altLang="zh-CN" sz="2400" b="1" dirty="0">
                <a:solidFill>
                  <a:srgbClr val="990000"/>
                </a:solidFill>
                <a:latin typeface="楷体" panose="02010609060101010101" pitchFamily="49" charset="-122"/>
                <a:ea typeface="楷体" panose="02010609060101010101" pitchFamily="49" charset="-122"/>
              </a:rPr>
              <a:t>2</a:t>
            </a:r>
            <a:r>
              <a:rPr lang="zh-CN" altLang="en-US" sz="2400" b="1" dirty="0">
                <a:solidFill>
                  <a:srgbClr val="990000"/>
                </a:solidFill>
                <a:latin typeface="楷体" panose="02010609060101010101" pitchFamily="49" charset="-122"/>
                <a:ea typeface="楷体" panose="02010609060101010101" pitchFamily="49" charset="-122"/>
              </a:rPr>
              <a:t>）</a:t>
            </a:r>
            <a:r>
              <a:rPr lang="zh-CN" altLang="en-US" sz="2400" b="1" dirty="0" smtClean="0">
                <a:solidFill>
                  <a:srgbClr val="990000"/>
                </a:solidFill>
                <a:latin typeface="楷体" panose="02010609060101010101" pitchFamily="49" charset="-122"/>
                <a:ea typeface="楷体" panose="02010609060101010101" pitchFamily="49" charset="-122"/>
              </a:rPr>
              <a:t>“两点论”与</a:t>
            </a:r>
            <a:r>
              <a:rPr lang="zh-CN" altLang="en-US" sz="2400" b="1" dirty="0">
                <a:solidFill>
                  <a:srgbClr val="990000"/>
                </a:solidFill>
                <a:latin typeface="楷体" panose="02010609060101010101" pitchFamily="49" charset="-122"/>
                <a:ea typeface="楷体" panose="02010609060101010101" pitchFamily="49" charset="-122"/>
              </a:rPr>
              <a:t>“重点论”相结合</a:t>
            </a:r>
            <a:endParaRPr lang="zh-CN" altLang="en-US" sz="2400" b="1" dirty="0">
              <a:solidFill>
                <a:srgbClr val="990000"/>
              </a:solidFill>
              <a:latin typeface="楷体" panose="02010609060101010101" pitchFamily="49" charset="-122"/>
              <a:ea typeface="楷体" panose="02010609060101010101" pitchFamily="49" charset="-122"/>
            </a:endParaRPr>
          </a:p>
          <a:p>
            <a:pPr>
              <a:lnSpc>
                <a:spcPct val="125000"/>
              </a:lnSpc>
            </a:pPr>
            <a:r>
              <a:rPr lang="zh-CN" altLang="en-US" sz="2400" b="1" dirty="0">
                <a:solidFill>
                  <a:srgbClr val="990000"/>
                </a:solidFill>
                <a:latin typeface="楷体" panose="02010609060101010101" pitchFamily="49" charset="-122"/>
                <a:ea typeface="楷体" panose="02010609060101010101" pitchFamily="49" charset="-122"/>
              </a:rPr>
              <a:t>（</a:t>
            </a:r>
            <a:r>
              <a:rPr lang="en-US" altLang="zh-CN" sz="2400" b="1" dirty="0">
                <a:solidFill>
                  <a:srgbClr val="990000"/>
                </a:solidFill>
                <a:latin typeface="楷体" panose="02010609060101010101" pitchFamily="49" charset="-122"/>
                <a:ea typeface="楷体" panose="02010609060101010101" pitchFamily="49" charset="-122"/>
              </a:rPr>
              <a:t>3</a:t>
            </a:r>
            <a:r>
              <a:rPr lang="zh-CN" altLang="en-US" sz="2400" b="1" dirty="0">
                <a:solidFill>
                  <a:srgbClr val="990000"/>
                </a:solidFill>
                <a:latin typeface="楷体" panose="02010609060101010101" pitchFamily="49" charset="-122"/>
                <a:ea typeface="楷体" panose="02010609060101010101" pitchFamily="49" charset="-122"/>
              </a:rPr>
              <a:t>）抓关键、看</a:t>
            </a:r>
            <a:r>
              <a:rPr lang="zh-CN" altLang="en-US" sz="2400" b="1" dirty="0" smtClean="0">
                <a:solidFill>
                  <a:srgbClr val="990000"/>
                </a:solidFill>
                <a:latin typeface="楷体" panose="02010609060101010101" pitchFamily="49" charset="-122"/>
                <a:ea typeface="楷体" panose="02010609060101010101" pitchFamily="49" charset="-122"/>
              </a:rPr>
              <a:t>主流，优先解决主要矛盾和矛盾的主要方面</a:t>
            </a:r>
            <a:endParaRPr lang="zh-CN" altLang="en-US" sz="2400" b="1" dirty="0">
              <a:solidFill>
                <a:srgbClr val="990000"/>
              </a:solidFill>
              <a:latin typeface="楷体" panose="02010609060101010101" pitchFamily="49" charset="-122"/>
              <a:ea typeface="楷体" panose="02010609060101010101" pitchFamily="49" charset="-122"/>
            </a:endParaRPr>
          </a:p>
          <a:p>
            <a:pPr>
              <a:lnSpc>
                <a:spcPct val="125000"/>
              </a:lnSpc>
            </a:pPr>
            <a:r>
              <a:rPr lang="zh-CN" altLang="en-US" sz="2400" b="1" dirty="0" smtClean="0">
                <a:solidFill>
                  <a:srgbClr val="990000"/>
                </a:solidFill>
                <a:latin typeface="楷体" panose="02010609060101010101" pitchFamily="49" charset="-122"/>
                <a:ea typeface="楷体" panose="02010609060101010101" pitchFamily="49" charset="-122"/>
              </a:rPr>
              <a:t>、</a:t>
            </a:r>
            <a:r>
              <a:rPr lang="en-US" altLang="zh-CN" sz="2400" b="1" dirty="0" smtClean="0">
                <a:solidFill>
                  <a:srgbClr val="990000"/>
                </a:solidFill>
                <a:latin typeface="楷体" panose="02010609060101010101" pitchFamily="49" charset="-122"/>
                <a:ea typeface="楷体" panose="02010609060101010101" pitchFamily="49" charset="-122"/>
              </a:rPr>
              <a:t>“</a:t>
            </a:r>
            <a:r>
              <a:rPr lang="zh-CN" altLang="en-US" sz="2400" b="1" dirty="0">
                <a:solidFill>
                  <a:srgbClr val="990000"/>
                </a:solidFill>
                <a:latin typeface="楷体" panose="02010609060101010101" pitchFamily="49" charset="-122"/>
                <a:ea typeface="楷体" panose="02010609060101010101" pitchFamily="49" charset="-122"/>
              </a:rPr>
              <a:t>扭住关键</a:t>
            </a:r>
            <a:r>
              <a:rPr lang="en-US" altLang="zh-CN" sz="2400" b="1" dirty="0">
                <a:solidFill>
                  <a:srgbClr val="990000"/>
                </a:solidFill>
                <a:latin typeface="楷体" panose="02010609060101010101" pitchFamily="49" charset="-122"/>
                <a:ea typeface="楷体" panose="02010609060101010101" pitchFamily="49" charset="-122"/>
              </a:rPr>
              <a:t>”</a:t>
            </a:r>
            <a:r>
              <a:rPr lang="zh-CN" altLang="en-US" sz="2400" b="1" dirty="0">
                <a:solidFill>
                  <a:srgbClr val="990000"/>
                </a:solidFill>
                <a:latin typeface="楷体" panose="02010609060101010101" pitchFamily="49" charset="-122"/>
                <a:ea typeface="楷体" panose="02010609060101010101" pitchFamily="49" charset="-122"/>
              </a:rPr>
              <a:t>、</a:t>
            </a:r>
            <a:r>
              <a:rPr lang="en-US" altLang="zh-CN" sz="2400" b="1" dirty="0">
                <a:solidFill>
                  <a:srgbClr val="990000"/>
                </a:solidFill>
                <a:latin typeface="楷体" panose="02010609060101010101" pitchFamily="49" charset="-122"/>
                <a:ea typeface="楷体" panose="02010609060101010101" pitchFamily="49" charset="-122"/>
              </a:rPr>
              <a:t>“</a:t>
            </a:r>
            <a:r>
              <a:rPr lang="zh-CN" altLang="en-US" sz="2400" b="1" dirty="0">
                <a:solidFill>
                  <a:srgbClr val="990000"/>
                </a:solidFill>
                <a:latin typeface="楷体" panose="02010609060101010101" pitchFamily="49" charset="-122"/>
                <a:ea typeface="楷体" panose="02010609060101010101" pitchFamily="49" charset="-122"/>
              </a:rPr>
              <a:t>突出问题导向</a:t>
            </a:r>
            <a:r>
              <a:rPr lang="en-US" altLang="zh-CN" sz="2400" b="1" dirty="0" smtClean="0">
                <a:solidFill>
                  <a:srgbClr val="990000"/>
                </a:solidFill>
                <a:latin typeface="楷体" panose="02010609060101010101" pitchFamily="49" charset="-122"/>
                <a:ea typeface="楷体" panose="02010609060101010101" pitchFamily="49" charset="-122"/>
              </a:rPr>
              <a:t>”</a:t>
            </a:r>
            <a:r>
              <a:rPr lang="zh-CN" altLang="en-US" sz="2400" b="1" dirty="0" smtClean="0">
                <a:solidFill>
                  <a:srgbClr val="990000"/>
                </a:solidFill>
                <a:latin typeface="楷体" panose="02010609060101010101" pitchFamily="49" charset="-122"/>
                <a:ea typeface="楷体" panose="02010609060101010101" pitchFamily="49" charset="-122"/>
              </a:rPr>
              <a:t>等。</a:t>
            </a:r>
            <a:endParaRPr lang="zh-CN" altLang="en-US" sz="2400" b="1" dirty="0">
              <a:solidFill>
                <a:srgbClr val="990000"/>
              </a:solidFill>
              <a:latin typeface="楷体" panose="02010609060101010101" pitchFamily="49" charset="-122"/>
              <a:ea typeface="楷体" panose="02010609060101010101" pitchFamily="49" charset="-122"/>
            </a:endParaRPr>
          </a:p>
        </p:txBody>
      </p:sp>
      <p:sp>
        <p:nvSpPr>
          <p:cNvPr id="12295" name="矩形 885777"/>
          <p:cNvSpPr>
            <a:spLocks noChangeArrowheads="1"/>
          </p:cNvSpPr>
          <p:nvPr/>
        </p:nvSpPr>
        <p:spPr bwMode="auto">
          <a:xfrm>
            <a:off x="319880" y="395742"/>
            <a:ext cx="8466961" cy="1015663"/>
          </a:xfrm>
          <a:prstGeom prst="rect">
            <a:avLst/>
          </a:prstGeom>
          <a:solidFill>
            <a:srgbClr val="CCFFFF"/>
          </a:solidFill>
          <a:ln w="12700">
            <a:solidFill>
              <a:srgbClr val="FF3300"/>
            </a:solidFill>
            <a:miter lim="800000"/>
          </a:ln>
        </p:spPr>
        <p:txBody>
          <a:bodyPr wrap="square">
            <a:spAutoFit/>
          </a:bodyPr>
          <a:lstStyle/>
          <a:p>
            <a:pPr>
              <a:lnSpc>
                <a:spcPct val="125000"/>
              </a:lnSpc>
            </a:pPr>
            <a:r>
              <a:rPr lang="zh-CN" altLang="en-US" sz="2400" b="1" dirty="0" smtClean="0">
                <a:solidFill>
                  <a:srgbClr val="0000FF"/>
                </a:solidFill>
                <a:latin typeface="黑体" panose="02010609060101010101" pitchFamily="49" charset="-122"/>
                <a:ea typeface="黑体" panose="02010609060101010101" pitchFamily="49" charset="-122"/>
              </a:rPr>
              <a:t>矛盾</a:t>
            </a:r>
            <a:r>
              <a:rPr lang="zh-CN" altLang="en-US" sz="2400" b="1" dirty="0">
                <a:solidFill>
                  <a:srgbClr val="0000FF"/>
                </a:solidFill>
                <a:latin typeface="黑体" panose="02010609060101010101" pitchFamily="49" charset="-122"/>
                <a:ea typeface="黑体" panose="02010609060101010101" pitchFamily="49" charset="-122"/>
              </a:rPr>
              <a:t>分析方法</a:t>
            </a:r>
            <a:r>
              <a:rPr lang="zh-CN" altLang="en-US" sz="2400" b="1" dirty="0" smtClean="0">
                <a:solidFill>
                  <a:srgbClr val="0000FF"/>
                </a:solidFill>
                <a:latin typeface="黑体" panose="02010609060101010101" pitchFamily="49" charset="-122"/>
                <a:ea typeface="黑体" panose="02010609060101010101" pitchFamily="49" charset="-122"/>
              </a:rPr>
              <a:t>是对立统一规律在方法论上的体现，在唯物辩证法的方法论体系中居于核心地位。</a:t>
            </a:r>
            <a:endParaRPr lang="zh-CN" altLang="en-US" sz="2400" b="1" dirty="0">
              <a:solidFill>
                <a:schemeClr val="accent2"/>
              </a:solidFill>
              <a:latin typeface="黑体" panose="02010609060101010101" pitchFamily="49" charset="-122"/>
              <a:ea typeface="黑体" panose="02010609060101010101" pitchFamily="49" charset="-122"/>
            </a:endParaRPr>
          </a:p>
        </p:txBody>
      </p:sp>
      <p:sp>
        <p:nvSpPr>
          <p:cNvPr id="6" name="矩形 885764"/>
          <p:cNvSpPr>
            <a:spLocks noChangeArrowheads="1"/>
          </p:cNvSpPr>
          <p:nvPr/>
        </p:nvSpPr>
        <p:spPr bwMode="auto">
          <a:xfrm>
            <a:off x="285720" y="4429132"/>
            <a:ext cx="8501122" cy="490519"/>
          </a:xfrm>
          <a:prstGeom prst="rect">
            <a:avLst/>
          </a:prstGeom>
          <a:solidFill>
            <a:srgbClr val="E9F5A1"/>
          </a:solidFill>
          <a:ln w="19050">
            <a:solidFill>
              <a:srgbClr val="FF00FF"/>
            </a:solidFill>
            <a:miter lim="800000"/>
          </a:ln>
        </p:spPr>
        <p:txBody>
          <a:bodyPr wrap="square" anchor="ctr">
            <a:spAutoFit/>
          </a:bodyPr>
          <a:lstStyle/>
          <a:p>
            <a:pPr>
              <a:lnSpc>
                <a:spcPct val="125000"/>
              </a:lnSpc>
            </a:pPr>
            <a:r>
              <a:rPr lang="zh-CN" altLang="en-US" sz="2400" b="1" dirty="0" smtClean="0">
                <a:solidFill>
                  <a:srgbClr val="990000"/>
                </a:solidFill>
                <a:latin typeface="楷体" panose="02010609060101010101" pitchFamily="49" charset="-122"/>
                <a:ea typeface="楷体" panose="02010609060101010101" pitchFamily="49" charset="-122"/>
              </a:rPr>
              <a:t>坚持问题导向的重大现实意义：</a:t>
            </a:r>
            <a:r>
              <a:rPr lang="en-US" altLang="zh-CN" sz="2400" b="1" dirty="0" smtClean="0">
                <a:solidFill>
                  <a:srgbClr val="990000"/>
                </a:solidFill>
                <a:latin typeface="楷体" panose="02010609060101010101" pitchFamily="49" charset="-122"/>
                <a:ea typeface="楷体" panose="02010609060101010101" pitchFamily="49" charset="-122"/>
              </a:rPr>
              <a:t>P58</a:t>
            </a:r>
            <a:r>
              <a:rPr lang="zh-CN" altLang="en-US" sz="2400" b="1" dirty="0" smtClean="0">
                <a:solidFill>
                  <a:srgbClr val="990000"/>
                </a:solidFill>
                <a:latin typeface="楷体" panose="02010609060101010101" pitchFamily="49" charset="-122"/>
                <a:ea typeface="楷体" panose="02010609060101010101" pitchFamily="49" charset="-122"/>
              </a:rPr>
              <a:t>第二自然段。</a:t>
            </a:r>
            <a:endParaRPr lang="zh-CN" altLang="en-US" sz="2400" b="1" dirty="0">
              <a:solidFill>
                <a:srgbClr val="99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782358"/>
          <p:cNvSpPr>
            <a:spLocks noChangeArrowheads="1"/>
          </p:cNvSpPr>
          <p:nvPr/>
        </p:nvSpPr>
        <p:spPr bwMode="auto">
          <a:xfrm>
            <a:off x="642910" y="1571612"/>
            <a:ext cx="3168650" cy="552450"/>
          </a:xfrm>
          <a:prstGeom prst="rect">
            <a:avLst/>
          </a:prstGeom>
          <a:solidFill>
            <a:srgbClr val="CCFFFF"/>
          </a:solidFill>
          <a:ln w="12700">
            <a:solidFill>
              <a:srgbClr val="FF3300"/>
            </a:solidFill>
            <a:miter lim="800000"/>
          </a:ln>
        </p:spPr>
        <p:txBody>
          <a:bodyPr>
            <a:spAutoFit/>
          </a:bodyPr>
          <a:lstStyle/>
          <a:p>
            <a:pPr>
              <a:lnSpc>
                <a:spcPct val="125000"/>
              </a:lnSpc>
            </a:pPr>
            <a:r>
              <a:rPr lang="zh-CN" altLang="en-US" sz="2400" b="1" dirty="0">
                <a:solidFill>
                  <a:srgbClr val="000099"/>
                </a:solidFill>
                <a:latin typeface="黑体" panose="02010609060101010101" pitchFamily="49" charset="-122"/>
                <a:ea typeface="黑体" panose="02010609060101010101" pitchFamily="49" charset="-122"/>
              </a:rPr>
              <a:t>（一）辩证</a:t>
            </a:r>
            <a:r>
              <a:rPr lang="zh-CN" altLang="en-US" sz="2400" b="1" dirty="0" smtClean="0">
                <a:solidFill>
                  <a:srgbClr val="000099"/>
                </a:solidFill>
                <a:latin typeface="黑体" panose="02010609060101010101" pitchFamily="49" charset="-122"/>
                <a:ea typeface="黑体" panose="02010609060101010101" pitchFamily="49" charset="-122"/>
              </a:rPr>
              <a:t>思维</a:t>
            </a:r>
            <a:r>
              <a:rPr lang="zh-CN" altLang="en-US" sz="2400" b="1" dirty="0" smtClean="0">
                <a:solidFill>
                  <a:srgbClr val="000099"/>
                </a:solidFill>
                <a:latin typeface="黑体" panose="02010609060101010101" pitchFamily="49" charset="-122"/>
                <a:ea typeface="黑体" panose="02010609060101010101" pitchFamily="49" charset="-122"/>
              </a:rPr>
              <a:t>能力</a:t>
            </a:r>
            <a:endParaRPr lang="zh-CN" altLang="en-US" sz="2400" b="1" dirty="0">
              <a:solidFill>
                <a:srgbClr val="000099"/>
              </a:solidFill>
              <a:latin typeface="黑体" panose="02010609060101010101" pitchFamily="49" charset="-122"/>
              <a:ea typeface="黑体" panose="02010609060101010101" pitchFamily="49" charset="-122"/>
            </a:endParaRPr>
          </a:p>
        </p:txBody>
      </p:sp>
      <p:sp>
        <p:nvSpPr>
          <p:cNvPr id="18" name="矩形 17"/>
          <p:cNvSpPr/>
          <p:nvPr/>
        </p:nvSpPr>
        <p:spPr>
          <a:xfrm>
            <a:off x="323849" y="476250"/>
            <a:ext cx="8534431" cy="707886"/>
          </a:xfrm>
          <a:prstGeom prst="rect">
            <a:avLst/>
          </a:prstGeom>
          <a:solidFill>
            <a:srgbClr val="CCECFF"/>
          </a:solidFill>
          <a:ln w="38100">
            <a:noFill/>
          </a:ln>
        </p:spPr>
        <p:txBody>
          <a:bodyPr wrap="square">
            <a:spAutoFit/>
          </a:bodyPr>
          <a:lstStyle/>
          <a:p>
            <a:pPr>
              <a:lnSpc>
                <a:spcPct val="125000"/>
              </a:lnSpc>
            </a:pPr>
            <a:r>
              <a:rPr lang="zh-CN" altLang="en-US" sz="3200" b="1" noProof="1" smtClean="0">
                <a:solidFill>
                  <a:srgbClr val="FF0066"/>
                </a:solidFill>
                <a:latin typeface="华文新魏" pitchFamily="2" charset="-122"/>
                <a:ea typeface="华文新魏" pitchFamily="2" charset="-122"/>
                <a:sym typeface="+mn-ea"/>
              </a:rPr>
              <a:t>二</a:t>
            </a:r>
            <a:r>
              <a:rPr lang="zh-CN" altLang="en-US" sz="3200" b="1" noProof="1" smtClean="0">
                <a:solidFill>
                  <a:srgbClr val="FF0066"/>
                </a:solidFill>
                <a:latin typeface="华文新魏" pitchFamily="2" charset="-122"/>
                <a:ea typeface="华文新魏" pitchFamily="2" charset="-122"/>
                <a:sym typeface="+mn-ea"/>
              </a:rPr>
              <a:t>、学习唯物辩证法，不断增强思维能力</a:t>
            </a:r>
            <a:endParaRPr lang="zh-CN" altLang="en-US" sz="3200" b="1" noProof="1">
              <a:solidFill>
                <a:srgbClr val="FF0066"/>
              </a:solidFill>
              <a:latin typeface="华文新魏" pitchFamily="2" charset="-122"/>
              <a:ea typeface="华文新魏" pitchFamily="2" charset="-122"/>
              <a:sym typeface="+mn-ea"/>
            </a:endParaRPr>
          </a:p>
        </p:txBody>
      </p:sp>
      <p:sp>
        <p:nvSpPr>
          <p:cNvPr id="20" name="文本框 39"/>
          <p:cNvSpPr txBox="1"/>
          <p:nvPr/>
        </p:nvSpPr>
        <p:spPr>
          <a:xfrm>
            <a:off x="642911" y="2421566"/>
            <a:ext cx="4429156" cy="2862322"/>
          </a:xfrm>
          <a:prstGeom prst="rect">
            <a:avLst/>
          </a:prstGeom>
          <a:solidFill>
            <a:srgbClr val="CCFFCC"/>
          </a:solidFill>
        </p:spPr>
        <p:txBody>
          <a:bodyPr wrap="square" rtlCol="0">
            <a:spAutoFit/>
          </a:bodyPr>
          <a:lstStyle/>
          <a:p>
            <a:pPr indent="504190" algn="just">
              <a:lnSpc>
                <a:spcPct val="150000"/>
              </a:lnSpc>
            </a:pPr>
            <a:r>
              <a:rPr lang="zh-CN" altLang="en-US" sz="2000" dirty="0">
                <a:solidFill>
                  <a:schemeClr val="tx1">
                    <a:lumMod val="85000"/>
                    <a:lumOff val="15000"/>
                  </a:schemeClr>
                </a:solidFill>
                <a:latin typeface="微软雅黑" panose="020B0503020204020204" charset="-122"/>
                <a:ea typeface="微软雅黑" panose="020B0503020204020204" charset="-122"/>
              </a:rPr>
              <a:t>辩证思维能力是唯物辩证法在思维中的运用，是科学思维能力的根本要求和集中体现，增强思维能力首先要提高辩证思维能力，提高辩证思维能力，要自觉运用对立统一规律，掌握运用好辩证的逻辑思维方法。</a:t>
            </a:r>
            <a:endParaRPr lang="zh-CN" altLang="en-US" sz="2000" dirty="0">
              <a:solidFill>
                <a:schemeClr val="tx1">
                  <a:lumMod val="85000"/>
                  <a:lumOff val="15000"/>
                </a:schemeClr>
              </a:solidFill>
              <a:latin typeface="微软雅黑" panose="020B0503020204020204" charset="-122"/>
              <a:ea typeface="微软雅黑" panose="020B0503020204020204" charset="-122"/>
            </a:endParaRPr>
          </a:p>
        </p:txBody>
      </p:sp>
      <p:grpSp>
        <p:nvGrpSpPr>
          <p:cNvPr id="21" name="组合 20"/>
          <p:cNvGrpSpPr/>
          <p:nvPr/>
        </p:nvGrpSpPr>
        <p:grpSpPr>
          <a:xfrm>
            <a:off x="5788918" y="2347868"/>
            <a:ext cx="2572282" cy="3314051"/>
            <a:chOff x="1034340" y="2823949"/>
            <a:chExt cx="3941682" cy="3314051"/>
          </a:xfrm>
        </p:grpSpPr>
        <p:sp>
          <p:nvSpPr>
            <p:cNvPr id="22" name="矩形 21"/>
            <p:cNvSpPr/>
            <p:nvPr/>
          </p:nvSpPr>
          <p:spPr>
            <a:xfrm>
              <a:off x="1034340" y="2859949"/>
              <a:ext cx="641280" cy="504000"/>
            </a:xfrm>
            <a:prstGeom prst="rect">
              <a:avLst/>
            </a:prstGeom>
            <a:gradFill>
              <a:gsLst>
                <a:gs pos="0">
                  <a:srgbClr val="E17751"/>
                </a:gs>
                <a:gs pos="100000">
                  <a:srgbClr val="FBC27D"/>
                </a:gs>
              </a:gsLst>
              <a:lin ang="4800000" scaled="0"/>
            </a:gradFill>
            <a:ln>
              <a:noFill/>
            </a:ln>
            <a:effectLst>
              <a:outerShdw dist="114300" dir="10800000" algn="r" rotWithShape="0">
                <a:srgbClr val="FBC88D"/>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rPr>
                <a:t>1</a:t>
              </a:r>
              <a:endParaRPr lang="zh-CN" altLang="en-US"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3" name="Shape 7163"/>
            <p:cNvSpPr/>
            <p:nvPr/>
          </p:nvSpPr>
          <p:spPr>
            <a:xfrm>
              <a:off x="1551638" y="2823949"/>
              <a:ext cx="3239998" cy="576000"/>
            </a:xfrm>
            <a:prstGeom prst="rect">
              <a:avLst/>
            </a:prstGeom>
            <a:solidFill>
              <a:schemeClr val="bg1"/>
            </a:solidFill>
            <a:ln>
              <a:solidFill>
                <a:srgbClr val="E79273"/>
              </a:solidFill>
            </a:ln>
            <a:effectLst>
              <a:outerShdw blurRad="177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dirty="0">
                <a:solidFill>
                  <a:prstClr val="black">
                    <a:lumMod val="85000"/>
                    <a:lumOff val="15000"/>
                  </a:prstClr>
                </a:solidFill>
                <a:latin typeface="微软雅黑" panose="020B0503020204020204" charset="-122"/>
                <a:ea typeface="微软雅黑" panose="020B0503020204020204" charset="-122"/>
                <a:sym typeface="Helvetica"/>
              </a:endParaRPr>
            </a:p>
          </p:txBody>
        </p:sp>
        <p:sp>
          <p:nvSpPr>
            <p:cNvPr id="24" name="文本框 6"/>
            <p:cNvSpPr txBox="1"/>
            <p:nvPr/>
          </p:nvSpPr>
          <p:spPr>
            <a:xfrm>
              <a:off x="1736022" y="2913658"/>
              <a:ext cx="3240000" cy="424732"/>
            </a:xfrm>
            <a:prstGeom prst="rect">
              <a:avLst/>
            </a:prstGeom>
          </p:spPr>
          <p:txBody>
            <a:bodyPr wrap="square">
              <a:spAutoFit/>
            </a:bodyPr>
            <a:lstStyle>
              <a:defPPr>
                <a:defRPr lang="zh-CN"/>
              </a:defPPr>
              <a:lvl1pPr eaLnBrk="0" hangingPunct="0">
                <a:lnSpc>
                  <a:spcPct val="120000"/>
                </a:lnSpc>
                <a:defRPr>
                  <a:solidFill>
                    <a:schemeClr val="tx1">
                      <a:lumMod val="85000"/>
                      <a:lumOff val="15000"/>
                    </a:schemeClr>
                  </a:solidFill>
                  <a:latin typeface="微软雅黑" panose="020B0503020204020204" charset="-122"/>
                  <a:ea typeface="微软雅黑" panose="020B0503020204020204" charset="-122"/>
                </a:defRPr>
              </a:lvl1pPr>
            </a:lstStyle>
            <a:p>
              <a:r>
                <a:rPr lang="zh-CN" altLang="en-US" dirty="0">
                  <a:solidFill>
                    <a:prstClr val="black">
                      <a:lumMod val="85000"/>
                      <a:lumOff val="15000"/>
                    </a:prstClr>
                  </a:solidFill>
                </a:rPr>
                <a:t>归纳与演绎</a:t>
              </a:r>
              <a:endParaRPr lang="en-US" altLang="zh-CN" dirty="0">
                <a:solidFill>
                  <a:prstClr val="black">
                    <a:lumMod val="85000"/>
                    <a:lumOff val="15000"/>
                  </a:prstClr>
                </a:solidFill>
              </a:endParaRPr>
            </a:p>
          </p:txBody>
        </p:sp>
        <p:sp>
          <p:nvSpPr>
            <p:cNvPr id="25" name="矩形 24"/>
            <p:cNvSpPr/>
            <p:nvPr/>
          </p:nvSpPr>
          <p:spPr>
            <a:xfrm>
              <a:off x="1034340" y="3772632"/>
              <a:ext cx="641280" cy="504000"/>
            </a:xfrm>
            <a:prstGeom prst="rect">
              <a:avLst/>
            </a:prstGeom>
            <a:gradFill>
              <a:gsLst>
                <a:gs pos="0">
                  <a:srgbClr val="7E7847"/>
                </a:gs>
                <a:gs pos="100000">
                  <a:srgbClr val="C5BC78"/>
                </a:gs>
              </a:gsLst>
              <a:lin ang="4800000" scaled="0"/>
            </a:gradFill>
            <a:ln>
              <a:noFill/>
            </a:ln>
            <a:effectLst>
              <a:outerShdw dist="114300" dir="10800000" algn="r" rotWithShape="0">
                <a:srgbClr val="CDC88D"/>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rPr>
                <a:t>2</a:t>
              </a:r>
              <a:endParaRPr lang="zh-CN" altLang="en-US"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6" name="Shape 7165"/>
            <p:cNvSpPr/>
            <p:nvPr/>
          </p:nvSpPr>
          <p:spPr>
            <a:xfrm>
              <a:off x="1551638" y="3736632"/>
              <a:ext cx="3239999" cy="576000"/>
            </a:xfrm>
            <a:prstGeom prst="rect">
              <a:avLst/>
            </a:prstGeom>
            <a:solidFill>
              <a:schemeClr val="bg1"/>
            </a:solidFill>
            <a:ln>
              <a:solidFill>
                <a:srgbClr val="AFA769"/>
              </a:solidFill>
            </a:ln>
            <a:effectLst>
              <a:outerShdw blurRad="177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dirty="0">
                <a:solidFill>
                  <a:prstClr val="black">
                    <a:lumMod val="85000"/>
                    <a:lumOff val="15000"/>
                  </a:prstClr>
                </a:solidFill>
                <a:latin typeface="微软雅黑" panose="020B0503020204020204" charset="-122"/>
                <a:ea typeface="微软雅黑" panose="020B0503020204020204" charset="-122"/>
                <a:sym typeface="Helvetica"/>
              </a:endParaRPr>
            </a:p>
          </p:txBody>
        </p:sp>
        <p:sp>
          <p:nvSpPr>
            <p:cNvPr id="27" name="文本框 10"/>
            <p:cNvSpPr txBox="1"/>
            <p:nvPr/>
          </p:nvSpPr>
          <p:spPr>
            <a:xfrm>
              <a:off x="1736022" y="3826341"/>
              <a:ext cx="3240000" cy="424732"/>
            </a:xfrm>
            <a:prstGeom prst="rect">
              <a:avLst/>
            </a:prstGeom>
          </p:spPr>
          <p:txBody>
            <a:bodyPr wrap="square">
              <a:spAutoFit/>
            </a:bodyPr>
            <a:lstStyle>
              <a:defPPr>
                <a:defRPr lang="zh-CN"/>
              </a:defPPr>
              <a:lvl1pPr eaLnBrk="0" hangingPunct="0">
                <a:lnSpc>
                  <a:spcPct val="120000"/>
                </a:lnSpc>
                <a:defRPr>
                  <a:solidFill>
                    <a:schemeClr val="tx1">
                      <a:lumMod val="85000"/>
                      <a:lumOff val="15000"/>
                    </a:schemeClr>
                  </a:solidFill>
                  <a:latin typeface="微软雅黑" panose="020B0503020204020204" charset="-122"/>
                  <a:ea typeface="微软雅黑" panose="020B0503020204020204" charset="-122"/>
                </a:defRPr>
              </a:lvl1pPr>
            </a:lstStyle>
            <a:p>
              <a:r>
                <a:rPr lang="zh-CN" altLang="en-US" dirty="0">
                  <a:solidFill>
                    <a:prstClr val="black">
                      <a:lumMod val="85000"/>
                      <a:lumOff val="15000"/>
                    </a:prstClr>
                  </a:solidFill>
                </a:rPr>
                <a:t>分析与综合</a:t>
              </a:r>
              <a:endParaRPr lang="en-US" altLang="zh-CN" dirty="0">
                <a:solidFill>
                  <a:prstClr val="black">
                    <a:lumMod val="85000"/>
                    <a:lumOff val="15000"/>
                  </a:prstClr>
                </a:solidFill>
              </a:endParaRPr>
            </a:p>
          </p:txBody>
        </p:sp>
        <p:sp>
          <p:nvSpPr>
            <p:cNvPr id="28" name="矩形 27"/>
            <p:cNvSpPr/>
            <p:nvPr/>
          </p:nvSpPr>
          <p:spPr>
            <a:xfrm>
              <a:off x="1034340" y="4685316"/>
              <a:ext cx="641280" cy="504000"/>
            </a:xfrm>
            <a:prstGeom prst="rect">
              <a:avLst/>
            </a:prstGeom>
            <a:gradFill>
              <a:gsLst>
                <a:gs pos="0">
                  <a:srgbClr val="E17751"/>
                </a:gs>
                <a:gs pos="100000">
                  <a:srgbClr val="FBC27D"/>
                </a:gs>
              </a:gsLst>
              <a:lin ang="4800000" scaled="0"/>
            </a:gradFill>
            <a:ln>
              <a:noFill/>
            </a:ln>
            <a:effectLst>
              <a:outerShdw dist="114300" dir="10800000" algn="r" rotWithShape="0">
                <a:srgbClr val="FBC88D"/>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rPr>
                <a:t>3</a:t>
              </a:r>
              <a:endParaRPr lang="zh-CN" altLang="en-US"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9" name="Shape 7163"/>
            <p:cNvSpPr/>
            <p:nvPr/>
          </p:nvSpPr>
          <p:spPr>
            <a:xfrm>
              <a:off x="1551638" y="4649316"/>
              <a:ext cx="3239999" cy="576000"/>
            </a:xfrm>
            <a:prstGeom prst="rect">
              <a:avLst/>
            </a:prstGeom>
            <a:solidFill>
              <a:schemeClr val="bg1"/>
            </a:solidFill>
            <a:ln>
              <a:solidFill>
                <a:srgbClr val="E79273"/>
              </a:solidFill>
            </a:ln>
            <a:effectLst>
              <a:outerShdw blurRad="177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dirty="0">
                <a:solidFill>
                  <a:prstClr val="black">
                    <a:lumMod val="85000"/>
                    <a:lumOff val="15000"/>
                  </a:prstClr>
                </a:solidFill>
                <a:latin typeface="微软雅黑" panose="020B0503020204020204" charset="-122"/>
                <a:ea typeface="微软雅黑" panose="020B0503020204020204" charset="-122"/>
                <a:sym typeface="Helvetica"/>
              </a:endParaRPr>
            </a:p>
          </p:txBody>
        </p:sp>
        <p:sp>
          <p:nvSpPr>
            <p:cNvPr id="30" name="文本框 14"/>
            <p:cNvSpPr txBox="1"/>
            <p:nvPr/>
          </p:nvSpPr>
          <p:spPr>
            <a:xfrm>
              <a:off x="1736022" y="4739025"/>
              <a:ext cx="3240000" cy="424732"/>
            </a:xfrm>
            <a:prstGeom prst="rect">
              <a:avLst/>
            </a:prstGeom>
          </p:spPr>
          <p:txBody>
            <a:bodyPr wrap="square">
              <a:spAutoFit/>
            </a:bodyPr>
            <a:lstStyle>
              <a:defPPr>
                <a:defRPr lang="zh-CN"/>
              </a:defPPr>
              <a:lvl1pPr eaLnBrk="0" hangingPunct="0">
                <a:lnSpc>
                  <a:spcPct val="120000"/>
                </a:lnSpc>
                <a:defRPr>
                  <a:solidFill>
                    <a:schemeClr val="tx1">
                      <a:lumMod val="85000"/>
                      <a:lumOff val="15000"/>
                    </a:schemeClr>
                  </a:solidFill>
                  <a:latin typeface="微软雅黑" panose="020B0503020204020204" charset="-122"/>
                  <a:ea typeface="微软雅黑" panose="020B0503020204020204" charset="-122"/>
                </a:defRPr>
              </a:lvl1pPr>
            </a:lstStyle>
            <a:p>
              <a:r>
                <a:rPr lang="zh-CN" altLang="en-US" dirty="0">
                  <a:solidFill>
                    <a:prstClr val="black">
                      <a:lumMod val="85000"/>
                      <a:lumOff val="15000"/>
                    </a:prstClr>
                  </a:solidFill>
                </a:rPr>
                <a:t>抽象与具体</a:t>
              </a:r>
              <a:endParaRPr lang="en-US" altLang="zh-CN" dirty="0">
                <a:solidFill>
                  <a:prstClr val="black">
                    <a:lumMod val="85000"/>
                    <a:lumOff val="15000"/>
                  </a:prstClr>
                </a:solidFill>
              </a:endParaRPr>
            </a:p>
          </p:txBody>
        </p:sp>
        <p:sp>
          <p:nvSpPr>
            <p:cNvPr id="31" name="矩形 30"/>
            <p:cNvSpPr/>
            <p:nvPr/>
          </p:nvSpPr>
          <p:spPr>
            <a:xfrm>
              <a:off x="1034340" y="5598000"/>
              <a:ext cx="641280" cy="504000"/>
            </a:xfrm>
            <a:prstGeom prst="rect">
              <a:avLst/>
            </a:prstGeom>
            <a:gradFill>
              <a:gsLst>
                <a:gs pos="0">
                  <a:srgbClr val="7E7847"/>
                </a:gs>
                <a:gs pos="100000">
                  <a:srgbClr val="C5BC78"/>
                </a:gs>
              </a:gsLst>
              <a:lin ang="4800000" scaled="0"/>
            </a:gradFill>
            <a:ln>
              <a:noFill/>
            </a:ln>
            <a:effectLst>
              <a:outerShdw dist="114300" dir="10800000" algn="r" rotWithShape="0">
                <a:srgbClr val="CDC88D"/>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rPr>
                <a:t>4</a:t>
              </a:r>
              <a:endParaRPr lang="zh-CN" altLang="en-US"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32" name="Shape 7165"/>
            <p:cNvSpPr/>
            <p:nvPr/>
          </p:nvSpPr>
          <p:spPr>
            <a:xfrm>
              <a:off x="1551638" y="5562000"/>
              <a:ext cx="3240001" cy="576000"/>
            </a:xfrm>
            <a:prstGeom prst="rect">
              <a:avLst/>
            </a:prstGeom>
            <a:solidFill>
              <a:schemeClr val="bg1"/>
            </a:solidFill>
            <a:ln>
              <a:solidFill>
                <a:srgbClr val="AFA769"/>
              </a:solidFill>
            </a:ln>
            <a:effectLst>
              <a:outerShdw blurRad="177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dirty="0">
                <a:solidFill>
                  <a:prstClr val="black">
                    <a:lumMod val="85000"/>
                    <a:lumOff val="15000"/>
                  </a:prstClr>
                </a:solidFill>
                <a:latin typeface="微软雅黑" panose="020B0503020204020204" charset="-122"/>
                <a:ea typeface="微软雅黑" panose="020B0503020204020204" charset="-122"/>
                <a:sym typeface="Helvetica"/>
              </a:endParaRPr>
            </a:p>
          </p:txBody>
        </p:sp>
        <p:sp>
          <p:nvSpPr>
            <p:cNvPr id="33" name="文本框 18"/>
            <p:cNvSpPr txBox="1"/>
            <p:nvPr/>
          </p:nvSpPr>
          <p:spPr>
            <a:xfrm>
              <a:off x="1736022" y="5651709"/>
              <a:ext cx="3240000" cy="423545"/>
            </a:xfrm>
            <a:prstGeom prst="rect">
              <a:avLst/>
            </a:prstGeom>
          </p:spPr>
          <p:txBody>
            <a:bodyPr wrap="square">
              <a:spAutoFit/>
            </a:bodyPr>
            <a:lstStyle>
              <a:defPPr>
                <a:defRPr lang="zh-CN"/>
              </a:defPPr>
              <a:lvl1pPr eaLnBrk="0" hangingPunct="0">
                <a:lnSpc>
                  <a:spcPct val="120000"/>
                </a:lnSpc>
                <a:defRPr>
                  <a:solidFill>
                    <a:schemeClr val="tx1">
                      <a:lumMod val="85000"/>
                      <a:lumOff val="15000"/>
                    </a:schemeClr>
                  </a:solidFill>
                  <a:latin typeface="微软雅黑" panose="020B0503020204020204" charset="-122"/>
                  <a:ea typeface="微软雅黑" panose="020B0503020204020204" charset="-122"/>
                </a:defRPr>
              </a:lvl1pPr>
            </a:lstStyle>
            <a:p>
              <a:r>
                <a:rPr lang="zh-CN" altLang="en-US" dirty="0">
                  <a:solidFill>
                    <a:prstClr val="black">
                      <a:lumMod val="85000"/>
                      <a:lumOff val="15000"/>
                    </a:prstClr>
                  </a:solidFill>
                </a:rPr>
                <a:t>逻辑与历史</a:t>
              </a:r>
              <a:endParaRPr lang="en-US" altLang="zh-CN" dirty="0">
                <a:solidFill>
                  <a:prstClr val="black">
                    <a:lumMod val="85000"/>
                    <a:lumOff val="15000"/>
                  </a:prstClr>
                </a:solidFill>
              </a:endParaRP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矩形 911367"/>
          <p:cNvSpPr>
            <a:spLocks noChangeArrowheads="1"/>
          </p:cNvSpPr>
          <p:nvPr/>
        </p:nvSpPr>
        <p:spPr bwMode="auto">
          <a:xfrm>
            <a:off x="539750" y="1412875"/>
            <a:ext cx="8032778" cy="1366528"/>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buClr>
                <a:srgbClr val="365AC0"/>
              </a:buClr>
              <a:buFont typeface="Wingdings" panose="05000000000000000000" pitchFamily="2" charset="2"/>
              <a:buNone/>
            </a:pPr>
            <a:r>
              <a:rPr lang="zh-CN" altLang="en-US" sz="2400" b="1" dirty="0" smtClean="0">
                <a:solidFill>
                  <a:srgbClr val="000099"/>
                </a:solidFill>
                <a:latin typeface="楷体" panose="02010609060101010101" pitchFamily="49" charset="-122"/>
                <a:ea typeface="楷体" panose="02010609060101010101" pitchFamily="49" charset="-122"/>
              </a:rPr>
              <a:t>辩证思维与历史眼光的结合，是以史为鉴</a:t>
            </a:r>
            <a:r>
              <a:rPr lang="zh-CN" altLang="en-US" sz="2400" b="1" dirty="0">
                <a:solidFill>
                  <a:srgbClr val="000099"/>
                </a:solidFill>
                <a:latin typeface="楷体" panose="02010609060101010101" pitchFamily="49" charset="-122"/>
                <a:ea typeface="楷体" panose="02010609060101010101" pitchFamily="49" charset="-122"/>
              </a:rPr>
              <a:t>、知古鉴今，善于运用历史眼光认识发展规律、把握前进方向、指导现实工作的能力。</a:t>
            </a:r>
            <a:endParaRPr lang="zh-CN" altLang="en-US" sz="2400" b="1" dirty="0">
              <a:solidFill>
                <a:srgbClr val="000099"/>
              </a:solidFill>
              <a:latin typeface="楷体" panose="02010609060101010101" pitchFamily="49" charset="-122"/>
              <a:ea typeface="楷体" panose="02010609060101010101" pitchFamily="49" charset="-122"/>
            </a:endParaRPr>
          </a:p>
        </p:txBody>
      </p:sp>
      <p:sp>
        <p:nvSpPr>
          <p:cNvPr id="43010" name="矩形 911368"/>
          <p:cNvSpPr>
            <a:spLocks noChangeArrowheads="1"/>
          </p:cNvSpPr>
          <p:nvPr/>
        </p:nvSpPr>
        <p:spPr bwMode="auto">
          <a:xfrm>
            <a:off x="500034" y="3143248"/>
            <a:ext cx="8096278" cy="2215991"/>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buClr>
                <a:srgbClr val="365AC0"/>
              </a:buClr>
              <a:buFont typeface="Wingdings" panose="05000000000000000000" pitchFamily="2" charset="2"/>
              <a:buNone/>
            </a:pPr>
            <a:r>
              <a:rPr lang="en-US" altLang="zh-CN" sz="2400" b="1" dirty="0" smtClean="0">
                <a:solidFill>
                  <a:srgbClr val="000099"/>
                </a:solidFill>
                <a:latin typeface="+mn-ea"/>
                <a:ea typeface="楷体" panose="02010609060101010101" pitchFamily="49" charset="-122"/>
              </a:rPr>
              <a:t> </a:t>
            </a:r>
            <a:r>
              <a:rPr lang="zh-CN" altLang="en-US" sz="2400" b="1" dirty="0" smtClean="0">
                <a:solidFill>
                  <a:srgbClr val="000099"/>
                </a:solidFill>
                <a:latin typeface="楷体" panose="02010609060101010101" pitchFamily="49" charset="-122"/>
                <a:ea typeface="楷体" panose="02010609060101010101" pitchFamily="49" charset="-122"/>
              </a:rPr>
              <a:t>加强</a:t>
            </a:r>
            <a:r>
              <a:rPr lang="zh-CN" altLang="en-US" sz="2400" b="1" dirty="0" smtClean="0">
                <a:solidFill>
                  <a:srgbClr val="000099"/>
                </a:solidFill>
                <a:latin typeface="楷体" panose="02010609060101010101" pitchFamily="49" charset="-122"/>
                <a:ea typeface="楷体" panose="02010609060101010101" pitchFamily="49" charset="-122"/>
              </a:rPr>
              <a:t>对党史、新中国史、改革开放史、社会主义发展史、中华民族发展史和</a:t>
            </a:r>
            <a:r>
              <a:rPr lang="zh-CN" altLang="en-US" sz="2400" b="1" dirty="0">
                <a:solidFill>
                  <a:srgbClr val="000099"/>
                </a:solidFill>
                <a:latin typeface="楷体" panose="02010609060101010101" pitchFamily="49" charset="-122"/>
                <a:ea typeface="楷体" panose="02010609060101010101" pitchFamily="49" charset="-122"/>
              </a:rPr>
              <a:t>世界历史</a:t>
            </a:r>
            <a:r>
              <a:rPr lang="zh-CN" altLang="en-US" sz="2400" b="1" dirty="0" smtClean="0">
                <a:solidFill>
                  <a:srgbClr val="000099"/>
                </a:solidFill>
                <a:latin typeface="楷体" panose="02010609060101010101" pitchFamily="49" charset="-122"/>
                <a:ea typeface="楷体" panose="02010609060101010101" pitchFamily="49" charset="-122"/>
              </a:rPr>
              <a:t>的系统学习</a:t>
            </a:r>
            <a:r>
              <a:rPr lang="zh-CN" altLang="en-US" sz="2400" b="1" dirty="0">
                <a:solidFill>
                  <a:srgbClr val="000099"/>
                </a:solidFill>
                <a:latin typeface="楷体" panose="02010609060101010101" pitchFamily="49" charset="-122"/>
                <a:ea typeface="楷体" panose="02010609060101010101" pitchFamily="49" charset="-122"/>
              </a:rPr>
              <a:t>，深刻总结历史经验、把握历史规律、认清历史趋势，坚定中国特色社会主义方向，在对历史的深入思考中做好现实工作、更好走向未来。</a:t>
            </a:r>
            <a:endParaRPr lang="zh-CN" altLang="en-US" sz="2400" b="1" dirty="0">
              <a:solidFill>
                <a:srgbClr val="000099"/>
              </a:solidFill>
              <a:latin typeface="楷体" panose="02010609060101010101" pitchFamily="49" charset="-122"/>
              <a:ea typeface="楷体" panose="02010609060101010101" pitchFamily="49" charset="-122"/>
            </a:endParaRPr>
          </a:p>
        </p:txBody>
      </p:sp>
      <p:sp>
        <p:nvSpPr>
          <p:cNvPr id="43017" name="矩形 723984"/>
          <p:cNvSpPr>
            <a:spLocks noChangeArrowheads="1"/>
          </p:cNvSpPr>
          <p:nvPr/>
        </p:nvSpPr>
        <p:spPr bwMode="auto">
          <a:xfrm>
            <a:off x="571472" y="571480"/>
            <a:ext cx="3168650" cy="554038"/>
          </a:xfrm>
          <a:prstGeom prst="rect">
            <a:avLst/>
          </a:prstGeom>
          <a:solidFill>
            <a:srgbClr val="CCFFFF"/>
          </a:solidFill>
          <a:ln w="12700">
            <a:solidFill>
              <a:srgbClr val="FF3300"/>
            </a:solidFill>
            <a:miter lim="800000"/>
          </a:ln>
        </p:spPr>
        <p:txBody>
          <a:bodyPr>
            <a:spAutoFit/>
          </a:bodyPr>
          <a:lstStyle/>
          <a:p>
            <a:pPr>
              <a:lnSpc>
                <a:spcPct val="125000"/>
              </a:lnSpc>
              <a:buClr>
                <a:schemeClr val="bg1"/>
              </a:buClr>
            </a:pPr>
            <a:r>
              <a:rPr lang="zh-CN" altLang="en-US" sz="2400" b="1" dirty="0">
                <a:solidFill>
                  <a:srgbClr val="000099"/>
                </a:solidFill>
                <a:latin typeface="黑体" panose="02010609060101010101" pitchFamily="49" charset="-122"/>
                <a:ea typeface="黑体" panose="02010609060101010101" pitchFamily="49" charset="-122"/>
              </a:rPr>
              <a:t>（二）历史思维能力</a:t>
            </a:r>
            <a:endParaRPr lang="zh-CN" altLang="en-US" sz="2400" b="1" dirty="0">
              <a:solidFill>
                <a:srgbClr val="000099"/>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910343"/>
          <p:cNvSpPr>
            <a:spLocks noChangeArrowheads="1"/>
          </p:cNvSpPr>
          <p:nvPr/>
        </p:nvSpPr>
        <p:spPr bwMode="auto">
          <a:xfrm>
            <a:off x="539750" y="1412875"/>
            <a:ext cx="8032778" cy="941796"/>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buFont typeface="Wingdings" panose="05000000000000000000" pitchFamily="2" charset="2"/>
              <a:buNone/>
            </a:pPr>
            <a:r>
              <a:rPr lang="zh-CN" altLang="en-US" sz="2400" b="1" dirty="0" smtClean="0">
                <a:solidFill>
                  <a:srgbClr val="000099"/>
                </a:solidFill>
                <a:latin typeface="楷体" panose="02010609060101010101" pitchFamily="49" charset="-122"/>
                <a:ea typeface="楷体" panose="02010609060101010101" pitchFamily="49" charset="-122"/>
              </a:rPr>
              <a:t>从</a:t>
            </a:r>
            <a:r>
              <a:rPr lang="zh-CN" altLang="en-US" sz="2400" b="1" dirty="0" smtClean="0">
                <a:solidFill>
                  <a:srgbClr val="000099"/>
                </a:solidFill>
                <a:latin typeface="楷体" panose="02010609060101010101" pitchFamily="49" charset="-122"/>
                <a:ea typeface="楷体" panose="02010609060101010101" pitchFamily="49" charset="-122"/>
              </a:rPr>
              <a:t>事物相互联系的各个方面及其结构和功能进行系统思考的能力，就是全面系统地分析和处理问题的能力。</a:t>
            </a:r>
            <a:endParaRPr lang="zh-CN" altLang="en-US" sz="2400" b="1" dirty="0">
              <a:solidFill>
                <a:srgbClr val="000099"/>
              </a:solidFill>
              <a:latin typeface="楷体" panose="02010609060101010101" pitchFamily="49" charset="-122"/>
              <a:ea typeface="楷体" panose="02010609060101010101" pitchFamily="49" charset="-122"/>
            </a:endParaRPr>
          </a:p>
        </p:txBody>
      </p:sp>
      <p:sp>
        <p:nvSpPr>
          <p:cNvPr id="44035" name="矩形 910346"/>
          <p:cNvSpPr>
            <a:spLocks noChangeArrowheads="1"/>
          </p:cNvSpPr>
          <p:nvPr/>
        </p:nvSpPr>
        <p:spPr bwMode="auto">
          <a:xfrm>
            <a:off x="500034" y="2500306"/>
            <a:ext cx="8072494" cy="2012859"/>
          </a:xfrm>
          <a:prstGeom prst="rect">
            <a:avLst/>
          </a:prstGeom>
          <a:solidFill>
            <a:srgbClr val="CCFFCC"/>
          </a:solidFill>
          <a:ln w="9525">
            <a:solidFill>
              <a:srgbClr val="A50021"/>
            </a:solidFill>
            <a:miter lim="800000"/>
          </a:ln>
        </p:spPr>
        <p:txBody>
          <a:bodyPr wrap="square">
            <a:spAutoFit/>
          </a:bodyPr>
          <a:lstStyle/>
          <a:p>
            <a:pPr indent="539750" algn="just">
              <a:lnSpc>
                <a:spcPct val="130000"/>
              </a:lnSpc>
            </a:pPr>
            <a:r>
              <a:rPr lang="zh-CN" altLang="en-US" sz="2400" b="1" dirty="0" smtClean="0">
                <a:solidFill>
                  <a:srgbClr val="000099"/>
                </a:solidFill>
                <a:latin typeface="楷体" panose="02010609060101010101" pitchFamily="49" charset="-122"/>
                <a:ea typeface="楷体" panose="02010609060101010101" pitchFamily="49" charset="-122"/>
              </a:rPr>
              <a:t>增强系统思维能力，就是通过对事物的系统存在、系统联系与系统规律的把握，遵循以整体性、结构性、层次性、开放性和风险性等为基本内容的思维原则，立足现实需要，加强全局性谋划、整体性推进。</a:t>
            </a:r>
            <a:endParaRPr lang="zh-CN" altLang="en-US" sz="2400" b="1" dirty="0" smtClean="0">
              <a:solidFill>
                <a:srgbClr val="000099"/>
              </a:solidFill>
              <a:latin typeface="楷体" panose="02010609060101010101" pitchFamily="49" charset="-122"/>
              <a:ea typeface="楷体" panose="02010609060101010101" pitchFamily="49" charset="-122"/>
            </a:endParaRPr>
          </a:p>
        </p:txBody>
      </p:sp>
      <p:sp>
        <p:nvSpPr>
          <p:cNvPr id="44042" name="矩形 723984"/>
          <p:cNvSpPr>
            <a:spLocks noChangeArrowheads="1"/>
          </p:cNvSpPr>
          <p:nvPr/>
        </p:nvSpPr>
        <p:spPr bwMode="auto">
          <a:xfrm>
            <a:off x="593725" y="628650"/>
            <a:ext cx="3168650" cy="554038"/>
          </a:xfrm>
          <a:prstGeom prst="rect">
            <a:avLst/>
          </a:prstGeom>
          <a:solidFill>
            <a:srgbClr val="CCFFFF"/>
          </a:solidFill>
          <a:ln w="12700">
            <a:solidFill>
              <a:srgbClr val="FF3300"/>
            </a:solidFill>
            <a:miter lim="800000"/>
          </a:ln>
        </p:spPr>
        <p:txBody>
          <a:bodyPr>
            <a:spAutoFit/>
          </a:bodyPr>
          <a:lstStyle/>
          <a:p>
            <a:pPr>
              <a:lnSpc>
                <a:spcPct val="125000"/>
              </a:lnSpc>
              <a:buClr>
                <a:schemeClr val="bg1"/>
              </a:buClr>
            </a:pPr>
            <a:r>
              <a:rPr lang="zh-CN" altLang="en-US" sz="2400" b="1" dirty="0">
                <a:solidFill>
                  <a:srgbClr val="000099"/>
                </a:solidFill>
                <a:latin typeface="黑体" panose="02010609060101010101" pitchFamily="49" charset="-122"/>
                <a:ea typeface="黑体" panose="02010609060101010101" pitchFamily="49" charset="-122"/>
              </a:rPr>
              <a:t>（三</a:t>
            </a:r>
            <a:r>
              <a:rPr lang="zh-CN" altLang="en-US" sz="2400" b="1" dirty="0" smtClean="0">
                <a:solidFill>
                  <a:srgbClr val="000099"/>
                </a:solidFill>
                <a:latin typeface="黑体" panose="02010609060101010101" pitchFamily="49" charset="-122"/>
                <a:ea typeface="黑体" panose="02010609060101010101" pitchFamily="49" charset="-122"/>
              </a:rPr>
              <a:t>）系统思维</a:t>
            </a:r>
            <a:r>
              <a:rPr lang="zh-CN" altLang="en-US" sz="2400" b="1" dirty="0">
                <a:solidFill>
                  <a:srgbClr val="000099"/>
                </a:solidFill>
                <a:latin typeface="黑体" panose="02010609060101010101" pitchFamily="49" charset="-122"/>
                <a:ea typeface="黑体" panose="02010609060101010101" pitchFamily="49" charset="-122"/>
              </a:rPr>
              <a:t>能力</a:t>
            </a:r>
            <a:endParaRPr lang="zh-CN" altLang="en-US" sz="2400" b="1" dirty="0">
              <a:solidFill>
                <a:srgbClr val="000099"/>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910343"/>
          <p:cNvSpPr>
            <a:spLocks noChangeArrowheads="1"/>
          </p:cNvSpPr>
          <p:nvPr/>
        </p:nvSpPr>
        <p:spPr bwMode="auto">
          <a:xfrm>
            <a:off x="539750" y="1412875"/>
            <a:ext cx="8175654" cy="941796"/>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buFont typeface="Wingdings" panose="05000000000000000000" pitchFamily="2" charset="2"/>
              <a:buNone/>
            </a:pPr>
            <a:r>
              <a:rPr lang="zh-CN" altLang="en-US" sz="2400" b="1" dirty="0" smtClean="0">
                <a:solidFill>
                  <a:srgbClr val="000099"/>
                </a:solidFill>
                <a:latin typeface="楷体" panose="02010609060101010101" pitchFamily="49" charset="-122"/>
                <a:ea typeface="楷体" panose="02010609060101010101" pitchFamily="49" charset="-122"/>
              </a:rPr>
              <a:t>高瞻远瞩</a:t>
            </a:r>
            <a:r>
              <a:rPr lang="zh-CN" altLang="en-US" sz="2400" b="1" dirty="0">
                <a:solidFill>
                  <a:srgbClr val="000099"/>
                </a:solidFill>
                <a:latin typeface="楷体" panose="02010609060101010101" pitchFamily="49" charset="-122"/>
                <a:ea typeface="楷体" panose="02010609060101010101" pitchFamily="49" charset="-122"/>
              </a:rPr>
              <a:t>、统揽全局，善于把握事物发展总体趋势和方向的能力。</a:t>
            </a:r>
            <a:endParaRPr lang="zh-CN" altLang="en-US" sz="2400" b="1" dirty="0">
              <a:solidFill>
                <a:srgbClr val="000099"/>
              </a:solidFill>
              <a:latin typeface="楷体" panose="02010609060101010101" pitchFamily="49" charset="-122"/>
              <a:ea typeface="楷体" panose="02010609060101010101" pitchFamily="49" charset="-122"/>
            </a:endParaRPr>
          </a:p>
        </p:txBody>
      </p:sp>
      <p:sp>
        <p:nvSpPr>
          <p:cNvPr id="44035" name="矩形 910346"/>
          <p:cNvSpPr>
            <a:spLocks noChangeArrowheads="1"/>
          </p:cNvSpPr>
          <p:nvPr/>
        </p:nvSpPr>
        <p:spPr bwMode="auto">
          <a:xfrm>
            <a:off x="500034" y="2571744"/>
            <a:ext cx="8215370" cy="1782026"/>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pPr>
            <a:r>
              <a:rPr lang="zh-CN" altLang="en-US" sz="2400" b="1" dirty="0" smtClean="0">
                <a:solidFill>
                  <a:srgbClr val="000099"/>
                </a:solidFill>
                <a:latin typeface="楷体" panose="02010609060101010101" pitchFamily="49" charset="-122"/>
                <a:ea typeface="楷体" panose="02010609060101010101" pitchFamily="49" charset="-122"/>
              </a:rPr>
              <a:t>增强战略思维能力，要求我们处理好局部和全局、当前和长远、重点和非重点的关系，在权衡利弊中趋利避害，作出最为有利的战略抉择。</a:t>
            </a:r>
            <a:endParaRPr lang="zh-CN" altLang="en-US" sz="2400" b="1" dirty="0" smtClean="0">
              <a:solidFill>
                <a:srgbClr val="000099"/>
              </a:solidFill>
              <a:latin typeface="楷体" panose="02010609060101010101" pitchFamily="49" charset="-122"/>
              <a:ea typeface="楷体" panose="02010609060101010101" pitchFamily="49" charset="-122"/>
            </a:endParaRPr>
          </a:p>
          <a:p>
            <a:pPr>
              <a:lnSpc>
                <a:spcPct val="115000"/>
              </a:lnSpc>
              <a:spcBef>
                <a:spcPct val="20000"/>
              </a:spcBef>
              <a:buFont typeface="Wingdings" panose="05000000000000000000" pitchFamily="2" charset="2"/>
              <a:buNone/>
            </a:pPr>
            <a:endParaRPr lang="zh-CN" altLang="en-US" sz="2000" b="1" dirty="0">
              <a:solidFill>
                <a:srgbClr val="990000"/>
              </a:solidFill>
              <a:latin typeface="+mn-ea"/>
            </a:endParaRPr>
          </a:p>
        </p:txBody>
      </p:sp>
      <p:sp>
        <p:nvSpPr>
          <p:cNvPr id="44042" name="矩形 723984"/>
          <p:cNvSpPr>
            <a:spLocks noChangeArrowheads="1"/>
          </p:cNvSpPr>
          <p:nvPr/>
        </p:nvSpPr>
        <p:spPr bwMode="auto">
          <a:xfrm>
            <a:off x="593725" y="628650"/>
            <a:ext cx="3168650" cy="554038"/>
          </a:xfrm>
          <a:prstGeom prst="rect">
            <a:avLst/>
          </a:prstGeom>
          <a:solidFill>
            <a:srgbClr val="CCFFFF"/>
          </a:solidFill>
          <a:ln w="12700">
            <a:solidFill>
              <a:srgbClr val="FF3300"/>
            </a:solidFill>
            <a:miter lim="800000"/>
          </a:ln>
        </p:spPr>
        <p:txBody>
          <a:bodyPr>
            <a:spAutoFit/>
          </a:bodyPr>
          <a:lstStyle/>
          <a:p>
            <a:pPr>
              <a:lnSpc>
                <a:spcPct val="125000"/>
              </a:lnSpc>
              <a:buClr>
                <a:schemeClr val="bg1"/>
              </a:buClr>
            </a:pPr>
            <a:r>
              <a:rPr lang="zh-CN" altLang="en-US" sz="2400" b="1" dirty="0" smtClean="0">
                <a:solidFill>
                  <a:srgbClr val="000099"/>
                </a:solidFill>
                <a:latin typeface="黑体" panose="02010609060101010101" pitchFamily="49" charset="-122"/>
                <a:ea typeface="黑体" panose="02010609060101010101" pitchFamily="49" charset="-122"/>
              </a:rPr>
              <a:t>（四）</a:t>
            </a:r>
            <a:r>
              <a:rPr lang="zh-CN" altLang="en-US" sz="2400" b="1" dirty="0">
                <a:solidFill>
                  <a:srgbClr val="000099"/>
                </a:solidFill>
                <a:latin typeface="黑体" panose="02010609060101010101" pitchFamily="49" charset="-122"/>
                <a:ea typeface="黑体" panose="02010609060101010101" pitchFamily="49" charset="-122"/>
              </a:rPr>
              <a:t>战略思维能力</a:t>
            </a:r>
            <a:endParaRPr lang="zh-CN" altLang="en-US" sz="2400" b="1" dirty="0">
              <a:solidFill>
                <a:srgbClr val="000099"/>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矩形 914439"/>
          <p:cNvSpPr>
            <a:spLocks noChangeArrowheads="1"/>
          </p:cNvSpPr>
          <p:nvPr/>
        </p:nvSpPr>
        <p:spPr bwMode="auto">
          <a:xfrm>
            <a:off x="539750" y="1484313"/>
            <a:ext cx="8104216" cy="941796"/>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buClr>
                <a:srgbClr val="365AC0"/>
              </a:buClr>
              <a:buFont typeface="Wingdings" panose="05000000000000000000" pitchFamily="2" charset="2"/>
              <a:buNone/>
            </a:pPr>
            <a:r>
              <a:rPr lang="zh-CN" altLang="en-US" sz="2400" b="1" dirty="0" smtClean="0">
                <a:solidFill>
                  <a:srgbClr val="000099"/>
                </a:solidFill>
                <a:latin typeface="楷体" panose="02010609060101010101" pitchFamily="49" charset="-122"/>
                <a:ea typeface="楷体" panose="02010609060101010101" pitchFamily="49" charset="-122"/>
              </a:rPr>
              <a:t>客观</a:t>
            </a:r>
            <a:r>
              <a:rPr lang="zh-CN" altLang="en-US" sz="2400" b="1" dirty="0">
                <a:solidFill>
                  <a:srgbClr val="000099"/>
                </a:solidFill>
                <a:latin typeface="楷体" panose="02010609060101010101" pitchFamily="49" charset="-122"/>
                <a:ea typeface="楷体" panose="02010609060101010101" pitchFamily="49" charset="-122"/>
              </a:rPr>
              <a:t>地设定最低目标，立足最低点，争取最大期望值的一种积极的思维能力。</a:t>
            </a:r>
            <a:endParaRPr lang="zh-CN" altLang="en-US" sz="2400" b="1" dirty="0">
              <a:solidFill>
                <a:srgbClr val="000099"/>
              </a:solidFill>
              <a:latin typeface="楷体" panose="02010609060101010101" pitchFamily="49" charset="-122"/>
              <a:ea typeface="楷体" panose="02010609060101010101" pitchFamily="49" charset="-122"/>
            </a:endParaRPr>
          </a:p>
        </p:txBody>
      </p:sp>
      <p:sp>
        <p:nvSpPr>
          <p:cNvPr id="45062" name="矩形 914449"/>
          <p:cNvSpPr>
            <a:spLocks noChangeArrowheads="1"/>
          </p:cNvSpPr>
          <p:nvPr/>
        </p:nvSpPr>
        <p:spPr bwMode="auto">
          <a:xfrm>
            <a:off x="500034" y="2643182"/>
            <a:ext cx="8247091" cy="1782026"/>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buClr>
                <a:srgbClr val="365AC0"/>
              </a:buClr>
            </a:pPr>
            <a:r>
              <a:rPr lang="zh-CN" altLang="en-US" sz="2400" b="1" dirty="0" smtClean="0">
                <a:solidFill>
                  <a:srgbClr val="000099"/>
                </a:solidFill>
                <a:latin typeface="楷体" panose="02010609060101010101" pitchFamily="49" charset="-122"/>
                <a:ea typeface="楷体" panose="02010609060101010101" pitchFamily="49" charset="-122"/>
              </a:rPr>
              <a:t>增强底线思维能力，要求我们居安思危、未雨绸缪，凡事从最坏处着眼、向最好处努力，打有准备、有把握之仗，牢牢把握工作主动权，着力防范化解重大风险。</a:t>
            </a:r>
            <a:endParaRPr lang="zh-CN" altLang="en-US" sz="2400" b="1" dirty="0" smtClean="0">
              <a:solidFill>
                <a:srgbClr val="000099"/>
              </a:solidFill>
              <a:latin typeface="楷体" panose="02010609060101010101" pitchFamily="49" charset="-122"/>
              <a:ea typeface="楷体" panose="02010609060101010101" pitchFamily="49" charset="-122"/>
            </a:endParaRPr>
          </a:p>
          <a:p>
            <a:pPr>
              <a:lnSpc>
                <a:spcPct val="115000"/>
              </a:lnSpc>
              <a:spcBef>
                <a:spcPct val="20000"/>
              </a:spcBef>
              <a:buClr>
                <a:srgbClr val="365AC0"/>
              </a:buClr>
              <a:buFont typeface="Wingdings" panose="05000000000000000000" pitchFamily="2" charset="2"/>
              <a:buNone/>
            </a:pPr>
            <a:endParaRPr lang="zh-CN" altLang="en-US" sz="2000" b="1" dirty="0">
              <a:solidFill>
                <a:srgbClr val="990000"/>
              </a:solidFill>
              <a:latin typeface="+mn-ea"/>
            </a:endParaRPr>
          </a:p>
        </p:txBody>
      </p:sp>
      <p:sp>
        <p:nvSpPr>
          <p:cNvPr id="45067" name="矩形 723984"/>
          <p:cNvSpPr>
            <a:spLocks noChangeArrowheads="1"/>
          </p:cNvSpPr>
          <p:nvPr/>
        </p:nvSpPr>
        <p:spPr bwMode="auto">
          <a:xfrm>
            <a:off x="571472" y="714356"/>
            <a:ext cx="3168650" cy="552450"/>
          </a:xfrm>
          <a:prstGeom prst="rect">
            <a:avLst/>
          </a:prstGeom>
          <a:solidFill>
            <a:srgbClr val="CCFFFF"/>
          </a:solidFill>
          <a:ln w="12700">
            <a:solidFill>
              <a:srgbClr val="FF3300"/>
            </a:solidFill>
            <a:miter lim="800000"/>
          </a:ln>
        </p:spPr>
        <p:txBody>
          <a:bodyPr>
            <a:spAutoFit/>
          </a:bodyPr>
          <a:lstStyle/>
          <a:p>
            <a:pPr>
              <a:lnSpc>
                <a:spcPct val="125000"/>
              </a:lnSpc>
              <a:buClr>
                <a:schemeClr val="bg1"/>
              </a:buClr>
            </a:pPr>
            <a:r>
              <a:rPr lang="zh-CN" altLang="en-US" sz="2400" b="1" dirty="0" smtClean="0">
                <a:solidFill>
                  <a:srgbClr val="000099"/>
                </a:solidFill>
                <a:latin typeface="黑体" panose="02010609060101010101" pitchFamily="49" charset="-122"/>
                <a:ea typeface="黑体" panose="02010609060101010101" pitchFamily="49" charset="-122"/>
              </a:rPr>
              <a:t>（五）</a:t>
            </a:r>
            <a:r>
              <a:rPr lang="zh-CN" altLang="en-US" sz="2400" b="1" dirty="0">
                <a:solidFill>
                  <a:srgbClr val="000099"/>
                </a:solidFill>
                <a:latin typeface="黑体" panose="02010609060101010101" pitchFamily="49" charset="-122"/>
                <a:ea typeface="黑体" panose="02010609060101010101" pitchFamily="49" charset="-122"/>
              </a:rPr>
              <a:t>底线思维能力</a:t>
            </a:r>
            <a:endParaRPr lang="zh-CN" altLang="en-US" sz="2400" b="1" dirty="0">
              <a:solidFill>
                <a:srgbClr val="000099"/>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矩形 913415"/>
          <p:cNvSpPr>
            <a:spLocks noChangeArrowheads="1"/>
          </p:cNvSpPr>
          <p:nvPr/>
        </p:nvSpPr>
        <p:spPr bwMode="auto">
          <a:xfrm>
            <a:off x="468312" y="1341438"/>
            <a:ext cx="8389967" cy="941796"/>
          </a:xfrm>
          <a:prstGeom prst="rect">
            <a:avLst/>
          </a:prstGeom>
          <a:solidFill>
            <a:srgbClr val="CCFFCC"/>
          </a:solidFill>
          <a:ln w="9525">
            <a:solidFill>
              <a:srgbClr val="A50021"/>
            </a:solidFill>
            <a:miter lim="800000"/>
          </a:ln>
        </p:spPr>
        <p:txBody>
          <a:bodyPr wrap="square">
            <a:spAutoFit/>
          </a:bodyPr>
          <a:lstStyle/>
          <a:p>
            <a:pPr>
              <a:lnSpc>
                <a:spcPct val="115000"/>
              </a:lnSpc>
              <a:spcBef>
                <a:spcPct val="20000"/>
              </a:spcBef>
              <a:buFont typeface="Wingdings" panose="05000000000000000000" pitchFamily="2" charset="2"/>
              <a:buNone/>
            </a:pPr>
            <a:r>
              <a:rPr lang="zh-CN" altLang="en-US" sz="2400" b="1" dirty="0" smtClean="0">
                <a:solidFill>
                  <a:srgbClr val="000099"/>
                </a:solidFill>
                <a:latin typeface="楷体" panose="02010609060101010101" pitchFamily="49" charset="-122"/>
                <a:ea typeface="楷体" panose="02010609060101010101" pitchFamily="49" charset="-122"/>
              </a:rPr>
              <a:t>破除迷信</a:t>
            </a:r>
            <a:r>
              <a:rPr lang="zh-CN" altLang="en-US" sz="2400" b="1" dirty="0">
                <a:solidFill>
                  <a:srgbClr val="000099"/>
                </a:solidFill>
                <a:latin typeface="楷体" panose="02010609060101010101" pitchFamily="49" charset="-122"/>
                <a:ea typeface="楷体" panose="02010609060101010101" pitchFamily="49" charset="-122"/>
              </a:rPr>
              <a:t>、</a:t>
            </a:r>
            <a:r>
              <a:rPr lang="zh-CN" altLang="en-US" sz="2400" b="1" dirty="0" smtClean="0">
                <a:solidFill>
                  <a:srgbClr val="000099"/>
                </a:solidFill>
                <a:latin typeface="楷体" panose="02010609060101010101" pitchFamily="49" charset="-122"/>
                <a:ea typeface="楷体" panose="02010609060101010101" pitchFamily="49" charset="-122"/>
              </a:rPr>
              <a:t>超越陈规</a:t>
            </a:r>
            <a:r>
              <a:rPr lang="zh-CN" altLang="en-US" sz="2400" b="1" dirty="0">
                <a:solidFill>
                  <a:srgbClr val="000099"/>
                </a:solidFill>
                <a:latin typeface="楷体" panose="02010609060101010101" pitchFamily="49" charset="-122"/>
                <a:ea typeface="楷体" panose="02010609060101010101" pitchFamily="49" charset="-122"/>
              </a:rPr>
              <a:t>，善于因时制宜、知难而进、开拓创新的能力。</a:t>
            </a:r>
            <a:endParaRPr lang="zh-CN" altLang="en-US" sz="2400" b="1" dirty="0">
              <a:solidFill>
                <a:srgbClr val="000099"/>
              </a:solidFill>
              <a:latin typeface="楷体" panose="02010609060101010101" pitchFamily="49" charset="-122"/>
              <a:ea typeface="楷体" panose="02010609060101010101" pitchFamily="49" charset="-122"/>
            </a:endParaRPr>
          </a:p>
        </p:txBody>
      </p:sp>
      <p:sp>
        <p:nvSpPr>
          <p:cNvPr id="46082" name="矩形 913416"/>
          <p:cNvSpPr>
            <a:spLocks noChangeArrowheads="1"/>
          </p:cNvSpPr>
          <p:nvPr/>
        </p:nvSpPr>
        <p:spPr bwMode="auto">
          <a:xfrm>
            <a:off x="500034" y="2420938"/>
            <a:ext cx="8389966" cy="1532727"/>
          </a:xfrm>
          <a:prstGeom prst="rect">
            <a:avLst/>
          </a:prstGeom>
          <a:solidFill>
            <a:srgbClr val="CCFFCC"/>
          </a:solidFill>
          <a:ln w="9525">
            <a:solidFill>
              <a:srgbClr val="A50021"/>
            </a:solidFill>
            <a:miter lim="800000"/>
          </a:ln>
        </p:spPr>
        <p:txBody>
          <a:bodyPr wrap="square">
            <a:spAutoFit/>
          </a:bodyPr>
          <a:lstStyle/>
          <a:p>
            <a:pPr indent="539750" algn="just">
              <a:lnSpc>
                <a:spcPct val="130000"/>
              </a:lnSpc>
            </a:pPr>
            <a:r>
              <a:rPr lang="zh-CN" altLang="en-US" sz="2400" b="1" dirty="0" smtClean="0">
                <a:solidFill>
                  <a:srgbClr val="000099"/>
                </a:solidFill>
                <a:latin typeface="楷体" panose="02010609060101010101" pitchFamily="49" charset="-122"/>
                <a:ea typeface="楷体" panose="02010609060101010101" pitchFamily="49" charset="-122"/>
              </a:rPr>
              <a:t>增强创新思维能力，要求我们有敢为人先的锐气，摒弃不合时宜的旧观念，以思想认识的新飞跃打开工作的新局面，坚定不移地贯彻包括创新发展理念在内的新发展理念。</a:t>
            </a:r>
            <a:endParaRPr lang="zh-CN" altLang="en-US" sz="2400" b="1" dirty="0">
              <a:solidFill>
                <a:srgbClr val="000099"/>
              </a:solidFill>
              <a:latin typeface="楷体" panose="02010609060101010101" pitchFamily="49" charset="-122"/>
              <a:ea typeface="楷体" panose="02010609060101010101" pitchFamily="49" charset="-122"/>
            </a:endParaRPr>
          </a:p>
        </p:txBody>
      </p:sp>
      <p:sp>
        <p:nvSpPr>
          <p:cNvPr id="46091" name="矩形 723984"/>
          <p:cNvSpPr>
            <a:spLocks noChangeArrowheads="1"/>
          </p:cNvSpPr>
          <p:nvPr/>
        </p:nvSpPr>
        <p:spPr bwMode="auto">
          <a:xfrm>
            <a:off x="593725" y="593725"/>
            <a:ext cx="3168650" cy="552450"/>
          </a:xfrm>
          <a:prstGeom prst="rect">
            <a:avLst/>
          </a:prstGeom>
          <a:solidFill>
            <a:srgbClr val="CCFFFF"/>
          </a:solidFill>
          <a:ln w="12700">
            <a:solidFill>
              <a:srgbClr val="FF3300"/>
            </a:solidFill>
            <a:miter lim="800000"/>
          </a:ln>
        </p:spPr>
        <p:txBody>
          <a:bodyPr>
            <a:spAutoFit/>
          </a:bodyPr>
          <a:lstStyle/>
          <a:p>
            <a:pPr>
              <a:lnSpc>
                <a:spcPct val="125000"/>
              </a:lnSpc>
              <a:buClr>
                <a:schemeClr val="bg1"/>
              </a:buClr>
            </a:pPr>
            <a:r>
              <a:rPr lang="zh-CN" altLang="en-US" sz="2400" b="1" dirty="0" smtClean="0">
                <a:solidFill>
                  <a:srgbClr val="000099"/>
                </a:solidFill>
                <a:latin typeface="黑体" panose="02010609060101010101" pitchFamily="49" charset="-122"/>
                <a:ea typeface="黑体" panose="02010609060101010101" pitchFamily="49" charset="-122"/>
              </a:rPr>
              <a:t>（六）</a:t>
            </a:r>
            <a:r>
              <a:rPr lang="zh-CN" altLang="en-US" sz="2400" b="1" dirty="0">
                <a:solidFill>
                  <a:srgbClr val="000099"/>
                </a:solidFill>
                <a:latin typeface="黑体" panose="02010609060101010101" pitchFamily="49" charset="-122"/>
                <a:ea typeface="黑体" panose="02010609060101010101" pitchFamily="49" charset="-122"/>
              </a:rPr>
              <a:t>创新思维能力</a:t>
            </a:r>
            <a:endParaRPr lang="zh-CN" altLang="en-US" sz="2400" b="1" dirty="0">
              <a:solidFill>
                <a:srgbClr val="000099"/>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矩形 894985"/>
          <p:cNvSpPr>
            <a:spLocks noChangeArrowheads="1" noChangeShapeType="1" noTextEdit="1"/>
          </p:cNvSpPr>
          <p:nvPr/>
        </p:nvSpPr>
        <p:spPr bwMode="auto">
          <a:xfrm>
            <a:off x="2357422" y="285728"/>
            <a:ext cx="5400675" cy="792162"/>
          </a:xfrm>
          <a:prstGeom prst="rect">
            <a:avLst/>
          </a:prstGeom>
        </p:spPr>
        <p:txBody>
          <a:bodyPr wrap="none" fromWordArt="1">
            <a:prstTxWarp prst="textDeflate">
              <a:avLst>
                <a:gd name="adj" fmla="val 26227"/>
              </a:avLst>
            </a:prstTxWarp>
          </a:bodyPr>
          <a:lstStyle/>
          <a:p>
            <a:pPr algn="ctr"/>
            <a:r>
              <a:rPr lang="zh-CN" altLang="en-US" sz="5400" b="1" dirty="0">
                <a:ln w="0">
                  <a:solidFill>
                    <a:srgbClr val="FF0000"/>
                  </a:solidFill>
                  <a:round/>
                </a:ln>
                <a:solidFill>
                  <a:srgbClr val="0000FF"/>
                </a:solidFill>
                <a:latin typeface="华文隶书"/>
                <a:ea typeface="华文隶书"/>
              </a:rPr>
              <a:t>“认识世界和改造世界的根本方法”基本逻辑框架</a:t>
            </a:r>
            <a:endParaRPr lang="zh-CN" altLang="en-US" sz="5400" b="1" dirty="0">
              <a:ln w="0">
                <a:solidFill>
                  <a:srgbClr val="FF0000"/>
                </a:solidFill>
                <a:round/>
              </a:ln>
              <a:solidFill>
                <a:srgbClr val="0000FF"/>
              </a:solidFill>
              <a:latin typeface="华文隶书"/>
              <a:ea typeface="华文隶书"/>
            </a:endParaRPr>
          </a:p>
        </p:txBody>
      </p:sp>
      <p:grpSp>
        <p:nvGrpSpPr>
          <p:cNvPr id="2" name="组合 895102"/>
          <p:cNvGrpSpPr/>
          <p:nvPr/>
        </p:nvGrpSpPr>
        <p:grpSpPr bwMode="auto">
          <a:xfrm>
            <a:off x="285751" y="285758"/>
            <a:ext cx="8749970" cy="6405176"/>
            <a:chOff x="107" y="237"/>
            <a:chExt cx="5495" cy="3859"/>
          </a:xfrm>
        </p:grpSpPr>
        <p:sp>
          <p:nvSpPr>
            <p:cNvPr id="47111" name="文本框 895103"/>
            <p:cNvSpPr txBox="1">
              <a:spLocks noChangeArrowheads="1"/>
            </p:cNvSpPr>
            <p:nvPr/>
          </p:nvSpPr>
          <p:spPr bwMode="auto">
            <a:xfrm>
              <a:off x="107" y="237"/>
              <a:ext cx="1211" cy="668"/>
            </a:xfrm>
            <a:prstGeom prst="rect">
              <a:avLst/>
            </a:prstGeom>
            <a:solidFill>
              <a:schemeClr val="accent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200" b="1" dirty="0">
                  <a:latin typeface="楷体" panose="02010609060101010101" pitchFamily="49" charset="-122"/>
                  <a:ea typeface="楷体" panose="02010609060101010101" pitchFamily="49" charset="-122"/>
                </a:rPr>
                <a:t>客观辩证法和主观辩证法的统一</a:t>
              </a:r>
              <a:endParaRPr lang="zh-CN" altLang="en-US" sz="2200" b="1" dirty="0">
                <a:latin typeface="楷体" panose="02010609060101010101" pitchFamily="49" charset="-122"/>
                <a:ea typeface="楷体" panose="02010609060101010101" pitchFamily="49" charset="-122"/>
              </a:endParaRPr>
            </a:p>
          </p:txBody>
        </p:sp>
        <p:sp>
          <p:nvSpPr>
            <p:cNvPr id="47112" name="右箭头 895104"/>
            <p:cNvSpPr>
              <a:spLocks noChangeArrowheads="1"/>
            </p:cNvSpPr>
            <p:nvPr/>
          </p:nvSpPr>
          <p:spPr bwMode="auto">
            <a:xfrm>
              <a:off x="556" y="1227"/>
              <a:ext cx="330" cy="181"/>
            </a:xfrm>
            <a:prstGeom prst="rightArrow">
              <a:avLst>
                <a:gd name="adj1" fmla="val 50000"/>
                <a:gd name="adj2" fmla="val 25000"/>
              </a:avLst>
            </a:prstGeom>
            <a:solidFill>
              <a:schemeClr val="accent1"/>
            </a:solidFill>
            <a:ln w="9525">
              <a:solidFill>
                <a:schemeClr val="tx1"/>
              </a:solidFill>
              <a:miter lim="800000"/>
            </a:ln>
          </p:spPr>
          <p:txBody>
            <a:bodyPr/>
            <a:lstStyle/>
            <a:p>
              <a:pPr algn="ctr"/>
              <a:endParaRPr lang="zh-CN" altLang="en-US"/>
            </a:p>
          </p:txBody>
        </p:sp>
        <p:sp>
          <p:nvSpPr>
            <p:cNvPr id="47113" name="椭圆 895105"/>
            <p:cNvSpPr>
              <a:spLocks noChangeArrowheads="1"/>
            </p:cNvSpPr>
            <p:nvPr/>
          </p:nvSpPr>
          <p:spPr bwMode="auto">
            <a:xfrm>
              <a:off x="975" y="1026"/>
              <a:ext cx="1088" cy="545"/>
            </a:xfrm>
            <a:prstGeom prst="ellipse">
              <a:avLst/>
            </a:prstGeom>
            <a:solidFill>
              <a:srgbClr val="99CC00"/>
            </a:solidFill>
            <a:ln w="9525">
              <a:solidFill>
                <a:schemeClr val="tx1"/>
              </a:solidFill>
              <a:round/>
            </a:ln>
          </p:spPr>
          <p:txBody>
            <a:bodyPr wrap="none" anchor="ctr"/>
            <a:lstStyle/>
            <a:p>
              <a:pPr algn="ctr"/>
              <a:r>
                <a:rPr lang="zh-CN" altLang="en-US" b="1" dirty="0">
                  <a:solidFill>
                    <a:srgbClr val="0000FF"/>
                  </a:solidFill>
                  <a:latin typeface="+mn-ea"/>
                </a:rPr>
                <a:t>辩证思维</a:t>
              </a:r>
              <a:endParaRPr lang="zh-CN" altLang="en-US" b="1" dirty="0">
                <a:solidFill>
                  <a:srgbClr val="0000FF"/>
                </a:solidFill>
                <a:latin typeface="+mn-ea"/>
              </a:endParaRPr>
            </a:p>
            <a:p>
              <a:pPr algn="ctr"/>
              <a:r>
                <a:rPr lang="zh-CN" altLang="en-US" b="1" dirty="0">
                  <a:solidFill>
                    <a:srgbClr val="0000FF"/>
                  </a:solidFill>
                  <a:latin typeface="+mn-ea"/>
                </a:rPr>
                <a:t>方  法</a:t>
              </a:r>
              <a:endParaRPr lang="zh-CN" altLang="en-US" b="1" dirty="0">
                <a:solidFill>
                  <a:srgbClr val="0000FF"/>
                </a:solidFill>
                <a:latin typeface="+mn-ea"/>
              </a:endParaRPr>
            </a:p>
          </p:txBody>
        </p:sp>
        <p:sp>
          <p:nvSpPr>
            <p:cNvPr id="47115" name="直接连接符 895107"/>
            <p:cNvSpPr>
              <a:spLocks noChangeShapeType="1"/>
            </p:cNvSpPr>
            <p:nvPr/>
          </p:nvSpPr>
          <p:spPr bwMode="auto">
            <a:xfrm flipV="1">
              <a:off x="2155" y="845"/>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6" name="文本框 895108"/>
            <p:cNvSpPr txBox="1">
              <a:spLocks noChangeArrowheads="1"/>
            </p:cNvSpPr>
            <p:nvPr/>
          </p:nvSpPr>
          <p:spPr bwMode="auto">
            <a:xfrm>
              <a:off x="2427" y="663"/>
              <a:ext cx="1088" cy="300"/>
            </a:xfrm>
            <a:prstGeom prst="rect">
              <a:avLst/>
            </a:prstGeom>
            <a:solidFill>
              <a:srgbClr val="CCFFFF"/>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a:solidFill>
                    <a:srgbClr val="FF0000"/>
                  </a:solidFill>
                  <a:latin typeface="楷体" panose="02010609060101010101" pitchFamily="49" charset="-122"/>
                  <a:ea typeface="楷体" panose="02010609060101010101" pitchFamily="49" charset="-122"/>
                </a:rPr>
                <a:t>归纳与演绎</a:t>
              </a:r>
              <a:endParaRPr lang="zh-CN" altLang="en-US" sz="2000" b="1">
                <a:solidFill>
                  <a:srgbClr val="FF0000"/>
                </a:solidFill>
                <a:latin typeface="楷体" panose="02010609060101010101" pitchFamily="49" charset="-122"/>
                <a:ea typeface="楷体" panose="02010609060101010101" pitchFamily="49" charset="-122"/>
              </a:endParaRPr>
            </a:p>
          </p:txBody>
        </p:sp>
        <p:sp>
          <p:nvSpPr>
            <p:cNvPr id="47117" name="直接连接符 895109"/>
            <p:cNvSpPr>
              <a:spLocks noChangeShapeType="1"/>
            </p:cNvSpPr>
            <p:nvPr/>
          </p:nvSpPr>
          <p:spPr bwMode="auto">
            <a:xfrm flipV="1">
              <a:off x="3515" y="799"/>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8" name="文本框 895110"/>
            <p:cNvSpPr txBox="1">
              <a:spLocks noChangeArrowheads="1"/>
            </p:cNvSpPr>
            <p:nvPr/>
          </p:nvSpPr>
          <p:spPr bwMode="auto">
            <a:xfrm>
              <a:off x="3786" y="663"/>
              <a:ext cx="1795" cy="264"/>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solidFill>
                    <a:srgbClr val="0000FF"/>
                  </a:solidFill>
                  <a:latin typeface="楷体" panose="02010609060101010101" pitchFamily="49" charset="-122"/>
                  <a:ea typeface="楷体" panose="02010609060101010101" pitchFamily="49" charset="-122"/>
                </a:rPr>
                <a:t>互为前提，相互补充 </a:t>
              </a:r>
              <a:endParaRPr lang="zh-CN" altLang="en-US" b="1" dirty="0">
                <a:solidFill>
                  <a:srgbClr val="0000FF"/>
                </a:solidFill>
                <a:latin typeface="楷体" panose="02010609060101010101" pitchFamily="49" charset="-122"/>
                <a:ea typeface="楷体" panose="02010609060101010101" pitchFamily="49" charset="-122"/>
              </a:endParaRPr>
            </a:p>
          </p:txBody>
        </p:sp>
        <p:sp>
          <p:nvSpPr>
            <p:cNvPr id="47119" name="直接连接符 895111"/>
            <p:cNvSpPr>
              <a:spLocks noChangeShapeType="1"/>
            </p:cNvSpPr>
            <p:nvPr/>
          </p:nvSpPr>
          <p:spPr bwMode="auto">
            <a:xfrm flipV="1">
              <a:off x="2155" y="1162"/>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0" name="文本框 895112"/>
            <p:cNvSpPr txBox="1">
              <a:spLocks noChangeArrowheads="1"/>
            </p:cNvSpPr>
            <p:nvPr/>
          </p:nvSpPr>
          <p:spPr bwMode="auto">
            <a:xfrm>
              <a:off x="2427" y="1026"/>
              <a:ext cx="1088" cy="251"/>
            </a:xfrm>
            <a:prstGeom prst="rect">
              <a:avLst/>
            </a:prstGeom>
            <a:solidFill>
              <a:srgbClr val="CCFFFF"/>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000" b="1">
                  <a:solidFill>
                    <a:srgbClr val="FF0000"/>
                  </a:solidFill>
                  <a:latin typeface="楷体" panose="02010609060101010101" pitchFamily="49" charset="-122"/>
                  <a:ea typeface="楷体" panose="02010609060101010101" pitchFamily="49" charset="-122"/>
                </a:rPr>
                <a:t>分析与综合</a:t>
              </a:r>
              <a:endParaRPr lang="zh-CN" altLang="en-US" sz="2000" b="1">
                <a:solidFill>
                  <a:srgbClr val="FF0000"/>
                </a:solidFill>
                <a:latin typeface="楷体" panose="02010609060101010101" pitchFamily="49" charset="-122"/>
                <a:ea typeface="楷体" panose="02010609060101010101" pitchFamily="49" charset="-122"/>
              </a:endParaRPr>
            </a:p>
          </p:txBody>
        </p:sp>
        <p:sp>
          <p:nvSpPr>
            <p:cNvPr id="47121" name="直接连接符 895113"/>
            <p:cNvSpPr>
              <a:spLocks noChangeShapeType="1"/>
            </p:cNvSpPr>
            <p:nvPr/>
          </p:nvSpPr>
          <p:spPr bwMode="auto">
            <a:xfrm flipV="1">
              <a:off x="3515" y="1480"/>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2" name="文本框 895114"/>
            <p:cNvSpPr txBox="1">
              <a:spLocks noChangeArrowheads="1"/>
            </p:cNvSpPr>
            <p:nvPr/>
          </p:nvSpPr>
          <p:spPr bwMode="auto">
            <a:xfrm>
              <a:off x="3786" y="1344"/>
              <a:ext cx="1795" cy="264"/>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solidFill>
                    <a:srgbClr val="0000FF"/>
                  </a:solidFill>
                  <a:latin typeface="楷体" panose="02010609060101010101" pitchFamily="49" charset="-122"/>
                  <a:ea typeface="楷体" panose="02010609060101010101" pitchFamily="49" charset="-122"/>
                </a:rPr>
                <a:t>从抽象上升到思维的具体</a:t>
              </a:r>
              <a:endParaRPr lang="zh-CN" altLang="en-US" b="1" dirty="0">
                <a:solidFill>
                  <a:srgbClr val="0000FF"/>
                </a:solidFill>
                <a:latin typeface="楷体" panose="02010609060101010101" pitchFamily="49" charset="-122"/>
                <a:ea typeface="楷体" panose="02010609060101010101" pitchFamily="49" charset="-122"/>
              </a:endParaRPr>
            </a:p>
          </p:txBody>
        </p:sp>
        <p:sp>
          <p:nvSpPr>
            <p:cNvPr id="47123" name="直接连接符 895115"/>
            <p:cNvSpPr>
              <a:spLocks noChangeShapeType="1"/>
            </p:cNvSpPr>
            <p:nvPr/>
          </p:nvSpPr>
          <p:spPr bwMode="auto">
            <a:xfrm flipV="1">
              <a:off x="2154" y="1842"/>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4" name="文本框 895116"/>
            <p:cNvSpPr txBox="1">
              <a:spLocks noChangeArrowheads="1"/>
            </p:cNvSpPr>
            <p:nvPr/>
          </p:nvSpPr>
          <p:spPr bwMode="auto">
            <a:xfrm>
              <a:off x="2427" y="1344"/>
              <a:ext cx="1088" cy="300"/>
            </a:xfrm>
            <a:prstGeom prst="rect">
              <a:avLst/>
            </a:prstGeom>
            <a:solidFill>
              <a:srgbClr val="CCFFFF"/>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抽象与具体</a:t>
              </a: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47125" name="直接连接符 895117"/>
            <p:cNvSpPr>
              <a:spLocks noChangeShapeType="1"/>
            </p:cNvSpPr>
            <p:nvPr/>
          </p:nvSpPr>
          <p:spPr bwMode="auto">
            <a:xfrm flipV="1">
              <a:off x="3515" y="1842"/>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6" name="文本框 895118"/>
            <p:cNvSpPr txBox="1">
              <a:spLocks noChangeArrowheads="1"/>
            </p:cNvSpPr>
            <p:nvPr/>
          </p:nvSpPr>
          <p:spPr bwMode="auto">
            <a:xfrm>
              <a:off x="3786" y="1706"/>
              <a:ext cx="1795" cy="264"/>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a:solidFill>
                    <a:srgbClr val="0000FF"/>
                  </a:solidFill>
                  <a:latin typeface="楷体" panose="02010609060101010101" pitchFamily="49" charset="-122"/>
                  <a:ea typeface="楷体" panose="02010609060101010101" pitchFamily="49" charset="-122"/>
                </a:rPr>
                <a:t>两种历史与两类逻辑</a:t>
              </a:r>
              <a:endParaRPr lang="zh-CN" altLang="en-US" b="1">
                <a:solidFill>
                  <a:srgbClr val="0000FF"/>
                </a:solidFill>
                <a:latin typeface="楷体" panose="02010609060101010101" pitchFamily="49" charset="-122"/>
                <a:ea typeface="楷体" panose="02010609060101010101" pitchFamily="49" charset="-122"/>
              </a:endParaRPr>
            </a:p>
          </p:txBody>
        </p:sp>
        <p:sp>
          <p:nvSpPr>
            <p:cNvPr id="47127" name="文本框 895119"/>
            <p:cNvSpPr txBox="1">
              <a:spLocks noChangeArrowheads="1"/>
            </p:cNvSpPr>
            <p:nvPr/>
          </p:nvSpPr>
          <p:spPr bwMode="auto">
            <a:xfrm>
              <a:off x="2427" y="1706"/>
              <a:ext cx="1088" cy="256"/>
            </a:xfrm>
            <a:prstGeom prst="rect">
              <a:avLst/>
            </a:prstGeom>
            <a:solidFill>
              <a:srgbClr val="CCFFFF"/>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逻辑与</a:t>
              </a:r>
              <a:r>
                <a:rPr lang="zh-CN" altLang="en-US" sz="2000" b="1" dirty="0" smtClean="0">
                  <a:solidFill>
                    <a:srgbClr val="FF0000"/>
                  </a:solidFill>
                  <a:latin typeface="楷体" panose="02010609060101010101" pitchFamily="49" charset="-122"/>
                  <a:ea typeface="楷体" panose="02010609060101010101" pitchFamily="49" charset="-122"/>
                </a:rPr>
                <a:t>历史</a:t>
              </a:r>
              <a:endParaRPr lang="zh-CN" altLang="en-US" sz="2000" b="1" dirty="0">
                <a:latin typeface="楷体" panose="02010609060101010101" pitchFamily="49" charset="-122"/>
                <a:ea typeface="楷体" panose="02010609060101010101" pitchFamily="49" charset="-122"/>
              </a:endParaRPr>
            </a:p>
          </p:txBody>
        </p:sp>
        <p:sp>
          <p:nvSpPr>
            <p:cNvPr id="47128" name="直接连接符 895120"/>
            <p:cNvSpPr>
              <a:spLocks noChangeShapeType="1"/>
            </p:cNvSpPr>
            <p:nvPr/>
          </p:nvSpPr>
          <p:spPr bwMode="auto">
            <a:xfrm>
              <a:off x="2155" y="1480"/>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9" name="文本框 895121"/>
            <p:cNvSpPr txBox="1">
              <a:spLocks noChangeArrowheads="1"/>
            </p:cNvSpPr>
            <p:nvPr/>
          </p:nvSpPr>
          <p:spPr bwMode="auto">
            <a:xfrm>
              <a:off x="3786" y="1026"/>
              <a:ext cx="1795" cy="264"/>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a:solidFill>
                    <a:srgbClr val="0000FF"/>
                  </a:solidFill>
                  <a:latin typeface="楷体" panose="02010609060101010101" pitchFamily="49" charset="-122"/>
                  <a:ea typeface="楷体" panose="02010609060101010101" pitchFamily="49" charset="-122"/>
                </a:rPr>
                <a:t>从部分到整体的思维</a:t>
              </a:r>
              <a:r>
                <a:rPr lang="zh-CN" altLang="en-US" b="1" dirty="0">
                  <a:solidFill>
                    <a:srgbClr val="0000FF"/>
                  </a:solidFill>
                  <a:latin typeface="楷体_GB2312" pitchFamily="1" charset="-122"/>
                  <a:ea typeface="楷体_GB2312" pitchFamily="1" charset="-122"/>
                </a:rPr>
                <a:t> </a:t>
              </a:r>
              <a:endParaRPr lang="zh-CN" altLang="en-US" b="1" dirty="0">
                <a:solidFill>
                  <a:srgbClr val="0000FF"/>
                </a:solidFill>
                <a:latin typeface="楷体_GB2312" pitchFamily="1" charset="-122"/>
                <a:ea typeface="楷体_GB2312" pitchFamily="1" charset="-122"/>
              </a:endParaRPr>
            </a:p>
          </p:txBody>
        </p:sp>
        <p:sp>
          <p:nvSpPr>
            <p:cNvPr id="47130" name="直接连接符 895122"/>
            <p:cNvSpPr>
              <a:spLocks noChangeShapeType="1"/>
            </p:cNvSpPr>
            <p:nvPr/>
          </p:nvSpPr>
          <p:spPr bwMode="auto">
            <a:xfrm flipV="1">
              <a:off x="3515" y="1162"/>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1" name="直接连接符 895123"/>
            <p:cNvSpPr>
              <a:spLocks noChangeShapeType="1"/>
            </p:cNvSpPr>
            <p:nvPr/>
          </p:nvSpPr>
          <p:spPr bwMode="auto">
            <a:xfrm flipH="1">
              <a:off x="2154" y="845"/>
              <a:ext cx="1" cy="99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2" name="直接连接符 895124"/>
            <p:cNvSpPr>
              <a:spLocks noChangeShapeType="1"/>
            </p:cNvSpPr>
            <p:nvPr/>
          </p:nvSpPr>
          <p:spPr bwMode="auto">
            <a:xfrm flipH="1" flipV="1">
              <a:off x="2064" y="1298"/>
              <a:ext cx="9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3" name="文本框 895125"/>
            <p:cNvSpPr txBox="1">
              <a:spLocks noChangeArrowheads="1"/>
            </p:cNvSpPr>
            <p:nvPr/>
          </p:nvSpPr>
          <p:spPr bwMode="auto">
            <a:xfrm>
              <a:off x="107" y="969"/>
              <a:ext cx="358" cy="2712"/>
            </a:xfrm>
            <a:prstGeom prst="rect">
              <a:avLst/>
            </a:prstGeom>
            <a:solidFill>
              <a:srgbClr val="CCFFFF"/>
            </a:solidFill>
            <a:ln w="9525">
              <a:solidFill>
                <a:schemeClr val="tx1"/>
              </a:solidFill>
              <a:miter lim="800000"/>
            </a:ln>
          </p:spPr>
          <p:txBody>
            <a:bodyPr vert="eaVert"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smtClean="0">
                  <a:solidFill>
                    <a:srgbClr val="FF0000"/>
                  </a:solidFill>
                  <a:latin typeface="楷体" panose="02010609060101010101" pitchFamily="49" charset="-122"/>
                  <a:ea typeface="楷体" panose="02010609060101010101" pitchFamily="49" charset="-122"/>
                </a:rPr>
                <a:t>根本</a:t>
              </a:r>
              <a:r>
                <a:rPr lang="zh-CN" altLang="en-US" sz="2000" b="1" dirty="0" smtClean="0">
                  <a:solidFill>
                    <a:srgbClr val="FF0000"/>
                  </a:solidFill>
                  <a:latin typeface="楷体" panose="02010609060101010101" pitchFamily="49" charset="-122"/>
                  <a:ea typeface="楷体" panose="02010609060101010101" pitchFamily="49" charset="-122"/>
                </a:rPr>
                <a:t>的认识</a:t>
              </a:r>
              <a:r>
                <a:rPr lang="zh-CN" altLang="en-US" sz="2000" b="1" dirty="0" smtClean="0">
                  <a:solidFill>
                    <a:srgbClr val="FF0000"/>
                  </a:solidFill>
                  <a:latin typeface="楷体" panose="02010609060101010101" pitchFamily="49" charset="-122"/>
                  <a:ea typeface="楷体" panose="02010609060101010101" pitchFamily="49" charset="-122"/>
                </a:rPr>
                <a:t>方法</a:t>
              </a:r>
              <a:r>
                <a:rPr lang="en-US" altLang="zh-CN" sz="2000" b="1" dirty="0" smtClean="0">
                  <a:solidFill>
                    <a:srgbClr val="FF0000"/>
                  </a:solidFill>
                  <a:latin typeface="楷体" panose="02010609060101010101" pitchFamily="49" charset="-122"/>
                  <a:ea typeface="楷体" panose="02010609060101010101" pitchFamily="49" charset="-122"/>
                </a:rPr>
                <a:t>—</a:t>
              </a:r>
              <a:r>
                <a:rPr lang="zh-CN" altLang="en-US" sz="2000" b="1" dirty="0">
                  <a:solidFill>
                    <a:srgbClr val="FF0000"/>
                  </a:solidFill>
                  <a:latin typeface="楷体" panose="02010609060101010101" pitchFamily="49" charset="-122"/>
                  <a:ea typeface="楷体" panose="02010609060101010101" pitchFamily="49" charset="-122"/>
                </a:rPr>
                <a:t>唯物辩证法</a:t>
              </a:r>
              <a:endParaRPr lang="zh-CN" altLang="en-US" sz="1400" b="1" dirty="0">
                <a:latin typeface="楷体" panose="02010609060101010101" pitchFamily="49" charset="-122"/>
                <a:ea typeface="楷体" panose="02010609060101010101" pitchFamily="49" charset="-122"/>
              </a:endParaRPr>
            </a:p>
          </p:txBody>
        </p:sp>
        <p:sp>
          <p:nvSpPr>
            <p:cNvPr id="47135" name="椭圆 895127"/>
            <p:cNvSpPr>
              <a:spLocks noChangeArrowheads="1"/>
            </p:cNvSpPr>
            <p:nvPr/>
          </p:nvSpPr>
          <p:spPr bwMode="auto">
            <a:xfrm>
              <a:off x="959" y="3121"/>
              <a:ext cx="1088" cy="545"/>
            </a:xfrm>
            <a:prstGeom prst="ellipse">
              <a:avLst/>
            </a:prstGeom>
            <a:solidFill>
              <a:srgbClr val="99CC00"/>
            </a:solidFill>
            <a:ln w="9525">
              <a:solidFill>
                <a:schemeClr val="tx1"/>
              </a:solidFill>
              <a:round/>
            </a:ln>
          </p:spPr>
          <p:txBody>
            <a:bodyPr wrap="none" anchor="ctr"/>
            <a:lstStyle/>
            <a:p>
              <a:pPr algn="ctr"/>
              <a:r>
                <a:rPr lang="zh-CN" altLang="en-US" b="1" dirty="0" smtClean="0">
                  <a:solidFill>
                    <a:srgbClr val="0000FF"/>
                  </a:solidFill>
                  <a:latin typeface="幼圆" pitchFamily="49" charset="-122"/>
                  <a:ea typeface="幼圆" pitchFamily="49" charset="-122"/>
                </a:rPr>
                <a:t>六大思维</a:t>
              </a:r>
              <a:r>
                <a:rPr lang="zh-CN" altLang="en-US" b="1" dirty="0">
                  <a:solidFill>
                    <a:srgbClr val="0000FF"/>
                  </a:solidFill>
                  <a:latin typeface="幼圆" pitchFamily="49" charset="-122"/>
                  <a:ea typeface="幼圆" pitchFamily="49" charset="-122"/>
                </a:rPr>
                <a:t>能力</a:t>
              </a:r>
              <a:endParaRPr lang="zh-CN" altLang="en-US" b="1" dirty="0">
                <a:solidFill>
                  <a:srgbClr val="0000FF"/>
                </a:solidFill>
              </a:endParaRPr>
            </a:p>
            <a:p>
              <a:pPr algn="ctr"/>
              <a:endParaRPr lang="zh-CN" altLang="en-US" b="1" dirty="0">
                <a:solidFill>
                  <a:srgbClr val="0000FF"/>
                </a:solidFill>
              </a:endParaRPr>
            </a:p>
          </p:txBody>
        </p:sp>
        <p:sp>
          <p:nvSpPr>
            <p:cNvPr id="47136" name="右箭头 895128"/>
            <p:cNvSpPr>
              <a:spLocks noChangeArrowheads="1"/>
            </p:cNvSpPr>
            <p:nvPr/>
          </p:nvSpPr>
          <p:spPr bwMode="auto">
            <a:xfrm>
              <a:off x="556" y="3293"/>
              <a:ext cx="330" cy="181"/>
            </a:xfrm>
            <a:prstGeom prst="rightArrow">
              <a:avLst>
                <a:gd name="adj1" fmla="val 50000"/>
                <a:gd name="adj2" fmla="val 25000"/>
              </a:avLst>
            </a:prstGeom>
            <a:solidFill>
              <a:schemeClr val="accent1"/>
            </a:solidFill>
            <a:ln w="9525">
              <a:solidFill>
                <a:schemeClr val="tx1"/>
              </a:solidFill>
              <a:miter lim="800000"/>
            </a:ln>
          </p:spPr>
          <p:txBody>
            <a:bodyPr/>
            <a:lstStyle/>
            <a:p>
              <a:pPr algn="ctr"/>
              <a:endParaRPr lang="zh-CN" altLang="en-US"/>
            </a:p>
          </p:txBody>
        </p:sp>
        <p:sp>
          <p:nvSpPr>
            <p:cNvPr id="47137" name="直接连接符 895129"/>
            <p:cNvSpPr>
              <a:spLocks noChangeShapeType="1"/>
            </p:cNvSpPr>
            <p:nvPr/>
          </p:nvSpPr>
          <p:spPr bwMode="auto">
            <a:xfrm flipV="1">
              <a:off x="2171" y="2776"/>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8" name="文本框 895130"/>
            <p:cNvSpPr txBox="1">
              <a:spLocks noChangeArrowheads="1"/>
            </p:cNvSpPr>
            <p:nvPr/>
          </p:nvSpPr>
          <p:spPr bwMode="auto">
            <a:xfrm>
              <a:off x="2440" y="2690"/>
              <a:ext cx="1088" cy="287"/>
            </a:xfrm>
            <a:prstGeom prst="rect">
              <a:avLst/>
            </a:prstGeom>
            <a:solidFill>
              <a:srgbClr val="CCFFFF"/>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历史思维能力</a:t>
              </a: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47139" name="直接连接符 895131"/>
            <p:cNvSpPr>
              <a:spLocks noChangeShapeType="1"/>
            </p:cNvSpPr>
            <p:nvPr/>
          </p:nvSpPr>
          <p:spPr bwMode="auto">
            <a:xfrm flipV="1">
              <a:off x="3517" y="2819"/>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0" name="文本框 895132"/>
            <p:cNvSpPr txBox="1">
              <a:spLocks noChangeArrowheads="1"/>
            </p:cNvSpPr>
            <p:nvPr/>
          </p:nvSpPr>
          <p:spPr bwMode="auto">
            <a:xfrm>
              <a:off x="3786" y="2690"/>
              <a:ext cx="1815" cy="264"/>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a:solidFill>
                    <a:srgbClr val="0000FF"/>
                  </a:solidFill>
                  <a:latin typeface="楷体" panose="02010609060101010101" pitchFamily="49" charset="-122"/>
                  <a:ea typeface="楷体" panose="02010609060101010101" pitchFamily="49" charset="-122"/>
                </a:rPr>
                <a:t>以史为鉴，知古鉴今</a:t>
              </a:r>
              <a:r>
                <a:rPr lang="zh-CN" altLang="en-US" b="1">
                  <a:solidFill>
                    <a:srgbClr val="0000FF"/>
                  </a:solidFill>
                  <a:latin typeface="楷体_GB2312" pitchFamily="1" charset="-122"/>
                  <a:ea typeface="楷体_GB2312" pitchFamily="1" charset="-122"/>
                </a:rPr>
                <a:t> </a:t>
              </a:r>
              <a:endParaRPr lang="zh-CN" altLang="en-US" b="1">
                <a:solidFill>
                  <a:srgbClr val="0000FF"/>
                </a:solidFill>
                <a:latin typeface="楷体_GB2312" pitchFamily="1" charset="-122"/>
                <a:ea typeface="楷体_GB2312" pitchFamily="1" charset="-122"/>
              </a:endParaRPr>
            </a:p>
          </p:txBody>
        </p:sp>
        <p:sp>
          <p:nvSpPr>
            <p:cNvPr id="47141" name="直接连接符 895133"/>
            <p:cNvSpPr>
              <a:spLocks noChangeShapeType="1"/>
            </p:cNvSpPr>
            <p:nvPr/>
          </p:nvSpPr>
          <p:spPr bwMode="auto">
            <a:xfrm flipV="1">
              <a:off x="2171" y="3379"/>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2" name="文本框 895134"/>
            <p:cNvSpPr txBox="1">
              <a:spLocks noChangeArrowheads="1"/>
            </p:cNvSpPr>
            <p:nvPr/>
          </p:nvSpPr>
          <p:spPr bwMode="auto">
            <a:xfrm>
              <a:off x="2440" y="3250"/>
              <a:ext cx="1088" cy="241"/>
            </a:xfrm>
            <a:prstGeom prst="rect">
              <a:avLst/>
            </a:prstGeom>
            <a:solidFill>
              <a:srgbClr val="CCFFFF"/>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000" b="1" dirty="0" smtClean="0">
                  <a:solidFill>
                    <a:srgbClr val="FF0000"/>
                  </a:solidFill>
                  <a:latin typeface="楷体" panose="02010609060101010101" pitchFamily="49" charset="-122"/>
                  <a:ea typeface="楷体" panose="02010609060101010101" pitchFamily="49" charset="-122"/>
                </a:rPr>
                <a:t>战略思维</a:t>
              </a:r>
              <a:r>
                <a:rPr lang="zh-CN" altLang="en-US" sz="2000" b="1" dirty="0">
                  <a:solidFill>
                    <a:srgbClr val="FF0000"/>
                  </a:solidFill>
                  <a:latin typeface="楷体" panose="02010609060101010101" pitchFamily="49" charset="-122"/>
                  <a:ea typeface="楷体" panose="02010609060101010101" pitchFamily="49" charset="-122"/>
                </a:rPr>
                <a:t>能力</a:t>
              </a: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47143" name="直接连接符 895135"/>
            <p:cNvSpPr>
              <a:spLocks noChangeShapeType="1"/>
            </p:cNvSpPr>
            <p:nvPr/>
          </p:nvSpPr>
          <p:spPr bwMode="auto">
            <a:xfrm flipV="1">
              <a:off x="3517" y="3680"/>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4" name="文本框 895136"/>
            <p:cNvSpPr txBox="1">
              <a:spLocks noChangeArrowheads="1"/>
            </p:cNvSpPr>
            <p:nvPr/>
          </p:nvSpPr>
          <p:spPr bwMode="auto">
            <a:xfrm>
              <a:off x="3786" y="3594"/>
              <a:ext cx="1815" cy="236"/>
            </a:xfrm>
            <a:prstGeom prst="rect">
              <a:avLst/>
            </a:prstGeom>
            <a:solidFill>
              <a:srgbClr val="FFCC99"/>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solidFill>
                    <a:srgbClr val="0000FF"/>
                  </a:solidFill>
                  <a:latin typeface="楷体" panose="02010609060101010101" pitchFamily="49" charset="-122"/>
                  <a:ea typeface="楷体" panose="02010609060101010101" pitchFamily="49" charset="-122"/>
                </a:rPr>
                <a:t>见微知著，未雨绸缪</a:t>
              </a:r>
              <a:endParaRPr lang="zh-CN" altLang="en-US" b="1" dirty="0">
                <a:solidFill>
                  <a:srgbClr val="0000FF"/>
                </a:solidFill>
                <a:latin typeface="楷体" panose="02010609060101010101" pitchFamily="49" charset="-122"/>
                <a:ea typeface="楷体" panose="02010609060101010101" pitchFamily="49" charset="-122"/>
              </a:endParaRPr>
            </a:p>
          </p:txBody>
        </p:sp>
        <p:sp>
          <p:nvSpPr>
            <p:cNvPr id="47145" name="直接连接符 895137"/>
            <p:cNvSpPr>
              <a:spLocks noChangeShapeType="1"/>
            </p:cNvSpPr>
            <p:nvPr/>
          </p:nvSpPr>
          <p:spPr bwMode="auto">
            <a:xfrm flipV="1">
              <a:off x="2154" y="3929"/>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6" name="文本框 895138"/>
            <p:cNvSpPr txBox="1">
              <a:spLocks noChangeArrowheads="1"/>
            </p:cNvSpPr>
            <p:nvPr/>
          </p:nvSpPr>
          <p:spPr bwMode="auto">
            <a:xfrm>
              <a:off x="2440" y="3508"/>
              <a:ext cx="1088" cy="287"/>
            </a:xfrm>
            <a:prstGeom prst="rect">
              <a:avLst/>
            </a:prstGeom>
            <a:solidFill>
              <a:srgbClr val="CCFFFF"/>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smtClean="0">
                  <a:solidFill>
                    <a:srgbClr val="FF0000"/>
                  </a:solidFill>
                  <a:latin typeface="楷体" panose="02010609060101010101" pitchFamily="49" charset="-122"/>
                  <a:ea typeface="楷体" panose="02010609060101010101" pitchFamily="49" charset="-122"/>
                </a:rPr>
                <a:t>底线思维</a:t>
              </a:r>
              <a:r>
                <a:rPr lang="zh-CN" altLang="en-US" sz="2000" b="1" dirty="0">
                  <a:solidFill>
                    <a:srgbClr val="FF0000"/>
                  </a:solidFill>
                  <a:latin typeface="楷体" panose="02010609060101010101" pitchFamily="49" charset="-122"/>
                  <a:ea typeface="楷体" panose="02010609060101010101" pitchFamily="49" charset="-122"/>
                </a:rPr>
                <a:t>能力</a:t>
              </a: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47147" name="直接连接符 895139"/>
            <p:cNvSpPr>
              <a:spLocks noChangeShapeType="1"/>
            </p:cNvSpPr>
            <p:nvPr/>
          </p:nvSpPr>
          <p:spPr bwMode="auto">
            <a:xfrm flipV="1">
              <a:off x="3515" y="3929"/>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8" name="文本框 895140"/>
            <p:cNvSpPr txBox="1">
              <a:spLocks noChangeArrowheads="1"/>
            </p:cNvSpPr>
            <p:nvPr/>
          </p:nvSpPr>
          <p:spPr bwMode="auto">
            <a:xfrm>
              <a:off x="3786" y="3852"/>
              <a:ext cx="1815" cy="236"/>
            </a:xfrm>
            <a:prstGeom prst="rect">
              <a:avLst/>
            </a:prstGeom>
            <a:solidFill>
              <a:srgbClr val="FFCC99"/>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solidFill>
                    <a:srgbClr val="0000FF"/>
                  </a:solidFill>
                  <a:latin typeface="楷体" panose="02010609060101010101" pitchFamily="49" charset="-122"/>
                  <a:ea typeface="楷体" panose="02010609060101010101" pitchFamily="49" charset="-122"/>
                </a:rPr>
                <a:t>因时制宜，知难而进</a:t>
              </a:r>
              <a:endParaRPr lang="zh-CN" altLang="en-US" b="1" dirty="0">
                <a:solidFill>
                  <a:srgbClr val="0000FF"/>
                </a:solidFill>
                <a:latin typeface="楷体" panose="02010609060101010101" pitchFamily="49" charset="-122"/>
                <a:ea typeface="楷体" panose="02010609060101010101" pitchFamily="49" charset="-122"/>
              </a:endParaRPr>
            </a:p>
          </p:txBody>
        </p:sp>
        <p:sp>
          <p:nvSpPr>
            <p:cNvPr id="47149" name="文本框 895141"/>
            <p:cNvSpPr txBox="1">
              <a:spLocks noChangeArrowheads="1"/>
            </p:cNvSpPr>
            <p:nvPr/>
          </p:nvSpPr>
          <p:spPr bwMode="auto">
            <a:xfrm>
              <a:off x="2440" y="3809"/>
              <a:ext cx="1088" cy="287"/>
            </a:xfrm>
            <a:prstGeom prst="rect">
              <a:avLst/>
            </a:prstGeom>
            <a:solidFill>
              <a:srgbClr val="CCFFFF"/>
            </a:solidFill>
            <a:ln w="9525">
              <a:solidFill>
                <a:schemeClr val="tx1"/>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smtClean="0">
                  <a:solidFill>
                    <a:srgbClr val="FF0000"/>
                  </a:solidFill>
                  <a:latin typeface="楷体" panose="02010609060101010101" pitchFamily="49" charset="-122"/>
                  <a:ea typeface="楷体" panose="02010609060101010101" pitchFamily="49" charset="-122"/>
                </a:rPr>
                <a:t>创新思维</a:t>
              </a:r>
              <a:r>
                <a:rPr lang="zh-CN" altLang="en-US" sz="2000" b="1" dirty="0">
                  <a:solidFill>
                    <a:srgbClr val="FF0000"/>
                  </a:solidFill>
                  <a:latin typeface="楷体" panose="02010609060101010101" pitchFamily="49" charset="-122"/>
                  <a:ea typeface="楷体" panose="02010609060101010101" pitchFamily="49" charset="-122"/>
                </a:rPr>
                <a:t>能力</a:t>
              </a:r>
              <a:endParaRPr lang="zh-CN" altLang="en-US" sz="1400" b="1" dirty="0">
                <a:latin typeface="楷体" panose="02010609060101010101" pitchFamily="49" charset="-122"/>
                <a:ea typeface="楷体" panose="02010609060101010101" pitchFamily="49" charset="-122"/>
              </a:endParaRPr>
            </a:p>
          </p:txBody>
        </p:sp>
        <p:sp>
          <p:nvSpPr>
            <p:cNvPr id="47150" name="直接连接符 895142"/>
            <p:cNvSpPr>
              <a:spLocks noChangeShapeType="1"/>
            </p:cNvSpPr>
            <p:nvPr/>
          </p:nvSpPr>
          <p:spPr bwMode="auto">
            <a:xfrm>
              <a:off x="2171" y="3680"/>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1" name="文本框 895143"/>
            <p:cNvSpPr txBox="1">
              <a:spLocks noChangeArrowheads="1"/>
            </p:cNvSpPr>
            <p:nvPr/>
          </p:nvSpPr>
          <p:spPr bwMode="auto">
            <a:xfrm>
              <a:off x="3786" y="3293"/>
              <a:ext cx="1815" cy="264"/>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solidFill>
                    <a:srgbClr val="0000FF"/>
                  </a:solidFill>
                  <a:latin typeface="楷体" panose="02010609060101010101" pitchFamily="49" charset="-122"/>
                  <a:ea typeface="楷体" panose="02010609060101010101" pitchFamily="49" charset="-122"/>
                </a:rPr>
                <a:t>高瞻远瞩，统揽全局</a:t>
              </a:r>
              <a:endParaRPr lang="zh-CN" altLang="en-US" b="1" dirty="0">
                <a:solidFill>
                  <a:srgbClr val="0000FF"/>
                </a:solidFill>
                <a:latin typeface="楷体_GB2312" pitchFamily="1" charset="-122"/>
                <a:ea typeface="楷体_GB2312" pitchFamily="1" charset="-122"/>
              </a:endParaRPr>
            </a:p>
          </p:txBody>
        </p:sp>
        <p:sp>
          <p:nvSpPr>
            <p:cNvPr id="47152" name="直接连接符 895144"/>
            <p:cNvSpPr>
              <a:spLocks noChangeShapeType="1"/>
            </p:cNvSpPr>
            <p:nvPr/>
          </p:nvSpPr>
          <p:spPr bwMode="auto">
            <a:xfrm flipV="1">
              <a:off x="3517" y="3379"/>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3" name="直接连接符 895145"/>
            <p:cNvSpPr>
              <a:spLocks noChangeShapeType="1"/>
            </p:cNvSpPr>
            <p:nvPr/>
          </p:nvSpPr>
          <p:spPr bwMode="auto">
            <a:xfrm flipH="1">
              <a:off x="2154" y="2523"/>
              <a:ext cx="0" cy="140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4" name="直接连接符 895146"/>
            <p:cNvSpPr>
              <a:spLocks noChangeShapeType="1"/>
            </p:cNvSpPr>
            <p:nvPr/>
          </p:nvSpPr>
          <p:spPr bwMode="auto">
            <a:xfrm flipH="1" flipV="1">
              <a:off x="2064" y="3368"/>
              <a:ext cx="9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6" name="文本框 895148"/>
            <p:cNvSpPr txBox="1">
              <a:spLocks noChangeArrowheads="1"/>
            </p:cNvSpPr>
            <p:nvPr/>
          </p:nvSpPr>
          <p:spPr bwMode="auto">
            <a:xfrm>
              <a:off x="2440" y="2389"/>
              <a:ext cx="1088" cy="287"/>
            </a:xfrm>
            <a:prstGeom prst="rect">
              <a:avLst/>
            </a:prstGeom>
            <a:solidFill>
              <a:srgbClr val="CCFFFF"/>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sz="2000" b="1" dirty="0" smtClean="0">
                  <a:solidFill>
                    <a:srgbClr val="FF0000"/>
                  </a:solidFill>
                  <a:latin typeface="楷体" panose="02010609060101010101" pitchFamily="49" charset="-122"/>
                  <a:ea typeface="楷体" panose="02010609060101010101" pitchFamily="49" charset="-122"/>
                </a:rPr>
                <a:t>辩证思维</a:t>
              </a:r>
              <a:r>
                <a:rPr lang="zh-CN" altLang="en-US" sz="2000" b="1" dirty="0">
                  <a:solidFill>
                    <a:srgbClr val="FF0000"/>
                  </a:solidFill>
                  <a:latin typeface="楷体" panose="02010609060101010101" pitchFamily="49" charset="-122"/>
                  <a:ea typeface="楷体" panose="02010609060101010101" pitchFamily="49" charset="-122"/>
                </a:rPr>
                <a:t>能力</a:t>
              </a:r>
              <a:endParaRPr lang="zh-CN" altLang="en-US" sz="1400" b="1" dirty="0">
                <a:latin typeface="楷体" panose="02010609060101010101" pitchFamily="49" charset="-122"/>
                <a:ea typeface="楷体" panose="02010609060101010101" pitchFamily="49" charset="-122"/>
              </a:endParaRPr>
            </a:p>
          </p:txBody>
        </p:sp>
        <p:sp>
          <p:nvSpPr>
            <p:cNvPr id="47157" name="直接连接符 895149"/>
            <p:cNvSpPr>
              <a:spLocks noChangeShapeType="1"/>
            </p:cNvSpPr>
            <p:nvPr/>
          </p:nvSpPr>
          <p:spPr bwMode="auto">
            <a:xfrm flipV="1">
              <a:off x="2154" y="2523"/>
              <a:ext cx="27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8" name="文本框 895150"/>
            <p:cNvSpPr txBox="1">
              <a:spLocks noChangeArrowheads="1"/>
            </p:cNvSpPr>
            <p:nvPr/>
          </p:nvSpPr>
          <p:spPr bwMode="auto">
            <a:xfrm>
              <a:off x="3786" y="2387"/>
              <a:ext cx="1816" cy="264"/>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solidFill>
                    <a:srgbClr val="0000FF"/>
                  </a:solidFill>
                  <a:latin typeface="楷体" panose="02010609060101010101" pitchFamily="49" charset="-122"/>
                  <a:ea typeface="楷体" panose="02010609060101010101" pitchFamily="49" charset="-122"/>
                </a:rPr>
                <a:t>承认、分析、解决矛盾</a:t>
              </a:r>
              <a:r>
                <a:rPr lang="zh-CN" altLang="en-US" b="1" dirty="0" smtClean="0">
                  <a:solidFill>
                    <a:srgbClr val="0000FF"/>
                  </a:solidFill>
                  <a:latin typeface="楷体_GB2312" pitchFamily="1" charset="-122"/>
                  <a:ea typeface="楷体_GB2312" pitchFamily="1" charset="-122"/>
                </a:rPr>
                <a:t> </a:t>
              </a:r>
              <a:endParaRPr lang="zh-CN" altLang="en-US" b="1" dirty="0" smtClean="0">
                <a:solidFill>
                  <a:srgbClr val="0000FF"/>
                </a:solidFill>
                <a:latin typeface="楷体_GB2312" pitchFamily="1" charset="-122"/>
                <a:ea typeface="楷体_GB2312" pitchFamily="1" charset="-122"/>
              </a:endParaRPr>
            </a:p>
          </p:txBody>
        </p:sp>
        <p:sp>
          <p:nvSpPr>
            <p:cNvPr id="47159" name="直接连接符 895151"/>
            <p:cNvSpPr>
              <a:spLocks noChangeShapeType="1"/>
            </p:cNvSpPr>
            <p:nvPr/>
          </p:nvSpPr>
          <p:spPr bwMode="auto">
            <a:xfrm flipV="1">
              <a:off x="3515" y="2523"/>
              <a:ext cx="2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5" name="文本框 895134"/>
          <p:cNvSpPr txBox="1">
            <a:spLocks noChangeArrowheads="1"/>
          </p:cNvSpPr>
          <p:nvPr/>
        </p:nvSpPr>
        <p:spPr bwMode="auto">
          <a:xfrm>
            <a:off x="4000496" y="4857760"/>
            <a:ext cx="1732478" cy="400110"/>
          </a:xfrm>
          <a:prstGeom prst="rect">
            <a:avLst/>
          </a:prstGeom>
          <a:solidFill>
            <a:srgbClr val="CCFFFF"/>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000" b="1" dirty="0" smtClean="0">
                <a:solidFill>
                  <a:srgbClr val="FF0000"/>
                </a:solidFill>
                <a:latin typeface="楷体" panose="02010609060101010101" pitchFamily="49" charset="-122"/>
                <a:ea typeface="楷体" panose="02010609060101010101" pitchFamily="49" charset="-122"/>
              </a:rPr>
              <a:t>系统思维</a:t>
            </a:r>
            <a:r>
              <a:rPr lang="zh-CN" altLang="en-US" sz="2000" b="1" dirty="0">
                <a:solidFill>
                  <a:srgbClr val="FF0000"/>
                </a:solidFill>
                <a:latin typeface="楷体" panose="02010609060101010101" pitchFamily="49" charset="-122"/>
                <a:ea typeface="楷体" panose="02010609060101010101" pitchFamily="49" charset="-122"/>
              </a:rPr>
              <a:t>能力</a:t>
            </a: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56" name="直接连接符 895129"/>
          <p:cNvSpPr>
            <a:spLocks noChangeShapeType="1"/>
          </p:cNvSpPr>
          <p:nvPr/>
        </p:nvSpPr>
        <p:spPr bwMode="auto">
          <a:xfrm flipV="1">
            <a:off x="3571868" y="5000636"/>
            <a:ext cx="43312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直接连接符 895131"/>
          <p:cNvSpPr>
            <a:spLocks noChangeShapeType="1"/>
          </p:cNvSpPr>
          <p:nvPr/>
        </p:nvSpPr>
        <p:spPr bwMode="auto">
          <a:xfrm flipV="1">
            <a:off x="5715008" y="5072074"/>
            <a:ext cx="3980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文本框 895132"/>
          <p:cNvSpPr txBox="1">
            <a:spLocks noChangeArrowheads="1"/>
          </p:cNvSpPr>
          <p:nvPr/>
        </p:nvSpPr>
        <p:spPr bwMode="auto">
          <a:xfrm>
            <a:off x="6143636" y="4857760"/>
            <a:ext cx="2890335" cy="437515"/>
          </a:xfrm>
          <a:prstGeom prst="rect">
            <a:avLst/>
          </a:prstGeom>
          <a:solidFill>
            <a:srgbClr val="FFCC99"/>
          </a:solidFill>
          <a:ln w="9525">
            <a:solidFill>
              <a:schemeClr val="tx1"/>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5000"/>
              </a:lnSpc>
            </a:pPr>
            <a:r>
              <a:rPr lang="zh-CN" altLang="en-US" b="1" dirty="0" smtClean="0">
                <a:solidFill>
                  <a:srgbClr val="0000FF"/>
                </a:solidFill>
                <a:latin typeface="楷体" panose="02010609060101010101" pitchFamily="49" charset="-122"/>
                <a:ea typeface="楷体" panose="02010609060101010101" pitchFamily="49" charset="-122"/>
              </a:rPr>
              <a:t>整体规划，协同发展</a:t>
            </a:r>
            <a:r>
              <a:rPr lang="zh-CN" altLang="en-US" b="1" dirty="0" smtClean="0">
                <a:solidFill>
                  <a:srgbClr val="0000FF"/>
                </a:solidFill>
                <a:latin typeface="楷体_GB2312" pitchFamily="1" charset="-122"/>
                <a:ea typeface="楷体_GB2312" pitchFamily="1" charset="-122"/>
              </a:rPr>
              <a:t> </a:t>
            </a:r>
            <a:endParaRPr lang="zh-CN" altLang="en-US" b="1" dirty="0">
              <a:solidFill>
                <a:srgbClr val="0000FF"/>
              </a:solidFill>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MH" val="20161022204303"/>
  <p:tag name="MH_LIBRARY" val="GRAPHIC"/>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5106cc2a-adfb-49f4-96f6-e021b92fa791"/>
  <p:tag name="COMMONDATA" val="eyJoZGlkIjoiY2Q3ZmQ4NmNjOTNhM2YzOTQ2M2Y1ZTdjYTllZWQ0OTIifQ=="/>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11172</Words>
  <Application>WPS 演示</Application>
  <PresentationFormat>全屏显示(4:3)</PresentationFormat>
  <Paragraphs>871</Paragraphs>
  <Slides>62</Slides>
  <Notes>1</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62</vt:i4>
      </vt:variant>
    </vt:vector>
  </HeadingPairs>
  <TitlesOfParts>
    <vt:vector size="90" baseType="lpstr">
      <vt:lpstr>Arial</vt:lpstr>
      <vt:lpstr>宋体</vt:lpstr>
      <vt:lpstr>Wingdings</vt:lpstr>
      <vt:lpstr>楷体</vt:lpstr>
      <vt:lpstr>微软雅黑</vt:lpstr>
      <vt:lpstr>华文新魏</vt:lpstr>
      <vt:lpstr>Verdana</vt:lpstr>
      <vt:lpstr>Times New Roman</vt:lpstr>
      <vt:lpstr>幼圆</vt:lpstr>
      <vt:lpstr>华文隶书</vt:lpstr>
      <vt:lpstr>黑体</vt:lpstr>
      <vt:lpstr>华光楷体_CNKI</vt:lpstr>
      <vt:lpstr>楷体_GB2312</vt:lpstr>
      <vt:lpstr>新宋体</vt:lpstr>
      <vt:lpstr>楷体_GB2312</vt:lpstr>
      <vt:lpstr>Verdana</vt:lpstr>
      <vt:lpstr>Arial Unicode MS</vt:lpstr>
      <vt:lpstr>Calibri</vt:lpstr>
      <vt:lpstr>华文行楷</vt:lpstr>
      <vt:lpstr>华文隶书</vt:lpstr>
      <vt:lpstr>PingFang SC</vt:lpstr>
      <vt:lpstr>Segoe Print</vt:lpstr>
      <vt:lpstr>华文楷体</vt:lpstr>
      <vt:lpstr>隶书</vt:lpstr>
      <vt:lpstr>华文琥珀</vt:lpstr>
      <vt:lpstr>幼圆</vt:lpstr>
      <vt:lpstr>Helvetica</vt:lpstr>
      <vt:lpstr>主题1</vt:lpstr>
      <vt:lpstr>PowerPoint 演示文稿</vt:lpstr>
      <vt:lpstr>PowerPoint 演示文稿</vt:lpstr>
      <vt:lpstr>PowerPoint 演示文稿</vt:lpstr>
      <vt:lpstr>PowerPoint 演示文稿</vt:lpstr>
      <vt:lpstr>PowerPoint 演示文稿</vt:lpstr>
      <vt:lpstr>马克思主义（辩证唯物主义）的物质观</vt:lpstr>
      <vt:lpstr>马克思主义（辩证唯物主义）的物质观</vt:lpstr>
      <vt:lpstr>1.运动的定义：物质的存在方式和根本属性，是标志一切事物和现象的变化及其过程的哲学范畴。</vt:lpstr>
      <vt:lpstr>PowerPoint 演示文稿</vt:lpstr>
      <vt:lpstr>PowerPoint 演示文稿</vt:lpstr>
      <vt:lpstr>（一）物质决定意识</vt:lpstr>
      <vt:lpstr>（二）意识对物质具有反作用</vt:lpstr>
      <vt:lpstr>PowerPoint 演示文稿</vt:lpstr>
      <vt:lpstr>PowerPoint 演示文稿</vt:lpstr>
      <vt:lpstr>PowerPoint 演示文稿</vt:lpstr>
      <vt:lpstr>PowerPoint 演示文稿</vt:lpstr>
      <vt:lpstr>参考阅读书目： 1.冯友兰：《中国哲学简史》 2.（台）傅佩荣：《哲学与人生》 3.乔斯坦·贾德：《苏菲的世界》 4.伯兰特·罗素：《西方的智慧》 5.张明明（哲不解）：《不疯魔，不哲学》 6.李泽厚：《中国古代（近代、现代）思想史论》（共三册）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3.矛盾同一性和斗争性的辩证关系</vt:lpstr>
      <vt:lpstr>PowerPoint 演示文稿</vt:lpstr>
      <vt:lpstr>PowerPoint 演示文稿</vt:lpstr>
      <vt:lpstr>（二）矛盾的普遍性和特殊性及其相互关系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（二）否定之否定规律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参考阅读书目：  1.老子：《道德经》（王弼版本或河上公版本） 2.陈鼓应：《老子今注今译》（商务印书馆） 3.《新编诸子集成——十一家注孙子校理》（中华书局） 4.[美]约翰·格雷：《男人来自火星，女人来自金星》 </vt:lpstr>
      <vt:lpstr>第三节   唯物辩证法是认识世界和改造世界的根本方法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世界的物质性及发展规律</dc:title>
  <dc:creator>user</dc:creator>
  <cp:lastModifiedBy>Admin</cp:lastModifiedBy>
  <cp:revision>157</cp:revision>
  <dcterms:created xsi:type="dcterms:W3CDTF">2018-09-17T00:28:00Z</dcterms:created>
  <dcterms:modified xsi:type="dcterms:W3CDTF">2023-10-20T03:39:14Z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B8EBB16E90CD49008F9B5BAB2A24D3D3_12</vt:lpwstr>
  </property>
</Properties>
</file>