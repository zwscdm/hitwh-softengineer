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309" r:id="rId2"/>
    <p:sldId id="310" r:id="rId3"/>
    <p:sldId id="311" r:id="rId4"/>
    <p:sldId id="304" r:id="rId5"/>
    <p:sldId id="258" r:id="rId6"/>
    <p:sldId id="259" r:id="rId7"/>
    <p:sldId id="265" r:id="rId8"/>
    <p:sldId id="283" r:id="rId9"/>
    <p:sldId id="266" r:id="rId10"/>
    <p:sldId id="267" r:id="rId11"/>
    <p:sldId id="268" r:id="rId12"/>
    <p:sldId id="269" r:id="rId13"/>
    <p:sldId id="273" r:id="rId14"/>
    <p:sldId id="328" r:id="rId15"/>
    <p:sldId id="329" r:id="rId16"/>
    <p:sldId id="330" r:id="rId17"/>
    <p:sldId id="332" r:id="rId18"/>
    <p:sldId id="334" r:id="rId19"/>
    <p:sldId id="335" r:id="rId20"/>
    <p:sldId id="337" r:id="rId21"/>
    <p:sldId id="338" r:id="rId22"/>
    <p:sldId id="340" r:id="rId23"/>
    <p:sldId id="342" r:id="rId24"/>
    <p:sldId id="343" r:id="rId25"/>
    <p:sldId id="344" r:id="rId26"/>
    <p:sldId id="345" r:id="rId27"/>
    <p:sldId id="347" r:id="rId28"/>
    <p:sldId id="348" r:id="rId29"/>
    <p:sldId id="376" r:id="rId30"/>
    <p:sldId id="349" r:id="rId31"/>
    <p:sldId id="352" r:id="rId32"/>
    <p:sldId id="353" r:id="rId33"/>
    <p:sldId id="354" r:id="rId34"/>
    <p:sldId id="356" r:id="rId35"/>
    <p:sldId id="359" r:id="rId36"/>
    <p:sldId id="360" r:id="rId37"/>
    <p:sldId id="377" r:id="rId38"/>
    <p:sldId id="375" r:id="rId39"/>
    <p:sldId id="364" r:id="rId40"/>
    <p:sldId id="365" r:id="rId41"/>
    <p:sldId id="366" r:id="rId42"/>
    <p:sldId id="367" r:id="rId43"/>
    <p:sldId id="368" r:id="rId44"/>
    <p:sldId id="370" r:id="rId45"/>
    <p:sldId id="371" r:id="rId46"/>
    <p:sldId id="373" r:id="rId47"/>
    <p:sldId id="374" r:id="rId48"/>
  </p:sldIdLst>
  <p:sldSz cx="9144000" cy="6858000" type="screen4x3"/>
  <p:notesSz cx="6858000" cy="9144000"/>
  <p:custDataLst>
    <p:tags r:id="rId50"/>
  </p:custDataLst>
  <p:defaultTex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2400" b="1"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9900FF"/>
    <a:srgbClr val="66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95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spcBef>
                <a:spcPct val="0"/>
              </a:spcBef>
              <a:defRPr sz="1200" b="0">
                <a:ea typeface="宋体" panose="02010600030101010101" pitchFamily="2" charset="-122"/>
              </a:defRPr>
            </a:lvl1pPr>
          </a:lstStyle>
          <a:p>
            <a:pPr>
              <a:defRPr/>
            </a:pPr>
            <a:endParaRPr lang="zh-CN" altLang="en-US"/>
          </a:p>
        </p:txBody>
      </p:sp>
      <p:sp>
        <p:nvSpPr>
          <p:cNvPr id="4915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spcBef>
                <a:spcPct val="0"/>
              </a:spcBef>
              <a:defRPr sz="1200" b="0">
                <a:ea typeface="宋体" panose="02010600030101010101" pitchFamily="2" charset="-122"/>
              </a:defRPr>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spcBef>
                <a:spcPct val="0"/>
              </a:spcBef>
              <a:defRPr sz="1200" b="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ea typeface="宋体" panose="02010600030101010101" pitchFamily="2" charset="-122"/>
              </a:defRPr>
            </a:lvl1pPr>
          </a:lstStyle>
          <a:p>
            <a:pPr>
              <a:defRPr/>
            </a:pPr>
            <a:fld id="{A71F2A28-7157-4CA4-B416-0501A04FE9A0}"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696321"/>
          <p:cNvSpPr>
            <a:spLocks noGrp="1" noRot="1" noChangeAspect="1" noChangeArrowheads="1" noTextEdit="1"/>
          </p:cNvSpPr>
          <p:nvPr>
            <p:ph type="sldImg" idx="4294967295"/>
          </p:nvPr>
        </p:nvSpPr>
        <p:spPr/>
      </p:sp>
      <p:sp>
        <p:nvSpPr>
          <p:cNvPr id="53251" name="文本占位符 696322"/>
          <p:cNvSpPr>
            <a:spLocks noGrp="1" noChangeArrowheads="1"/>
          </p:cNvSpPr>
          <p:nvPr>
            <p:ph type="body" idx="4294967295"/>
          </p:nvPr>
        </p:nvSpPr>
        <p:spPr>
          <a:noFill/>
        </p:spPr>
        <p:txBody>
          <a:bodyPr/>
          <a:lstStyle/>
          <a:p>
            <a:endParaRPr lang="zh-CN" altLang="zh-CN" smtClean="0"/>
          </a:p>
        </p:txBody>
      </p:sp>
      <p:sp>
        <p:nvSpPr>
          <p:cNvPr id="53252" name="灯片编号占位符 1"/>
          <p:cNvSpPr>
            <a:spLocks noGrp="1" noChangeArrowheads="1"/>
          </p:cNvSpPr>
          <p:nvPr>
            <p:ph type="sldNum" sz="quarter" idx="5"/>
          </p:nvPr>
        </p:nvSpPr>
        <p:spPr>
          <a:noFill/>
          <a:ln>
            <a:miter lim="800000"/>
          </a:ln>
        </p:spPr>
        <p:txBody>
          <a:bodyPr/>
          <a:lstStyle/>
          <a:p>
            <a:fld id="{F174D4CD-C4D6-4F64-B40C-A4BAFE4F2AF2}" type="slidenum">
              <a:rPr lang="zh-CN" altLang="en-US" smtClean="0"/>
              <a:t>1</a:t>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p:nvPr/>
        </p:nvGrpSpPr>
        <p:grpSpPr bwMode="auto">
          <a:xfrm>
            <a:off x="0" y="0"/>
            <a:ext cx="8805863" cy="6858000"/>
            <a:chOff x="0" y="0"/>
            <a:chExt cx="5547" cy="4320"/>
          </a:xfrm>
        </p:grpSpPr>
        <p:grpSp>
          <p:nvGrpSpPr>
            <p:cNvPr id="5" name="Group 3"/>
            <p:cNvGrpSpPr/>
            <p:nvPr userDrawn="1"/>
          </p:nvGrpSpPr>
          <p:grpSpPr bwMode="auto">
            <a:xfrm rot="-215207">
              <a:off x="3690" y="230"/>
              <a:ext cx="1859" cy="3630"/>
              <a:chOff x="3007" y="773"/>
              <a:chExt cx="1859" cy="3630"/>
            </a:xfrm>
          </p:grpSpPr>
          <p:sp>
            <p:nvSpPr>
              <p:cNvPr id="39" name="Freeform 4"/>
              <p:cNvSpPr/>
              <p:nvPr userDrawn="1"/>
            </p:nvSpPr>
            <p:spPr bwMode="ltGray">
              <a:xfrm rot="12185230" flipV="1">
                <a:off x="3533" y="773"/>
                <a:ext cx="1333" cy="1485"/>
              </a:xfrm>
              <a:custGeom>
                <a:avLst/>
                <a:gdLst>
                  <a:gd name="T0" fmla="*/ 10134 w 596"/>
                  <a:gd name="T1" fmla="*/ 226141 h 666"/>
                  <a:gd name="T2" fmla="*/ 3628 w 596"/>
                  <a:gd name="T3" fmla="*/ 208275 h 666"/>
                  <a:gd name="T4" fmla="*/ 0 w 596"/>
                  <a:gd name="T5" fmla="*/ 176481 h 666"/>
                  <a:gd name="T6" fmla="*/ 2525 w 596"/>
                  <a:gd name="T7" fmla="*/ 135697 h 666"/>
                  <a:gd name="T8" fmla="*/ 15663 w 596"/>
                  <a:gd name="T9" fmla="*/ 92320 h 666"/>
                  <a:gd name="T10" fmla="*/ 43041 w 596"/>
                  <a:gd name="T11" fmla="*/ 51259 h 666"/>
                  <a:gd name="T12" fmla="*/ 88976 w 596"/>
                  <a:gd name="T13" fmla="*/ 18913 h 666"/>
                  <a:gd name="T14" fmla="*/ 154561 w 596"/>
                  <a:gd name="T15" fmla="*/ 1108 h 666"/>
                  <a:gd name="T16" fmla="*/ 237967 w 596"/>
                  <a:gd name="T17" fmla="*/ 5510 h 666"/>
                  <a:gd name="T18" fmla="*/ 303173 w 596"/>
                  <a:gd name="T19" fmla="*/ 41674 h 666"/>
                  <a:gd name="T20" fmla="*/ 346862 w 596"/>
                  <a:gd name="T21" fmla="*/ 100920 h 666"/>
                  <a:gd name="T22" fmla="*/ 370162 w 596"/>
                  <a:gd name="T23" fmla="*/ 173397 h 666"/>
                  <a:gd name="T24" fmla="*/ 372614 w 596"/>
                  <a:gd name="T25" fmla="*/ 249946 h 666"/>
                  <a:gd name="T26" fmla="*/ 354466 w 596"/>
                  <a:gd name="T27" fmla="*/ 320858 h 666"/>
                  <a:gd name="T28" fmla="*/ 317435 w 596"/>
                  <a:gd name="T29" fmla="*/ 375656 h 666"/>
                  <a:gd name="T30" fmla="*/ 261239 w 596"/>
                  <a:gd name="T31" fmla="*/ 405019 h 666"/>
                  <a:gd name="T32" fmla="*/ 243577 w 596"/>
                  <a:gd name="T33" fmla="*/ 402428 h 666"/>
                  <a:gd name="T34" fmla="*/ 276032 w 596"/>
                  <a:gd name="T35" fmla="*/ 377043 h 666"/>
                  <a:gd name="T36" fmla="*/ 301772 w 596"/>
                  <a:gd name="T37" fmla="*/ 332397 h 666"/>
                  <a:gd name="T38" fmla="*/ 318565 w 596"/>
                  <a:gd name="T39" fmla="*/ 277236 h 666"/>
                  <a:gd name="T40" fmla="*/ 325547 w 596"/>
                  <a:gd name="T41" fmla="*/ 217044 h 666"/>
                  <a:gd name="T42" fmla="*/ 321922 w 596"/>
                  <a:gd name="T43" fmla="*/ 157584 h 666"/>
                  <a:gd name="T44" fmla="*/ 303779 w 596"/>
                  <a:gd name="T45" fmla="*/ 106309 h 666"/>
                  <a:gd name="T46" fmla="*/ 270993 w 596"/>
                  <a:gd name="T47" fmla="*/ 68439 h 666"/>
                  <a:gd name="T48" fmla="*/ 213667 w 596"/>
                  <a:gd name="T49" fmla="*/ 45685 h 666"/>
                  <a:gd name="T50" fmla="*/ 153970 w 596"/>
                  <a:gd name="T51" fmla="*/ 37248 h 666"/>
                  <a:gd name="T52" fmla="*/ 108906 w 596"/>
                  <a:gd name="T53" fmla="*/ 43255 h 666"/>
                  <a:gd name="T54" fmla="*/ 75845 w 596"/>
                  <a:gd name="T55" fmla="*/ 61670 h 666"/>
                  <a:gd name="T56" fmla="*/ 52548 w 596"/>
                  <a:gd name="T57" fmla="*/ 90933 h 666"/>
                  <a:gd name="T58" fmla="*/ 35530 w 596"/>
                  <a:gd name="T59" fmla="*/ 125710 h 666"/>
                  <a:gd name="T60" fmla="*/ 24891 w 596"/>
                  <a:gd name="T61" fmla="*/ 166006 h 666"/>
                  <a:gd name="T62" fmla="*/ 17642 w 596"/>
                  <a:gd name="T63" fmla="*/ 207191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w="9525">
                <a:noFill/>
                <a:round/>
              </a:ln>
            </p:spPr>
            <p:txBody>
              <a:bodyPr/>
              <a:lstStyle/>
              <a:p>
                <a:pPr>
                  <a:defRPr/>
                </a:pPr>
                <a:endParaRPr lang="zh-CN" altLang="en-US"/>
              </a:p>
            </p:txBody>
          </p:sp>
          <p:sp>
            <p:nvSpPr>
              <p:cNvPr id="40" name="Freeform 5"/>
              <p:cNvSpPr/>
              <p:nvPr userDrawn="1"/>
            </p:nvSpPr>
            <p:spPr bwMode="ltGray">
              <a:xfrm rot="12185230" flipV="1">
                <a:off x="4028" y="1798"/>
                <a:ext cx="571" cy="531"/>
              </a:xfrm>
              <a:custGeom>
                <a:avLst/>
                <a:gdLst>
                  <a:gd name="T0" fmla="*/ 0 w 257"/>
                  <a:gd name="T1" fmla="*/ 0 h 237"/>
                  <a:gd name="T2" fmla="*/ 0 w 257"/>
                  <a:gd name="T3" fmla="*/ 15802 h 237"/>
                  <a:gd name="T4" fmla="*/ 1951 w 257"/>
                  <a:gd name="T5" fmla="*/ 31726 h 237"/>
                  <a:gd name="T6" fmla="*/ 3455 w 257"/>
                  <a:gd name="T7" fmla="*/ 47553 h 237"/>
                  <a:gd name="T8" fmla="*/ 6383 w 257"/>
                  <a:gd name="T9" fmla="*/ 62387 h 237"/>
                  <a:gd name="T10" fmla="*/ 10727 w 257"/>
                  <a:gd name="T11" fmla="*/ 75648 h 237"/>
                  <a:gd name="T12" fmla="*/ 15959 w 257"/>
                  <a:gd name="T13" fmla="*/ 89540 h 237"/>
                  <a:gd name="T14" fmla="*/ 22460 w 257"/>
                  <a:gd name="T15" fmla="*/ 102360 h 237"/>
                  <a:gd name="T16" fmla="*/ 30216 w 257"/>
                  <a:gd name="T17" fmla="*/ 113087 h 237"/>
                  <a:gd name="T18" fmla="*/ 39792 w 257"/>
                  <a:gd name="T19" fmla="*/ 123304 h 237"/>
                  <a:gd name="T20" fmla="*/ 50997 w 257"/>
                  <a:gd name="T21" fmla="*/ 132062 h 237"/>
                  <a:gd name="T22" fmla="*/ 63017 w 257"/>
                  <a:gd name="T23" fmla="*/ 139171 h 237"/>
                  <a:gd name="T24" fmla="*/ 77803 w 257"/>
                  <a:gd name="T25" fmla="*/ 144817 h 237"/>
                  <a:gd name="T26" fmla="*/ 93815 w 257"/>
                  <a:gd name="T27" fmla="*/ 148492 h 237"/>
                  <a:gd name="T28" fmla="*/ 111749 w 257"/>
                  <a:gd name="T29" fmla="*/ 150522 h 237"/>
                  <a:gd name="T30" fmla="*/ 130635 w 257"/>
                  <a:gd name="T31" fmla="*/ 149912 h 237"/>
                  <a:gd name="T32" fmla="*/ 152613 w 257"/>
                  <a:gd name="T33" fmla="*/ 147358 h 237"/>
                  <a:gd name="T34" fmla="*/ 133025 w 257"/>
                  <a:gd name="T35" fmla="*/ 144186 h 237"/>
                  <a:gd name="T36" fmla="*/ 115697 w 257"/>
                  <a:gd name="T37" fmla="*/ 139778 h 237"/>
                  <a:gd name="T38" fmla="*/ 101031 w 257"/>
                  <a:gd name="T39" fmla="*/ 134592 h 237"/>
                  <a:gd name="T40" fmla="*/ 87916 w 257"/>
                  <a:gd name="T41" fmla="*/ 129524 h 237"/>
                  <a:gd name="T42" fmla="*/ 75905 w 257"/>
                  <a:gd name="T43" fmla="*/ 122471 h 237"/>
                  <a:gd name="T44" fmla="*/ 66551 w 257"/>
                  <a:gd name="T45" fmla="*/ 115644 h 237"/>
                  <a:gd name="T46" fmla="*/ 57702 w 257"/>
                  <a:gd name="T47" fmla="*/ 107374 h 237"/>
                  <a:gd name="T48" fmla="*/ 49901 w 257"/>
                  <a:gd name="T49" fmla="*/ 98300 h 237"/>
                  <a:gd name="T50" fmla="*/ 42718 w 257"/>
                  <a:gd name="T51" fmla="*/ 89540 h 237"/>
                  <a:gd name="T52" fmla="*/ 36337 w 257"/>
                  <a:gd name="T53" fmla="*/ 79323 h 237"/>
                  <a:gd name="T54" fmla="*/ 31016 w 257"/>
                  <a:gd name="T55" fmla="*/ 68035 h 237"/>
                  <a:gd name="T56" fmla="*/ 25611 w 257"/>
                  <a:gd name="T57" fmla="*/ 55786 h 237"/>
                  <a:gd name="T58" fmla="*/ 19490 w 257"/>
                  <a:gd name="T59" fmla="*/ 43874 h 237"/>
                  <a:gd name="T60" fmla="*/ 13600 w 257"/>
                  <a:gd name="T61" fmla="*/ 29758 h 237"/>
                  <a:gd name="T62" fmla="*/ 7183 w 257"/>
                  <a:gd name="T63" fmla="*/ 1529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w="9525">
                <a:noFill/>
                <a:round/>
              </a:ln>
            </p:spPr>
            <p:txBody>
              <a:bodyPr/>
              <a:lstStyle/>
              <a:p>
                <a:pPr>
                  <a:defRPr/>
                </a:pPr>
                <a:endParaRPr lang="zh-CN" altLang="en-US"/>
              </a:p>
            </p:txBody>
          </p:sp>
          <p:sp>
            <p:nvSpPr>
              <p:cNvPr id="41" name="Freeform 6"/>
              <p:cNvSpPr/>
              <p:nvPr userDrawn="1"/>
            </p:nvSpPr>
            <p:spPr bwMode="ltGray">
              <a:xfrm rot="12185230" flipV="1">
                <a:off x="3636" y="2162"/>
                <a:ext cx="277" cy="249"/>
              </a:xfrm>
              <a:custGeom>
                <a:avLst/>
                <a:gdLst>
                  <a:gd name="T0" fmla="*/ 47731 w 124"/>
                  <a:gd name="T1" fmla="*/ 0 h 110"/>
                  <a:gd name="T2" fmla="*/ 76919 w 124"/>
                  <a:gd name="T3" fmla="*/ 74304 h 110"/>
                  <a:gd name="T4" fmla="*/ 74433 w 124"/>
                  <a:gd name="T5" fmla="*/ 73699 h 110"/>
                  <a:gd name="T6" fmla="*/ 66359 w 124"/>
                  <a:gd name="T7" fmla="*/ 72516 h 110"/>
                  <a:gd name="T8" fmla="*/ 55282 w 124"/>
                  <a:gd name="T9" fmla="*/ 69709 h 110"/>
                  <a:gd name="T10" fmla="*/ 42283 w 124"/>
                  <a:gd name="T11" fmla="*/ 68237 h 110"/>
                  <a:gd name="T12" fmla="*/ 28089 w 124"/>
                  <a:gd name="T13" fmla="*/ 66988 h 110"/>
                  <a:gd name="T14" fmla="*/ 15519 w 124"/>
                  <a:gd name="T15" fmla="*/ 67694 h 110"/>
                  <a:gd name="T16" fmla="*/ 5629 w 124"/>
                  <a:gd name="T17" fmla="*/ 70370 h 110"/>
                  <a:gd name="T18" fmla="*/ 0 w 124"/>
                  <a:gd name="T19" fmla="*/ 75902 h 110"/>
                  <a:gd name="T20" fmla="*/ 2520 w 124"/>
                  <a:gd name="T21" fmla="*/ 67694 h 110"/>
                  <a:gd name="T22" fmla="*/ 4959 w 124"/>
                  <a:gd name="T23" fmla="*/ 61231 h 110"/>
                  <a:gd name="T24" fmla="*/ 9965 w 124"/>
                  <a:gd name="T25" fmla="*/ 56636 h 110"/>
                  <a:gd name="T26" fmla="*/ 15519 w 124"/>
                  <a:gd name="T27" fmla="*/ 52358 h 110"/>
                  <a:gd name="T28" fmla="*/ 22261 w 124"/>
                  <a:gd name="T29" fmla="*/ 49621 h 110"/>
                  <a:gd name="T30" fmla="*/ 29208 w 124"/>
                  <a:gd name="T31" fmla="*/ 48972 h 110"/>
                  <a:gd name="T32" fmla="*/ 36653 w 124"/>
                  <a:gd name="T33" fmla="*/ 48972 h 110"/>
                  <a:gd name="T34" fmla="*/ 44722 w 124"/>
                  <a:gd name="T35" fmla="*/ 51117 h 110"/>
                  <a:gd name="T36" fmla="*/ 45227 w 124"/>
                  <a:gd name="T37" fmla="*/ 48972 h 110"/>
                  <a:gd name="T38" fmla="*/ 43230 w 124"/>
                  <a:gd name="T39" fmla="*/ 38624 h 110"/>
                  <a:gd name="T40" fmla="*/ 41613 w 124"/>
                  <a:gd name="T41" fmla="*/ 26204 h 110"/>
                  <a:gd name="T42" fmla="*/ 40266 w 124"/>
                  <a:gd name="T43" fmla="*/ 20737 h 110"/>
                  <a:gd name="T44" fmla="*/ 39173 w 124"/>
                  <a:gd name="T45" fmla="*/ 20737 h 110"/>
                  <a:gd name="T46" fmla="*/ 37781 w 124"/>
                  <a:gd name="T47" fmla="*/ 20031 h 110"/>
                  <a:gd name="T48" fmla="*/ 36653 w 124"/>
                  <a:gd name="T49" fmla="*/ 18012 h 110"/>
                  <a:gd name="T50" fmla="*/ 35262 w 124"/>
                  <a:gd name="T51" fmla="*/ 15855 h 110"/>
                  <a:gd name="T52" fmla="*/ 35262 w 124"/>
                  <a:gd name="T53" fmla="*/ 13073 h 110"/>
                  <a:gd name="T54" fmla="*/ 36653 w 124"/>
                  <a:gd name="T55" fmla="*/ 9684 h 110"/>
                  <a:gd name="T56" fmla="*/ 40764 w 124"/>
                  <a:gd name="T57" fmla="*/ 5544 h 110"/>
                  <a:gd name="T58" fmla="*/ 47731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w="9525">
                <a:noFill/>
                <a:round/>
              </a:ln>
            </p:spPr>
            <p:txBody>
              <a:bodyPr/>
              <a:lstStyle/>
              <a:p>
                <a:pPr>
                  <a:defRPr/>
                </a:pPr>
                <a:endParaRPr lang="zh-CN" altLang="en-US"/>
              </a:p>
            </p:txBody>
          </p:sp>
          <p:sp>
            <p:nvSpPr>
              <p:cNvPr id="42" name="Freeform 7"/>
              <p:cNvSpPr/>
              <p:nvPr userDrawn="1"/>
            </p:nvSpPr>
            <p:spPr bwMode="ltGray">
              <a:xfrm rot="12185230" flipV="1">
                <a:off x="3977" y="972"/>
                <a:ext cx="245" cy="347"/>
              </a:xfrm>
              <a:custGeom>
                <a:avLst/>
                <a:gdLst>
                  <a:gd name="T0" fmla="*/ 0 w 109"/>
                  <a:gd name="T1" fmla="*/ 0 h 156"/>
                  <a:gd name="T2" fmla="*/ 3214 w 109"/>
                  <a:gd name="T3" fmla="*/ 485 h 156"/>
                  <a:gd name="T4" fmla="*/ 11585 w 109"/>
                  <a:gd name="T5" fmla="*/ 2885 h 156"/>
                  <a:gd name="T6" fmla="*/ 24100 w 109"/>
                  <a:gd name="T7" fmla="*/ 7243 h 156"/>
                  <a:gd name="T8" fmla="*/ 37624 w 109"/>
                  <a:gd name="T9" fmla="*/ 14274 h 156"/>
                  <a:gd name="T10" fmla="*/ 50668 w 109"/>
                  <a:gd name="T11" fmla="*/ 26412 h 156"/>
                  <a:gd name="T12" fmla="*/ 62637 w 109"/>
                  <a:gd name="T13" fmla="*/ 42525 h 156"/>
                  <a:gd name="T14" fmla="*/ 69881 w 109"/>
                  <a:gd name="T15" fmla="*/ 64702 h 156"/>
                  <a:gd name="T16" fmla="*/ 71030 w 109"/>
                  <a:gd name="T17" fmla="*/ 93492 h 156"/>
                  <a:gd name="T18" fmla="*/ 68326 w 109"/>
                  <a:gd name="T19" fmla="*/ 93492 h 156"/>
                  <a:gd name="T20" fmla="*/ 64601 w 109"/>
                  <a:gd name="T21" fmla="*/ 93492 h 156"/>
                  <a:gd name="T22" fmla="*/ 60596 w 109"/>
                  <a:gd name="T23" fmla="*/ 93492 h 156"/>
                  <a:gd name="T24" fmla="*/ 56847 w 109"/>
                  <a:gd name="T25" fmla="*/ 92415 h 156"/>
                  <a:gd name="T26" fmla="*/ 52736 w 109"/>
                  <a:gd name="T27" fmla="*/ 91579 h 156"/>
                  <a:gd name="T28" fmla="*/ 48092 w 109"/>
                  <a:gd name="T29" fmla="*/ 90015 h 156"/>
                  <a:gd name="T30" fmla="*/ 42904 w 109"/>
                  <a:gd name="T31" fmla="*/ 86957 h 156"/>
                  <a:gd name="T32" fmla="*/ 37624 w 109"/>
                  <a:gd name="T33" fmla="*/ 83211 h 156"/>
                  <a:gd name="T34" fmla="*/ 34430 w 109"/>
                  <a:gd name="T35" fmla="*/ 75479 h 156"/>
                  <a:gd name="T36" fmla="*/ 34430 w 109"/>
                  <a:gd name="T37" fmla="*/ 66484 h 156"/>
                  <a:gd name="T38" fmla="*/ 36496 w 109"/>
                  <a:gd name="T39" fmla="*/ 57682 h 156"/>
                  <a:gd name="T40" fmla="*/ 38544 w 109"/>
                  <a:gd name="T41" fmla="*/ 47984 h 156"/>
                  <a:gd name="T42" fmla="*/ 36496 w 109"/>
                  <a:gd name="T43" fmla="*/ 37187 h 156"/>
                  <a:gd name="T44" fmla="*/ 31320 w 109"/>
                  <a:gd name="T45" fmla="*/ 25932 h 156"/>
                  <a:gd name="T46" fmla="*/ 20234 w 109"/>
                  <a:gd name="T47" fmla="*/ 13655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w="9525">
                <a:noFill/>
                <a:round/>
              </a:ln>
            </p:spPr>
            <p:txBody>
              <a:bodyPr/>
              <a:lstStyle/>
              <a:p>
                <a:pPr>
                  <a:defRPr/>
                </a:pPr>
                <a:endParaRPr lang="zh-CN" altLang="en-US"/>
              </a:p>
            </p:txBody>
          </p:sp>
          <p:sp>
            <p:nvSpPr>
              <p:cNvPr id="43" name="Freeform 8"/>
              <p:cNvSpPr/>
              <p:nvPr userDrawn="1"/>
            </p:nvSpPr>
            <p:spPr bwMode="ltGray">
              <a:xfrm rot="12185230" flipV="1">
                <a:off x="3840" y="2207"/>
                <a:ext cx="103" cy="209"/>
              </a:xfrm>
              <a:custGeom>
                <a:avLst/>
                <a:gdLst>
                  <a:gd name="T0" fmla="*/ 19534 w 46"/>
                  <a:gd name="T1" fmla="*/ 0 h 94"/>
                  <a:gd name="T2" fmla="*/ 12721 w 46"/>
                  <a:gd name="T3" fmla="*/ 22612 h 94"/>
                  <a:gd name="T4" fmla="*/ 9577 w 46"/>
                  <a:gd name="T5" fmla="*/ 37115 h 94"/>
                  <a:gd name="T6" fmla="*/ 7040 w 46"/>
                  <a:gd name="T7" fmla="*/ 47221 h 94"/>
                  <a:gd name="T8" fmla="*/ 0 w 46"/>
                  <a:gd name="T9" fmla="*/ 56188 h 94"/>
                  <a:gd name="T10" fmla="*/ 7546 w 46"/>
                  <a:gd name="T11" fmla="*/ 52639 h 94"/>
                  <a:gd name="T12" fmla="*/ 14630 w 46"/>
                  <a:gd name="T13" fmla="*/ 47823 h 94"/>
                  <a:gd name="T14" fmla="*/ 20311 w 46"/>
                  <a:gd name="T15" fmla="*/ 41086 h 94"/>
                  <a:gd name="T16" fmla="*/ 25439 w 46"/>
                  <a:gd name="T17" fmla="*/ 34060 h 94"/>
                  <a:gd name="T18" fmla="*/ 28484 w 46"/>
                  <a:gd name="T19" fmla="*/ 26350 h 94"/>
                  <a:gd name="T20" fmla="*/ 29109 w 46"/>
                  <a:gd name="T21" fmla="*/ 17981 h 94"/>
                  <a:gd name="T22" fmla="*/ 26446 w 46"/>
                  <a:gd name="T23" fmla="*/ 8794 h 94"/>
                  <a:gd name="T24" fmla="*/ 19534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w="9525">
                <a:noFill/>
                <a:round/>
              </a:ln>
            </p:spPr>
            <p:txBody>
              <a:bodyPr/>
              <a:lstStyle/>
              <a:p>
                <a:pPr>
                  <a:defRPr/>
                </a:pPr>
                <a:endParaRPr lang="zh-CN" altLang="en-US"/>
              </a:p>
            </p:txBody>
          </p:sp>
          <p:sp>
            <p:nvSpPr>
              <p:cNvPr id="44" name="Freeform 9"/>
              <p:cNvSpPr/>
              <p:nvPr userDrawn="1"/>
            </p:nvSpPr>
            <p:spPr bwMode="ltGray">
              <a:xfrm rot="12185230" flipV="1">
                <a:off x="3890" y="1323"/>
                <a:ext cx="120" cy="90"/>
              </a:xfrm>
              <a:custGeom>
                <a:avLst/>
                <a:gdLst>
                  <a:gd name="T0" fmla="*/ 0 w 54"/>
                  <a:gd name="T1" fmla="*/ 0 h 40"/>
                  <a:gd name="T2" fmla="*/ 484 w 54"/>
                  <a:gd name="T3" fmla="*/ 639 h 40"/>
                  <a:gd name="T4" fmla="*/ 3467 w 54"/>
                  <a:gd name="T5" fmla="*/ 2077 h 40"/>
                  <a:gd name="T6" fmla="*/ 7704 w 54"/>
                  <a:gd name="T7" fmla="*/ 5310 h 40"/>
                  <a:gd name="T8" fmla="*/ 12509 w 54"/>
                  <a:gd name="T9" fmla="*/ 7893 h 40"/>
                  <a:gd name="T10" fmla="*/ 17120 w 54"/>
                  <a:gd name="T11" fmla="*/ 9968 h 40"/>
                  <a:gd name="T12" fmla="*/ 22529 w 54"/>
                  <a:gd name="T13" fmla="*/ 11198 h 40"/>
                  <a:gd name="T14" fmla="*/ 27313 w 54"/>
                  <a:gd name="T15" fmla="*/ 11948 h 40"/>
                  <a:gd name="T16" fmla="*/ 32142 w 54"/>
                  <a:gd name="T17" fmla="*/ 10514 h 40"/>
                  <a:gd name="T18" fmla="*/ 31527 w 54"/>
                  <a:gd name="T19" fmla="*/ 16382 h 40"/>
                  <a:gd name="T20" fmla="*/ 29749 w 54"/>
                  <a:gd name="T21" fmla="*/ 21688 h 40"/>
                  <a:gd name="T22" fmla="*/ 26238 w 54"/>
                  <a:gd name="T23" fmla="*/ 25196 h 40"/>
                  <a:gd name="T24" fmla="*/ 21907 w 54"/>
                  <a:gd name="T25" fmla="*/ 26345 h 40"/>
                  <a:gd name="T26" fmla="*/ 16638 w 54"/>
                  <a:gd name="T27" fmla="*/ 25733 h 40"/>
                  <a:gd name="T28" fmla="*/ 11216 w 54"/>
                  <a:gd name="T29" fmla="*/ 21040 h 40"/>
                  <a:gd name="T30" fmla="*/ 5907 w 54"/>
                  <a:gd name="T31" fmla="*/ 13102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w="9525">
                <a:noFill/>
                <a:round/>
              </a:ln>
            </p:spPr>
            <p:txBody>
              <a:bodyPr/>
              <a:lstStyle/>
              <a:p>
                <a:pPr>
                  <a:defRPr/>
                </a:pPr>
                <a:endParaRPr lang="zh-CN" altLang="en-US"/>
              </a:p>
            </p:txBody>
          </p:sp>
          <p:sp>
            <p:nvSpPr>
              <p:cNvPr id="45" name="Freeform 10"/>
              <p:cNvSpPr/>
              <p:nvPr userDrawn="1"/>
            </p:nvSpPr>
            <p:spPr bwMode="ltGray">
              <a:xfrm rot="12185230" flipV="1">
                <a:off x="3007" y="2344"/>
                <a:ext cx="330" cy="2059"/>
              </a:xfrm>
              <a:custGeom>
                <a:avLst/>
                <a:gdLst>
                  <a:gd name="T0" fmla="*/ 0 w 149"/>
                  <a:gd name="T1" fmla="*/ 0 h 704"/>
                  <a:gd name="T2" fmla="*/ 3409 w 149"/>
                  <a:gd name="T3" fmla="*/ 33146 h 704"/>
                  <a:gd name="T4" fmla="*/ 9211 w 149"/>
                  <a:gd name="T5" fmla="*/ 75156 h 704"/>
                  <a:gd name="T6" fmla="*/ 16143 w 149"/>
                  <a:gd name="T7" fmla="*/ 128421 h 704"/>
                  <a:gd name="T8" fmla="*/ 23824 w 149"/>
                  <a:gd name="T9" fmla="*/ 197717 h 704"/>
                  <a:gd name="T10" fmla="*/ 33419 w 149"/>
                  <a:gd name="T11" fmla="*/ 283531 h 704"/>
                  <a:gd name="T12" fmla="*/ 42371 w 149"/>
                  <a:gd name="T13" fmla="*/ 375595 h 704"/>
                  <a:gd name="T14" fmla="*/ 51004 w 149"/>
                  <a:gd name="T15" fmla="*/ 481323 h 704"/>
                  <a:gd name="T16" fmla="*/ 57719 w 149"/>
                  <a:gd name="T17" fmla="*/ 603960 h 704"/>
                  <a:gd name="T18" fmla="*/ 64793 w 149"/>
                  <a:gd name="T19" fmla="*/ 734273 h 704"/>
                  <a:gd name="T20" fmla="*/ 69486 w 149"/>
                  <a:gd name="T21" fmla="*/ 884481 h 704"/>
                  <a:gd name="T22" fmla="*/ 71896 w 149"/>
                  <a:gd name="T23" fmla="*/ 1049049 h 704"/>
                  <a:gd name="T24" fmla="*/ 72950 w 149"/>
                  <a:gd name="T25" fmla="*/ 1221078 h 704"/>
                  <a:gd name="T26" fmla="*/ 69486 w 149"/>
                  <a:gd name="T27" fmla="*/ 1413287 h 704"/>
                  <a:gd name="T28" fmla="*/ 63041 w 149"/>
                  <a:gd name="T29" fmla="*/ 1616786 h 704"/>
                  <a:gd name="T30" fmla="*/ 53338 w 149"/>
                  <a:gd name="T31" fmla="*/ 1830787 h 704"/>
                  <a:gd name="T32" fmla="*/ 38688 w 149"/>
                  <a:gd name="T33" fmla="*/ 2066628 h 704"/>
                  <a:gd name="T34" fmla="*/ 22422 w 149"/>
                  <a:gd name="T35" fmla="*/ 2333923 h 704"/>
                  <a:gd name="T36" fmla="*/ 12243 w 149"/>
                  <a:gd name="T37" fmla="*/ 2581296 h 704"/>
                  <a:gd name="T38" fmla="*/ 5803 w 149"/>
                  <a:gd name="T39" fmla="*/ 2809661 h 704"/>
                  <a:gd name="T40" fmla="*/ 3409 w 149"/>
                  <a:gd name="T41" fmla="*/ 3029394 h 704"/>
                  <a:gd name="T42" fmla="*/ 3409 w 149"/>
                  <a:gd name="T43" fmla="*/ 3238292 h 704"/>
                  <a:gd name="T44" fmla="*/ 4737 w 149"/>
                  <a:gd name="T45" fmla="*/ 3432406 h 704"/>
                  <a:gd name="T46" fmla="*/ 7094 w 149"/>
                  <a:gd name="T47" fmla="*/ 3602759 h 704"/>
                  <a:gd name="T48" fmla="*/ 8157 w 149"/>
                  <a:gd name="T49" fmla="*/ 3769228 h 704"/>
                  <a:gd name="T50" fmla="*/ 23824 w 149"/>
                  <a:gd name="T51" fmla="*/ 3683387 h 704"/>
                  <a:gd name="T52" fmla="*/ 22422 w 149"/>
                  <a:gd name="T53" fmla="*/ 3640806 h 704"/>
                  <a:gd name="T54" fmla="*/ 20881 w 149"/>
                  <a:gd name="T55" fmla="*/ 3518167 h 704"/>
                  <a:gd name="T56" fmla="*/ 19131 w 149"/>
                  <a:gd name="T57" fmla="*/ 3329681 h 704"/>
                  <a:gd name="T58" fmla="*/ 20400 w 149"/>
                  <a:gd name="T59" fmla="*/ 3078854 h 704"/>
                  <a:gd name="T60" fmla="*/ 23824 w 149"/>
                  <a:gd name="T61" fmla="*/ 2779012 h 704"/>
                  <a:gd name="T62" fmla="*/ 33419 w 149"/>
                  <a:gd name="T63" fmla="*/ 2436648 h 704"/>
                  <a:gd name="T64" fmla="*/ 49659 w 149"/>
                  <a:gd name="T65" fmla="*/ 2066628 h 704"/>
                  <a:gd name="T66" fmla="*/ 74711 w 149"/>
                  <a:gd name="T67" fmla="*/ 1675029 h 704"/>
                  <a:gd name="T68" fmla="*/ 82868 w 149"/>
                  <a:gd name="T69" fmla="*/ 1493916 h 704"/>
                  <a:gd name="T70" fmla="*/ 86283 w 149"/>
                  <a:gd name="T71" fmla="*/ 1257502 h 704"/>
                  <a:gd name="T72" fmla="*/ 83448 w 149"/>
                  <a:gd name="T73" fmla="*/ 984655 h 704"/>
                  <a:gd name="T74" fmla="*/ 75765 w 149"/>
                  <a:gd name="T75" fmla="*/ 717360 h 704"/>
                  <a:gd name="T76" fmla="*/ 63041 w 149"/>
                  <a:gd name="T77" fmla="*/ 455627 h 704"/>
                  <a:gd name="T78" fmla="*/ 46727 w 149"/>
                  <a:gd name="T79" fmla="*/ 236048 h 704"/>
                  <a:gd name="T80" fmla="*/ 25355 w 149"/>
                  <a:gd name="T81" fmla="*/ 75156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w="9525">
                <a:noFill/>
                <a:round/>
              </a:ln>
            </p:spPr>
            <p:txBody>
              <a:bodyPr/>
              <a:lstStyle/>
              <a:p>
                <a:pPr>
                  <a:defRPr/>
                </a:pPr>
                <a:endParaRPr lang="zh-CN" altLang="en-US"/>
              </a:p>
            </p:txBody>
          </p:sp>
        </p:grpSp>
        <p:sp>
          <p:nvSpPr>
            <p:cNvPr id="6" name="Freeform 11"/>
            <p:cNvSpPr/>
            <p:nvPr userDrawn="1"/>
          </p:nvSpPr>
          <p:spPr bwMode="ltGray">
            <a:xfrm rot="373331" flipH="1">
              <a:off x="22" y="1957"/>
              <a:ext cx="323" cy="649"/>
            </a:xfrm>
            <a:custGeom>
              <a:avLst/>
              <a:gdLst>
                <a:gd name="T0" fmla="*/ 154404 w 128"/>
                <a:gd name="T1" fmla="*/ 0 h 217"/>
                <a:gd name="T2" fmla="*/ 172737 w 128"/>
                <a:gd name="T3" fmla="*/ 57917 h 217"/>
                <a:gd name="T4" fmla="*/ 189000 w 128"/>
                <a:gd name="T5" fmla="*/ 173217 h 217"/>
                <a:gd name="T6" fmla="*/ 201883 w 128"/>
                <a:gd name="T7" fmla="*/ 321396 h 217"/>
                <a:gd name="T8" fmla="*/ 210485 w 128"/>
                <a:gd name="T9" fmla="*/ 498949 h 217"/>
                <a:gd name="T10" fmla="*/ 208620 w 128"/>
                <a:gd name="T11" fmla="*/ 710718 h 217"/>
                <a:gd name="T12" fmla="*/ 190815 w 128"/>
                <a:gd name="T13" fmla="*/ 928907 h 217"/>
                <a:gd name="T14" fmla="*/ 154404 w 128"/>
                <a:gd name="T15" fmla="*/ 1157903 h 217"/>
                <a:gd name="T16" fmla="*/ 98323 w 128"/>
                <a:gd name="T17" fmla="*/ 1389036 h 217"/>
                <a:gd name="T18" fmla="*/ 80859 w 128"/>
                <a:gd name="T19" fmla="*/ 1363193 h 217"/>
                <a:gd name="T20" fmla="*/ 62526 w 128"/>
                <a:gd name="T21" fmla="*/ 1344070 h 217"/>
                <a:gd name="T22" fmla="*/ 43065 w 128"/>
                <a:gd name="T23" fmla="*/ 1311752 h 217"/>
                <a:gd name="T24" fmla="*/ 26082 w 128"/>
                <a:gd name="T25" fmla="*/ 1285911 h 217"/>
                <a:gd name="T26" fmla="*/ 12887 w 128"/>
                <a:gd name="T27" fmla="*/ 1254613 h 217"/>
                <a:gd name="T28" fmla="*/ 3356 w 128"/>
                <a:gd name="T29" fmla="*/ 1215819 h 217"/>
                <a:gd name="T30" fmla="*/ 0 w 128"/>
                <a:gd name="T31" fmla="*/ 1170856 h 217"/>
                <a:gd name="T32" fmla="*/ 2024 w 128"/>
                <a:gd name="T33" fmla="*/ 1138537 h 217"/>
                <a:gd name="T34" fmla="*/ 21371 w 128"/>
                <a:gd name="T35" fmla="*/ 1093562 h 217"/>
                <a:gd name="T36" fmla="*/ 47484 w 128"/>
                <a:gd name="T37" fmla="*/ 1032033 h 217"/>
                <a:gd name="T38" fmla="*/ 75617 w 128"/>
                <a:gd name="T39" fmla="*/ 961226 h 217"/>
                <a:gd name="T40" fmla="*/ 103564 w 128"/>
                <a:gd name="T41" fmla="*/ 858092 h 217"/>
                <a:gd name="T42" fmla="*/ 129629 w 128"/>
                <a:gd name="T43" fmla="*/ 717112 h 217"/>
                <a:gd name="T44" fmla="*/ 149789 w 128"/>
                <a:gd name="T45" fmla="*/ 531026 h 217"/>
                <a:gd name="T46" fmla="*/ 159512 w 128"/>
                <a:gd name="T47" fmla="*/ 295552 h 217"/>
                <a:gd name="T48" fmla="*/ 154404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w="9525">
              <a:noFill/>
              <a:round/>
            </a:ln>
          </p:spPr>
          <p:txBody>
            <a:bodyPr/>
            <a:lstStyle/>
            <a:p>
              <a:pPr>
                <a:defRPr/>
              </a:pPr>
              <a:endParaRPr lang="zh-CN" altLang="en-US"/>
            </a:p>
          </p:txBody>
        </p:sp>
        <p:sp>
          <p:nvSpPr>
            <p:cNvPr id="7" name="Freeform 12"/>
            <p:cNvSpPr/>
            <p:nvPr userDrawn="1"/>
          </p:nvSpPr>
          <p:spPr bwMode="ltGray">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w="9525">
              <a:noFill/>
              <a:round/>
            </a:ln>
          </p:spPr>
          <p:txBody>
            <a:bodyPr/>
            <a:lstStyle/>
            <a:p>
              <a:pPr>
                <a:defRPr/>
              </a:pPr>
              <a:endParaRPr lang="zh-CN" altLang="en-US"/>
            </a:p>
          </p:txBody>
        </p:sp>
        <p:sp>
          <p:nvSpPr>
            <p:cNvPr id="8" name="Freeform 13"/>
            <p:cNvSpPr/>
            <p:nvPr userDrawn="1"/>
          </p:nvSpPr>
          <p:spPr bwMode="ltGray">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w="9525">
              <a:noFill/>
              <a:round/>
            </a:ln>
          </p:spPr>
          <p:txBody>
            <a:bodyPr/>
            <a:lstStyle/>
            <a:p>
              <a:pPr>
                <a:defRPr/>
              </a:pPr>
              <a:endParaRPr lang="zh-CN" altLang="en-US"/>
            </a:p>
          </p:txBody>
        </p:sp>
        <p:sp>
          <p:nvSpPr>
            <p:cNvPr id="9" name="Freeform 14"/>
            <p:cNvSpPr/>
            <p:nvPr userDrawn="1"/>
          </p:nvSpPr>
          <p:spPr bwMode="ltGray">
            <a:xfrm rot="373331" flipH="1">
              <a:off x="898" y="2855"/>
              <a:ext cx="354" cy="464"/>
            </a:xfrm>
            <a:custGeom>
              <a:avLst/>
              <a:gdLst>
                <a:gd name="T0" fmla="*/ 527124 w 117"/>
                <a:gd name="T1" fmla="*/ 0 h 132"/>
                <a:gd name="T2" fmla="*/ 0 w 117"/>
                <a:gd name="T3" fmla="*/ 582759 h 132"/>
                <a:gd name="T4" fmla="*/ 20771 w 117"/>
                <a:gd name="T5" fmla="*/ 603826 h 132"/>
                <a:gd name="T6" fmla="*/ 97386 w 117"/>
                <a:gd name="T7" fmla="*/ 677271 h 132"/>
                <a:gd name="T8" fmla="*/ 204137 w 117"/>
                <a:gd name="T9" fmla="*/ 841587 h 132"/>
                <a:gd name="T10" fmla="*/ 323072 w 117"/>
                <a:gd name="T11" fmla="*/ 1094235 h 132"/>
                <a:gd name="T12" fmla="*/ 464279 w 117"/>
                <a:gd name="T13" fmla="*/ 1445230 h 132"/>
                <a:gd name="T14" fmla="*/ 590082 w 117"/>
                <a:gd name="T15" fmla="*/ 1863899 h 132"/>
                <a:gd name="T16" fmla="*/ 717355 w 117"/>
                <a:gd name="T17" fmla="*/ 2399481 h 132"/>
                <a:gd name="T18" fmla="*/ 814660 w 117"/>
                <a:gd name="T19" fmla="*/ 3076752 h 132"/>
                <a:gd name="T20" fmla="*/ 821534 w 117"/>
                <a:gd name="T21" fmla="*/ 2797688 h 132"/>
                <a:gd name="T22" fmla="*/ 807876 w 117"/>
                <a:gd name="T23" fmla="*/ 2493993 h 132"/>
                <a:gd name="T24" fmla="*/ 758679 w 117"/>
                <a:gd name="T25" fmla="*/ 2095786 h 132"/>
                <a:gd name="T26" fmla="*/ 696503 w 117"/>
                <a:gd name="T27" fmla="*/ 1724344 h 132"/>
                <a:gd name="T28" fmla="*/ 624510 w 117"/>
                <a:gd name="T29" fmla="*/ 1352409 h 132"/>
                <a:gd name="T30" fmla="*/ 547677 w 117"/>
                <a:gd name="T31" fmla="*/ 1047072 h 132"/>
                <a:gd name="T32" fmla="*/ 471147 w 117"/>
                <a:gd name="T33" fmla="*/ 841587 h 132"/>
                <a:gd name="T34" fmla="*/ 405947 w 117"/>
                <a:gd name="T35" fmla="*/ 743244 h 132"/>
                <a:gd name="T36" fmla="*/ 484805 w 117"/>
                <a:gd name="T37" fmla="*/ 677271 h 132"/>
                <a:gd name="T38" fmla="*/ 554800 w 117"/>
                <a:gd name="T39" fmla="*/ 648865 h 132"/>
                <a:gd name="T40" fmla="*/ 624510 w 117"/>
                <a:gd name="T41" fmla="*/ 603826 h 132"/>
                <a:gd name="T42" fmla="*/ 689710 w 117"/>
                <a:gd name="T43" fmla="*/ 582759 h 132"/>
                <a:gd name="T44" fmla="*/ 738157 w 117"/>
                <a:gd name="T45" fmla="*/ 556526 h 132"/>
                <a:gd name="T46" fmla="*/ 765720 w 117"/>
                <a:gd name="T47" fmla="*/ 511476 h 132"/>
                <a:gd name="T48" fmla="*/ 794134 w 117"/>
                <a:gd name="T49" fmla="*/ 490546 h 132"/>
                <a:gd name="T50" fmla="*/ 801011 w 117"/>
                <a:gd name="T51" fmla="*/ 490546 h 132"/>
                <a:gd name="T52" fmla="*/ 527124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w="9525">
              <a:noFill/>
              <a:round/>
            </a:ln>
          </p:spPr>
          <p:txBody>
            <a:bodyPr/>
            <a:lstStyle/>
            <a:p>
              <a:pPr>
                <a:defRPr/>
              </a:pPr>
              <a:endParaRPr lang="zh-CN" altLang="en-US"/>
            </a:p>
          </p:txBody>
        </p:sp>
        <p:sp>
          <p:nvSpPr>
            <p:cNvPr id="10" name="Freeform 15"/>
            <p:cNvSpPr/>
            <p:nvPr userDrawn="1"/>
          </p:nvSpPr>
          <p:spPr bwMode="ltGray">
            <a:xfrm rot="373331" flipH="1">
              <a:off x="799" y="2979"/>
              <a:ext cx="87" cy="274"/>
            </a:xfrm>
            <a:custGeom>
              <a:avLst/>
              <a:gdLst>
                <a:gd name="T0" fmla="*/ 190269 w 29"/>
                <a:gd name="T1" fmla="*/ 0 h 77"/>
                <a:gd name="T2" fmla="*/ 150903 w 29"/>
                <a:gd name="T3" fmla="*/ 0 h 77"/>
                <a:gd name="T4" fmla="*/ 104976 w 29"/>
                <a:gd name="T5" fmla="*/ 101476 h 77"/>
                <a:gd name="T6" fmla="*/ 59049 w 29"/>
                <a:gd name="T7" fmla="*/ 231697 h 77"/>
                <a:gd name="T8" fmla="*/ 26244 w 29"/>
                <a:gd name="T9" fmla="*/ 491278 h 77"/>
                <a:gd name="T10" fmla="*/ 6561 w 29"/>
                <a:gd name="T11" fmla="*/ 773616 h 77"/>
                <a:gd name="T12" fmla="*/ 0 w 29"/>
                <a:gd name="T13" fmla="*/ 1134890 h 77"/>
                <a:gd name="T14" fmla="*/ 19683 w 29"/>
                <a:gd name="T15" fmla="*/ 1547271 h 77"/>
                <a:gd name="T16" fmla="*/ 72171 w 29"/>
                <a:gd name="T17" fmla="*/ 1979212 h 77"/>
                <a:gd name="T18" fmla="*/ 98415 w 29"/>
                <a:gd name="T19" fmla="*/ 1366410 h 77"/>
                <a:gd name="T20" fmla="*/ 124659 w 29"/>
                <a:gd name="T21" fmla="*/ 954032 h 77"/>
                <a:gd name="T22" fmla="*/ 150903 w 29"/>
                <a:gd name="T23" fmla="*/ 564230 h 77"/>
                <a:gd name="T24" fmla="*/ 190269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w="9525">
              <a:noFill/>
              <a:round/>
            </a:ln>
          </p:spPr>
          <p:txBody>
            <a:bodyPr/>
            <a:lstStyle/>
            <a:p>
              <a:pPr>
                <a:defRPr/>
              </a:pPr>
              <a:endParaRPr lang="zh-CN" altLang="en-US"/>
            </a:p>
          </p:txBody>
        </p:sp>
        <p:sp>
          <p:nvSpPr>
            <p:cNvPr id="11" name="Freeform 16"/>
            <p:cNvSpPr/>
            <p:nvPr userDrawn="1"/>
          </p:nvSpPr>
          <p:spPr bwMode="ltGray">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w="9525">
              <a:noFill/>
              <a:round/>
            </a:ln>
          </p:spPr>
          <p:txBody>
            <a:bodyPr/>
            <a:lstStyle/>
            <a:p>
              <a:pPr>
                <a:defRPr/>
              </a:pPr>
              <a:endParaRPr lang="zh-CN" altLang="en-US"/>
            </a:p>
          </p:txBody>
        </p:sp>
        <p:grpSp>
          <p:nvGrpSpPr>
            <p:cNvPr id="12" name="Group 17"/>
            <p:cNvGrpSpPr/>
            <p:nvPr userDrawn="1"/>
          </p:nvGrpSpPr>
          <p:grpSpPr bwMode="auto">
            <a:xfrm rot="3220060">
              <a:off x="2636" y="751"/>
              <a:ext cx="569" cy="636"/>
              <a:chOff x="1727" y="866"/>
              <a:chExt cx="129" cy="157"/>
            </a:xfrm>
          </p:grpSpPr>
          <p:sp>
            <p:nvSpPr>
              <p:cNvPr id="36" name="Freeform 18"/>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37" name="Freeform 19"/>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38" name="Freeform 20"/>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3" name="Group 21"/>
            <p:cNvGrpSpPr/>
            <p:nvPr userDrawn="1"/>
          </p:nvGrpSpPr>
          <p:grpSpPr bwMode="auto">
            <a:xfrm rot="-6691250">
              <a:off x="3638" y="119"/>
              <a:ext cx="356" cy="608"/>
              <a:chOff x="1732" y="866"/>
              <a:chExt cx="129" cy="157"/>
            </a:xfrm>
          </p:grpSpPr>
          <p:sp>
            <p:nvSpPr>
              <p:cNvPr id="33" name="Freeform 22"/>
              <p:cNvSpPr/>
              <p:nvPr userDrawn="1"/>
            </p:nvSpPr>
            <p:spPr bwMode="ltGray">
              <a:xfrm>
                <a:off x="1732"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34" name="Freeform 23"/>
              <p:cNvSpPr/>
              <p:nvPr userDrawn="1"/>
            </p:nvSpPr>
            <p:spPr bwMode="ltGray">
              <a:xfrm>
                <a:off x="1791"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35" name="Freeform 24"/>
              <p:cNvSpPr/>
              <p:nvPr userDrawn="1"/>
            </p:nvSpPr>
            <p:spPr bwMode="ltGray">
              <a:xfrm>
                <a:off x="1775"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4" name="Group 25"/>
            <p:cNvGrpSpPr/>
            <p:nvPr userDrawn="1"/>
          </p:nvGrpSpPr>
          <p:grpSpPr bwMode="auto">
            <a:xfrm rot="8524840">
              <a:off x="677" y="3303"/>
              <a:ext cx="500" cy="500"/>
              <a:chOff x="1727" y="871"/>
              <a:chExt cx="129" cy="156"/>
            </a:xfrm>
          </p:grpSpPr>
          <p:sp>
            <p:nvSpPr>
              <p:cNvPr id="30" name="Freeform 26"/>
              <p:cNvSpPr/>
              <p:nvPr userDrawn="1"/>
            </p:nvSpPr>
            <p:spPr bwMode="ltGray">
              <a:xfrm>
                <a:off x="1727" y="871"/>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31" name="Freeform 27"/>
              <p:cNvSpPr/>
              <p:nvPr userDrawn="1"/>
            </p:nvSpPr>
            <p:spPr bwMode="ltGray">
              <a:xfrm>
                <a:off x="1786" y="899"/>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32" name="Freeform 28"/>
              <p:cNvSpPr/>
              <p:nvPr userDrawn="1"/>
            </p:nvSpPr>
            <p:spPr bwMode="ltGray">
              <a:xfrm>
                <a:off x="1772" y="100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5" name="Group 29"/>
            <p:cNvGrpSpPr/>
            <p:nvPr userDrawn="1"/>
          </p:nvGrpSpPr>
          <p:grpSpPr bwMode="auto">
            <a:xfrm rot="4106450" flipH="1">
              <a:off x="404" y="262"/>
              <a:ext cx="708" cy="891"/>
              <a:chOff x="1727" y="866"/>
              <a:chExt cx="129" cy="157"/>
            </a:xfrm>
          </p:grpSpPr>
          <p:sp>
            <p:nvSpPr>
              <p:cNvPr id="27" name="Freeform 30"/>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28" name="Freeform 31"/>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29" name="Freeform 32"/>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6" name="Group 33"/>
            <p:cNvGrpSpPr/>
            <p:nvPr userDrawn="1"/>
          </p:nvGrpSpPr>
          <p:grpSpPr bwMode="auto">
            <a:xfrm rot="10015322" flipH="1">
              <a:off x="4624" y="2392"/>
              <a:ext cx="708" cy="891"/>
              <a:chOff x="1727" y="866"/>
              <a:chExt cx="129" cy="157"/>
            </a:xfrm>
          </p:grpSpPr>
          <p:sp>
            <p:nvSpPr>
              <p:cNvPr id="24" name="Freeform 34"/>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25" name="Freeform 35"/>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26" name="Freeform 36"/>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sp>
          <p:nvSpPr>
            <p:cNvPr id="17" name="Freeform 37"/>
            <p:cNvSpPr/>
            <p:nvPr userDrawn="1"/>
          </p:nvSpPr>
          <p:spPr bwMode="ltGray">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w="9525">
              <a:noFill/>
              <a:round/>
            </a:ln>
          </p:spPr>
          <p:txBody>
            <a:bodyPr/>
            <a:lstStyle/>
            <a:p>
              <a:pPr>
                <a:defRPr/>
              </a:pPr>
              <a:endParaRPr lang="zh-CN" altLang="en-US"/>
            </a:p>
          </p:txBody>
        </p:sp>
        <p:sp>
          <p:nvSpPr>
            <p:cNvPr id="18" name="Freeform 38"/>
            <p:cNvSpPr/>
            <p:nvPr userDrawn="1"/>
          </p:nvSpPr>
          <p:spPr bwMode="ltGray">
            <a:xfrm rot="9832527" flipV="1">
              <a:off x="2158" y="102"/>
              <a:ext cx="681" cy="593"/>
            </a:xfrm>
            <a:custGeom>
              <a:avLst/>
              <a:gdLst>
                <a:gd name="T0" fmla="*/ 0 w 257"/>
                <a:gd name="T1" fmla="*/ 0 h 237"/>
                <a:gd name="T2" fmla="*/ 0 w 257"/>
                <a:gd name="T3" fmla="*/ 38723 h 237"/>
                <a:gd name="T4" fmla="*/ 7295 w 257"/>
                <a:gd name="T5" fmla="*/ 76785 h 237"/>
                <a:gd name="T6" fmla="*/ 14492 w 257"/>
                <a:gd name="T7" fmla="*/ 115307 h 237"/>
                <a:gd name="T8" fmla="*/ 26681 w 257"/>
                <a:gd name="T9" fmla="*/ 150429 h 237"/>
                <a:gd name="T10" fmla="*/ 44019 w 257"/>
                <a:gd name="T11" fmla="*/ 183072 h 237"/>
                <a:gd name="T12" fmla="*/ 66107 w 257"/>
                <a:gd name="T13" fmla="*/ 216628 h 237"/>
                <a:gd name="T14" fmla="*/ 92733 w 257"/>
                <a:gd name="T15" fmla="*/ 247311 h 237"/>
                <a:gd name="T16" fmla="*/ 123984 w 257"/>
                <a:gd name="T17" fmla="*/ 273110 h 237"/>
                <a:gd name="T18" fmla="*/ 163432 w 257"/>
                <a:gd name="T19" fmla="*/ 297926 h 237"/>
                <a:gd name="T20" fmla="*/ 209035 w 257"/>
                <a:gd name="T21" fmla="*/ 319194 h 237"/>
                <a:gd name="T22" fmla="*/ 257892 w 257"/>
                <a:gd name="T23" fmla="*/ 336366 h 237"/>
                <a:gd name="T24" fmla="*/ 318101 w 257"/>
                <a:gd name="T25" fmla="*/ 349933 h 237"/>
                <a:gd name="T26" fmla="*/ 384201 w 257"/>
                <a:gd name="T27" fmla="*/ 359218 h 237"/>
                <a:gd name="T28" fmla="*/ 456972 w 257"/>
                <a:gd name="T29" fmla="*/ 364127 h 237"/>
                <a:gd name="T30" fmla="*/ 534818 w 257"/>
                <a:gd name="T31" fmla="*/ 362148 h 237"/>
                <a:gd name="T32" fmla="*/ 624848 w 257"/>
                <a:gd name="T33" fmla="*/ 356088 h 237"/>
                <a:gd name="T34" fmla="*/ 544879 w 257"/>
                <a:gd name="T35" fmla="*/ 348631 h 237"/>
                <a:gd name="T36" fmla="*/ 474217 w 257"/>
                <a:gd name="T37" fmla="*/ 337662 h 237"/>
                <a:gd name="T38" fmla="*/ 412707 w 257"/>
                <a:gd name="T39" fmla="*/ 325399 h 237"/>
                <a:gd name="T40" fmla="*/ 359647 w 257"/>
                <a:gd name="T41" fmla="*/ 313122 h 237"/>
                <a:gd name="T42" fmla="*/ 310939 w 257"/>
                <a:gd name="T43" fmla="*/ 296655 h 237"/>
                <a:gd name="T44" fmla="*/ 272384 w 257"/>
                <a:gd name="T45" fmla="*/ 279220 h 237"/>
                <a:gd name="T46" fmla="*/ 235809 w 257"/>
                <a:gd name="T47" fmla="*/ 259574 h 237"/>
                <a:gd name="T48" fmla="*/ 204605 w 257"/>
                <a:gd name="T49" fmla="*/ 238308 h 237"/>
                <a:gd name="T50" fmla="*/ 175171 w 257"/>
                <a:gd name="T51" fmla="*/ 216628 h 237"/>
                <a:gd name="T52" fmla="*/ 148545 w 257"/>
                <a:gd name="T53" fmla="*/ 192124 h 237"/>
                <a:gd name="T54" fmla="*/ 126703 w 257"/>
                <a:gd name="T55" fmla="*/ 164651 h 237"/>
                <a:gd name="T56" fmla="*/ 104530 w 257"/>
                <a:gd name="T57" fmla="*/ 134951 h 237"/>
                <a:gd name="T58" fmla="*/ 79968 w 257"/>
                <a:gd name="T59" fmla="*/ 106222 h 237"/>
                <a:gd name="T60" fmla="*/ 56059 w 257"/>
                <a:gd name="T61" fmla="*/ 72384 h 237"/>
                <a:gd name="T62" fmla="*/ 29378 w 257"/>
                <a:gd name="T63" fmla="*/ 36761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ln>
          </p:spPr>
          <p:txBody>
            <a:bodyPr/>
            <a:lstStyle/>
            <a:p>
              <a:pPr>
                <a:defRPr/>
              </a:pPr>
              <a:endParaRPr lang="zh-CN" altLang="en-US"/>
            </a:p>
          </p:txBody>
        </p:sp>
        <p:sp>
          <p:nvSpPr>
            <p:cNvPr id="19" name="Freeform 39"/>
            <p:cNvSpPr/>
            <p:nvPr userDrawn="1"/>
          </p:nvSpPr>
          <p:spPr bwMode="ltGray">
            <a:xfrm rot="9832527" flipV="1">
              <a:off x="1997" y="858"/>
              <a:ext cx="330" cy="278"/>
            </a:xfrm>
            <a:custGeom>
              <a:avLst/>
              <a:gdLst>
                <a:gd name="T0" fmla="*/ 193968 w 124"/>
                <a:gd name="T1" fmla="*/ 0 h 110"/>
                <a:gd name="T2" fmla="*/ 311962 w 124"/>
                <a:gd name="T3" fmla="*/ 179823 h 110"/>
                <a:gd name="T4" fmla="*/ 301577 w 124"/>
                <a:gd name="T5" fmla="*/ 177741 h 110"/>
                <a:gd name="T6" fmla="*/ 269269 w 124"/>
                <a:gd name="T7" fmla="*/ 174559 h 110"/>
                <a:gd name="T8" fmla="*/ 224126 w 124"/>
                <a:gd name="T9" fmla="*/ 167829 h 110"/>
                <a:gd name="T10" fmla="*/ 171254 w 124"/>
                <a:gd name="T11" fmla="*/ 164647 h 110"/>
                <a:gd name="T12" fmla="*/ 113320 w 124"/>
                <a:gd name="T13" fmla="*/ 161255 h 110"/>
                <a:gd name="T14" fmla="*/ 63254 w 124"/>
                <a:gd name="T15" fmla="*/ 163421 h 110"/>
                <a:gd name="T16" fmla="*/ 22677 w 124"/>
                <a:gd name="T17" fmla="*/ 169911 h 110"/>
                <a:gd name="T18" fmla="*/ 0 w 124"/>
                <a:gd name="T19" fmla="*/ 183215 h 110"/>
                <a:gd name="T20" fmla="*/ 10291 w 124"/>
                <a:gd name="T21" fmla="*/ 163421 h 110"/>
                <a:gd name="T22" fmla="*/ 19922 w 124"/>
                <a:gd name="T23" fmla="*/ 148245 h 110"/>
                <a:gd name="T24" fmla="*/ 40428 w 124"/>
                <a:gd name="T25" fmla="*/ 136301 h 110"/>
                <a:gd name="T26" fmla="*/ 63254 w 124"/>
                <a:gd name="T27" fmla="*/ 126376 h 110"/>
                <a:gd name="T28" fmla="*/ 90641 w 124"/>
                <a:gd name="T29" fmla="*/ 119904 h 110"/>
                <a:gd name="T30" fmla="*/ 118278 w 124"/>
                <a:gd name="T31" fmla="*/ 117741 h 110"/>
                <a:gd name="T32" fmla="*/ 148433 w 124"/>
                <a:gd name="T33" fmla="*/ 117741 h 110"/>
                <a:gd name="T34" fmla="*/ 181532 w 124"/>
                <a:gd name="T35" fmla="*/ 123194 h 110"/>
                <a:gd name="T36" fmla="*/ 183280 w 124"/>
                <a:gd name="T37" fmla="*/ 117741 h 110"/>
                <a:gd name="T38" fmla="*/ 175823 w 124"/>
                <a:gd name="T39" fmla="*/ 93507 h 110"/>
                <a:gd name="T40" fmla="*/ 168337 w 124"/>
                <a:gd name="T41" fmla="*/ 63308 h 110"/>
                <a:gd name="T42" fmla="*/ 163379 w 124"/>
                <a:gd name="T43" fmla="*/ 50005 h 110"/>
                <a:gd name="T44" fmla="*/ 158852 w 124"/>
                <a:gd name="T45" fmla="*/ 50005 h 110"/>
                <a:gd name="T46" fmla="*/ 153144 w 124"/>
                <a:gd name="T47" fmla="*/ 47942 h 110"/>
                <a:gd name="T48" fmla="*/ 148433 w 124"/>
                <a:gd name="T49" fmla="*/ 43535 h 110"/>
                <a:gd name="T50" fmla="*/ 143909 w 124"/>
                <a:gd name="T51" fmla="*/ 38354 h 110"/>
                <a:gd name="T52" fmla="*/ 143909 w 124"/>
                <a:gd name="T53" fmla="*/ 31540 h 110"/>
                <a:gd name="T54" fmla="*/ 148433 w 124"/>
                <a:gd name="T55" fmla="*/ 22892 h 110"/>
                <a:gd name="T56" fmla="*/ 166190 w 124"/>
                <a:gd name="T57" fmla="*/ 13299 h 110"/>
                <a:gd name="T58" fmla="*/ 19396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ln>
          </p:spPr>
          <p:txBody>
            <a:bodyPr/>
            <a:lstStyle/>
            <a:p>
              <a:pPr>
                <a:defRPr/>
              </a:pPr>
              <a:endParaRPr lang="zh-CN" altLang="en-US"/>
            </a:p>
          </p:txBody>
        </p:sp>
        <p:sp>
          <p:nvSpPr>
            <p:cNvPr id="20" name="Freeform 40"/>
            <p:cNvSpPr/>
            <p:nvPr userDrawn="1"/>
          </p:nvSpPr>
          <p:spPr bwMode="ltGray">
            <a:xfrm rot="9832527" flipV="1">
              <a:off x="2224" y="808"/>
              <a:ext cx="123" cy="233"/>
            </a:xfrm>
            <a:custGeom>
              <a:avLst/>
              <a:gdLst>
                <a:gd name="T0" fmla="*/ 81172 w 46"/>
                <a:gd name="T1" fmla="*/ 0 h 94"/>
                <a:gd name="T2" fmla="*/ 51943 w 46"/>
                <a:gd name="T3" fmla="*/ 54093 h 94"/>
                <a:gd name="T4" fmla="*/ 39117 w 46"/>
                <a:gd name="T5" fmla="*/ 88604 h 94"/>
                <a:gd name="T6" fmla="*/ 28584 w 46"/>
                <a:gd name="T7" fmla="*/ 112757 h 94"/>
                <a:gd name="T8" fmla="*/ 0 w 46"/>
                <a:gd name="T9" fmla="*/ 134082 h 94"/>
                <a:gd name="T10" fmla="*/ 31432 w 46"/>
                <a:gd name="T11" fmla="*/ 125290 h 94"/>
                <a:gd name="T12" fmla="*/ 60682 w 46"/>
                <a:gd name="T13" fmla="*/ 113887 h 94"/>
                <a:gd name="T14" fmla="*/ 84046 w 46"/>
                <a:gd name="T15" fmla="*/ 98336 h 94"/>
                <a:gd name="T16" fmla="*/ 104595 w 46"/>
                <a:gd name="T17" fmla="*/ 81238 h 94"/>
                <a:gd name="T18" fmla="*/ 117272 w 46"/>
                <a:gd name="T19" fmla="*/ 62595 h 94"/>
                <a:gd name="T20" fmla="*/ 120289 w 46"/>
                <a:gd name="T21" fmla="*/ 42473 h 94"/>
                <a:gd name="T22" fmla="*/ 109358 w 46"/>
                <a:gd name="T23" fmla="*/ 21320 h 94"/>
                <a:gd name="T24" fmla="*/ 81172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ln>
          </p:spPr>
          <p:txBody>
            <a:bodyPr/>
            <a:lstStyle/>
            <a:p>
              <a:pPr>
                <a:defRPr/>
              </a:pPr>
              <a:endParaRPr lang="zh-CN" altLang="en-US"/>
            </a:p>
          </p:txBody>
        </p:sp>
        <p:sp>
          <p:nvSpPr>
            <p:cNvPr id="21" name="Freeform 41"/>
            <p:cNvSpPr/>
            <p:nvPr userDrawn="1"/>
          </p:nvSpPr>
          <p:spPr bwMode="ltGray">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w="9525">
              <a:noFill/>
              <a:round/>
            </a:ln>
          </p:spPr>
          <p:txBody>
            <a:bodyPr/>
            <a:lstStyle/>
            <a:p>
              <a:pPr>
                <a:defRPr/>
              </a:pPr>
              <a:endParaRPr lang="zh-CN" altLang="en-US"/>
            </a:p>
          </p:txBody>
        </p:sp>
        <p:sp>
          <p:nvSpPr>
            <p:cNvPr id="22" name="Freeform 42"/>
            <p:cNvSpPr/>
            <p:nvPr userDrawn="1"/>
          </p:nvSpPr>
          <p:spPr bwMode="ltGray">
            <a:xfrm rot="9832527" flipV="1">
              <a:off x="2173" y="1238"/>
              <a:ext cx="393" cy="2300"/>
            </a:xfrm>
            <a:custGeom>
              <a:avLst/>
              <a:gdLst>
                <a:gd name="T0" fmla="*/ 0 w 149"/>
                <a:gd name="T1" fmla="*/ 0 h 704"/>
                <a:gd name="T2" fmla="*/ 14185 w 149"/>
                <a:gd name="T3" fmla="*/ 78951 h 704"/>
                <a:gd name="T4" fmla="*/ 37414 w 149"/>
                <a:gd name="T5" fmla="*/ 182412 h 704"/>
                <a:gd name="T6" fmla="*/ 65639 w 149"/>
                <a:gd name="T7" fmla="*/ 310003 h 704"/>
                <a:gd name="T8" fmla="*/ 95968 w 149"/>
                <a:gd name="T9" fmla="*/ 480066 h 704"/>
                <a:gd name="T10" fmla="*/ 136097 w 149"/>
                <a:gd name="T11" fmla="*/ 687102 h 704"/>
                <a:gd name="T12" fmla="*/ 171417 w 149"/>
                <a:gd name="T13" fmla="*/ 909676 h 704"/>
                <a:gd name="T14" fmla="*/ 206027 w 149"/>
                <a:gd name="T15" fmla="*/ 1168779 h 704"/>
                <a:gd name="T16" fmla="*/ 234389 w 149"/>
                <a:gd name="T17" fmla="*/ 1466433 h 704"/>
                <a:gd name="T18" fmla="*/ 261938 w 149"/>
                <a:gd name="T19" fmla="*/ 1780203 h 704"/>
                <a:gd name="T20" fmla="*/ 281480 w 149"/>
                <a:gd name="T21" fmla="*/ 2141228 h 704"/>
                <a:gd name="T22" fmla="*/ 290287 w 149"/>
                <a:gd name="T23" fmla="*/ 2542490 h 704"/>
                <a:gd name="T24" fmla="*/ 294985 w 149"/>
                <a:gd name="T25" fmla="*/ 2959786 h 704"/>
                <a:gd name="T26" fmla="*/ 281480 w 149"/>
                <a:gd name="T27" fmla="*/ 3427898 h 704"/>
                <a:gd name="T28" fmla="*/ 254907 w 149"/>
                <a:gd name="T29" fmla="*/ 3921529 h 704"/>
                <a:gd name="T30" fmla="*/ 215865 w 149"/>
                <a:gd name="T31" fmla="*/ 4436925 h 704"/>
                <a:gd name="T32" fmla="*/ 157287 w 149"/>
                <a:gd name="T33" fmla="*/ 5009753 h 704"/>
                <a:gd name="T34" fmla="*/ 91524 w 149"/>
                <a:gd name="T35" fmla="*/ 5656755 h 704"/>
                <a:gd name="T36" fmla="*/ 48787 w 149"/>
                <a:gd name="T37" fmla="*/ 6257477 h 704"/>
                <a:gd name="T38" fmla="*/ 23229 w 149"/>
                <a:gd name="T39" fmla="*/ 6813077 h 704"/>
                <a:gd name="T40" fmla="*/ 14185 w 149"/>
                <a:gd name="T41" fmla="*/ 7345700 h 704"/>
                <a:gd name="T42" fmla="*/ 14185 w 149"/>
                <a:gd name="T43" fmla="*/ 7854114 h 704"/>
                <a:gd name="T44" fmla="*/ 18497 w 149"/>
                <a:gd name="T45" fmla="*/ 8318597 h 704"/>
                <a:gd name="T46" fmla="*/ 28370 w 149"/>
                <a:gd name="T47" fmla="*/ 8735593 h 704"/>
                <a:gd name="T48" fmla="*/ 32920 w 149"/>
                <a:gd name="T49" fmla="*/ 9137165 h 704"/>
                <a:gd name="T50" fmla="*/ 95968 w 149"/>
                <a:gd name="T51" fmla="*/ 8930175 h 704"/>
                <a:gd name="T52" fmla="*/ 91524 w 149"/>
                <a:gd name="T53" fmla="*/ 8826714 h 704"/>
                <a:gd name="T54" fmla="*/ 84498 w 149"/>
                <a:gd name="T55" fmla="*/ 8525280 h 704"/>
                <a:gd name="T56" fmla="*/ 77102 w 149"/>
                <a:gd name="T57" fmla="*/ 8072967 h 704"/>
                <a:gd name="T58" fmla="*/ 81842 w 149"/>
                <a:gd name="T59" fmla="*/ 7464849 h 704"/>
                <a:gd name="T60" fmla="*/ 95968 w 149"/>
                <a:gd name="T61" fmla="*/ 6737892 h 704"/>
                <a:gd name="T62" fmla="*/ 136097 w 149"/>
                <a:gd name="T63" fmla="*/ 5907168 h 704"/>
                <a:gd name="T64" fmla="*/ 201680 w 149"/>
                <a:gd name="T65" fmla="*/ 5009753 h 704"/>
                <a:gd name="T66" fmla="*/ 302046 w 149"/>
                <a:gd name="T67" fmla="*/ 4063734 h 704"/>
                <a:gd name="T68" fmla="*/ 334728 w 149"/>
                <a:gd name="T69" fmla="*/ 3623735 h 704"/>
                <a:gd name="T70" fmla="*/ 349150 w 149"/>
                <a:gd name="T71" fmla="*/ 3050904 h 704"/>
                <a:gd name="T72" fmla="*/ 337387 w 149"/>
                <a:gd name="T73" fmla="*/ 2386965 h 704"/>
                <a:gd name="T74" fmla="*/ 307368 w 149"/>
                <a:gd name="T75" fmla="*/ 1739996 h 704"/>
                <a:gd name="T76" fmla="*/ 254907 w 149"/>
                <a:gd name="T77" fmla="*/ 1103948 h 704"/>
                <a:gd name="T78" fmla="*/ 189972 w 149"/>
                <a:gd name="T79" fmla="*/ 571677 h 704"/>
                <a:gd name="T80" fmla="*/ 103032 w 149"/>
                <a:gd name="T81" fmla="*/ 182412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w="9525">
              <a:noFill/>
              <a:round/>
            </a:ln>
          </p:spPr>
          <p:txBody>
            <a:bodyPr/>
            <a:lstStyle/>
            <a:p>
              <a:pPr>
                <a:defRPr/>
              </a:pPr>
              <a:endParaRPr lang="zh-CN" altLang="en-US"/>
            </a:p>
          </p:txBody>
        </p:sp>
        <p:sp>
          <p:nvSpPr>
            <p:cNvPr id="23" name="Freeform 43"/>
            <p:cNvSpPr/>
            <p:nvPr userDrawn="1"/>
          </p:nvSpPr>
          <p:spPr bwMode="ltGray">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32">
                  <a:moveTo>
                    <a:pt x="0" y="0"/>
                  </a:moveTo>
                  <a:lnTo>
                    <a:pt x="36" y="12"/>
                  </a:lnTo>
                  <a:lnTo>
                    <a:pt x="0" y="132"/>
                  </a:lnTo>
                  <a:lnTo>
                    <a:pt x="0" y="0"/>
                  </a:lnTo>
                  <a:close/>
                </a:path>
              </a:pathLst>
            </a:custGeom>
            <a:solidFill>
              <a:schemeClr val="folHlink"/>
            </a:solidFill>
            <a:ln w="9525">
              <a:noFill/>
              <a:round/>
            </a:ln>
          </p:spPr>
          <p:txBody>
            <a:bodyPr/>
            <a:lstStyle/>
            <a:p>
              <a:pPr>
                <a:defRPr/>
              </a:pPr>
              <a:endParaRPr lang="zh-CN" altLang="en-US"/>
            </a:p>
          </p:txBody>
        </p:sp>
      </p:grpSp>
      <p:sp>
        <p:nvSpPr>
          <p:cNvPr id="68655" name="Rectangle 47"/>
          <p:cNvSpPr>
            <a:spLocks noGrp="1" noChangeArrowheads="1"/>
          </p:cNvSpPr>
          <p:nvPr>
            <p:ph type="ctrTitle"/>
          </p:nvPr>
        </p:nvSpPr>
        <p:spPr>
          <a:xfrm>
            <a:off x="2455863" y="596900"/>
            <a:ext cx="6192837" cy="3581400"/>
          </a:xfrm>
        </p:spPr>
        <p:txBody>
          <a:bodyPr/>
          <a:lstStyle>
            <a:lvl1pPr>
              <a:defRPr sz="5200" b="1"/>
            </a:lvl1pPr>
          </a:lstStyle>
          <a:p>
            <a:pPr lvl="0"/>
            <a:r>
              <a:rPr lang="zh-CN" altLang="en-US" noProof="0" smtClean="0"/>
              <a:t>单击此处编辑母版标题样式</a:t>
            </a:r>
          </a:p>
        </p:txBody>
      </p:sp>
      <p:sp>
        <p:nvSpPr>
          <p:cNvPr id="68656"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pPr lvl="0"/>
            <a:r>
              <a:rPr lang="zh-CN" altLang="en-US" noProof="0" smtClean="0"/>
              <a:t>单击此处编辑母版副标题样式</a:t>
            </a:r>
          </a:p>
        </p:txBody>
      </p:sp>
      <p:sp>
        <p:nvSpPr>
          <p:cNvPr id="46" name="Rectangle 44"/>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47" name="Rectangle 45"/>
          <p:cNvSpPr>
            <a:spLocks noGrp="1" noChangeArrowheads="1"/>
          </p:cNvSpPr>
          <p:nvPr>
            <p:ph type="ftr" sz="quarter" idx="11"/>
          </p:nvPr>
        </p:nvSpPr>
        <p:spPr/>
        <p:txBody>
          <a:bodyPr/>
          <a:lstStyle>
            <a:lvl1pPr>
              <a:defRPr/>
            </a:lvl1pPr>
          </a:lstStyle>
          <a:p>
            <a:pPr>
              <a:defRPr/>
            </a:pPr>
            <a:endParaRPr lang="en-US" altLang="zh-CN"/>
          </a:p>
        </p:txBody>
      </p:sp>
      <p:sp>
        <p:nvSpPr>
          <p:cNvPr id="48" name="Rectangle 46"/>
          <p:cNvSpPr>
            <a:spLocks noGrp="1" noChangeArrowheads="1"/>
          </p:cNvSpPr>
          <p:nvPr>
            <p:ph type="sldNum" sz="quarter" idx="12"/>
          </p:nvPr>
        </p:nvSpPr>
        <p:spPr/>
        <p:txBody>
          <a:bodyPr/>
          <a:lstStyle>
            <a:lvl1pPr>
              <a:defRPr/>
            </a:lvl1pPr>
          </a:lstStyle>
          <a:p>
            <a:pPr>
              <a:defRPr/>
            </a:pPr>
            <a:fld id="{0822D056-26EA-4CC1-9E86-652C6174364C}"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p:txBody>
          <a:bodyPr/>
          <a:lstStyle>
            <a:lvl1pPr>
              <a:defRPr/>
            </a:lvl1pPr>
          </a:lstStyle>
          <a:p>
            <a:pPr>
              <a:defRPr/>
            </a:pPr>
            <a:endParaRPr lang="en-US" altLang="zh-CN"/>
          </a:p>
        </p:txBody>
      </p:sp>
      <p:sp>
        <p:nvSpPr>
          <p:cNvPr id="5" name="Rectangle 48"/>
          <p:cNvSpPr>
            <a:spLocks noGrp="1" noChangeArrowheads="1"/>
          </p:cNvSpPr>
          <p:nvPr>
            <p:ph type="ftr" sz="quarter" idx="11"/>
          </p:nvPr>
        </p:nvSpPr>
        <p:spPr/>
        <p:txBody>
          <a:bodyPr/>
          <a:lstStyle>
            <a:lvl1pPr>
              <a:defRPr/>
            </a:lvl1pPr>
          </a:lstStyle>
          <a:p>
            <a:pPr>
              <a:defRPr/>
            </a:pPr>
            <a:endParaRPr lang="en-US" altLang="zh-CN"/>
          </a:p>
        </p:txBody>
      </p:sp>
      <p:sp>
        <p:nvSpPr>
          <p:cNvPr id="6" name="Rectangle 49"/>
          <p:cNvSpPr>
            <a:spLocks noGrp="1" noChangeArrowheads="1"/>
          </p:cNvSpPr>
          <p:nvPr>
            <p:ph type="sldNum" sz="quarter" idx="12"/>
          </p:nvPr>
        </p:nvSpPr>
        <p:spPr/>
        <p:txBody>
          <a:bodyPr/>
          <a:lstStyle>
            <a:lvl1pPr>
              <a:defRPr/>
            </a:lvl1pPr>
          </a:lstStyle>
          <a:p>
            <a:pPr>
              <a:defRPr/>
            </a:pPr>
            <a:fld id="{E4A6E350-BB0D-4165-90A4-8BE825D5BF34}"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7"/>
          <p:cNvSpPr>
            <a:spLocks noGrp="1" noChangeArrowheads="1"/>
          </p:cNvSpPr>
          <p:nvPr>
            <p:ph type="dt" sz="half" idx="10"/>
          </p:nvPr>
        </p:nvSpPr>
        <p:spPr/>
        <p:txBody>
          <a:bodyPr/>
          <a:lstStyle>
            <a:lvl1pPr>
              <a:defRPr/>
            </a:lvl1pPr>
          </a:lstStyle>
          <a:p>
            <a:pPr>
              <a:defRPr/>
            </a:pPr>
            <a:endParaRPr lang="en-US" altLang="zh-CN"/>
          </a:p>
        </p:txBody>
      </p:sp>
      <p:sp>
        <p:nvSpPr>
          <p:cNvPr id="5" name="Rectangle 48"/>
          <p:cNvSpPr>
            <a:spLocks noGrp="1" noChangeArrowheads="1"/>
          </p:cNvSpPr>
          <p:nvPr>
            <p:ph type="ftr" sz="quarter" idx="11"/>
          </p:nvPr>
        </p:nvSpPr>
        <p:spPr/>
        <p:txBody>
          <a:bodyPr/>
          <a:lstStyle>
            <a:lvl1pPr>
              <a:defRPr/>
            </a:lvl1pPr>
          </a:lstStyle>
          <a:p>
            <a:pPr>
              <a:defRPr/>
            </a:pPr>
            <a:endParaRPr lang="en-US" altLang="zh-CN"/>
          </a:p>
        </p:txBody>
      </p:sp>
      <p:sp>
        <p:nvSpPr>
          <p:cNvPr id="6" name="Rectangle 49"/>
          <p:cNvSpPr>
            <a:spLocks noGrp="1" noChangeArrowheads="1"/>
          </p:cNvSpPr>
          <p:nvPr>
            <p:ph type="sldNum" sz="quarter" idx="12"/>
          </p:nvPr>
        </p:nvSpPr>
        <p:spPr/>
        <p:txBody>
          <a:bodyPr/>
          <a:lstStyle>
            <a:lvl1pPr>
              <a:defRPr/>
            </a:lvl1pPr>
          </a:lstStyle>
          <a:p>
            <a:pPr>
              <a:defRPr/>
            </a:pPr>
            <a:fld id="{950C782C-5DF0-43F3-B31C-5526E0F1227E}"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7"/>
          <p:cNvSpPr>
            <a:spLocks noGrp="1" noChangeArrowheads="1"/>
          </p:cNvSpPr>
          <p:nvPr>
            <p:ph type="dt" sz="half" idx="10"/>
          </p:nvPr>
        </p:nvSpPr>
        <p:spPr/>
        <p:txBody>
          <a:bodyPr/>
          <a:lstStyle>
            <a:lvl1pPr>
              <a:defRPr/>
            </a:lvl1pPr>
          </a:lstStyle>
          <a:p>
            <a:pPr>
              <a:defRPr/>
            </a:pPr>
            <a:endParaRPr lang="en-US" altLang="zh-CN"/>
          </a:p>
        </p:txBody>
      </p:sp>
      <p:sp>
        <p:nvSpPr>
          <p:cNvPr id="6" name="Rectangle 48"/>
          <p:cNvSpPr>
            <a:spLocks noGrp="1" noChangeArrowheads="1"/>
          </p:cNvSpPr>
          <p:nvPr>
            <p:ph type="ftr" sz="quarter" idx="11"/>
          </p:nvPr>
        </p:nvSpPr>
        <p:spPr/>
        <p:txBody>
          <a:bodyPr/>
          <a:lstStyle>
            <a:lvl1pPr>
              <a:defRPr/>
            </a:lvl1pPr>
          </a:lstStyle>
          <a:p>
            <a:pPr>
              <a:defRPr/>
            </a:pPr>
            <a:endParaRPr lang="en-US" altLang="zh-CN"/>
          </a:p>
        </p:txBody>
      </p:sp>
      <p:sp>
        <p:nvSpPr>
          <p:cNvPr id="7" name="Rectangle 49"/>
          <p:cNvSpPr>
            <a:spLocks noGrp="1" noChangeArrowheads="1"/>
          </p:cNvSpPr>
          <p:nvPr>
            <p:ph type="sldNum" sz="quarter" idx="12"/>
          </p:nvPr>
        </p:nvSpPr>
        <p:spPr/>
        <p:txBody>
          <a:bodyPr/>
          <a:lstStyle>
            <a:lvl1pPr>
              <a:defRPr/>
            </a:lvl1pPr>
          </a:lstStyle>
          <a:p>
            <a:pPr>
              <a:defRPr/>
            </a:pPr>
            <a:fld id="{6A3EC6D0-ED4D-47F7-AD62-89D25922A8BF}"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7"/>
          <p:cNvSpPr>
            <a:spLocks noGrp="1" noChangeArrowheads="1"/>
          </p:cNvSpPr>
          <p:nvPr>
            <p:ph type="dt" sz="half" idx="10"/>
          </p:nvPr>
        </p:nvSpPr>
        <p:spPr/>
        <p:txBody>
          <a:bodyPr/>
          <a:lstStyle>
            <a:lvl1pPr>
              <a:defRPr/>
            </a:lvl1pPr>
          </a:lstStyle>
          <a:p>
            <a:pPr>
              <a:defRPr/>
            </a:pPr>
            <a:endParaRPr lang="en-US" altLang="zh-CN"/>
          </a:p>
        </p:txBody>
      </p:sp>
      <p:sp>
        <p:nvSpPr>
          <p:cNvPr id="8" name="Rectangle 48"/>
          <p:cNvSpPr>
            <a:spLocks noGrp="1" noChangeArrowheads="1"/>
          </p:cNvSpPr>
          <p:nvPr>
            <p:ph type="ftr" sz="quarter" idx="11"/>
          </p:nvPr>
        </p:nvSpPr>
        <p:spPr/>
        <p:txBody>
          <a:bodyPr/>
          <a:lstStyle>
            <a:lvl1pPr>
              <a:defRPr/>
            </a:lvl1pPr>
          </a:lstStyle>
          <a:p>
            <a:pPr>
              <a:defRPr/>
            </a:pPr>
            <a:endParaRPr lang="en-US" altLang="zh-CN"/>
          </a:p>
        </p:txBody>
      </p:sp>
      <p:sp>
        <p:nvSpPr>
          <p:cNvPr id="9" name="Rectangle 49"/>
          <p:cNvSpPr>
            <a:spLocks noGrp="1" noChangeArrowheads="1"/>
          </p:cNvSpPr>
          <p:nvPr>
            <p:ph type="sldNum" sz="quarter" idx="12"/>
          </p:nvPr>
        </p:nvSpPr>
        <p:spPr/>
        <p:txBody>
          <a:bodyPr/>
          <a:lstStyle>
            <a:lvl1pPr>
              <a:defRPr/>
            </a:lvl1pPr>
          </a:lstStyle>
          <a:p>
            <a:pPr>
              <a:defRPr/>
            </a:pPr>
            <a:fld id="{5A1EE711-BBA4-487C-83C3-76D8A538B3F5}"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7"/>
          <p:cNvSpPr>
            <a:spLocks noGrp="1" noChangeArrowheads="1"/>
          </p:cNvSpPr>
          <p:nvPr>
            <p:ph type="dt" sz="half" idx="10"/>
          </p:nvPr>
        </p:nvSpPr>
        <p:spPr/>
        <p:txBody>
          <a:bodyPr/>
          <a:lstStyle>
            <a:lvl1pPr>
              <a:defRPr/>
            </a:lvl1pPr>
          </a:lstStyle>
          <a:p>
            <a:pPr>
              <a:defRPr/>
            </a:pPr>
            <a:endParaRPr lang="en-US" altLang="zh-CN"/>
          </a:p>
        </p:txBody>
      </p:sp>
      <p:sp>
        <p:nvSpPr>
          <p:cNvPr id="4" name="Rectangle 48"/>
          <p:cNvSpPr>
            <a:spLocks noGrp="1" noChangeArrowheads="1"/>
          </p:cNvSpPr>
          <p:nvPr>
            <p:ph type="ftr" sz="quarter" idx="11"/>
          </p:nvPr>
        </p:nvSpPr>
        <p:spPr/>
        <p:txBody>
          <a:bodyPr/>
          <a:lstStyle>
            <a:lvl1pPr>
              <a:defRPr/>
            </a:lvl1pPr>
          </a:lstStyle>
          <a:p>
            <a:pPr>
              <a:defRPr/>
            </a:pPr>
            <a:endParaRPr lang="en-US" altLang="zh-CN"/>
          </a:p>
        </p:txBody>
      </p:sp>
      <p:sp>
        <p:nvSpPr>
          <p:cNvPr id="5" name="Rectangle 49"/>
          <p:cNvSpPr>
            <a:spLocks noGrp="1" noChangeArrowheads="1"/>
          </p:cNvSpPr>
          <p:nvPr>
            <p:ph type="sldNum" sz="quarter" idx="12"/>
          </p:nvPr>
        </p:nvSpPr>
        <p:spPr/>
        <p:txBody>
          <a:bodyPr/>
          <a:lstStyle>
            <a:lvl1pPr>
              <a:defRPr/>
            </a:lvl1pPr>
          </a:lstStyle>
          <a:p>
            <a:pPr>
              <a:defRPr/>
            </a:pPr>
            <a:fld id="{482C7410-CCDD-491B-BF02-32D53CAB2E72}"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p:cNvSpPr>
            <a:spLocks noGrp="1" noChangeArrowheads="1"/>
          </p:cNvSpPr>
          <p:nvPr>
            <p:ph type="dt" sz="half" idx="10"/>
          </p:nvPr>
        </p:nvSpPr>
        <p:spPr/>
        <p:txBody>
          <a:bodyPr/>
          <a:lstStyle>
            <a:lvl1pPr>
              <a:defRPr/>
            </a:lvl1pPr>
          </a:lstStyle>
          <a:p>
            <a:pPr>
              <a:defRPr/>
            </a:pPr>
            <a:endParaRPr lang="en-US" altLang="zh-CN"/>
          </a:p>
        </p:txBody>
      </p:sp>
      <p:sp>
        <p:nvSpPr>
          <p:cNvPr id="3" name="Rectangle 48"/>
          <p:cNvSpPr>
            <a:spLocks noGrp="1" noChangeArrowheads="1"/>
          </p:cNvSpPr>
          <p:nvPr>
            <p:ph type="ftr" sz="quarter" idx="11"/>
          </p:nvPr>
        </p:nvSpPr>
        <p:spPr/>
        <p:txBody>
          <a:bodyPr/>
          <a:lstStyle>
            <a:lvl1pPr>
              <a:defRPr/>
            </a:lvl1pPr>
          </a:lstStyle>
          <a:p>
            <a:pPr>
              <a:defRPr/>
            </a:pPr>
            <a:endParaRPr lang="en-US" altLang="zh-CN"/>
          </a:p>
        </p:txBody>
      </p:sp>
      <p:sp>
        <p:nvSpPr>
          <p:cNvPr id="4" name="Rectangle 49"/>
          <p:cNvSpPr>
            <a:spLocks noGrp="1" noChangeArrowheads="1"/>
          </p:cNvSpPr>
          <p:nvPr>
            <p:ph type="sldNum" sz="quarter" idx="12"/>
          </p:nvPr>
        </p:nvSpPr>
        <p:spPr/>
        <p:txBody>
          <a:bodyPr/>
          <a:lstStyle>
            <a:lvl1pPr>
              <a:defRPr/>
            </a:lvl1pPr>
          </a:lstStyle>
          <a:p>
            <a:pPr>
              <a:defRPr/>
            </a:pPr>
            <a:fld id="{6D6FE538-7B65-4C5F-9246-D767F440C220}"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7"/>
          <p:cNvSpPr>
            <a:spLocks noGrp="1" noChangeArrowheads="1"/>
          </p:cNvSpPr>
          <p:nvPr>
            <p:ph type="dt" sz="half" idx="10"/>
          </p:nvPr>
        </p:nvSpPr>
        <p:spPr/>
        <p:txBody>
          <a:bodyPr/>
          <a:lstStyle>
            <a:lvl1pPr>
              <a:defRPr/>
            </a:lvl1pPr>
          </a:lstStyle>
          <a:p>
            <a:pPr>
              <a:defRPr/>
            </a:pPr>
            <a:endParaRPr lang="en-US" altLang="zh-CN"/>
          </a:p>
        </p:txBody>
      </p:sp>
      <p:sp>
        <p:nvSpPr>
          <p:cNvPr id="6" name="Rectangle 48"/>
          <p:cNvSpPr>
            <a:spLocks noGrp="1" noChangeArrowheads="1"/>
          </p:cNvSpPr>
          <p:nvPr>
            <p:ph type="ftr" sz="quarter" idx="11"/>
          </p:nvPr>
        </p:nvSpPr>
        <p:spPr/>
        <p:txBody>
          <a:bodyPr/>
          <a:lstStyle>
            <a:lvl1pPr>
              <a:defRPr/>
            </a:lvl1pPr>
          </a:lstStyle>
          <a:p>
            <a:pPr>
              <a:defRPr/>
            </a:pPr>
            <a:endParaRPr lang="en-US" altLang="zh-CN"/>
          </a:p>
        </p:txBody>
      </p:sp>
      <p:sp>
        <p:nvSpPr>
          <p:cNvPr id="7" name="Rectangle 49"/>
          <p:cNvSpPr>
            <a:spLocks noGrp="1" noChangeArrowheads="1"/>
          </p:cNvSpPr>
          <p:nvPr>
            <p:ph type="sldNum" sz="quarter" idx="12"/>
          </p:nvPr>
        </p:nvSpPr>
        <p:spPr/>
        <p:txBody>
          <a:bodyPr/>
          <a:lstStyle>
            <a:lvl1pPr>
              <a:defRPr/>
            </a:lvl1pPr>
          </a:lstStyle>
          <a:p>
            <a:pPr>
              <a:defRPr/>
            </a:pPr>
            <a:fld id="{03A83A23-ED70-409D-A2E0-0EF2C3C04E6E}"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7"/>
          <p:cNvSpPr>
            <a:spLocks noGrp="1" noChangeArrowheads="1"/>
          </p:cNvSpPr>
          <p:nvPr>
            <p:ph type="dt" sz="half" idx="10"/>
          </p:nvPr>
        </p:nvSpPr>
        <p:spPr/>
        <p:txBody>
          <a:bodyPr/>
          <a:lstStyle>
            <a:lvl1pPr>
              <a:defRPr/>
            </a:lvl1pPr>
          </a:lstStyle>
          <a:p>
            <a:pPr>
              <a:defRPr/>
            </a:pPr>
            <a:endParaRPr lang="en-US" altLang="zh-CN"/>
          </a:p>
        </p:txBody>
      </p:sp>
      <p:sp>
        <p:nvSpPr>
          <p:cNvPr id="6" name="Rectangle 48"/>
          <p:cNvSpPr>
            <a:spLocks noGrp="1" noChangeArrowheads="1"/>
          </p:cNvSpPr>
          <p:nvPr>
            <p:ph type="ftr" sz="quarter" idx="11"/>
          </p:nvPr>
        </p:nvSpPr>
        <p:spPr/>
        <p:txBody>
          <a:bodyPr/>
          <a:lstStyle>
            <a:lvl1pPr>
              <a:defRPr/>
            </a:lvl1pPr>
          </a:lstStyle>
          <a:p>
            <a:pPr>
              <a:defRPr/>
            </a:pPr>
            <a:endParaRPr lang="en-US" altLang="zh-CN"/>
          </a:p>
        </p:txBody>
      </p:sp>
      <p:sp>
        <p:nvSpPr>
          <p:cNvPr id="7" name="Rectangle 49"/>
          <p:cNvSpPr>
            <a:spLocks noGrp="1" noChangeArrowheads="1"/>
          </p:cNvSpPr>
          <p:nvPr>
            <p:ph type="sldNum" sz="quarter" idx="12"/>
          </p:nvPr>
        </p:nvSpPr>
        <p:spPr/>
        <p:txBody>
          <a:bodyPr/>
          <a:lstStyle>
            <a:lvl1pPr>
              <a:defRPr/>
            </a:lvl1pPr>
          </a:lstStyle>
          <a:p>
            <a:pPr>
              <a:defRPr/>
            </a:pPr>
            <a:fld id="{4A550C2D-D6D2-4070-BF52-414AFCD26E97}"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p:txBody>
          <a:bodyPr/>
          <a:lstStyle>
            <a:lvl1pPr>
              <a:defRPr/>
            </a:lvl1pPr>
          </a:lstStyle>
          <a:p>
            <a:pPr>
              <a:defRPr/>
            </a:pPr>
            <a:endParaRPr lang="en-US" altLang="zh-CN"/>
          </a:p>
        </p:txBody>
      </p:sp>
      <p:sp>
        <p:nvSpPr>
          <p:cNvPr id="5" name="Rectangle 48"/>
          <p:cNvSpPr>
            <a:spLocks noGrp="1" noChangeArrowheads="1"/>
          </p:cNvSpPr>
          <p:nvPr>
            <p:ph type="ftr" sz="quarter" idx="11"/>
          </p:nvPr>
        </p:nvSpPr>
        <p:spPr/>
        <p:txBody>
          <a:bodyPr/>
          <a:lstStyle>
            <a:lvl1pPr>
              <a:defRPr/>
            </a:lvl1pPr>
          </a:lstStyle>
          <a:p>
            <a:pPr>
              <a:defRPr/>
            </a:pPr>
            <a:endParaRPr lang="en-US" altLang="zh-CN"/>
          </a:p>
        </p:txBody>
      </p:sp>
      <p:sp>
        <p:nvSpPr>
          <p:cNvPr id="6" name="Rectangle 49"/>
          <p:cNvSpPr>
            <a:spLocks noGrp="1" noChangeArrowheads="1"/>
          </p:cNvSpPr>
          <p:nvPr>
            <p:ph type="sldNum" sz="quarter" idx="12"/>
          </p:nvPr>
        </p:nvSpPr>
        <p:spPr/>
        <p:txBody>
          <a:bodyPr/>
          <a:lstStyle>
            <a:lvl1pPr>
              <a:defRPr/>
            </a:lvl1pPr>
          </a:lstStyle>
          <a:p>
            <a:pPr>
              <a:defRPr/>
            </a:pPr>
            <a:fld id="{14C3D78D-A54A-4AC6-A80B-5EF394CDAB0E}"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7"/>
          <p:cNvSpPr>
            <a:spLocks noGrp="1" noChangeArrowheads="1"/>
          </p:cNvSpPr>
          <p:nvPr>
            <p:ph type="dt" sz="half" idx="10"/>
          </p:nvPr>
        </p:nvSpPr>
        <p:spPr/>
        <p:txBody>
          <a:bodyPr/>
          <a:lstStyle>
            <a:lvl1pPr>
              <a:defRPr/>
            </a:lvl1pPr>
          </a:lstStyle>
          <a:p>
            <a:pPr>
              <a:defRPr/>
            </a:pPr>
            <a:endParaRPr lang="en-US" altLang="zh-CN"/>
          </a:p>
        </p:txBody>
      </p:sp>
      <p:sp>
        <p:nvSpPr>
          <p:cNvPr id="5" name="Rectangle 48"/>
          <p:cNvSpPr>
            <a:spLocks noGrp="1" noChangeArrowheads="1"/>
          </p:cNvSpPr>
          <p:nvPr>
            <p:ph type="ftr" sz="quarter" idx="11"/>
          </p:nvPr>
        </p:nvSpPr>
        <p:spPr/>
        <p:txBody>
          <a:bodyPr/>
          <a:lstStyle>
            <a:lvl1pPr>
              <a:defRPr/>
            </a:lvl1pPr>
          </a:lstStyle>
          <a:p>
            <a:pPr>
              <a:defRPr/>
            </a:pPr>
            <a:endParaRPr lang="en-US" altLang="zh-CN"/>
          </a:p>
        </p:txBody>
      </p:sp>
      <p:sp>
        <p:nvSpPr>
          <p:cNvPr id="6" name="Rectangle 49"/>
          <p:cNvSpPr>
            <a:spLocks noGrp="1" noChangeArrowheads="1"/>
          </p:cNvSpPr>
          <p:nvPr>
            <p:ph type="sldNum" sz="quarter" idx="12"/>
          </p:nvPr>
        </p:nvSpPr>
        <p:spPr/>
        <p:txBody>
          <a:bodyPr/>
          <a:lstStyle>
            <a:lvl1pPr>
              <a:defRPr/>
            </a:lvl1pPr>
          </a:lstStyle>
          <a:p>
            <a:pPr>
              <a:defRPr/>
            </a:pPr>
            <a:fld id="{08BB843A-83CC-4E8B-82A2-F005259E7EF4}"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日期占位符 614403"/>
          <p:cNvSpPr>
            <a:spLocks noGrp="1"/>
          </p:cNvSpPr>
          <p:nvPr>
            <p:ph type="dt" sz="half" idx="10"/>
          </p:nvPr>
        </p:nvSpPr>
        <p:spPr/>
        <p:txBody>
          <a:bodyPr/>
          <a:lstStyle>
            <a:lvl1pPr>
              <a:defRPr/>
            </a:lvl1pPr>
          </a:lstStyle>
          <a:p>
            <a:pPr>
              <a:defRPr/>
            </a:pPr>
            <a:endParaRPr lang="zh-CN" altLang="en-US"/>
          </a:p>
        </p:txBody>
      </p:sp>
      <p:sp>
        <p:nvSpPr>
          <p:cNvPr id="4" name="页脚占位符 614404"/>
          <p:cNvSpPr>
            <a:spLocks noGrp="1"/>
          </p:cNvSpPr>
          <p:nvPr>
            <p:ph type="ftr" sz="quarter" idx="11"/>
          </p:nvPr>
        </p:nvSpPr>
        <p:spPr/>
        <p:txBody>
          <a:bodyPr/>
          <a:lstStyle>
            <a:lvl1pPr>
              <a:defRPr/>
            </a:lvl1pPr>
          </a:lstStyle>
          <a:p>
            <a:pPr>
              <a:defRPr/>
            </a:pPr>
            <a:endParaRPr lang="zh-CN" altLang="en-US"/>
          </a:p>
        </p:txBody>
      </p:sp>
      <p:sp>
        <p:nvSpPr>
          <p:cNvPr id="5" name="灯片编号占位符 614405"/>
          <p:cNvSpPr>
            <a:spLocks noGrp="1"/>
          </p:cNvSpPr>
          <p:nvPr>
            <p:ph type="sldNum" sz="quarter" idx="12"/>
          </p:nvPr>
        </p:nvSpPr>
        <p:spPr/>
        <p:txBody>
          <a:bodyPr/>
          <a:lstStyle>
            <a:lvl1pPr>
              <a:defRPr/>
            </a:lvl1pPr>
          </a:lstStyle>
          <a:p>
            <a:pPr>
              <a:defRPr/>
            </a:pPr>
            <a:fld id="{1E3A07E4-5FB3-4E43-9BB2-70C46149D37B}"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p:nvPr/>
        </p:nvGrpSpPr>
        <p:grpSpPr bwMode="auto">
          <a:xfrm>
            <a:off x="-7938" y="0"/>
            <a:ext cx="2833688" cy="6856413"/>
            <a:chOff x="-5" y="0"/>
            <a:chExt cx="1785" cy="4319"/>
          </a:xfrm>
        </p:grpSpPr>
        <p:sp>
          <p:nvSpPr>
            <p:cNvPr id="1032" name="Freeform 3"/>
            <p:cNvSpPr/>
            <p:nvPr/>
          </p:nvSpPr>
          <p:spPr bwMode="ltGray">
            <a:xfrm>
              <a:off x="-5"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w="9525">
              <a:noFill/>
              <a:round/>
            </a:ln>
          </p:spPr>
          <p:txBody>
            <a:bodyPr/>
            <a:lstStyle/>
            <a:p>
              <a:pPr>
                <a:defRPr/>
              </a:pPr>
              <a:endParaRPr lang="zh-CN" altLang="en-US"/>
            </a:p>
          </p:txBody>
        </p:sp>
        <p:grpSp>
          <p:nvGrpSpPr>
            <p:cNvPr id="1033" name="Group 4"/>
            <p:cNvGrpSpPr/>
            <p:nvPr/>
          </p:nvGrpSpPr>
          <p:grpSpPr bwMode="auto">
            <a:xfrm rot="14964908" flipH="1">
              <a:off x="104" y="2441"/>
              <a:ext cx="452" cy="444"/>
              <a:chOff x="1727" y="866"/>
              <a:chExt cx="129" cy="157"/>
            </a:xfrm>
          </p:grpSpPr>
          <p:sp>
            <p:nvSpPr>
              <p:cNvPr id="1071" name="Freeform 5"/>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1072" name="Freeform 6"/>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1073" name="Freeform 7"/>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sp>
          <p:nvSpPr>
            <p:cNvPr id="1034" name="Freeform 8"/>
            <p:cNvSpPr/>
            <p:nvPr/>
          </p:nvSpPr>
          <p:spPr bwMode="ltGray">
            <a:xfrm>
              <a:off x="90"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w="9525">
              <a:noFill/>
              <a:round/>
            </a:ln>
          </p:spPr>
          <p:txBody>
            <a:bodyPr/>
            <a:lstStyle/>
            <a:p>
              <a:pPr>
                <a:defRPr/>
              </a:pPr>
              <a:endParaRPr lang="zh-CN" altLang="en-US"/>
            </a:p>
          </p:txBody>
        </p:sp>
        <p:grpSp>
          <p:nvGrpSpPr>
            <p:cNvPr id="1035" name="Group 9"/>
            <p:cNvGrpSpPr/>
            <p:nvPr/>
          </p:nvGrpSpPr>
          <p:grpSpPr bwMode="auto">
            <a:xfrm rot="416244">
              <a:off x="9" y="1746"/>
              <a:ext cx="1771" cy="1741"/>
              <a:chOff x="41" y="2787"/>
              <a:chExt cx="902" cy="833"/>
            </a:xfrm>
          </p:grpSpPr>
          <p:sp>
            <p:nvSpPr>
              <p:cNvPr id="1062" name="Freeform 10"/>
              <p:cNvSpPr/>
              <p:nvPr userDrawn="1"/>
            </p:nvSpPr>
            <p:spPr bwMode="ltGray">
              <a:xfrm rot="373331" flipH="1">
                <a:off x="125" y="2787"/>
                <a:ext cx="313" cy="303"/>
              </a:xfrm>
              <a:custGeom>
                <a:avLst/>
                <a:gdLst>
                  <a:gd name="T0" fmla="*/ 860 w 217"/>
                  <a:gd name="T1" fmla="*/ 3943 h 210"/>
                  <a:gd name="T2" fmla="*/ 687 w 217"/>
                  <a:gd name="T3" fmla="*/ 3728 h 210"/>
                  <a:gd name="T4" fmla="*/ 493 w 217"/>
                  <a:gd name="T5" fmla="*/ 3404 h 210"/>
                  <a:gd name="T6" fmla="*/ 286 w 217"/>
                  <a:gd name="T7" fmla="*/ 2977 h 210"/>
                  <a:gd name="T8" fmla="*/ 88 w 217"/>
                  <a:gd name="T9" fmla="*/ 2532 h 210"/>
                  <a:gd name="T10" fmla="*/ 0 w 217"/>
                  <a:gd name="T11" fmla="*/ 2049 h 210"/>
                  <a:gd name="T12" fmla="*/ 1 w 217"/>
                  <a:gd name="T13" fmla="*/ 1534 h 210"/>
                  <a:gd name="T14" fmla="*/ 169 w 217"/>
                  <a:gd name="T15" fmla="*/ 1063 h 210"/>
                  <a:gd name="T16" fmla="*/ 508 w 217"/>
                  <a:gd name="T17" fmla="*/ 667 h 210"/>
                  <a:gd name="T18" fmla="*/ 848 w 217"/>
                  <a:gd name="T19" fmla="*/ 413 h 210"/>
                  <a:gd name="T20" fmla="*/ 1125 w 217"/>
                  <a:gd name="T21" fmla="*/ 225 h 210"/>
                  <a:gd name="T22" fmla="*/ 1350 w 217"/>
                  <a:gd name="T23" fmla="*/ 127 h 210"/>
                  <a:gd name="T24" fmla="*/ 1525 w 217"/>
                  <a:gd name="T25" fmla="*/ 88 h 210"/>
                  <a:gd name="T26" fmla="*/ 1650 w 217"/>
                  <a:gd name="T27" fmla="*/ 88 h 210"/>
                  <a:gd name="T28" fmla="*/ 1947 w 217"/>
                  <a:gd name="T29" fmla="*/ 0 h 210"/>
                  <a:gd name="T30" fmla="*/ 2767 w 217"/>
                  <a:gd name="T31" fmla="*/ 156 h 210"/>
                  <a:gd name="T32" fmla="*/ 2996 w 217"/>
                  <a:gd name="T33" fmla="*/ 225 h 210"/>
                  <a:gd name="T34" fmla="*/ 3221 w 217"/>
                  <a:gd name="T35" fmla="*/ 286 h 210"/>
                  <a:gd name="T36" fmla="*/ 3414 w 217"/>
                  <a:gd name="T37" fmla="*/ 352 h 210"/>
                  <a:gd name="T38" fmla="*/ 3560 w 217"/>
                  <a:gd name="T39" fmla="*/ 433 h 210"/>
                  <a:gd name="T40" fmla="*/ 3721 w 217"/>
                  <a:gd name="T41" fmla="*/ 508 h 210"/>
                  <a:gd name="T42" fmla="*/ 3847 w 217"/>
                  <a:gd name="T43" fmla="*/ 596 h 210"/>
                  <a:gd name="T44" fmla="*/ 3946 w 217"/>
                  <a:gd name="T45" fmla="*/ 711 h 210"/>
                  <a:gd name="T46" fmla="*/ 4063 w 217"/>
                  <a:gd name="T47" fmla="*/ 850 h 210"/>
                  <a:gd name="T48" fmla="*/ 3847 w 217"/>
                  <a:gd name="T49" fmla="*/ 760 h 210"/>
                  <a:gd name="T50" fmla="*/ 3641 w 217"/>
                  <a:gd name="T51" fmla="*/ 677 h 210"/>
                  <a:gd name="T52" fmla="*/ 3433 w 217"/>
                  <a:gd name="T53" fmla="*/ 625 h 210"/>
                  <a:gd name="T54" fmla="*/ 3221 w 217"/>
                  <a:gd name="T55" fmla="*/ 556 h 210"/>
                  <a:gd name="T56" fmla="*/ 3052 w 217"/>
                  <a:gd name="T57" fmla="*/ 508 h 210"/>
                  <a:gd name="T58" fmla="*/ 2875 w 217"/>
                  <a:gd name="T59" fmla="*/ 493 h 210"/>
                  <a:gd name="T60" fmla="*/ 2671 w 217"/>
                  <a:gd name="T61" fmla="*/ 462 h 210"/>
                  <a:gd name="T62" fmla="*/ 2503 w 217"/>
                  <a:gd name="T63" fmla="*/ 462 h 210"/>
                  <a:gd name="T64" fmla="*/ 2341 w 217"/>
                  <a:gd name="T65" fmla="*/ 462 h 210"/>
                  <a:gd name="T66" fmla="*/ 2172 w 217"/>
                  <a:gd name="T67" fmla="*/ 469 h 210"/>
                  <a:gd name="T68" fmla="*/ 1999 w 217"/>
                  <a:gd name="T69" fmla="*/ 508 h 210"/>
                  <a:gd name="T70" fmla="*/ 1852 w 217"/>
                  <a:gd name="T71" fmla="*/ 550 h 210"/>
                  <a:gd name="T72" fmla="*/ 1703 w 217"/>
                  <a:gd name="T73" fmla="*/ 625 h 210"/>
                  <a:gd name="T74" fmla="*/ 1527 w 217"/>
                  <a:gd name="T75" fmla="*/ 677 h 210"/>
                  <a:gd name="T76" fmla="*/ 1386 w 217"/>
                  <a:gd name="T77" fmla="*/ 766 h 210"/>
                  <a:gd name="T78" fmla="*/ 1240 w 217"/>
                  <a:gd name="T79" fmla="*/ 860 h 210"/>
                  <a:gd name="T80" fmla="*/ 975 w 217"/>
                  <a:gd name="T81" fmla="*/ 1146 h 210"/>
                  <a:gd name="T82" fmla="*/ 793 w 217"/>
                  <a:gd name="T83" fmla="*/ 1499 h 210"/>
                  <a:gd name="T84" fmla="*/ 687 w 217"/>
                  <a:gd name="T85" fmla="*/ 1938 h 210"/>
                  <a:gd name="T86" fmla="*/ 649 w 217"/>
                  <a:gd name="T87" fmla="*/ 2369 h 210"/>
                  <a:gd name="T88" fmla="*/ 649 w 217"/>
                  <a:gd name="T89" fmla="*/ 2848 h 210"/>
                  <a:gd name="T90" fmla="*/ 711 w 217"/>
                  <a:gd name="T91" fmla="*/ 3262 h 210"/>
                  <a:gd name="T92" fmla="*/ 766 w 217"/>
                  <a:gd name="T93" fmla="*/ 3643 h 210"/>
                  <a:gd name="T94" fmla="*/ 860 w 217"/>
                  <a:gd name="T95" fmla="*/ 3943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w="9525">
                <a:noFill/>
                <a:round/>
              </a:ln>
            </p:spPr>
            <p:txBody>
              <a:bodyPr/>
              <a:lstStyle/>
              <a:p>
                <a:pPr>
                  <a:defRPr/>
                </a:pPr>
                <a:endParaRPr lang="zh-CN" altLang="en-US"/>
              </a:p>
            </p:txBody>
          </p:sp>
          <p:sp>
            <p:nvSpPr>
              <p:cNvPr id="1063" name="Freeform 11"/>
              <p:cNvSpPr/>
              <p:nvPr userDrawn="1"/>
            </p:nvSpPr>
            <p:spPr bwMode="ltGray">
              <a:xfrm rot="373331" flipH="1">
                <a:off x="41" y="2843"/>
                <a:ext cx="262" cy="308"/>
              </a:xfrm>
              <a:custGeom>
                <a:avLst/>
                <a:gdLst>
                  <a:gd name="T0" fmla="*/ 2010 w 182"/>
                  <a:gd name="T1" fmla="*/ 0 h 213"/>
                  <a:gd name="T2" fmla="*/ 2064 w 182"/>
                  <a:gd name="T3" fmla="*/ 39 h 213"/>
                  <a:gd name="T4" fmla="*/ 2179 w 182"/>
                  <a:gd name="T5" fmla="*/ 156 h 213"/>
                  <a:gd name="T6" fmla="*/ 2344 w 182"/>
                  <a:gd name="T7" fmla="*/ 351 h 213"/>
                  <a:gd name="T8" fmla="*/ 2531 w 182"/>
                  <a:gd name="T9" fmla="*/ 636 h 213"/>
                  <a:gd name="T10" fmla="*/ 2675 w 182"/>
                  <a:gd name="T11" fmla="*/ 989 h 213"/>
                  <a:gd name="T12" fmla="*/ 2771 w 182"/>
                  <a:gd name="T13" fmla="*/ 1458 h 213"/>
                  <a:gd name="T14" fmla="*/ 2771 w 182"/>
                  <a:gd name="T15" fmla="*/ 2011 h 213"/>
                  <a:gd name="T16" fmla="*/ 2655 w 182"/>
                  <a:gd name="T17" fmla="*/ 2664 h 213"/>
                  <a:gd name="T18" fmla="*/ 2590 w 182"/>
                  <a:gd name="T19" fmla="*/ 2846 h 213"/>
                  <a:gd name="T20" fmla="*/ 2509 w 182"/>
                  <a:gd name="T21" fmla="*/ 2996 h 213"/>
                  <a:gd name="T22" fmla="*/ 2423 w 182"/>
                  <a:gd name="T23" fmla="*/ 3160 h 213"/>
                  <a:gd name="T24" fmla="*/ 2306 w 182"/>
                  <a:gd name="T25" fmla="*/ 3304 h 213"/>
                  <a:gd name="T26" fmla="*/ 2151 w 182"/>
                  <a:gd name="T27" fmla="*/ 3442 h 213"/>
                  <a:gd name="T28" fmla="*/ 2023 w 182"/>
                  <a:gd name="T29" fmla="*/ 3546 h 213"/>
                  <a:gd name="T30" fmla="*/ 1886 w 182"/>
                  <a:gd name="T31" fmla="*/ 3647 h 213"/>
                  <a:gd name="T32" fmla="*/ 1691 w 182"/>
                  <a:gd name="T33" fmla="*/ 3728 h 213"/>
                  <a:gd name="T34" fmla="*/ 1514 w 182"/>
                  <a:gd name="T35" fmla="*/ 3768 h 213"/>
                  <a:gd name="T36" fmla="*/ 1337 w 182"/>
                  <a:gd name="T37" fmla="*/ 3816 h 213"/>
                  <a:gd name="T38" fmla="*/ 1131 w 182"/>
                  <a:gd name="T39" fmla="*/ 3852 h 213"/>
                  <a:gd name="T40" fmla="*/ 910 w 182"/>
                  <a:gd name="T41" fmla="*/ 3852 h 213"/>
                  <a:gd name="T42" fmla="*/ 674 w 182"/>
                  <a:gd name="T43" fmla="*/ 3816 h 213"/>
                  <a:gd name="T44" fmla="*/ 462 w 182"/>
                  <a:gd name="T45" fmla="*/ 3768 h 213"/>
                  <a:gd name="T46" fmla="*/ 216 w 182"/>
                  <a:gd name="T47" fmla="*/ 3686 h 213"/>
                  <a:gd name="T48" fmla="*/ 0 w 182"/>
                  <a:gd name="T49" fmla="*/ 3588 h 213"/>
                  <a:gd name="T50" fmla="*/ 206 w 182"/>
                  <a:gd name="T51" fmla="*/ 3728 h 213"/>
                  <a:gd name="T52" fmla="*/ 409 w 182"/>
                  <a:gd name="T53" fmla="*/ 3816 h 213"/>
                  <a:gd name="T54" fmla="*/ 616 w 182"/>
                  <a:gd name="T55" fmla="*/ 3911 h 213"/>
                  <a:gd name="T56" fmla="*/ 789 w 182"/>
                  <a:gd name="T57" fmla="*/ 3979 h 213"/>
                  <a:gd name="T58" fmla="*/ 970 w 182"/>
                  <a:gd name="T59" fmla="*/ 4036 h 213"/>
                  <a:gd name="T60" fmla="*/ 1169 w 182"/>
                  <a:gd name="T61" fmla="*/ 4059 h 213"/>
                  <a:gd name="T62" fmla="*/ 1339 w 182"/>
                  <a:gd name="T63" fmla="*/ 4066 h 213"/>
                  <a:gd name="T64" fmla="*/ 1522 w 182"/>
                  <a:gd name="T65" fmla="*/ 4066 h 213"/>
                  <a:gd name="T66" fmla="*/ 1683 w 182"/>
                  <a:gd name="T67" fmla="*/ 4059 h 213"/>
                  <a:gd name="T68" fmla="*/ 1844 w 182"/>
                  <a:gd name="T69" fmla="*/ 4021 h 213"/>
                  <a:gd name="T70" fmla="*/ 1984 w 182"/>
                  <a:gd name="T71" fmla="*/ 3979 h 213"/>
                  <a:gd name="T72" fmla="*/ 2132 w 182"/>
                  <a:gd name="T73" fmla="*/ 3939 h 213"/>
                  <a:gd name="T74" fmla="*/ 2267 w 182"/>
                  <a:gd name="T75" fmla="*/ 3890 h 213"/>
                  <a:gd name="T76" fmla="*/ 2394 w 182"/>
                  <a:gd name="T77" fmla="*/ 3803 h 213"/>
                  <a:gd name="T78" fmla="*/ 2509 w 182"/>
                  <a:gd name="T79" fmla="*/ 3728 h 213"/>
                  <a:gd name="T80" fmla="*/ 2616 w 182"/>
                  <a:gd name="T81" fmla="*/ 3647 h 213"/>
                  <a:gd name="T82" fmla="*/ 2912 w 182"/>
                  <a:gd name="T83" fmla="*/ 3361 h 213"/>
                  <a:gd name="T84" fmla="*/ 3117 w 182"/>
                  <a:gd name="T85" fmla="*/ 3079 h 213"/>
                  <a:gd name="T86" fmla="*/ 3238 w 182"/>
                  <a:gd name="T87" fmla="*/ 2752 h 213"/>
                  <a:gd name="T88" fmla="*/ 3304 w 182"/>
                  <a:gd name="T89" fmla="*/ 2452 h 213"/>
                  <a:gd name="T90" fmla="*/ 3344 w 182"/>
                  <a:gd name="T91" fmla="*/ 2129 h 213"/>
                  <a:gd name="T92" fmla="*/ 3344 w 182"/>
                  <a:gd name="T93" fmla="*/ 1810 h 213"/>
                  <a:gd name="T94" fmla="*/ 3360 w 182"/>
                  <a:gd name="T95" fmla="*/ 1511 h 213"/>
                  <a:gd name="T96" fmla="*/ 3183 w 182"/>
                  <a:gd name="T97" fmla="*/ 882 h 213"/>
                  <a:gd name="T98" fmla="*/ 2882 w 182"/>
                  <a:gd name="T99" fmla="*/ 393 h 213"/>
                  <a:gd name="T100" fmla="*/ 2775 w 182"/>
                  <a:gd name="T101" fmla="*/ 351 h 213"/>
                  <a:gd name="T102" fmla="*/ 2715 w 182"/>
                  <a:gd name="T103" fmla="*/ 292 h 213"/>
                  <a:gd name="T104" fmla="*/ 2616 w 182"/>
                  <a:gd name="T105" fmla="*/ 244 h 213"/>
                  <a:gd name="T106" fmla="*/ 2547 w 182"/>
                  <a:gd name="T107" fmla="*/ 210 h 213"/>
                  <a:gd name="T108" fmla="*/ 2434 w 182"/>
                  <a:gd name="T109" fmla="*/ 169 h 213"/>
                  <a:gd name="T110" fmla="*/ 2323 w 182"/>
                  <a:gd name="T111" fmla="*/ 117 h 213"/>
                  <a:gd name="T112" fmla="*/ 2191 w 182"/>
                  <a:gd name="T113" fmla="*/ 56 h 213"/>
                  <a:gd name="T114" fmla="*/ 2010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w="9525">
                <a:noFill/>
                <a:round/>
              </a:ln>
            </p:spPr>
            <p:txBody>
              <a:bodyPr/>
              <a:lstStyle/>
              <a:p>
                <a:pPr>
                  <a:defRPr/>
                </a:pPr>
                <a:endParaRPr lang="zh-CN" altLang="en-US"/>
              </a:p>
            </p:txBody>
          </p:sp>
          <p:sp>
            <p:nvSpPr>
              <p:cNvPr id="1064" name="Freeform 12"/>
              <p:cNvSpPr/>
              <p:nvPr userDrawn="1"/>
            </p:nvSpPr>
            <p:spPr bwMode="ltGray">
              <a:xfrm rot="373331" flipH="1">
                <a:off x="121" y="2907"/>
                <a:ext cx="93" cy="156"/>
              </a:xfrm>
              <a:custGeom>
                <a:avLst/>
                <a:gdLst>
                  <a:gd name="T0" fmla="*/ 7 w 128"/>
                  <a:gd name="T1" fmla="*/ 0 h 217"/>
                  <a:gd name="T2" fmla="*/ 8 w 128"/>
                  <a:gd name="T3" fmla="*/ 1 h 217"/>
                  <a:gd name="T4" fmla="*/ 9 w 128"/>
                  <a:gd name="T5" fmla="*/ 2 h 217"/>
                  <a:gd name="T6" fmla="*/ 9 w 128"/>
                  <a:gd name="T7" fmla="*/ 4 h 217"/>
                  <a:gd name="T8" fmla="*/ 10 w 128"/>
                  <a:gd name="T9" fmla="*/ 6 h 217"/>
                  <a:gd name="T10" fmla="*/ 10 w 128"/>
                  <a:gd name="T11" fmla="*/ 9 h 217"/>
                  <a:gd name="T12" fmla="*/ 9 w 128"/>
                  <a:gd name="T13" fmla="*/ 10 h 217"/>
                  <a:gd name="T14" fmla="*/ 7 w 128"/>
                  <a:gd name="T15" fmla="*/ 13 h 217"/>
                  <a:gd name="T16" fmla="*/ 5 w 128"/>
                  <a:gd name="T17" fmla="*/ 16 h 217"/>
                  <a:gd name="T18" fmla="*/ 4 w 128"/>
                  <a:gd name="T19" fmla="*/ 15 h 217"/>
                  <a:gd name="T20" fmla="*/ 3 w 128"/>
                  <a:gd name="T21" fmla="*/ 15 h 217"/>
                  <a:gd name="T22" fmla="*/ 2 w 128"/>
                  <a:gd name="T23" fmla="*/ 15 h 217"/>
                  <a:gd name="T24" fmla="*/ 1 w 128"/>
                  <a:gd name="T25" fmla="*/ 14 h 217"/>
                  <a:gd name="T26" fmla="*/ 1 w 128"/>
                  <a:gd name="T27" fmla="*/ 14 h 217"/>
                  <a:gd name="T28" fmla="*/ 1 w 128"/>
                  <a:gd name="T29" fmla="*/ 14 h 217"/>
                  <a:gd name="T30" fmla="*/ 0 w 128"/>
                  <a:gd name="T31" fmla="*/ 13 h 217"/>
                  <a:gd name="T32" fmla="*/ 1 w 128"/>
                  <a:gd name="T33" fmla="*/ 12 h 217"/>
                  <a:gd name="T34" fmla="*/ 1 w 128"/>
                  <a:gd name="T35" fmla="*/ 12 h 217"/>
                  <a:gd name="T36" fmla="*/ 2 w 128"/>
                  <a:gd name="T37" fmla="*/ 12 h 217"/>
                  <a:gd name="T38" fmla="*/ 4 w 128"/>
                  <a:gd name="T39" fmla="*/ 11 h 217"/>
                  <a:gd name="T40" fmla="*/ 5 w 128"/>
                  <a:gd name="T41" fmla="*/ 10 h 217"/>
                  <a:gd name="T42" fmla="*/ 7 w 128"/>
                  <a:gd name="T43" fmla="*/ 9 h 217"/>
                  <a:gd name="T44" fmla="*/ 7 w 128"/>
                  <a:gd name="T45" fmla="*/ 6 h 217"/>
                  <a:gd name="T46" fmla="*/ 8 w 128"/>
                  <a:gd name="T47" fmla="*/ 3 h 217"/>
                  <a:gd name="T48" fmla="*/ 7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w="9525">
                <a:noFill/>
                <a:round/>
              </a:ln>
            </p:spPr>
            <p:txBody>
              <a:bodyPr/>
              <a:lstStyle/>
              <a:p>
                <a:pPr>
                  <a:defRPr/>
                </a:pPr>
                <a:endParaRPr lang="zh-CN" altLang="en-US"/>
              </a:p>
            </p:txBody>
          </p:sp>
          <p:sp>
            <p:nvSpPr>
              <p:cNvPr id="1065" name="Freeform 13"/>
              <p:cNvSpPr/>
              <p:nvPr userDrawn="1"/>
            </p:nvSpPr>
            <p:spPr bwMode="ltGray">
              <a:xfrm rot="373331" flipH="1">
                <a:off x="313" y="3110"/>
                <a:ext cx="85" cy="93"/>
              </a:xfrm>
              <a:custGeom>
                <a:avLst/>
                <a:gdLst>
                  <a:gd name="T0" fmla="*/ 6 w 117"/>
                  <a:gd name="T1" fmla="*/ 0 h 132"/>
                  <a:gd name="T2" fmla="*/ 0 w 117"/>
                  <a:gd name="T3" fmla="*/ 1 h 132"/>
                  <a:gd name="T4" fmla="*/ 1 w 117"/>
                  <a:gd name="T5" fmla="*/ 1 h 132"/>
                  <a:gd name="T6" fmla="*/ 1 w 117"/>
                  <a:gd name="T7" fmla="*/ 2 h 132"/>
                  <a:gd name="T8" fmla="*/ 2 w 117"/>
                  <a:gd name="T9" fmla="*/ 2 h 132"/>
                  <a:gd name="T10" fmla="*/ 4 w 117"/>
                  <a:gd name="T11" fmla="*/ 3 h 132"/>
                  <a:gd name="T12" fmla="*/ 5 w 117"/>
                  <a:gd name="T13" fmla="*/ 4 h 132"/>
                  <a:gd name="T14" fmla="*/ 7 w 117"/>
                  <a:gd name="T15" fmla="*/ 4 h 132"/>
                  <a:gd name="T16" fmla="*/ 8 w 117"/>
                  <a:gd name="T17" fmla="*/ 6 h 132"/>
                  <a:gd name="T18" fmla="*/ 9 w 117"/>
                  <a:gd name="T19" fmla="*/ 8 h 132"/>
                  <a:gd name="T20" fmla="*/ 9 w 117"/>
                  <a:gd name="T21" fmla="*/ 8 h 132"/>
                  <a:gd name="T22" fmla="*/ 9 w 117"/>
                  <a:gd name="T23" fmla="*/ 6 h 132"/>
                  <a:gd name="T24" fmla="*/ 9 w 117"/>
                  <a:gd name="T25" fmla="*/ 6 h 132"/>
                  <a:gd name="T26" fmla="*/ 8 w 117"/>
                  <a:gd name="T27" fmla="*/ 4 h 132"/>
                  <a:gd name="T28" fmla="*/ 7 w 117"/>
                  <a:gd name="T29" fmla="*/ 4 h 132"/>
                  <a:gd name="T30" fmla="*/ 7 w 117"/>
                  <a:gd name="T31" fmla="*/ 3 h 132"/>
                  <a:gd name="T32" fmla="*/ 5 w 117"/>
                  <a:gd name="T33" fmla="*/ 2 h 132"/>
                  <a:gd name="T34" fmla="*/ 5 w 117"/>
                  <a:gd name="T35" fmla="*/ 2 h 132"/>
                  <a:gd name="T36" fmla="*/ 5 w 117"/>
                  <a:gd name="T37" fmla="*/ 2 h 132"/>
                  <a:gd name="T38" fmla="*/ 7 w 117"/>
                  <a:gd name="T39" fmla="*/ 2 h 132"/>
                  <a:gd name="T40" fmla="*/ 7 w 117"/>
                  <a:gd name="T41" fmla="*/ 1 h 132"/>
                  <a:gd name="T42" fmla="*/ 8 w 117"/>
                  <a:gd name="T43" fmla="*/ 1 h 132"/>
                  <a:gd name="T44" fmla="*/ 8 w 117"/>
                  <a:gd name="T45" fmla="*/ 1 h 132"/>
                  <a:gd name="T46" fmla="*/ 9 w 117"/>
                  <a:gd name="T47" fmla="*/ 1 h 132"/>
                  <a:gd name="T48" fmla="*/ 9 w 117"/>
                  <a:gd name="T49" fmla="*/ 1 h 132"/>
                  <a:gd name="T50" fmla="*/ 9 w 117"/>
                  <a:gd name="T51" fmla="*/ 1 h 132"/>
                  <a:gd name="T52" fmla="*/ 6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w="9525">
                <a:noFill/>
                <a:round/>
              </a:ln>
            </p:spPr>
            <p:txBody>
              <a:bodyPr/>
              <a:lstStyle/>
              <a:p>
                <a:pPr>
                  <a:defRPr/>
                </a:pPr>
                <a:endParaRPr lang="zh-CN" altLang="en-US"/>
              </a:p>
            </p:txBody>
          </p:sp>
          <p:sp>
            <p:nvSpPr>
              <p:cNvPr id="1066" name="Freeform 14"/>
              <p:cNvSpPr/>
              <p:nvPr userDrawn="1"/>
            </p:nvSpPr>
            <p:spPr bwMode="ltGray">
              <a:xfrm rot="373331" flipH="1">
                <a:off x="289" y="3133"/>
                <a:ext cx="21" cy="55"/>
              </a:xfrm>
              <a:custGeom>
                <a:avLst/>
                <a:gdLst>
                  <a:gd name="T0" fmla="*/ 2 w 29"/>
                  <a:gd name="T1" fmla="*/ 0 h 77"/>
                  <a:gd name="T2" fmla="*/ 2 w 29"/>
                  <a:gd name="T3" fmla="*/ 0 h 77"/>
                  <a:gd name="T4" fmla="*/ 1 w 29"/>
                  <a:gd name="T5" fmla="*/ 1 h 77"/>
                  <a:gd name="T6" fmla="*/ 1 w 29"/>
                  <a:gd name="T7" fmla="*/ 1 h 77"/>
                  <a:gd name="T8" fmla="*/ 1 w 29"/>
                  <a:gd name="T9" fmla="*/ 1 h 77"/>
                  <a:gd name="T10" fmla="*/ 1 w 29"/>
                  <a:gd name="T11" fmla="*/ 2 h 77"/>
                  <a:gd name="T12" fmla="*/ 0 w 29"/>
                  <a:gd name="T13" fmla="*/ 3 h 77"/>
                  <a:gd name="T14" fmla="*/ 1 w 29"/>
                  <a:gd name="T15" fmla="*/ 4 h 77"/>
                  <a:gd name="T16" fmla="*/ 1 w 29"/>
                  <a:gd name="T17" fmla="*/ 5 h 77"/>
                  <a:gd name="T18" fmla="*/ 1 w 29"/>
                  <a:gd name="T19" fmla="*/ 4 h 77"/>
                  <a:gd name="T20" fmla="*/ 1 w 29"/>
                  <a:gd name="T21" fmla="*/ 3 h 77"/>
                  <a:gd name="T22" fmla="*/ 2 w 29"/>
                  <a:gd name="T23" fmla="*/ 1 h 77"/>
                  <a:gd name="T24" fmla="*/ 2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w="9525">
                <a:noFill/>
                <a:round/>
              </a:ln>
            </p:spPr>
            <p:txBody>
              <a:bodyPr/>
              <a:lstStyle/>
              <a:p>
                <a:pPr>
                  <a:defRPr/>
                </a:pPr>
                <a:endParaRPr lang="zh-CN" altLang="en-US"/>
              </a:p>
            </p:txBody>
          </p:sp>
          <p:grpSp>
            <p:nvGrpSpPr>
              <p:cNvPr id="1067" name="Group 15"/>
              <p:cNvGrpSpPr/>
              <p:nvPr userDrawn="1"/>
            </p:nvGrpSpPr>
            <p:grpSpPr bwMode="auto">
              <a:xfrm rot="10886446" flipH="1">
                <a:off x="335" y="3251"/>
                <a:ext cx="608" cy="369"/>
                <a:chOff x="-366" y="1704"/>
                <a:chExt cx="608" cy="369"/>
              </a:xfrm>
            </p:grpSpPr>
            <p:sp>
              <p:nvSpPr>
                <p:cNvPr id="1068" name="Freeform 16"/>
                <p:cNvSpPr/>
                <p:nvPr userDrawn="1"/>
              </p:nvSpPr>
              <p:spPr bwMode="ltGray">
                <a:xfrm rot="4200091">
                  <a:off x="-243" y="1807"/>
                  <a:ext cx="143" cy="390"/>
                </a:xfrm>
                <a:custGeom>
                  <a:avLst/>
                  <a:gdLst>
                    <a:gd name="T0" fmla="*/ 1 w 207"/>
                    <a:gd name="T1" fmla="*/ 2 h 564"/>
                    <a:gd name="T2" fmla="*/ 1 w 207"/>
                    <a:gd name="T3" fmla="*/ 4 h 564"/>
                    <a:gd name="T4" fmla="*/ 1 w 207"/>
                    <a:gd name="T5" fmla="*/ 6 h 564"/>
                    <a:gd name="T6" fmla="*/ 0 w 207"/>
                    <a:gd name="T7" fmla="*/ 6 h 564"/>
                    <a:gd name="T8" fmla="*/ 0 w 207"/>
                    <a:gd name="T9" fmla="*/ 8 h 564"/>
                    <a:gd name="T10" fmla="*/ 1 w 207"/>
                    <a:gd name="T11" fmla="*/ 9 h 564"/>
                    <a:gd name="T12" fmla="*/ 1 w 207"/>
                    <a:gd name="T13" fmla="*/ 11 h 564"/>
                    <a:gd name="T14" fmla="*/ 1 w 207"/>
                    <a:gd name="T15" fmla="*/ 13 h 564"/>
                    <a:gd name="T16" fmla="*/ 1 w 207"/>
                    <a:gd name="T17" fmla="*/ 15 h 564"/>
                    <a:gd name="T18" fmla="*/ 2 w 207"/>
                    <a:gd name="T19" fmla="*/ 17 h 564"/>
                    <a:gd name="T20" fmla="*/ 3 w 207"/>
                    <a:gd name="T21" fmla="*/ 19 h 564"/>
                    <a:gd name="T22" fmla="*/ 4 w 207"/>
                    <a:gd name="T23" fmla="*/ 21 h 564"/>
                    <a:gd name="T24" fmla="*/ 6 w 207"/>
                    <a:gd name="T25" fmla="*/ 24 h 564"/>
                    <a:gd name="T26" fmla="*/ 7 w 207"/>
                    <a:gd name="T27" fmla="*/ 26 h 564"/>
                    <a:gd name="T28" fmla="*/ 8 w 207"/>
                    <a:gd name="T29" fmla="*/ 27 h 564"/>
                    <a:gd name="T30" fmla="*/ 9 w 207"/>
                    <a:gd name="T31" fmla="*/ 28 h 564"/>
                    <a:gd name="T32" fmla="*/ 10 w 207"/>
                    <a:gd name="T33" fmla="*/ 30 h 564"/>
                    <a:gd name="T34" fmla="*/ 8 w 207"/>
                    <a:gd name="T35" fmla="*/ 26 h 564"/>
                    <a:gd name="T36" fmla="*/ 7 w 207"/>
                    <a:gd name="T37" fmla="*/ 24 h 564"/>
                    <a:gd name="T38" fmla="*/ 6 w 207"/>
                    <a:gd name="T39" fmla="*/ 21 h 564"/>
                    <a:gd name="T40" fmla="*/ 4 w 207"/>
                    <a:gd name="T41" fmla="*/ 19 h 564"/>
                    <a:gd name="T42" fmla="*/ 4 w 207"/>
                    <a:gd name="T43" fmla="*/ 18 h 564"/>
                    <a:gd name="T44" fmla="*/ 3 w 207"/>
                    <a:gd name="T45" fmla="*/ 17 h 564"/>
                    <a:gd name="T46" fmla="*/ 3 w 207"/>
                    <a:gd name="T47" fmla="*/ 15 h 564"/>
                    <a:gd name="T48" fmla="*/ 3 w 207"/>
                    <a:gd name="T49" fmla="*/ 13 h 564"/>
                    <a:gd name="T50" fmla="*/ 2 w 207"/>
                    <a:gd name="T51" fmla="*/ 11 h 564"/>
                    <a:gd name="T52" fmla="*/ 2 w 207"/>
                    <a:gd name="T53" fmla="*/ 7 h 564"/>
                    <a:gd name="T54" fmla="*/ 2 w 207"/>
                    <a:gd name="T55" fmla="*/ 4 h 564"/>
                    <a:gd name="T56" fmla="*/ 3 w 207"/>
                    <a:gd name="T57" fmla="*/ 0 h 564"/>
                    <a:gd name="T58" fmla="*/ 1 w 207"/>
                    <a:gd name="T59" fmla="*/ 2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w="9525">
                  <a:noFill/>
                  <a:round/>
                </a:ln>
              </p:spPr>
              <p:txBody>
                <a:bodyPr/>
                <a:lstStyle/>
                <a:p>
                  <a:pPr>
                    <a:defRPr/>
                  </a:pPr>
                  <a:endParaRPr lang="zh-CN" altLang="en-US"/>
                </a:p>
              </p:txBody>
            </p:sp>
            <p:sp>
              <p:nvSpPr>
                <p:cNvPr id="1069" name="Freeform 17"/>
                <p:cNvSpPr/>
                <p:nvPr userDrawn="1"/>
              </p:nvSpPr>
              <p:spPr bwMode="ltGray">
                <a:xfrm rot="4200091">
                  <a:off x="124" y="1761"/>
                  <a:ext cx="33" cy="160"/>
                </a:xfrm>
                <a:custGeom>
                  <a:avLst/>
                  <a:gdLst>
                    <a:gd name="T0" fmla="*/ 0 w 47"/>
                    <a:gd name="T1" fmla="*/ 1 h 232"/>
                    <a:gd name="T2" fmla="*/ 1 w 47"/>
                    <a:gd name="T3" fmla="*/ 3 h 232"/>
                    <a:gd name="T4" fmla="*/ 1 w 47"/>
                    <a:gd name="T5" fmla="*/ 6 h 232"/>
                    <a:gd name="T6" fmla="*/ 1 w 47"/>
                    <a:gd name="T7" fmla="*/ 8 h 232"/>
                    <a:gd name="T8" fmla="*/ 1 w 47"/>
                    <a:gd name="T9" fmla="*/ 12 h 232"/>
                    <a:gd name="T10" fmla="*/ 3 w 47"/>
                    <a:gd name="T11" fmla="*/ 11 h 232"/>
                    <a:gd name="T12" fmla="*/ 3 w 47"/>
                    <a:gd name="T13" fmla="*/ 9 h 232"/>
                    <a:gd name="T14" fmla="*/ 3 w 47"/>
                    <a:gd name="T15" fmla="*/ 7 h 232"/>
                    <a:gd name="T16" fmla="*/ 3 w 47"/>
                    <a:gd name="T17" fmla="*/ 6 h 232"/>
                    <a:gd name="T18" fmla="*/ 3 w 47"/>
                    <a:gd name="T19" fmla="*/ 4 h 232"/>
                    <a:gd name="T20" fmla="*/ 2 w 47"/>
                    <a:gd name="T21" fmla="*/ 3 h 232"/>
                    <a:gd name="T22" fmla="*/ 2 w 47"/>
                    <a:gd name="T23" fmla="*/ 2 h 232"/>
                    <a:gd name="T24" fmla="*/ 1 w 47"/>
                    <a:gd name="T25" fmla="*/ 1 h 232"/>
                    <a:gd name="T26" fmla="*/ 1 w 47"/>
                    <a:gd name="T27" fmla="*/ 0 h 232"/>
                    <a:gd name="T28" fmla="*/ 0 w 47"/>
                    <a:gd name="T29" fmla="*/ 1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w="9525">
                  <a:noFill/>
                  <a:round/>
                </a:ln>
              </p:spPr>
              <p:txBody>
                <a:bodyPr/>
                <a:lstStyle/>
                <a:p>
                  <a:pPr>
                    <a:defRPr/>
                  </a:pPr>
                  <a:endParaRPr lang="zh-CN" altLang="en-US"/>
                </a:p>
              </p:txBody>
            </p:sp>
            <p:sp>
              <p:nvSpPr>
                <p:cNvPr id="1070" name="Freeform 18"/>
                <p:cNvSpPr/>
                <p:nvPr userDrawn="1"/>
              </p:nvSpPr>
              <p:spPr bwMode="ltGray">
                <a:xfrm rot="4200091">
                  <a:off x="191" y="1723"/>
                  <a:ext cx="60" cy="27"/>
                </a:xfrm>
                <a:custGeom>
                  <a:avLst/>
                  <a:gdLst>
                    <a:gd name="T0" fmla="*/ 4 w 87"/>
                    <a:gd name="T1" fmla="*/ 1 h 40"/>
                    <a:gd name="T2" fmla="*/ 4 w 87"/>
                    <a:gd name="T3" fmla="*/ 1 h 40"/>
                    <a:gd name="T4" fmla="*/ 3 w 87"/>
                    <a:gd name="T5" fmla="*/ 1 h 40"/>
                    <a:gd name="T6" fmla="*/ 3 w 87"/>
                    <a:gd name="T7" fmla="*/ 1 h 40"/>
                    <a:gd name="T8" fmla="*/ 2 w 87"/>
                    <a:gd name="T9" fmla="*/ 1 h 40"/>
                    <a:gd name="T10" fmla="*/ 2 w 87"/>
                    <a:gd name="T11" fmla="*/ 1 h 40"/>
                    <a:gd name="T12" fmla="*/ 1 w 87"/>
                    <a:gd name="T13" fmla="*/ 1 h 40"/>
                    <a:gd name="T14" fmla="*/ 1 w 87"/>
                    <a:gd name="T15" fmla="*/ 0 h 40"/>
                    <a:gd name="T16" fmla="*/ 0 w 87"/>
                    <a:gd name="T17" fmla="*/ 1 h 40"/>
                    <a:gd name="T18" fmla="*/ 1 w 87"/>
                    <a:gd name="T19" fmla="*/ 1 h 40"/>
                    <a:gd name="T20" fmla="*/ 1 w 87"/>
                    <a:gd name="T21" fmla="*/ 1 h 40"/>
                    <a:gd name="T22" fmla="*/ 1 w 87"/>
                    <a:gd name="T23" fmla="*/ 1 h 40"/>
                    <a:gd name="T24" fmla="*/ 2 w 87"/>
                    <a:gd name="T25" fmla="*/ 1 h 40"/>
                    <a:gd name="T26" fmla="*/ 2 w 87"/>
                    <a:gd name="T27" fmla="*/ 1 h 40"/>
                    <a:gd name="T28" fmla="*/ 3 w 87"/>
                    <a:gd name="T29" fmla="*/ 1 h 40"/>
                    <a:gd name="T30" fmla="*/ 3 w 87"/>
                    <a:gd name="T31" fmla="*/ 1 h 40"/>
                    <a:gd name="T32" fmla="*/ 4 w 87"/>
                    <a:gd name="T33" fmla="*/ 1 h 40"/>
                    <a:gd name="T34" fmla="*/ 4 w 87"/>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w="9525">
                  <a:noFill/>
                  <a:round/>
                </a:ln>
              </p:spPr>
              <p:txBody>
                <a:bodyPr/>
                <a:lstStyle/>
                <a:p>
                  <a:pPr>
                    <a:defRPr/>
                  </a:pPr>
                  <a:endParaRPr lang="zh-CN" altLang="en-US"/>
                </a:p>
              </p:txBody>
            </p:sp>
          </p:grpSp>
        </p:grpSp>
        <p:grpSp>
          <p:nvGrpSpPr>
            <p:cNvPr id="1036" name="Group 19"/>
            <p:cNvGrpSpPr/>
            <p:nvPr/>
          </p:nvGrpSpPr>
          <p:grpSpPr bwMode="auto">
            <a:xfrm rot="6248562">
              <a:off x="343" y="3854"/>
              <a:ext cx="392" cy="424"/>
              <a:chOff x="1727" y="866"/>
              <a:chExt cx="129" cy="157"/>
            </a:xfrm>
          </p:grpSpPr>
          <p:sp>
            <p:nvSpPr>
              <p:cNvPr id="1059" name="Freeform 20"/>
              <p:cNvSpPr/>
              <p:nvPr userDrawn="1"/>
            </p:nvSpPr>
            <p:spPr bwMode="ltGray">
              <a:xfrm>
                <a:off x="1727" y="868"/>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1060" name="Freeform 21"/>
              <p:cNvSpPr/>
              <p:nvPr userDrawn="1"/>
            </p:nvSpPr>
            <p:spPr bwMode="ltGray">
              <a:xfrm>
                <a:off x="1786" y="896"/>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1061" name="Freeform 22"/>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037" name="Group 23"/>
            <p:cNvGrpSpPr/>
            <p:nvPr/>
          </p:nvGrpSpPr>
          <p:grpSpPr bwMode="auto">
            <a:xfrm rot="5003157">
              <a:off x="249" y="1102"/>
              <a:ext cx="412" cy="500"/>
              <a:chOff x="1727" y="866"/>
              <a:chExt cx="129" cy="157"/>
            </a:xfrm>
          </p:grpSpPr>
          <p:sp>
            <p:nvSpPr>
              <p:cNvPr id="1056" name="Freeform 24"/>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1057" name="Freeform 25"/>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1058" name="Freeform 26"/>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grpSp>
          <p:nvGrpSpPr>
            <p:cNvPr id="1038" name="Group 27"/>
            <p:cNvGrpSpPr/>
            <p:nvPr/>
          </p:nvGrpSpPr>
          <p:grpSpPr bwMode="auto">
            <a:xfrm>
              <a:off x="815" y="0"/>
              <a:ext cx="345" cy="367"/>
              <a:chOff x="1727" y="866"/>
              <a:chExt cx="129" cy="157"/>
            </a:xfrm>
          </p:grpSpPr>
          <p:sp>
            <p:nvSpPr>
              <p:cNvPr id="1053" name="Freeform 28"/>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w="9525">
                <a:noFill/>
                <a:round/>
              </a:ln>
            </p:spPr>
            <p:txBody>
              <a:bodyPr/>
              <a:lstStyle/>
              <a:p>
                <a:pPr>
                  <a:defRPr/>
                </a:pPr>
                <a:endParaRPr lang="zh-CN" altLang="en-US"/>
              </a:p>
            </p:txBody>
          </p:sp>
          <p:sp>
            <p:nvSpPr>
              <p:cNvPr id="1054" name="Freeform 29"/>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w="9525">
                <a:noFill/>
                <a:round/>
              </a:ln>
            </p:spPr>
            <p:txBody>
              <a:bodyPr/>
              <a:lstStyle/>
              <a:p>
                <a:pPr>
                  <a:defRPr/>
                </a:pPr>
                <a:endParaRPr lang="zh-CN" altLang="en-US"/>
              </a:p>
            </p:txBody>
          </p:sp>
          <p:sp>
            <p:nvSpPr>
              <p:cNvPr id="1055" name="Freeform 30"/>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w="9525">
                <a:noFill/>
                <a:round/>
              </a:ln>
            </p:spPr>
            <p:txBody>
              <a:bodyPr/>
              <a:lstStyle/>
              <a:p>
                <a:pPr>
                  <a:defRPr/>
                </a:pPr>
                <a:endParaRPr lang="zh-CN" altLang="en-US"/>
              </a:p>
            </p:txBody>
          </p:sp>
        </p:grpSp>
        <p:sp>
          <p:nvSpPr>
            <p:cNvPr id="1039" name="Freeform 31"/>
            <p:cNvSpPr/>
            <p:nvPr/>
          </p:nvSpPr>
          <p:spPr bwMode="ltGray">
            <a:xfrm>
              <a:off x="87"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w="9525">
              <a:noFill/>
              <a:round/>
            </a:ln>
          </p:spPr>
          <p:txBody>
            <a:bodyPr/>
            <a:lstStyle/>
            <a:p>
              <a:pPr>
                <a:defRPr/>
              </a:pPr>
              <a:endParaRPr lang="zh-CN" altLang="en-US"/>
            </a:p>
          </p:txBody>
        </p:sp>
        <p:sp>
          <p:nvSpPr>
            <p:cNvPr id="1040" name="Freeform 32"/>
            <p:cNvSpPr/>
            <p:nvPr/>
          </p:nvSpPr>
          <p:spPr bwMode="ltGray">
            <a:xfrm rot="828663">
              <a:off x="242" y="3404"/>
              <a:ext cx="132" cy="167"/>
            </a:xfrm>
            <a:custGeom>
              <a:avLst/>
              <a:gdLst>
                <a:gd name="T0" fmla="*/ 0 w 109"/>
                <a:gd name="T1" fmla="*/ 0 h 156"/>
                <a:gd name="T2" fmla="*/ 22 w 109"/>
                <a:gd name="T3" fmla="*/ 1 h 156"/>
                <a:gd name="T4" fmla="*/ 85 w 109"/>
                <a:gd name="T5" fmla="*/ 5 h 156"/>
                <a:gd name="T6" fmla="*/ 170 w 109"/>
                <a:gd name="T7" fmla="*/ 20 h 156"/>
                <a:gd name="T8" fmla="*/ 269 w 109"/>
                <a:gd name="T9" fmla="*/ 42 h 156"/>
                <a:gd name="T10" fmla="*/ 360 w 109"/>
                <a:gd name="T11" fmla="*/ 76 h 156"/>
                <a:gd name="T12" fmla="*/ 443 w 109"/>
                <a:gd name="T13" fmla="*/ 123 h 156"/>
                <a:gd name="T14" fmla="*/ 495 w 109"/>
                <a:gd name="T15" fmla="*/ 186 h 156"/>
                <a:gd name="T16" fmla="*/ 506 w 109"/>
                <a:gd name="T17" fmla="*/ 272 h 156"/>
                <a:gd name="T18" fmla="*/ 482 w 109"/>
                <a:gd name="T19" fmla="*/ 272 h 156"/>
                <a:gd name="T20" fmla="*/ 458 w 109"/>
                <a:gd name="T21" fmla="*/ 272 h 156"/>
                <a:gd name="T22" fmla="*/ 431 w 109"/>
                <a:gd name="T23" fmla="*/ 272 h 156"/>
                <a:gd name="T24" fmla="*/ 398 w 109"/>
                <a:gd name="T25" fmla="*/ 264 h 156"/>
                <a:gd name="T26" fmla="*/ 375 w 109"/>
                <a:gd name="T27" fmla="*/ 263 h 156"/>
                <a:gd name="T28" fmla="*/ 345 w 109"/>
                <a:gd name="T29" fmla="*/ 259 h 156"/>
                <a:gd name="T30" fmla="*/ 305 w 109"/>
                <a:gd name="T31" fmla="*/ 249 h 156"/>
                <a:gd name="T32" fmla="*/ 269 w 109"/>
                <a:gd name="T33" fmla="*/ 241 h 156"/>
                <a:gd name="T34" fmla="*/ 245 w 109"/>
                <a:gd name="T35" fmla="*/ 218 h 156"/>
                <a:gd name="T36" fmla="*/ 245 w 109"/>
                <a:gd name="T37" fmla="*/ 192 h 156"/>
                <a:gd name="T38" fmla="*/ 258 w 109"/>
                <a:gd name="T39" fmla="*/ 166 h 156"/>
                <a:gd name="T40" fmla="*/ 271 w 109"/>
                <a:gd name="T41" fmla="*/ 137 h 156"/>
                <a:gd name="T42" fmla="*/ 258 w 109"/>
                <a:gd name="T43" fmla="*/ 107 h 156"/>
                <a:gd name="T44" fmla="*/ 222 w 109"/>
                <a:gd name="T45" fmla="*/ 74 h 156"/>
                <a:gd name="T46" fmla="*/ 145 w 109"/>
                <a:gd name="T47" fmla="*/ 40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w="9525">
              <a:noFill/>
              <a:round/>
            </a:ln>
          </p:spPr>
          <p:txBody>
            <a:bodyPr/>
            <a:lstStyle/>
            <a:p>
              <a:pPr>
                <a:defRPr/>
              </a:pPr>
              <a:endParaRPr lang="zh-CN" altLang="en-US"/>
            </a:p>
          </p:txBody>
        </p:sp>
        <p:sp>
          <p:nvSpPr>
            <p:cNvPr id="1041" name="Freeform 33"/>
            <p:cNvSpPr/>
            <p:nvPr/>
          </p:nvSpPr>
          <p:spPr bwMode="ltGray">
            <a:xfrm rot="828663">
              <a:off x="266" y="3592"/>
              <a:ext cx="66" cy="43"/>
            </a:xfrm>
            <a:custGeom>
              <a:avLst/>
              <a:gdLst>
                <a:gd name="T0" fmla="*/ 0 w 54"/>
                <a:gd name="T1" fmla="*/ 0 h 40"/>
                <a:gd name="T2" fmla="*/ 1 w 54"/>
                <a:gd name="T3" fmla="*/ 1 h 40"/>
                <a:gd name="T4" fmla="*/ 29 w 54"/>
                <a:gd name="T5" fmla="*/ 3 h 40"/>
                <a:gd name="T6" fmla="*/ 65 w 54"/>
                <a:gd name="T7" fmla="*/ 16 h 40"/>
                <a:gd name="T8" fmla="*/ 108 w 54"/>
                <a:gd name="T9" fmla="*/ 20 h 40"/>
                <a:gd name="T10" fmla="*/ 145 w 54"/>
                <a:gd name="T11" fmla="*/ 26 h 40"/>
                <a:gd name="T12" fmla="*/ 183 w 54"/>
                <a:gd name="T13" fmla="*/ 30 h 40"/>
                <a:gd name="T14" fmla="*/ 224 w 54"/>
                <a:gd name="T15" fmla="*/ 32 h 40"/>
                <a:gd name="T16" fmla="*/ 270 w 54"/>
                <a:gd name="T17" fmla="*/ 28 h 40"/>
                <a:gd name="T18" fmla="*/ 264 w 54"/>
                <a:gd name="T19" fmla="*/ 44 h 40"/>
                <a:gd name="T20" fmla="*/ 249 w 54"/>
                <a:gd name="T21" fmla="*/ 59 h 40"/>
                <a:gd name="T22" fmla="*/ 221 w 54"/>
                <a:gd name="T23" fmla="*/ 68 h 40"/>
                <a:gd name="T24" fmla="*/ 182 w 54"/>
                <a:gd name="T25" fmla="*/ 71 h 40"/>
                <a:gd name="T26" fmla="*/ 139 w 54"/>
                <a:gd name="T27" fmla="*/ 70 h 40"/>
                <a:gd name="T28" fmla="*/ 93 w 54"/>
                <a:gd name="T29" fmla="*/ 57 h 40"/>
                <a:gd name="T30" fmla="*/ 49 w 54"/>
                <a:gd name="T31" fmla="*/ 37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w="9525">
              <a:noFill/>
              <a:round/>
            </a:ln>
          </p:spPr>
          <p:txBody>
            <a:bodyPr/>
            <a:lstStyle/>
            <a:p>
              <a:pPr>
                <a:defRPr/>
              </a:pPr>
              <a:endParaRPr lang="zh-CN" altLang="en-US"/>
            </a:p>
          </p:txBody>
        </p:sp>
        <p:sp>
          <p:nvSpPr>
            <p:cNvPr id="1042" name="Freeform 34"/>
            <p:cNvSpPr/>
            <p:nvPr/>
          </p:nvSpPr>
          <p:spPr bwMode="ltGray">
            <a:xfrm>
              <a:off x="11"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w="9525">
              <a:noFill/>
              <a:round/>
            </a:ln>
          </p:spPr>
          <p:txBody>
            <a:bodyPr/>
            <a:lstStyle/>
            <a:p>
              <a:pPr>
                <a:defRPr/>
              </a:pPr>
              <a:endParaRPr lang="zh-CN" altLang="en-US"/>
            </a:p>
          </p:txBody>
        </p:sp>
        <p:sp>
          <p:nvSpPr>
            <p:cNvPr id="1043" name="Freeform 35"/>
            <p:cNvSpPr/>
            <p:nvPr/>
          </p:nvSpPr>
          <p:spPr bwMode="ltGray">
            <a:xfrm>
              <a:off x="0"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w="9525">
              <a:noFill/>
              <a:round/>
            </a:ln>
          </p:spPr>
          <p:txBody>
            <a:bodyPr/>
            <a:lstStyle/>
            <a:p>
              <a:pPr>
                <a:defRPr/>
              </a:pPr>
              <a:endParaRPr lang="zh-CN" altLang="en-US"/>
            </a:p>
          </p:txBody>
        </p:sp>
        <p:sp>
          <p:nvSpPr>
            <p:cNvPr id="1044" name="Freeform 36"/>
            <p:cNvSpPr/>
            <p:nvPr/>
          </p:nvSpPr>
          <p:spPr bwMode="ltGray">
            <a:xfrm>
              <a:off x="0"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w="9525">
              <a:noFill/>
              <a:round/>
            </a:ln>
          </p:spPr>
          <p:txBody>
            <a:bodyPr/>
            <a:lstStyle/>
            <a:p>
              <a:pPr>
                <a:defRPr/>
              </a:pPr>
              <a:endParaRPr lang="zh-CN" altLang="en-US"/>
            </a:p>
          </p:txBody>
        </p:sp>
        <p:sp>
          <p:nvSpPr>
            <p:cNvPr id="1045" name="Freeform 37"/>
            <p:cNvSpPr/>
            <p:nvPr/>
          </p:nvSpPr>
          <p:spPr bwMode="ltGray">
            <a:xfrm>
              <a:off x="0"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w="9525">
              <a:noFill/>
              <a:round/>
            </a:ln>
          </p:spPr>
          <p:txBody>
            <a:bodyPr/>
            <a:lstStyle/>
            <a:p>
              <a:pPr>
                <a:defRPr/>
              </a:pPr>
              <a:endParaRPr lang="zh-CN" altLang="en-US"/>
            </a:p>
          </p:txBody>
        </p:sp>
        <p:sp>
          <p:nvSpPr>
            <p:cNvPr id="1046" name="Freeform 38"/>
            <p:cNvSpPr/>
            <p:nvPr/>
          </p:nvSpPr>
          <p:spPr bwMode="ltGray">
            <a:xfrm rot="1584153">
              <a:off x="20" y="410"/>
              <a:ext cx="344" cy="245"/>
            </a:xfrm>
            <a:custGeom>
              <a:avLst/>
              <a:gdLst>
                <a:gd name="T0" fmla="*/ 0 w 257"/>
                <a:gd name="T1" fmla="*/ 0 h 237"/>
                <a:gd name="T2" fmla="*/ 0 w 257"/>
                <a:gd name="T3" fmla="*/ 33 h 237"/>
                <a:gd name="T4" fmla="*/ 28 w 257"/>
                <a:gd name="T5" fmla="*/ 66 h 237"/>
                <a:gd name="T6" fmla="*/ 64 w 257"/>
                <a:gd name="T7" fmla="*/ 99 h 237"/>
                <a:gd name="T8" fmla="*/ 115 w 257"/>
                <a:gd name="T9" fmla="*/ 128 h 237"/>
                <a:gd name="T10" fmla="*/ 186 w 257"/>
                <a:gd name="T11" fmla="*/ 155 h 237"/>
                <a:gd name="T12" fmla="*/ 276 w 257"/>
                <a:gd name="T13" fmla="*/ 184 h 237"/>
                <a:gd name="T14" fmla="*/ 391 w 257"/>
                <a:gd name="T15" fmla="*/ 210 h 237"/>
                <a:gd name="T16" fmla="*/ 523 w 257"/>
                <a:gd name="T17" fmla="*/ 232 h 237"/>
                <a:gd name="T18" fmla="*/ 693 w 257"/>
                <a:gd name="T19" fmla="*/ 253 h 237"/>
                <a:gd name="T20" fmla="*/ 885 w 257"/>
                <a:gd name="T21" fmla="*/ 271 h 237"/>
                <a:gd name="T22" fmla="*/ 1091 w 257"/>
                <a:gd name="T23" fmla="*/ 285 h 237"/>
                <a:gd name="T24" fmla="*/ 1345 w 257"/>
                <a:gd name="T25" fmla="*/ 298 h 237"/>
                <a:gd name="T26" fmla="*/ 1621 w 257"/>
                <a:gd name="T27" fmla="*/ 305 h 237"/>
                <a:gd name="T28" fmla="*/ 1938 w 257"/>
                <a:gd name="T29" fmla="*/ 309 h 237"/>
                <a:gd name="T30" fmla="*/ 2265 w 257"/>
                <a:gd name="T31" fmla="*/ 308 h 237"/>
                <a:gd name="T32" fmla="*/ 2648 w 257"/>
                <a:gd name="T33" fmla="*/ 303 h 237"/>
                <a:gd name="T34" fmla="*/ 2312 w 257"/>
                <a:gd name="T35" fmla="*/ 296 h 237"/>
                <a:gd name="T36" fmla="*/ 2006 w 257"/>
                <a:gd name="T37" fmla="*/ 286 h 237"/>
                <a:gd name="T38" fmla="*/ 1752 w 257"/>
                <a:gd name="T39" fmla="*/ 276 h 237"/>
                <a:gd name="T40" fmla="*/ 1525 w 257"/>
                <a:gd name="T41" fmla="*/ 266 h 237"/>
                <a:gd name="T42" fmla="*/ 1318 w 257"/>
                <a:gd name="T43" fmla="*/ 252 h 237"/>
                <a:gd name="T44" fmla="*/ 1155 w 257"/>
                <a:gd name="T45" fmla="*/ 237 h 237"/>
                <a:gd name="T46" fmla="*/ 1004 w 257"/>
                <a:gd name="T47" fmla="*/ 221 h 237"/>
                <a:gd name="T48" fmla="*/ 863 w 257"/>
                <a:gd name="T49" fmla="*/ 202 h 237"/>
                <a:gd name="T50" fmla="*/ 736 w 257"/>
                <a:gd name="T51" fmla="*/ 184 h 237"/>
                <a:gd name="T52" fmla="*/ 632 w 257"/>
                <a:gd name="T53" fmla="*/ 162 h 237"/>
                <a:gd name="T54" fmla="*/ 543 w 257"/>
                <a:gd name="T55" fmla="*/ 140 h 237"/>
                <a:gd name="T56" fmla="*/ 446 w 257"/>
                <a:gd name="T57" fmla="*/ 114 h 237"/>
                <a:gd name="T58" fmla="*/ 340 w 257"/>
                <a:gd name="T59" fmla="*/ 90 h 237"/>
                <a:gd name="T60" fmla="*/ 238 w 257"/>
                <a:gd name="T61" fmla="*/ 63 h 237"/>
                <a:gd name="T62" fmla="*/ 120 w 257"/>
                <a:gd name="T63" fmla="*/ 32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round/>
            </a:ln>
          </p:spPr>
          <p:txBody>
            <a:bodyPr/>
            <a:lstStyle/>
            <a:p>
              <a:pPr>
                <a:defRPr/>
              </a:pPr>
              <a:endParaRPr lang="zh-CN" altLang="en-US"/>
            </a:p>
          </p:txBody>
        </p:sp>
        <p:sp>
          <p:nvSpPr>
            <p:cNvPr id="1047" name="Freeform 39"/>
            <p:cNvSpPr/>
            <p:nvPr/>
          </p:nvSpPr>
          <p:spPr bwMode="ltGray">
            <a:xfrm rot="1584153">
              <a:off x="242" y="756"/>
              <a:ext cx="167" cy="115"/>
            </a:xfrm>
            <a:custGeom>
              <a:avLst/>
              <a:gdLst>
                <a:gd name="T0" fmla="*/ 838 w 124"/>
                <a:gd name="T1" fmla="*/ 0 h 110"/>
                <a:gd name="T2" fmla="*/ 1340 w 124"/>
                <a:gd name="T3" fmla="*/ 154 h 110"/>
                <a:gd name="T4" fmla="*/ 1302 w 124"/>
                <a:gd name="T5" fmla="*/ 153 h 110"/>
                <a:gd name="T6" fmla="*/ 1157 w 124"/>
                <a:gd name="T7" fmla="*/ 150 h 110"/>
                <a:gd name="T8" fmla="*/ 967 w 124"/>
                <a:gd name="T9" fmla="*/ 145 h 110"/>
                <a:gd name="T10" fmla="*/ 739 w 124"/>
                <a:gd name="T11" fmla="*/ 142 h 110"/>
                <a:gd name="T12" fmla="*/ 486 w 124"/>
                <a:gd name="T13" fmla="*/ 139 h 110"/>
                <a:gd name="T14" fmla="*/ 276 w 124"/>
                <a:gd name="T15" fmla="*/ 140 h 110"/>
                <a:gd name="T16" fmla="*/ 98 w 124"/>
                <a:gd name="T17" fmla="*/ 146 h 110"/>
                <a:gd name="T18" fmla="*/ 0 w 124"/>
                <a:gd name="T19" fmla="*/ 157 h 110"/>
                <a:gd name="T20" fmla="*/ 40 w 124"/>
                <a:gd name="T21" fmla="*/ 140 h 110"/>
                <a:gd name="T22" fmla="*/ 88 w 124"/>
                <a:gd name="T23" fmla="*/ 127 h 110"/>
                <a:gd name="T24" fmla="*/ 178 w 124"/>
                <a:gd name="T25" fmla="*/ 117 h 110"/>
                <a:gd name="T26" fmla="*/ 276 w 124"/>
                <a:gd name="T27" fmla="*/ 109 h 110"/>
                <a:gd name="T28" fmla="*/ 391 w 124"/>
                <a:gd name="T29" fmla="*/ 102 h 110"/>
                <a:gd name="T30" fmla="*/ 506 w 124"/>
                <a:gd name="T31" fmla="*/ 101 h 110"/>
                <a:gd name="T32" fmla="*/ 634 w 124"/>
                <a:gd name="T33" fmla="*/ 101 h 110"/>
                <a:gd name="T34" fmla="*/ 780 w 124"/>
                <a:gd name="T35" fmla="*/ 106 h 110"/>
                <a:gd name="T36" fmla="*/ 789 w 124"/>
                <a:gd name="T37" fmla="*/ 101 h 110"/>
                <a:gd name="T38" fmla="*/ 758 w 124"/>
                <a:gd name="T39" fmla="*/ 81 h 110"/>
                <a:gd name="T40" fmla="*/ 723 w 124"/>
                <a:gd name="T41" fmla="*/ 54 h 110"/>
                <a:gd name="T42" fmla="*/ 710 w 124"/>
                <a:gd name="T43" fmla="*/ 43 h 110"/>
                <a:gd name="T44" fmla="*/ 681 w 124"/>
                <a:gd name="T45" fmla="*/ 43 h 110"/>
                <a:gd name="T46" fmla="*/ 655 w 124"/>
                <a:gd name="T47" fmla="*/ 41 h 110"/>
                <a:gd name="T48" fmla="*/ 634 w 124"/>
                <a:gd name="T49" fmla="*/ 35 h 110"/>
                <a:gd name="T50" fmla="*/ 622 w 124"/>
                <a:gd name="T51" fmla="*/ 31 h 110"/>
                <a:gd name="T52" fmla="*/ 622 w 124"/>
                <a:gd name="T53" fmla="*/ 27 h 110"/>
                <a:gd name="T54" fmla="*/ 634 w 124"/>
                <a:gd name="T55" fmla="*/ 22 h 110"/>
                <a:gd name="T56" fmla="*/ 718 w 124"/>
                <a:gd name="T57" fmla="*/ 8 h 110"/>
                <a:gd name="T58" fmla="*/ 83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round/>
            </a:ln>
          </p:spPr>
          <p:txBody>
            <a:bodyPr/>
            <a:lstStyle/>
            <a:p>
              <a:pPr>
                <a:defRPr/>
              </a:pPr>
              <a:endParaRPr lang="zh-CN" altLang="en-US"/>
            </a:p>
          </p:txBody>
        </p:sp>
        <p:sp>
          <p:nvSpPr>
            <p:cNvPr id="1048" name="Freeform 40"/>
            <p:cNvSpPr/>
            <p:nvPr/>
          </p:nvSpPr>
          <p:spPr bwMode="ltGray">
            <a:xfrm rot="1584153">
              <a:off x="574" y="286"/>
              <a:ext cx="147" cy="160"/>
            </a:xfrm>
            <a:custGeom>
              <a:avLst/>
              <a:gdLst>
                <a:gd name="T0" fmla="*/ 0 w 109"/>
                <a:gd name="T1" fmla="*/ 0 h 156"/>
                <a:gd name="T2" fmla="*/ 54 w 109"/>
                <a:gd name="T3" fmla="*/ 1 h 156"/>
                <a:gd name="T4" fmla="*/ 192 w 109"/>
                <a:gd name="T5" fmla="*/ 5 h 156"/>
                <a:gd name="T6" fmla="*/ 401 w 109"/>
                <a:gd name="T7" fmla="*/ 12 h 156"/>
                <a:gd name="T8" fmla="*/ 635 w 109"/>
                <a:gd name="T9" fmla="*/ 32 h 156"/>
                <a:gd name="T10" fmla="*/ 856 w 109"/>
                <a:gd name="T11" fmla="*/ 52 h 156"/>
                <a:gd name="T12" fmla="*/ 1049 w 109"/>
                <a:gd name="T13" fmla="*/ 87 h 156"/>
                <a:gd name="T14" fmla="*/ 1168 w 109"/>
                <a:gd name="T15" fmla="*/ 132 h 156"/>
                <a:gd name="T16" fmla="*/ 1191 w 109"/>
                <a:gd name="T17" fmla="*/ 191 h 156"/>
                <a:gd name="T18" fmla="*/ 1154 w 109"/>
                <a:gd name="T19" fmla="*/ 191 h 156"/>
                <a:gd name="T20" fmla="*/ 1090 w 109"/>
                <a:gd name="T21" fmla="*/ 191 h 156"/>
                <a:gd name="T22" fmla="*/ 1016 w 109"/>
                <a:gd name="T23" fmla="*/ 191 h 156"/>
                <a:gd name="T24" fmla="*/ 949 w 109"/>
                <a:gd name="T25" fmla="*/ 188 h 156"/>
                <a:gd name="T26" fmla="*/ 883 w 109"/>
                <a:gd name="T27" fmla="*/ 187 h 156"/>
                <a:gd name="T28" fmla="*/ 809 w 109"/>
                <a:gd name="T29" fmla="*/ 183 h 156"/>
                <a:gd name="T30" fmla="*/ 720 w 109"/>
                <a:gd name="T31" fmla="*/ 177 h 156"/>
                <a:gd name="T32" fmla="*/ 635 w 109"/>
                <a:gd name="T33" fmla="*/ 171 h 156"/>
                <a:gd name="T34" fmla="*/ 577 w 109"/>
                <a:gd name="T35" fmla="*/ 154 h 156"/>
                <a:gd name="T36" fmla="*/ 577 w 109"/>
                <a:gd name="T37" fmla="*/ 135 h 156"/>
                <a:gd name="T38" fmla="*/ 616 w 109"/>
                <a:gd name="T39" fmla="*/ 119 h 156"/>
                <a:gd name="T40" fmla="*/ 653 w 109"/>
                <a:gd name="T41" fmla="*/ 96 h 156"/>
                <a:gd name="T42" fmla="*/ 616 w 109"/>
                <a:gd name="T43" fmla="*/ 78 h 156"/>
                <a:gd name="T44" fmla="*/ 529 w 109"/>
                <a:gd name="T45" fmla="*/ 51 h 156"/>
                <a:gd name="T46" fmla="*/ 344 w 109"/>
                <a:gd name="T47" fmla="*/ 31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w="9525">
              <a:noFill/>
              <a:round/>
            </a:ln>
          </p:spPr>
          <p:txBody>
            <a:bodyPr/>
            <a:lstStyle/>
            <a:p>
              <a:pPr>
                <a:defRPr/>
              </a:pPr>
              <a:endParaRPr lang="zh-CN" altLang="en-US"/>
            </a:p>
          </p:txBody>
        </p:sp>
        <p:sp>
          <p:nvSpPr>
            <p:cNvPr id="1049" name="Freeform 41"/>
            <p:cNvSpPr/>
            <p:nvPr/>
          </p:nvSpPr>
          <p:spPr bwMode="ltGray">
            <a:xfrm rot="1584153">
              <a:off x="236" y="721"/>
              <a:ext cx="62" cy="97"/>
            </a:xfrm>
            <a:custGeom>
              <a:avLst/>
              <a:gdLst>
                <a:gd name="T0" fmla="*/ 344 w 46"/>
                <a:gd name="T1" fmla="*/ 0 h 94"/>
                <a:gd name="T2" fmla="*/ 218 w 46"/>
                <a:gd name="T3" fmla="*/ 46 h 94"/>
                <a:gd name="T4" fmla="*/ 162 w 46"/>
                <a:gd name="T5" fmla="*/ 78 h 94"/>
                <a:gd name="T6" fmla="*/ 120 w 46"/>
                <a:gd name="T7" fmla="*/ 103 h 94"/>
                <a:gd name="T8" fmla="*/ 0 w 46"/>
                <a:gd name="T9" fmla="*/ 120 h 94"/>
                <a:gd name="T10" fmla="*/ 132 w 46"/>
                <a:gd name="T11" fmla="*/ 112 h 94"/>
                <a:gd name="T12" fmla="*/ 255 w 46"/>
                <a:gd name="T13" fmla="*/ 104 h 94"/>
                <a:gd name="T14" fmla="*/ 346 w 46"/>
                <a:gd name="T15" fmla="*/ 88 h 94"/>
                <a:gd name="T16" fmla="*/ 435 w 46"/>
                <a:gd name="T17" fmla="*/ 73 h 94"/>
                <a:gd name="T18" fmla="*/ 495 w 46"/>
                <a:gd name="T19" fmla="*/ 57 h 94"/>
                <a:gd name="T20" fmla="*/ 501 w 46"/>
                <a:gd name="T21" fmla="*/ 38 h 94"/>
                <a:gd name="T22" fmla="*/ 464 w 46"/>
                <a:gd name="T23" fmla="*/ 15 h 94"/>
                <a:gd name="T24" fmla="*/ 344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round/>
            </a:ln>
          </p:spPr>
          <p:txBody>
            <a:bodyPr/>
            <a:lstStyle/>
            <a:p>
              <a:pPr>
                <a:defRPr/>
              </a:pPr>
              <a:endParaRPr lang="zh-CN" altLang="en-US"/>
            </a:p>
          </p:txBody>
        </p:sp>
        <p:sp>
          <p:nvSpPr>
            <p:cNvPr id="1050" name="Freeform 42"/>
            <p:cNvSpPr/>
            <p:nvPr/>
          </p:nvSpPr>
          <p:spPr bwMode="ltGray">
            <a:xfrm rot="1584153">
              <a:off x="585" y="466"/>
              <a:ext cx="72" cy="41"/>
            </a:xfrm>
            <a:custGeom>
              <a:avLst/>
              <a:gdLst>
                <a:gd name="T0" fmla="*/ 0 w 54"/>
                <a:gd name="T1" fmla="*/ 0 h 40"/>
                <a:gd name="T2" fmla="*/ 1 w 54"/>
                <a:gd name="T3" fmla="*/ 1 h 40"/>
                <a:gd name="T4" fmla="*/ 64 w 54"/>
                <a:gd name="T5" fmla="*/ 3 h 40"/>
                <a:gd name="T6" fmla="*/ 129 w 54"/>
                <a:gd name="T7" fmla="*/ 8 h 40"/>
                <a:gd name="T8" fmla="*/ 207 w 54"/>
                <a:gd name="T9" fmla="*/ 12 h 40"/>
                <a:gd name="T10" fmla="*/ 292 w 54"/>
                <a:gd name="T11" fmla="*/ 15 h 40"/>
                <a:gd name="T12" fmla="*/ 383 w 54"/>
                <a:gd name="T13" fmla="*/ 17 h 40"/>
                <a:gd name="T14" fmla="*/ 455 w 54"/>
                <a:gd name="T15" fmla="*/ 18 h 40"/>
                <a:gd name="T16" fmla="*/ 540 w 54"/>
                <a:gd name="T17" fmla="*/ 16 h 40"/>
                <a:gd name="T18" fmla="*/ 533 w 54"/>
                <a:gd name="T19" fmla="*/ 33 h 40"/>
                <a:gd name="T20" fmla="*/ 503 w 54"/>
                <a:gd name="T21" fmla="*/ 41 h 40"/>
                <a:gd name="T22" fmla="*/ 443 w 54"/>
                <a:gd name="T23" fmla="*/ 46 h 40"/>
                <a:gd name="T24" fmla="*/ 368 w 54"/>
                <a:gd name="T25" fmla="*/ 48 h 40"/>
                <a:gd name="T26" fmla="*/ 276 w 54"/>
                <a:gd name="T27" fmla="*/ 47 h 40"/>
                <a:gd name="T28" fmla="*/ 187 w 54"/>
                <a:gd name="T29" fmla="*/ 40 h 40"/>
                <a:gd name="T30" fmla="*/ 97 w 54"/>
                <a:gd name="T31" fmla="*/ 28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w="9525">
              <a:noFill/>
              <a:round/>
            </a:ln>
          </p:spPr>
          <p:txBody>
            <a:bodyPr/>
            <a:lstStyle/>
            <a:p>
              <a:pPr>
                <a:defRPr/>
              </a:pPr>
              <a:endParaRPr lang="zh-CN" altLang="en-US"/>
            </a:p>
          </p:txBody>
        </p:sp>
        <p:sp>
          <p:nvSpPr>
            <p:cNvPr id="1051" name="Freeform 43"/>
            <p:cNvSpPr/>
            <p:nvPr/>
          </p:nvSpPr>
          <p:spPr bwMode="ltGray">
            <a:xfrm>
              <a:off x="0"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w="9525">
              <a:noFill/>
              <a:round/>
            </a:ln>
          </p:spPr>
          <p:txBody>
            <a:bodyPr/>
            <a:lstStyle/>
            <a:p>
              <a:pPr>
                <a:defRPr/>
              </a:pPr>
              <a:endParaRPr lang="zh-CN" altLang="en-US"/>
            </a:p>
          </p:txBody>
        </p:sp>
        <p:sp>
          <p:nvSpPr>
            <p:cNvPr id="1052" name="Freeform 44"/>
            <p:cNvSpPr/>
            <p:nvPr/>
          </p:nvSpPr>
          <p:spPr bwMode="ltGray">
            <a:xfrm rot="1584153">
              <a:off x="56" y="84"/>
              <a:ext cx="804" cy="686"/>
            </a:xfrm>
            <a:custGeom>
              <a:avLst/>
              <a:gdLst>
                <a:gd name="T0" fmla="*/ 178 w 596"/>
                <a:gd name="T1" fmla="*/ 468 h 666"/>
                <a:gd name="T2" fmla="*/ 66 w 596"/>
                <a:gd name="T3" fmla="*/ 433 h 666"/>
                <a:gd name="T4" fmla="*/ 0 w 596"/>
                <a:gd name="T5" fmla="*/ 366 h 666"/>
                <a:gd name="T6" fmla="*/ 40 w 596"/>
                <a:gd name="T7" fmla="*/ 282 h 666"/>
                <a:gd name="T8" fmla="*/ 277 w 596"/>
                <a:gd name="T9" fmla="*/ 192 h 666"/>
                <a:gd name="T10" fmla="*/ 755 w 596"/>
                <a:gd name="T11" fmla="*/ 108 h 666"/>
                <a:gd name="T12" fmla="*/ 1559 w 596"/>
                <a:gd name="T13" fmla="*/ 39 h 666"/>
                <a:gd name="T14" fmla="*/ 2706 w 596"/>
                <a:gd name="T15" fmla="*/ 2 h 666"/>
                <a:gd name="T16" fmla="*/ 4172 w 596"/>
                <a:gd name="T17" fmla="*/ 9 h 666"/>
                <a:gd name="T18" fmla="*/ 5308 w 596"/>
                <a:gd name="T19" fmla="*/ 84 h 666"/>
                <a:gd name="T20" fmla="*/ 6076 w 596"/>
                <a:gd name="T21" fmla="*/ 209 h 666"/>
                <a:gd name="T22" fmla="*/ 6478 w 596"/>
                <a:gd name="T23" fmla="*/ 361 h 666"/>
                <a:gd name="T24" fmla="*/ 6528 w 596"/>
                <a:gd name="T25" fmla="*/ 518 h 666"/>
                <a:gd name="T26" fmla="*/ 6212 w 596"/>
                <a:gd name="T27" fmla="*/ 665 h 666"/>
                <a:gd name="T28" fmla="*/ 5559 w 596"/>
                <a:gd name="T29" fmla="*/ 779 h 666"/>
                <a:gd name="T30" fmla="*/ 4573 w 596"/>
                <a:gd name="T31" fmla="*/ 841 h 666"/>
                <a:gd name="T32" fmla="*/ 4267 w 596"/>
                <a:gd name="T33" fmla="*/ 835 h 666"/>
                <a:gd name="T34" fmla="*/ 4839 w 596"/>
                <a:gd name="T35" fmla="*/ 783 h 666"/>
                <a:gd name="T36" fmla="*/ 5284 w 596"/>
                <a:gd name="T37" fmla="*/ 688 h 666"/>
                <a:gd name="T38" fmla="*/ 5590 w 596"/>
                <a:gd name="T39" fmla="*/ 575 h 666"/>
                <a:gd name="T40" fmla="*/ 5699 w 596"/>
                <a:gd name="T41" fmla="*/ 450 h 666"/>
                <a:gd name="T42" fmla="*/ 5633 w 596"/>
                <a:gd name="T43" fmla="*/ 327 h 666"/>
                <a:gd name="T44" fmla="*/ 5315 w 596"/>
                <a:gd name="T45" fmla="*/ 220 h 666"/>
                <a:gd name="T46" fmla="*/ 4748 w 596"/>
                <a:gd name="T47" fmla="*/ 142 h 666"/>
                <a:gd name="T48" fmla="*/ 3742 w 596"/>
                <a:gd name="T49" fmla="*/ 94 h 666"/>
                <a:gd name="T50" fmla="*/ 2699 w 596"/>
                <a:gd name="T51" fmla="*/ 77 h 666"/>
                <a:gd name="T52" fmla="*/ 1910 w 596"/>
                <a:gd name="T53" fmla="*/ 88 h 666"/>
                <a:gd name="T54" fmla="*/ 1329 w 596"/>
                <a:gd name="T55" fmla="*/ 127 h 666"/>
                <a:gd name="T56" fmla="*/ 919 w 596"/>
                <a:gd name="T57" fmla="*/ 188 h 666"/>
                <a:gd name="T58" fmla="*/ 626 w 596"/>
                <a:gd name="T59" fmla="*/ 261 h 666"/>
                <a:gd name="T60" fmla="*/ 437 w 596"/>
                <a:gd name="T61" fmla="*/ 344 h 666"/>
                <a:gd name="T62" fmla="*/ 308 w 596"/>
                <a:gd name="T63" fmla="*/ 428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w="9525">
              <a:noFill/>
              <a:round/>
            </a:ln>
          </p:spPr>
          <p:txBody>
            <a:bodyPr/>
            <a:lstStyle/>
            <a:p>
              <a:pPr>
                <a:defRPr/>
              </a:pPr>
              <a:endParaRPr lang="zh-CN" altLang="en-US"/>
            </a:p>
          </p:txBody>
        </p:sp>
      </p:grpSp>
      <p:sp>
        <p:nvSpPr>
          <p:cNvPr id="67629" name="Rectangle 45"/>
          <p:cNvSpPr>
            <a:spLocks noGrp="1" noChangeArrowheads="1"/>
          </p:cNvSpPr>
          <p:nvPr>
            <p:ph type="title"/>
          </p:nvPr>
        </p:nvSpPr>
        <p:spPr bwMode="auto">
          <a:xfrm>
            <a:off x="442913" y="103188"/>
            <a:ext cx="8243887" cy="1314450"/>
          </a:xfrm>
          <a:prstGeom prst="rect">
            <a:avLst/>
          </a:prstGeom>
          <a:noFill/>
          <a:ln>
            <a:noFill/>
          </a:ln>
        </p:spPr>
        <p:txBody>
          <a:bodyPr vert="horz" wrap="square" lIns="91440" tIns="45720" rIns="91440" bIns="45720" numCol="1" anchor="b" anchorCtr="0" compatLnSpc="1"/>
          <a:lstStyle/>
          <a:p>
            <a:pPr lvl="0"/>
            <a:r>
              <a:rPr lang="zh-CN" altLang="en-US" smtClean="0"/>
              <a:t>单击此处编辑母版标题样式</a:t>
            </a:r>
          </a:p>
        </p:txBody>
      </p:sp>
      <p:sp>
        <p:nvSpPr>
          <p:cNvPr id="1028" name="Rectangle 46"/>
          <p:cNvSpPr>
            <a:spLocks noGrp="1" noChangeArrowheads="1"/>
          </p:cNvSpPr>
          <p:nvPr>
            <p:ph type="body" idx="1"/>
          </p:nvPr>
        </p:nvSpPr>
        <p:spPr bwMode="auto">
          <a:xfrm>
            <a:off x="457200" y="1600200"/>
            <a:ext cx="8229600" cy="445611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7631" name="Rectangle 47"/>
          <p:cNvSpPr>
            <a:spLocks noGrp="1" noChangeArrowheads="1"/>
          </p:cNvSpPr>
          <p:nvPr>
            <p:ph type="dt" sz="half" idx="2"/>
          </p:nvPr>
        </p:nvSpPr>
        <p:spPr bwMode="auto">
          <a:xfrm>
            <a:off x="457200" y="6243638"/>
            <a:ext cx="2133600" cy="457200"/>
          </a:xfrm>
          <a:prstGeom prst="rect">
            <a:avLst/>
          </a:prstGeom>
          <a:noFill/>
          <a:ln>
            <a:noFill/>
          </a:ln>
        </p:spPr>
        <p:txBody>
          <a:bodyPr vert="horz" wrap="square" lIns="91440" tIns="45720" rIns="91440" bIns="45720" numCol="1" anchor="t" anchorCtr="0" compatLnSpc="1"/>
          <a:lstStyle>
            <a:lvl1pPr eaLnBrk="1" hangingPunct="1">
              <a:spcBef>
                <a:spcPct val="0"/>
              </a:spcBef>
              <a:defRPr sz="1400" b="0">
                <a:latin typeface="+mn-lt"/>
                <a:ea typeface="+mn-ea"/>
              </a:defRPr>
            </a:lvl1pPr>
          </a:lstStyle>
          <a:p>
            <a:pPr>
              <a:defRPr/>
            </a:pPr>
            <a:endParaRPr lang="en-US" altLang="zh-CN"/>
          </a:p>
        </p:txBody>
      </p:sp>
      <p:sp>
        <p:nvSpPr>
          <p:cNvPr id="67632" name="Rectangle 48"/>
          <p:cNvSpPr>
            <a:spLocks noGrp="1" noChangeArrowheads="1"/>
          </p:cNvSpPr>
          <p:nvPr>
            <p:ph type="ftr" sz="quarter" idx="3"/>
          </p:nvPr>
        </p:nvSpPr>
        <p:spPr bwMode="auto">
          <a:xfrm>
            <a:off x="3124200" y="6248400"/>
            <a:ext cx="2895600" cy="457200"/>
          </a:xfrm>
          <a:prstGeom prst="rect">
            <a:avLst/>
          </a:prstGeom>
          <a:noFill/>
          <a:ln>
            <a:noFill/>
          </a:ln>
        </p:spPr>
        <p:txBody>
          <a:bodyPr vert="horz" wrap="square" lIns="91440" tIns="45720" rIns="91440" bIns="45720" numCol="1" anchor="t" anchorCtr="0" compatLnSpc="1"/>
          <a:lstStyle>
            <a:lvl1pPr algn="ctr" eaLnBrk="1" hangingPunct="1">
              <a:spcBef>
                <a:spcPct val="0"/>
              </a:spcBef>
              <a:defRPr sz="1400" b="0">
                <a:latin typeface="+mn-lt"/>
                <a:ea typeface="+mn-ea"/>
              </a:defRPr>
            </a:lvl1pPr>
          </a:lstStyle>
          <a:p>
            <a:pPr>
              <a:defRPr/>
            </a:pPr>
            <a:endParaRPr lang="en-US" altLang="zh-CN"/>
          </a:p>
        </p:txBody>
      </p:sp>
      <p:sp>
        <p:nvSpPr>
          <p:cNvPr id="67633" name="Rectangle 49"/>
          <p:cNvSpPr>
            <a:spLocks noGrp="1" noChangeArrowheads="1"/>
          </p:cNvSpPr>
          <p:nvPr>
            <p:ph type="sldNum" sz="quarter" idx="4"/>
          </p:nvPr>
        </p:nvSpPr>
        <p:spPr bwMode="auto">
          <a:xfrm>
            <a:off x="6553200" y="6243638"/>
            <a:ext cx="2133600" cy="457200"/>
          </a:xfrm>
          <a:prstGeom prst="rect">
            <a:avLst/>
          </a:prstGeom>
          <a:noFill/>
          <a:ln>
            <a:noFill/>
          </a:ln>
        </p:spPr>
        <p:txBody>
          <a:bodyPr vert="horz" wrap="square" lIns="91440" tIns="45720" rIns="91440" bIns="45720" numCol="1" anchor="t" anchorCtr="0" compatLnSpc="1"/>
          <a:lstStyle>
            <a:lvl1pPr algn="r" eaLnBrk="1" hangingPunct="1">
              <a:defRPr sz="1400" b="0">
                <a:latin typeface="Verdana" panose="020B0604030504040204" pitchFamily="34" charset="0"/>
                <a:ea typeface="宋体" panose="02010600030101010101" pitchFamily="2" charset="-122"/>
              </a:defRPr>
            </a:lvl1pPr>
          </a:lstStyle>
          <a:p>
            <a:pPr>
              <a:defRPr/>
            </a:pPr>
            <a:fld id="{6DA23374-2735-4FE1-935E-117537F6E1BD}"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695300"/>
          <p:cNvSpPr>
            <a:spLocks noChangeArrowheads="1" noChangeShapeType="1" noTextEdit="1"/>
          </p:cNvSpPr>
          <p:nvPr/>
        </p:nvSpPr>
        <p:spPr bwMode="auto">
          <a:xfrm>
            <a:off x="571472" y="404813"/>
            <a:ext cx="7923241" cy="1655762"/>
          </a:xfrm>
          <a:prstGeom prst="rect">
            <a:avLst/>
          </a:prstGeom>
        </p:spPr>
        <p:txBody>
          <a:bodyPr wrap="none" fromWordArt="1">
            <a:prstTxWarp prst="textDeflate">
              <a:avLst>
                <a:gd name="adj" fmla="val 26227"/>
              </a:avLst>
            </a:prstTxWarp>
          </a:bodyPr>
          <a:lstStyle/>
          <a:p>
            <a:pPr algn="ctr"/>
            <a:r>
              <a:rPr lang="zh-CN" altLang="en-US" sz="5400" kern="10" dirty="0">
                <a:ln w="0">
                  <a:solidFill>
                    <a:srgbClr val="FF0000"/>
                  </a:solidFill>
                  <a:round/>
                </a:ln>
                <a:solidFill>
                  <a:srgbClr val="FF0000"/>
                </a:solidFill>
                <a:latin typeface="华文隶书"/>
                <a:ea typeface="华文隶书"/>
              </a:rPr>
              <a:t>第五章 </a:t>
            </a:r>
            <a:r>
              <a:rPr lang="zh-CN" altLang="en-US" sz="5400" kern="10" dirty="0" smtClean="0">
                <a:ln w="0">
                  <a:solidFill>
                    <a:srgbClr val="FF0000"/>
                  </a:solidFill>
                  <a:round/>
                </a:ln>
                <a:solidFill>
                  <a:srgbClr val="FF0000"/>
                </a:solidFill>
                <a:latin typeface="华文隶书"/>
                <a:ea typeface="华文隶书"/>
              </a:rPr>
              <a:t>  资本主义</a:t>
            </a:r>
            <a:r>
              <a:rPr lang="zh-CN" altLang="en-US" sz="5400" kern="10" dirty="0">
                <a:ln w="0">
                  <a:solidFill>
                    <a:srgbClr val="FF0000"/>
                  </a:solidFill>
                  <a:round/>
                </a:ln>
                <a:solidFill>
                  <a:srgbClr val="FF0000"/>
                </a:solidFill>
                <a:latin typeface="华文隶书"/>
                <a:ea typeface="华文隶书"/>
              </a:rPr>
              <a:t>的发展及其趋势</a:t>
            </a:r>
          </a:p>
        </p:txBody>
      </p:sp>
      <p:sp>
        <p:nvSpPr>
          <p:cNvPr id="4099" name="矩形 695301"/>
          <p:cNvSpPr>
            <a:spLocks noChangeArrowheads="1"/>
          </p:cNvSpPr>
          <p:nvPr/>
        </p:nvSpPr>
        <p:spPr bwMode="auto">
          <a:xfrm>
            <a:off x="3492500" y="1774825"/>
            <a:ext cx="2952750" cy="519113"/>
          </a:xfrm>
          <a:prstGeom prst="rect">
            <a:avLst/>
          </a:prstGeom>
          <a:noFill/>
          <a:ln w="9525">
            <a:noFill/>
            <a:miter lim="800000"/>
          </a:ln>
        </p:spPr>
        <p:txBody>
          <a:bodyPr>
            <a:spAutoFit/>
          </a:bodyPr>
          <a:lstStyle/>
          <a:p>
            <a:pPr eaLnBrk="1" hangingPunct="1">
              <a:spcBef>
                <a:spcPct val="50000"/>
              </a:spcBef>
            </a:pPr>
            <a:r>
              <a:rPr lang="en-US" altLang="zh-CN" sz="2800">
                <a:solidFill>
                  <a:srgbClr val="0000FF"/>
                </a:solidFill>
                <a:ea typeface="黑体" panose="02010609060101010101" pitchFamily="49" charset="-122"/>
              </a:rPr>
              <a:t>(</a:t>
            </a:r>
            <a:r>
              <a:rPr lang="zh-CN" altLang="en-US" sz="2800">
                <a:solidFill>
                  <a:srgbClr val="0000FF"/>
                </a:solidFill>
                <a:ea typeface="黑体" panose="02010609060101010101" pitchFamily="49" charset="-122"/>
              </a:rPr>
              <a:t>帝国主义论</a:t>
            </a:r>
            <a:r>
              <a:rPr lang="en-US" altLang="zh-CN" sz="2800">
                <a:solidFill>
                  <a:srgbClr val="0000FF"/>
                </a:solidFill>
                <a:ea typeface="黑体" panose="02010609060101010101" pitchFamily="49" charset="-122"/>
              </a:rPr>
              <a:t>)</a:t>
            </a:r>
          </a:p>
        </p:txBody>
      </p:sp>
      <p:sp>
        <p:nvSpPr>
          <p:cNvPr id="6" name="Rectangle 2"/>
          <p:cNvSpPr txBox="1">
            <a:spLocks noChangeArrowheads="1"/>
          </p:cNvSpPr>
          <p:nvPr/>
        </p:nvSpPr>
        <p:spPr>
          <a:xfrm>
            <a:off x="395605" y="2781300"/>
            <a:ext cx="8519795" cy="3143250"/>
          </a:xfrm>
          <a:prstGeom prst="rect">
            <a:avLst/>
          </a:prstGeom>
        </p:spPr>
        <p:txBody>
          <a:bodyPr/>
          <a:lstStyle/>
          <a:p>
            <a:pPr algn="l" eaLnBrk="1" hangingPunct="1">
              <a:lnSpc>
                <a:spcPct val="90000"/>
              </a:lnSpc>
              <a:defRPr/>
            </a:pPr>
            <a:r>
              <a:rPr lang="zh-CN" altLang="en-US" sz="3600" b="0" kern="0" dirty="0">
                <a:solidFill>
                  <a:schemeClr val="tx2"/>
                </a:solidFill>
                <a:latin typeface="华文新魏" pitchFamily="2" charset="-122"/>
                <a:ea typeface="华文新魏" pitchFamily="2" charset="-122"/>
                <a:cs typeface="+mj-cs"/>
              </a:rPr>
              <a:t>第一节  垄断资本主义的形成与发展</a:t>
            </a:r>
            <a:endParaRPr lang="en-US" altLang="zh-CN" sz="3600" b="0" kern="0" dirty="0">
              <a:solidFill>
                <a:schemeClr val="tx2"/>
              </a:solidFill>
              <a:latin typeface="华文新魏" pitchFamily="2" charset="-122"/>
              <a:ea typeface="华文新魏" pitchFamily="2" charset="-122"/>
              <a:cs typeface="+mj-cs"/>
            </a:endParaRPr>
          </a:p>
          <a:p>
            <a:pPr algn="ctr" eaLnBrk="1" hangingPunct="1">
              <a:lnSpc>
                <a:spcPct val="90000"/>
              </a:lnSpc>
              <a:defRPr/>
            </a:pPr>
            <a:endParaRPr lang="en-US" altLang="zh-CN" sz="3600" b="0" kern="0" dirty="0">
              <a:solidFill>
                <a:schemeClr val="tx2"/>
              </a:solidFill>
              <a:latin typeface="华文新魏" pitchFamily="2" charset="-122"/>
              <a:ea typeface="华文新魏" pitchFamily="2" charset="-122"/>
              <a:cs typeface="+mj-cs"/>
            </a:endParaRPr>
          </a:p>
          <a:p>
            <a:pPr algn="l" eaLnBrk="1" hangingPunct="1">
              <a:lnSpc>
                <a:spcPct val="90000"/>
              </a:lnSpc>
              <a:defRPr/>
            </a:pPr>
            <a:r>
              <a:rPr lang="zh-CN" altLang="en-US" sz="3600" b="0" kern="0" dirty="0">
                <a:solidFill>
                  <a:schemeClr val="tx2"/>
                </a:solidFill>
                <a:latin typeface="华文新魏" pitchFamily="2" charset="-122"/>
                <a:ea typeface="华文新魏" pitchFamily="2" charset="-122"/>
                <a:cs typeface="+mj-cs"/>
              </a:rPr>
              <a:t>第二节  正确认识当代资本主义的新变化</a:t>
            </a:r>
            <a:endParaRPr lang="en-US" altLang="zh-CN" sz="3600" b="0" kern="0" dirty="0">
              <a:solidFill>
                <a:schemeClr val="tx2"/>
              </a:solidFill>
              <a:latin typeface="华文新魏" pitchFamily="2" charset="-122"/>
              <a:ea typeface="华文新魏" pitchFamily="2" charset="-122"/>
              <a:cs typeface="+mj-cs"/>
            </a:endParaRPr>
          </a:p>
          <a:p>
            <a:pPr algn="ctr" eaLnBrk="1" hangingPunct="1">
              <a:lnSpc>
                <a:spcPct val="90000"/>
              </a:lnSpc>
              <a:defRPr/>
            </a:pPr>
            <a:endParaRPr lang="en-US" altLang="zh-CN" sz="3600" b="0" kern="0" dirty="0">
              <a:solidFill>
                <a:schemeClr val="tx2"/>
              </a:solidFill>
              <a:latin typeface="华文新魏" pitchFamily="2" charset="-122"/>
              <a:ea typeface="华文新魏" pitchFamily="2" charset="-122"/>
              <a:cs typeface="+mj-cs"/>
            </a:endParaRPr>
          </a:p>
          <a:p>
            <a:pPr algn="l" eaLnBrk="1" hangingPunct="1">
              <a:lnSpc>
                <a:spcPct val="90000"/>
              </a:lnSpc>
              <a:defRPr/>
            </a:pPr>
            <a:r>
              <a:rPr lang="zh-CN" altLang="en-US" sz="3600" b="0" kern="0" dirty="0">
                <a:solidFill>
                  <a:schemeClr val="tx2"/>
                </a:solidFill>
                <a:latin typeface="华文新魏" pitchFamily="2" charset="-122"/>
                <a:ea typeface="华文新魏" pitchFamily="2" charset="-122"/>
                <a:cs typeface="+mj-cs"/>
              </a:rPr>
              <a:t>第三节  资本主义的历史地位和发展趋势</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文本框 697345"/>
          <p:cNvSpPr txBox="1">
            <a:spLocks noChangeArrowheads="1"/>
          </p:cNvSpPr>
          <p:nvPr/>
        </p:nvSpPr>
        <p:spPr bwMode="auto">
          <a:xfrm>
            <a:off x="250825" y="185738"/>
            <a:ext cx="1892300" cy="522287"/>
          </a:xfrm>
          <a:prstGeom prst="rect">
            <a:avLst/>
          </a:prstGeom>
          <a:solidFill>
            <a:srgbClr val="FFFF99"/>
          </a:solidFill>
          <a:ln w="9525">
            <a:noFill/>
            <a:miter lim="800000"/>
          </a:ln>
        </p:spPr>
        <p:txBody>
          <a:bodyPr>
            <a:spAutoFit/>
          </a:bodyPr>
          <a:lstStyle/>
          <a:p>
            <a:pPr eaLnBrk="1" hangingPunct="1">
              <a:spcBef>
                <a:spcPct val="50000"/>
              </a:spcBef>
            </a:pPr>
            <a:r>
              <a:rPr lang="zh-CN" altLang="en-US" sz="2800" dirty="0" smtClean="0">
                <a:solidFill>
                  <a:srgbClr val="FF3300"/>
                </a:solidFill>
                <a:ea typeface="华文行楷" pitchFamily="2" charset="-122"/>
              </a:rPr>
              <a:t>学习目标</a:t>
            </a:r>
            <a:endParaRPr lang="zh-CN" altLang="en-US" sz="2800" dirty="0">
              <a:solidFill>
                <a:srgbClr val="FF3300"/>
              </a:solidFill>
              <a:ea typeface="华文行楷" pitchFamily="2" charset="-122"/>
            </a:endParaRPr>
          </a:p>
        </p:txBody>
      </p:sp>
      <p:sp>
        <p:nvSpPr>
          <p:cNvPr id="5123" name="矩形 697346"/>
          <p:cNvSpPr>
            <a:spLocks noRot="1" noChangeArrowheads="1"/>
          </p:cNvSpPr>
          <p:nvPr/>
        </p:nvSpPr>
        <p:spPr bwMode="auto">
          <a:xfrm>
            <a:off x="395288" y="874713"/>
            <a:ext cx="8424862" cy="1985962"/>
          </a:xfrm>
          <a:prstGeom prst="rect">
            <a:avLst/>
          </a:prstGeom>
          <a:solidFill>
            <a:srgbClr val="CCFFCC"/>
          </a:solidFill>
          <a:ln w="19050">
            <a:solidFill>
              <a:srgbClr val="FF0000"/>
            </a:solidFill>
            <a:miter lim="800000"/>
          </a:ln>
        </p:spPr>
        <p:txBody>
          <a:bodyPr/>
          <a:lstStyle/>
          <a:p>
            <a:pPr eaLnBrk="1" hangingPunct="1">
              <a:lnSpc>
                <a:spcPct val="125000"/>
              </a:lnSpc>
              <a:spcBef>
                <a:spcPct val="20000"/>
              </a:spcBef>
            </a:pPr>
            <a:r>
              <a:rPr lang="en-US" altLang="zh-CN" dirty="0">
                <a:solidFill>
                  <a:srgbClr val="0000FF"/>
                </a:solidFill>
                <a:latin typeface="华文隶书" pitchFamily="2" charset="-122"/>
                <a:ea typeface="华文隶书" pitchFamily="2" charset="-122"/>
              </a:rPr>
              <a:t>    </a:t>
            </a:r>
            <a:r>
              <a:rPr lang="zh-CN" altLang="en-US" sz="1800" dirty="0">
                <a:solidFill>
                  <a:srgbClr val="0000FF"/>
                </a:solidFill>
                <a:latin typeface="幼圆" pitchFamily="49" charset="-122"/>
                <a:ea typeface="幼圆" pitchFamily="49" charset="-122"/>
              </a:rPr>
              <a:t>了解资本主义从自由竞争发展到垄断的进程，科学认识国家垄断资本主义和经济全球化，正确认识第二次世界大战后资本主义的变化及其实质，当代资本主义变化的新特征，世界大变局下资本主义的矛盾与冲突，深刻理解资本主义的历史地位及其为社会主义所代替的历史必然性，坚定资本主义必然灭亡、社会主义必然胜利的信念。</a:t>
            </a:r>
          </a:p>
        </p:txBody>
      </p:sp>
      <p:sp>
        <p:nvSpPr>
          <p:cNvPr id="5124" name="文本框 697347"/>
          <p:cNvSpPr txBox="1">
            <a:spLocks noChangeArrowheads="1"/>
          </p:cNvSpPr>
          <p:nvPr/>
        </p:nvSpPr>
        <p:spPr bwMode="auto">
          <a:xfrm>
            <a:off x="250825" y="3027363"/>
            <a:ext cx="1903413" cy="522287"/>
          </a:xfrm>
          <a:prstGeom prst="rect">
            <a:avLst/>
          </a:prstGeom>
          <a:solidFill>
            <a:srgbClr val="FFFF99"/>
          </a:solidFill>
          <a:ln w="9525">
            <a:noFill/>
            <a:miter lim="800000"/>
          </a:ln>
        </p:spPr>
        <p:txBody>
          <a:bodyPr>
            <a:spAutoFit/>
          </a:bodyPr>
          <a:lstStyle/>
          <a:p>
            <a:pPr algn="ctr" eaLnBrk="1" hangingPunct="1">
              <a:spcBef>
                <a:spcPct val="50000"/>
              </a:spcBef>
            </a:pPr>
            <a:r>
              <a:rPr lang="zh-CN" altLang="en-US" sz="2800" dirty="0" smtClean="0">
                <a:solidFill>
                  <a:srgbClr val="FF3300"/>
                </a:solidFill>
                <a:ea typeface="华文行楷" pitchFamily="2" charset="-122"/>
              </a:rPr>
              <a:t>学习要点</a:t>
            </a:r>
            <a:endParaRPr lang="zh-CN" altLang="en-US" sz="2800" dirty="0">
              <a:solidFill>
                <a:srgbClr val="FF3300"/>
              </a:solidFill>
              <a:ea typeface="华文行楷" pitchFamily="2" charset="-122"/>
            </a:endParaRPr>
          </a:p>
        </p:txBody>
      </p:sp>
      <p:sp>
        <p:nvSpPr>
          <p:cNvPr id="5125" name="矩形 697348"/>
          <p:cNvSpPr>
            <a:spLocks noRot="1" noChangeArrowheads="1"/>
          </p:cNvSpPr>
          <p:nvPr/>
        </p:nvSpPr>
        <p:spPr bwMode="auto">
          <a:xfrm>
            <a:off x="431800" y="3716338"/>
            <a:ext cx="6408738" cy="2463800"/>
          </a:xfrm>
          <a:prstGeom prst="rect">
            <a:avLst/>
          </a:prstGeom>
          <a:solidFill>
            <a:srgbClr val="CCFFCC"/>
          </a:solidFill>
          <a:ln w="19050">
            <a:solidFill>
              <a:srgbClr val="FF0000"/>
            </a:solidFill>
            <a:miter lim="800000"/>
          </a:ln>
        </p:spPr>
        <p:txBody>
          <a:bodyPr/>
          <a:lstStyle/>
          <a:p>
            <a:pPr marL="342900" indent="-342900" eaLnBrk="1" hangingPunct="1">
              <a:lnSpc>
                <a:spcPct val="125000"/>
              </a:lnSpc>
              <a:spcBef>
                <a:spcPct val="10000"/>
              </a:spcBef>
            </a:pPr>
            <a:r>
              <a:rPr lang="en-US" altLang="zh-CN" sz="1800">
                <a:solidFill>
                  <a:srgbClr val="0000FF"/>
                </a:solidFill>
                <a:ea typeface="幼圆" pitchFamily="49" charset="-122"/>
              </a:rPr>
              <a:t>—</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私人垄断资本主义的形成及特点</a:t>
            </a:r>
          </a:p>
          <a:p>
            <a:pPr marL="342900" indent="-342900" eaLnBrk="1" hangingPunct="1">
              <a:lnSpc>
                <a:spcPct val="125000"/>
              </a:lnSpc>
              <a:spcBef>
                <a:spcPct val="10000"/>
              </a:spcBef>
            </a:pPr>
            <a:r>
              <a:rPr lang="en-US" altLang="zh-CN" sz="1800">
                <a:solidFill>
                  <a:srgbClr val="0000FF"/>
                </a:solidFill>
                <a:ea typeface="幼圆" pitchFamily="49" charset="-122"/>
              </a:rPr>
              <a:t>—</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国家垄断资本主义的特点和实质</a:t>
            </a:r>
          </a:p>
          <a:p>
            <a:pPr marL="342900" indent="-342900" eaLnBrk="1" hangingPunct="1">
              <a:lnSpc>
                <a:spcPct val="125000"/>
              </a:lnSpc>
              <a:spcBef>
                <a:spcPct val="10000"/>
              </a:spcBef>
            </a:pPr>
            <a:r>
              <a:rPr lang="en-US" altLang="zh-CN" sz="1800">
                <a:solidFill>
                  <a:srgbClr val="0000FF"/>
                </a:solidFill>
                <a:ea typeface="幼圆" pitchFamily="49" charset="-122"/>
              </a:rPr>
              <a:t>—</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经济全球化的表现及影响</a:t>
            </a:r>
          </a:p>
          <a:p>
            <a:pPr marL="342900" indent="-342900" eaLnBrk="1" hangingPunct="1">
              <a:lnSpc>
                <a:spcPct val="125000"/>
              </a:lnSpc>
              <a:spcBef>
                <a:spcPct val="10000"/>
              </a:spcBef>
            </a:pPr>
            <a:r>
              <a:rPr lang="en-US" altLang="zh-CN" sz="1800">
                <a:solidFill>
                  <a:srgbClr val="0000FF"/>
                </a:solidFill>
                <a:ea typeface="幼圆" pitchFamily="49" charset="-122"/>
              </a:rPr>
              <a:t>—</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第二次世界大战后资本主义的变化及其实质</a:t>
            </a:r>
          </a:p>
          <a:p>
            <a:pPr marL="342900" indent="-342900" eaLnBrk="1" hangingPunct="1">
              <a:lnSpc>
                <a:spcPct val="125000"/>
              </a:lnSpc>
              <a:spcBef>
                <a:spcPct val="10000"/>
              </a:spcBef>
            </a:pPr>
            <a:r>
              <a:rPr lang="en-US" altLang="zh-CN" sz="1800">
                <a:solidFill>
                  <a:srgbClr val="0000FF"/>
                </a:solidFill>
                <a:ea typeface="幼圆" pitchFamily="49" charset="-122"/>
              </a:rPr>
              <a:t>—  </a:t>
            </a:r>
            <a:r>
              <a:rPr lang="zh-CN" altLang="en-US" sz="1800">
                <a:solidFill>
                  <a:srgbClr val="0000FF"/>
                </a:solidFill>
                <a:ea typeface="幼圆" pitchFamily="49" charset="-122"/>
              </a:rPr>
              <a:t>世界大变局下</a:t>
            </a:r>
            <a:r>
              <a:rPr lang="zh-CN" altLang="en-US" sz="1800">
                <a:solidFill>
                  <a:srgbClr val="0000FF"/>
                </a:solidFill>
                <a:latin typeface="幼圆" pitchFamily="49" charset="-122"/>
                <a:ea typeface="幼圆" pitchFamily="49" charset="-122"/>
              </a:rPr>
              <a:t>资本主义的矛盾与冲突</a:t>
            </a:r>
          </a:p>
          <a:p>
            <a:pPr marL="342900" indent="-342900" eaLnBrk="1" hangingPunct="1">
              <a:lnSpc>
                <a:spcPct val="125000"/>
              </a:lnSpc>
              <a:spcBef>
                <a:spcPct val="10000"/>
              </a:spcBef>
            </a:pPr>
            <a:r>
              <a:rPr lang="en-US" altLang="zh-CN" sz="1800">
                <a:solidFill>
                  <a:srgbClr val="0000FF"/>
                </a:solidFill>
                <a:ea typeface="幼圆" pitchFamily="49" charset="-122"/>
              </a:rPr>
              <a:t>—</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资本主义的历史地位及其为社会主义所代替的历史必然性</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760835"/>
          <p:cNvSpPr>
            <a:spLocks noChangeArrowheads="1"/>
          </p:cNvSpPr>
          <p:nvPr/>
        </p:nvSpPr>
        <p:spPr bwMode="auto">
          <a:xfrm>
            <a:off x="755650" y="620713"/>
            <a:ext cx="2808288" cy="561975"/>
          </a:xfrm>
          <a:prstGeom prst="rect">
            <a:avLst/>
          </a:prstGeom>
          <a:solidFill>
            <a:srgbClr val="CCFFFF"/>
          </a:solidFill>
          <a:ln w="12700">
            <a:solidFill>
              <a:srgbClr val="FF3300"/>
            </a:solidFill>
            <a:miter lim="800000"/>
          </a:ln>
        </p:spPr>
        <p:txBody>
          <a:bodyPr>
            <a:spAutoFit/>
          </a:bodyPr>
          <a:lstStyle/>
          <a:p>
            <a:pPr algn="ct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本章核心观点</a:t>
            </a:r>
            <a:endParaRPr lang="zh-CN" altLang="en-US"/>
          </a:p>
        </p:txBody>
      </p:sp>
      <p:sp>
        <p:nvSpPr>
          <p:cNvPr id="6147" name="文本框 760836"/>
          <p:cNvSpPr txBox="1">
            <a:spLocks noChangeArrowheads="1"/>
          </p:cNvSpPr>
          <p:nvPr/>
        </p:nvSpPr>
        <p:spPr bwMode="auto">
          <a:xfrm>
            <a:off x="323850" y="1773238"/>
            <a:ext cx="3816350" cy="4094162"/>
          </a:xfrm>
          <a:prstGeom prst="rect">
            <a:avLst/>
          </a:prstGeom>
          <a:solidFill>
            <a:srgbClr val="FFFF99"/>
          </a:solidFill>
          <a:ln w="38100">
            <a:solidFill>
              <a:srgbClr val="FF3300"/>
            </a:solidFill>
            <a:miter lim="800000"/>
          </a:ln>
        </p:spPr>
        <p:txBody>
          <a:bodyPr>
            <a:spAutoFit/>
          </a:bodyPr>
          <a:lstStyle/>
          <a:p>
            <a:pPr eaLnBrk="1" hangingPunct="1">
              <a:lnSpc>
                <a:spcPct val="125000"/>
              </a:lnSpc>
              <a:spcBef>
                <a:spcPct val="50000"/>
              </a:spcBef>
            </a:pPr>
            <a:r>
              <a:rPr lang="en-US" altLang="zh-CN" sz="2000">
                <a:solidFill>
                  <a:srgbClr val="3333FF"/>
                </a:solidFill>
                <a:latin typeface="华文行楷" pitchFamily="2" charset="-122"/>
                <a:ea typeface="华文行楷" pitchFamily="2" charset="-122"/>
              </a:rPr>
              <a:t>    </a:t>
            </a:r>
            <a:r>
              <a:rPr lang="en-US" altLang="zh-CN" sz="2000">
                <a:solidFill>
                  <a:srgbClr val="3333FF"/>
                </a:solidFill>
                <a:latin typeface="楷体" panose="02010609060101010101" pitchFamily="49" charset="-122"/>
                <a:ea typeface="楷体" panose="02010609060101010101" pitchFamily="49" charset="-122"/>
              </a:rPr>
              <a:t> </a:t>
            </a:r>
            <a:r>
              <a:rPr lang="zh-CN" altLang="en-US" sz="2000">
                <a:solidFill>
                  <a:srgbClr val="003399"/>
                </a:solidFill>
                <a:latin typeface="楷体" panose="02010609060101010101" pitchFamily="49" charset="-122"/>
                <a:ea typeface="楷体" panose="02010609060101010101" pitchFamily="49" charset="-122"/>
              </a:rPr>
              <a:t>资本主义仍然处在发展的过程之中，在资产阶级的根本利益允许的范围内，资本主义自身能够进行局部的调整，资本主义的内在矛盾和冲突在一定程度上可以得到缓和。</a:t>
            </a:r>
          </a:p>
          <a:p>
            <a:pPr eaLnBrk="1" hangingPunct="1">
              <a:lnSpc>
                <a:spcPct val="125000"/>
              </a:lnSpc>
              <a:spcBef>
                <a:spcPct val="50000"/>
              </a:spcBef>
            </a:pPr>
            <a:r>
              <a:rPr lang="zh-CN" altLang="en-US" sz="2000">
                <a:solidFill>
                  <a:srgbClr val="003399"/>
                </a:solidFill>
                <a:latin typeface="楷体" panose="02010609060101010101" pitchFamily="49" charset="-122"/>
                <a:ea typeface="楷体" panose="02010609060101010101" pitchFamily="49" charset="-122"/>
              </a:rPr>
              <a:t>  但是，由资本主义基本矛盾所决定，资本主义的自我调节是有限的，资本主义最终被社会主义代替是历史的必然趋势。</a:t>
            </a:r>
            <a:endParaRPr lang="zh-CN" altLang="en-US" sz="2000">
              <a:latin typeface="楷体" panose="02010609060101010101" pitchFamily="49" charset="-122"/>
              <a:ea typeface="楷体" panose="02010609060101010101" pitchFamily="49" charset="-122"/>
            </a:endParaRPr>
          </a:p>
        </p:txBody>
      </p:sp>
      <p:sp>
        <p:nvSpPr>
          <p:cNvPr id="6148" name="圆角矩形 6"/>
          <p:cNvSpPr>
            <a:spLocks noChangeArrowheads="1"/>
          </p:cNvSpPr>
          <p:nvPr/>
        </p:nvSpPr>
        <p:spPr bwMode="auto">
          <a:xfrm>
            <a:off x="4286250" y="642938"/>
            <a:ext cx="4643438" cy="5429250"/>
          </a:xfrm>
          <a:prstGeom prst="roundRect">
            <a:avLst>
              <a:gd name="adj" fmla="val 16667"/>
            </a:avLst>
          </a:prstGeom>
          <a:solidFill>
            <a:srgbClr val="FFFFCC"/>
          </a:solidFill>
          <a:ln w="28575">
            <a:solidFill>
              <a:srgbClr val="FF00FF"/>
            </a:solidFill>
            <a:round/>
          </a:ln>
        </p:spPr>
        <p:txBody>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   </a:t>
            </a:r>
            <a:r>
              <a:rPr lang="zh-CN" altLang="en-US" sz="2000">
                <a:solidFill>
                  <a:srgbClr val="0000FF"/>
                </a:solidFill>
                <a:latin typeface="楷体" panose="02010609060101010101" pitchFamily="49" charset="-122"/>
                <a:ea typeface="楷体" panose="02010609060101010101" pitchFamily="49" charset="-122"/>
              </a:rPr>
              <a:t>资本主义社会有一个产生、发展和走向衰亡的过程。19世纪末20世纪初，资本主义从自由竞争阶段发展到垄断阶段。第二次世界大战后，资本主义经历了一个繁荣发展的时期，经济和社会生活出现了一些新的变化。近些年来，资本主义世界又发生了以金融危机为标志的经济和社会性危机。认识垄断资本主义的特征，了解经济全球化的过程，剖析当代资本主义新变化，对于我们正确把握资本主义发展的历史趋势具有重要意义。</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28600"/>
            <a:ext cx="8243888" cy="1314450"/>
          </a:xfrm>
        </p:spPr>
        <p:txBody>
          <a:bodyPr/>
          <a:lstStyle/>
          <a:p>
            <a:pPr eaLnBrk="1" hangingPunct="1"/>
            <a:r>
              <a:rPr lang="zh-CN" altLang="en-US" sz="4000" b="1" smtClean="0">
                <a:effectLst/>
                <a:latin typeface="华文新魏" pitchFamily="2" charset="-122"/>
                <a:ea typeface="华文新魏" pitchFamily="2" charset="-122"/>
              </a:rPr>
              <a:t>第一节 垄断资本主义的形成与发展</a:t>
            </a:r>
          </a:p>
        </p:txBody>
      </p:sp>
      <p:sp>
        <p:nvSpPr>
          <p:cNvPr id="8195" name="Rectangle 3"/>
          <p:cNvSpPr>
            <a:spLocks noGrp="1" noChangeArrowheads="1"/>
          </p:cNvSpPr>
          <p:nvPr>
            <p:ph type="body" idx="1"/>
          </p:nvPr>
        </p:nvSpPr>
        <p:spPr>
          <a:xfrm>
            <a:off x="539750" y="2052638"/>
            <a:ext cx="8223250" cy="4003675"/>
          </a:xfrm>
        </p:spPr>
        <p:txBody>
          <a:bodyPr/>
          <a:lstStyle/>
          <a:p>
            <a:pPr eaLnBrk="1" hangingPunct="1"/>
            <a:r>
              <a:rPr lang="zh-CN" altLang="en-US" b="1" smtClean="0">
                <a:ea typeface="楷体_GB2312" pitchFamily="49" charset="-122"/>
              </a:rPr>
              <a:t>一、资本主义从自由竞争到垄断</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二、垄断资本主义的发展</a:t>
            </a:r>
          </a:p>
          <a:p>
            <a:pPr eaLnBrk="1" hangingPunct="1"/>
            <a:endParaRPr lang="zh-CN" altLang="en-US" b="1" smtClean="0">
              <a:ea typeface="楷体_GB2312" pitchFamily="49" charset="-122"/>
            </a:endParaRPr>
          </a:p>
          <a:p>
            <a:pPr eaLnBrk="1" hangingPunct="1"/>
            <a:r>
              <a:rPr lang="zh-CN" altLang="en-US" b="1" smtClean="0">
                <a:ea typeface="楷体_GB2312" pitchFamily="49" charset="-122"/>
              </a:rPr>
              <a:t>三、经济全球化及其影响</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23850" y="260350"/>
            <a:ext cx="8569325" cy="647700"/>
          </a:xfrm>
        </p:spPr>
        <p:txBody>
          <a:bodyPr/>
          <a:lstStyle/>
          <a:p>
            <a:pPr algn="l" eaLnBrk="1" hangingPunct="1"/>
            <a:r>
              <a:rPr lang="zh-CN" altLang="en-US" sz="3600" b="1" smtClean="0">
                <a:effectLst/>
                <a:latin typeface="楷体_GB2312" pitchFamily="49" charset="-122"/>
                <a:ea typeface="楷体_GB2312" pitchFamily="49" charset="-122"/>
              </a:rPr>
              <a:t>一、资本主义从自由竞争到垄断</a:t>
            </a:r>
          </a:p>
        </p:txBody>
      </p:sp>
      <p:sp>
        <p:nvSpPr>
          <p:cNvPr id="9219" name="Rectangle 3"/>
          <p:cNvSpPr>
            <a:spLocks noGrp="1" noChangeArrowheads="1"/>
          </p:cNvSpPr>
          <p:nvPr>
            <p:ph type="body" idx="1"/>
          </p:nvPr>
        </p:nvSpPr>
        <p:spPr>
          <a:xfrm>
            <a:off x="395288" y="6597650"/>
            <a:ext cx="8424862" cy="71438"/>
          </a:xfrm>
        </p:spPr>
        <p:txBody>
          <a:bodyPr/>
          <a:lstStyle/>
          <a:p>
            <a:pPr eaLnBrk="1" hangingPunct="1">
              <a:lnSpc>
                <a:spcPct val="80000"/>
              </a:lnSpc>
            </a:pPr>
            <a:endParaRPr lang="zh-CN" altLang="en-US" sz="300" b="1" smtClean="0">
              <a:latin typeface="宋体" panose="02010600030101010101" pitchFamily="2" charset="-122"/>
            </a:endParaRPr>
          </a:p>
          <a:p>
            <a:pPr eaLnBrk="1" hangingPunct="1">
              <a:lnSpc>
                <a:spcPct val="80000"/>
              </a:lnSpc>
            </a:pPr>
            <a:endParaRPr lang="zh-CN" altLang="en-US" sz="800" b="1" smtClean="0"/>
          </a:p>
        </p:txBody>
      </p:sp>
      <p:sp>
        <p:nvSpPr>
          <p:cNvPr id="11271" name="Text Box 7"/>
          <p:cNvSpPr txBox="1">
            <a:spLocks noChangeArrowheads="1"/>
          </p:cNvSpPr>
          <p:nvPr/>
        </p:nvSpPr>
        <p:spPr bwMode="auto">
          <a:xfrm>
            <a:off x="323850" y="981075"/>
            <a:ext cx="8458200" cy="946150"/>
          </a:xfrm>
          <a:prstGeom prst="rect">
            <a:avLst/>
          </a:prstGeom>
          <a:noFill/>
          <a:ln w="12700">
            <a:noFill/>
            <a:miter lim="800000"/>
          </a:ln>
        </p:spPr>
        <p:txBody>
          <a:bodyPr anchor="ctr">
            <a:spAutoFit/>
          </a:bodyPr>
          <a:lstStyle/>
          <a:p>
            <a:pPr eaLnBrk="1" hangingPunct="1">
              <a:spcBef>
                <a:spcPct val="50000"/>
              </a:spcBef>
            </a:pPr>
            <a:r>
              <a:rPr lang="zh-CN" altLang="en-US" sz="2800">
                <a:solidFill>
                  <a:srgbClr val="0000FF"/>
                </a:solidFill>
                <a:latin typeface="Verdana" panose="020B0604030504040204" pitchFamily="34" charset="0"/>
              </a:rPr>
              <a:t>资本主义的发展经历了两个阶段：自由竞争资本主义和垄断资本主义</a:t>
            </a:r>
          </a:p>
        </p:txBody>
      </p:sp>
      <p:sp>
        <p:nvSpPr>
          <p:cNvPr id="11272" name="Text Box 8"/>
          <p:cNvSpPr txBox="1">
            <a:spLocks noChangeArrowheads="1"/>
          </p:cNvSpPr>
          <p:nvPr/>
        </p:nvSpPr>
        <p:spPr bwMode="auto">
          <a:xfrm>
            <a:off x="107950" y="1987074"/>
            <a:ext cx="8458200" cy="583565"/>
          </a:xfrm>
          <a:prstGeom prst="rect">
            <a:avLst/>
          </a:prstGeom>
          <a:noFill/>
          <a:ln w="12700">
            <a:noFill/>
            <a:miter lim="800000"/>
          </a:ln>
        </p:spPr>
        <p:txBody>
          <a:bodyPr anchor="ctr">
            <a:spAutoFit/>
          </a:bodyPr>
          <a:lstStyle/>
          <a:p>
            <a:pPr eaLnBrk="1" hangingPunct="1">
              <a:spcBef>
                <a:spcPct val="50000"/>
              </a:spcBef>
            </a:pPr>
            <a:r>
              <a:rPr lang="zh-CN" altLang="en-US" sz="3200">
                <a:solidFill>
                  <a:schemeClr val="tx2"/>
                </a:solidFill>
                <a:latin typeface="Verdana" panose="020B0604030504040204" pitchFamily="34" charset="0"/>
              </a:rPr>
              <a:t>（一）生产集中与垄断的形成</a:t>
            </a:r>
          </a:p>
        </p:txBody>
      </p:sp>
      <p:sp>
        <p:nvSpPr>
          <p:cNvPr id="11278" name="Text Box 14"/>
          <p:cNvSpPr txBox="1">
            <a:spLocks noChangeArrowheads="1"/>
          </p:cNvSpPr>
          <p:nvPr/>
        </p:nvSpPr>
        <p:spPr bwMode="auto">
          <a:xfrm>
            <a:off x="395288" y="5157788"/>
            <a:ext cx="8424862" cy="946150"/>
          </a:xfrm>
          <a:prstGeom prst="rect">
            <a:avLst/>
          </a:prstGeom>
          <a:noFill/>
          <a:ln w="28575">
            <a:noFill/>
            <a:miter lim="800000"/>
          </a:ln>
        </p:spPr>
        <p:txBody>
          <a:bodyPr anchor="ctr">
            <a:spAutoFit/>
          </a:bodyPr>
          <a:lstStyle/>
          <a:p>
            <a:pPr eaLnBrk="1" hangingPunct="1">
              <a:spcBef>
                <a:spcPct val="50000"/>
              </a:spcBef>
            </a:pPr>
            <a:r>
              <a:rPr lang="zh-CN" altLang="en-US" sz="2800" dirty="0">
                <a:solidFill>
                  <a:srgbClr val="0000FF"/>
                </a:solidFill>
                <a:latin typeface="Verdana" panose="020B0604030504040204" pitchFamily="34" charset="0"/>
              </a:rPr>
              <a:t>这种过渡的中心内容是垄断逐步代替自由竞争成为经济生活的基础。垄断是在自由竞争中成长起来的。</a:t>
            </a:r>
          </a:p>
        </p:txBody>
      </p:sp>
      <p:sp>
        <p:nvSpPr>
          <p:cNvPr id="12" name="Text Box 5"/>
          <p:cNvSpPr txBox="1">
            <a:spLocks noChangeArrowheads="1"/>
          </p:cNvSpPr>
          <p:nvPr/>
        </p:nvSpPr>
        <p:spPr bwMode="auto">
          <a:xfrm>
            <a:off x="571500" y="2786063"/>
            <a:ext cx="719138" cy="1819275"/>
          </a:xfrm>
          <a:prstGeom prst="rect">
            <a:avLst/>
          </a:prstGeom>
          <a:noFill/>
          <a:ln w="19050">
            <a:solidFill>
              <a:schemeClr val="tx2"/>
            </a:solidFill>
            <a:miter lim="800000"/>
          </a:ln>
        </p:spPr>
        <p:txBody>
          <a:bodyPr>
            <a:spAutoFit/>
          </a:bodyPr>
          <a:lstStyle/>
          <a:p>
            <a:pPr eaLnBrk="1" hangingPunct="1">
              <a:spcBef>
                <a:spcPct val="50000"/>
              </a:spcBef>
            </a:pPr>
            <a:r>
              <a:rPr lang="zh-CN" altLang="en-US" sz="2800">
                <a:latin typeface="Verdana" panose="020B0604030504040204" pitchFamily="34" charset="0"/>
              </a:rPr>
              <a:t>自由竞争</a:t>
            </a:r>
          </a:p>
        </p:txBody>
      </p:sp>
      <p:sp>
        <p:nvSpPr>
          <p:cNvPr id="13" name="AutoShape 9"/>
          <p:cNvSpPr>
            <a:spLocks noChangeArrowheads="1"/>
          </p:cNvSpPr>
          <p:nvPr/>
        </p:nvSpPr>
        <p:spPr bwMode="auto">
          <a:xfrm>
            <a:off x="1357313" y="3571875"/>
            <a:ext cx="504825"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ln>
        </p:spPr>
        <p:txBody>
          <a:bodyPr wrap="none" anchor="ctr"/>
          <a:lstStyle/>
          <a:p>
            <a:endParaRPr lang="zh-CN" altLang="en-US"/>
          </a:p>
        </p:txBody>
      </p:sp>
      <p:sp>
        <p:nvSpPr>
          <p:cNvPr id="14" name="Text Box 6"/>
          <p:cNvSpPr txBox="1">
            <a:spLocks noChangeArrowheads="1"/>
          </p:cNvSpPr>
          <p:nvPr/>
        </p:nvSpPr>
        <p:spPr bwMode="auto">
          <a:xfrm>
            <a:off x="1928813" y="2786063"/>
            <a:ext cx="719137" cy="1819275"/>
          </a:xfrm>
          <a:prstGeom prst="rect">
            <a:avLst/>
          </a:prstGeom>
          <a:noFill/>
          <a:ln w="19050">
            <a:solidFill>
              <a:schemeClr val="tx2"/>
            </a:solidFill>
            <a:miter lim="800000"/>
          </a:ln>
        </p:spPr>
        <p:txBody>
          <a:bodyPr>
            <a:spAutoFit/>
          </a:bodyPr>
          <a:lstStyle/>
          <a:p>
            <a:pPr eaLnBrk="1" hangingPunct="1">
              <a:spcBef>
                <a:spcPct val="50000"/>
              </a:spcBef>
            </a:pPr>
            <a:r>
              <a:rPr lang="zh-CN" altLang="en-US" sz="2800">
                <a:latin typeface="Verdana" panose="020B0604030504040204" pitchFamily="34" charset="0"/>
              </a:rPr>
              <a:t>资本集中</a:t>
            </a:r>
          </a:p>
        </p:txBody>
      </p:sp>
      <p:sp>
        <p:nvSpPr>
          <p:cNvPr id="15" name="AutoShape 10"/>
          <p:cNvSpPr>
            <a:spLocks noChangeArrowheads="1"/>
          </p:cNvSpPr>
          <p:nvPr/>
        </p:nvSpPr>
        <p:spPr bwMode="auto">
          <a:xfrm>
            <a:off x="2714625" y="3571875"/>
            <a:ext cx="504825"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ln>
        </p:spPr>
        <p:txBody>
          <a:bodyPr wrap="none" anchor="ctr"/>
          <a:lstStyle/>
          <a:p>
            <a:endParaRPr lang="zh-CN" altLang="en-US"/>
          </a:p>
        </p:txBody>
      </p:sp>
      <p:sp>
        <p:nvSpPr>
          <p:cNvPr id="16" name="Text Box 7"/>
          <p:cNvSpPr txBox="1">
            <a:spLocks noChangeArrowheads="1"/>
          </p:cNvSpPr>
          <p:nvPr/>
        </p:nvSpPr>
        <p:spPr bwMode="auto">
          <a:xfrm>
            <a:off x="3357563" y="2786063"/>
            <a:ext cx="647700" cy="1819275"/>
          </a:xfrm>
          <a:prstGeom prst="rect">
            <a:avLst/>
          </a:prstGeom>
          <a:noFill/>
          <a:ln w="19050">
            <a:solidFill>
              <a:schemeClr val="tx2"/>
            </a:solidFill>
            <a:miter lim="800000"/>
          </a:ln>
        </p:spPr>
        <p:txBody>
          <a:bodyPr>
            <a:spAutoFit/>
          </a:bodyPr>
          <a:lstStyle/>
          <a:p>
            <a:pPr eaLnBrk="1" hangingPunct="1">
              <a:spcBef>
                <a:spcPct val="50000"/>
              </a:spcBef>
            </a:pPr>
            <a:r>
              <a:rPr lang="zh-CN" altLang="en-US" sz="2800">
                <a:latin typeface="Verdana" panose="020B0604030504040204" pitchFamily="34" charset="0"/>
              </a:rPr>
              <a:t>生产集中</a:t>
            </a:r>
          </a:p>
        </p:txBody>
      </p:sp>
      <p:sp>
        <p:nvSpPr>
          <p:cNvPr id="17" name="AutoShape 11"/>
          <p:cNvSpPr>
            <a:spLocks noChangeArrowheads="1"/>
          </p:cNvSpPr>
          <p:nvPr/>
        </p:nvSpPr>
        <p:spPr bwMode="auto">
          <a:xfrm>
            <a:off x="4071938" y="3571875"/>
            <a:ext cx="504825"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ln>
        </p:spPr>
        <p:txBody>
          <a:bodyPr wrap="none" anchor="ctr"/>
          <a:lstStyle/>
          <a:p>
            <a:endParaRPr lang="zh-CN" altLang="en-US"/>
          </a:p>
        </p:txBody>
      </p:sp>
      <p:sp>
        <p:nvSpPr>
          <p:cNvPr id="18" name="Text Box 8"/>
          <p:cNvSpPr txBox="1">
            <a:spLocks noChangeArrowheads="1"/>
          </p:cNvSpPr>
          <p:nvPr/>
        </p:nvSpPr>
        <p:spPr bwMode="auto">
          <a:xfrm>
            <a:off x="4643438" y="2786063"/>
            <a:ext cx="576262" cy="1820862"/>
          </a:xfrm>
          <a:prstGeom prst="rect">
            <a:avLst/>
          </a:prstGeom>
          <a:noFill/>
          <a:ln w="19050">
            <a:solidFill>
              <a:schemeClr val="tx2"/>
            </a:solidFill>
            <a:miter lim="800000"/>
          </a:ln>
        </p:spPr>
        <p:txBody>
          <a:bodyPr>
            <a:spAutoFit/>
          </a:bodyPr>
          <a:lstStyle/>
          <a:p>
            <a:pPr eaLnBrk="1" hangingPunct="1">
              <a:spcBef>
                <a:spcPct val="50000"/>
              </a:spcBef>
            </a:pPr>
            <a:r>
              <a:rPr lang="zh-CN" altLang="en-US" sz="2800">
                <a:solidFill>
                  <a:srgbClr val="FF0000"/>
                </a:solidFill>
                <a:latin typeface="Verdana" panose="020B0604030504040204" pitchFamily="34" charset="0"/>
              </a:rPr>
              <a:t>垄</a:t>
            </a:r>
          </a:p>
          <a:p>
            <a:pPr eaLnBrk="1" hangingPunct="1">
              <a:spcBef>
                <a:spcPct val="50000"/>
              </a:spcBef>
            </a:pPr>
            <a:endParaRPr lang="zh-CN" altLang="en-US" sz="2800">
              <a:solidFill>
                <a:srgbClr val="FF0000"/>
              </a:solidFill>
              <a:latin typeface="Verdana" panose="020B0604030504040204" pitchFamily="34" charset="0"/>
            </a:endParaRPr>
          </a:p>
          <a:p>
            <a:pPr eaLnBrk="1" hangingPunct="1">
              <a:spcBef>
                <a:spcPct val="50000"/>
              </a:spcBef>
            </a:pPr>
            <a:r>
              <a:rPr lang="zh-CN" altLang="en-US" sz="2800">
                <a:solidFill>
                  <a:srgbClr val="FF0000"/>
                </a:solidFill>
                <a:latin typeface="Verdana" panose="020B0604030504040204" pitchFamily="34" charset="0"/>
              </a:rPr>
              <a:t>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anim calcmode="lin" valueType="num">
                                      <p:cBhvr additive="base">
                                        <p:cTn id="7" dur="1000" fill="hold"/>
                                        <p:tgtEl>
                                          <p:spTgt spid="11271"/>
                                        </p:tgtEl>
                                        <p:attrNameLst>
                                          <p:attrName>ppt_x</p:attrName>
                                        </p:attrNameLst>
                                      </p:cBhvr>
                                      <p:tavLst>
                                        <p:tav tm="0">
                                          <p:val>
                                            <p:strVal val="0-#ppt_w/2"/>
                                          </p:val>
                                        </p:tav>
                                        <p:tav tm="100000">
                                          <p:val>
                                            <p:strVal val="#ppt_x"/>
                                          </p:val>
                                        </p:tav>
                                      </p:tavLst>
                                    </p:anim>
                                    <p:anim calcmode="lin" valueType="num">
                                      <p:cBhvr additive="base">
                                        <p:cTn id="8" dur="1000" fill="hold"/>
                                        <p:tgtEl>
                                          <p:spTgt spid="112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8" fill="hold" grpId="0" nodeType="clickEffect">
                                  <p:stCondLst>
                                    <p:cond delay="0"/>
                                  </p:stCondLst>
                                  <p:childTnLst>
                                    <p:set>
                                      <p:cBhvr>
                                        <p:cTn id="12" dur="1" fill="hold">
                                          <p:stCondLst>
                                            <p:cond delay="0"/>
                                          </p:stCondLst>
                                        </p:cTn>
                                        <p:tgtEl>
                                          <p:spTgt spid="11272"/>
                                        </p:tgtEl>
                                        <p:attrNameLst>
                                          <p:attrName>style.visibility</p:attrName>
                                        </p:attrNameLst>
                                      </p:cBhvr>
                                      <p:to>
                                        <p:strVal val="visible"/>
                                      </p:to>
                                    </p:set>
                                    <p:anim calcmode="lin" valueType="num">
                                      <p:cBhvr additive="base">
                                        <p:cTn id="13" dur="1000" fill="hold"/>
                                        <p:tgtEl>
                                          <p:spTgt spid="11272"/>
                                        </p:tgtEl>
                                        <p:attrNameLst>
                                          <p:attrName>ppt_x</p:attrName>
                                        </p:attrNameLst>
                                      </p:cBhvr>
                                      <p:tavLst>
                                        <p:tav tm="0">
                                          <p:val>
                                            <p:strVal val="0-#ppt_w/2"/>
                                          </p:val>
                                        </p:tav>
                                        <p:tav tm="100000">
                                          <p:val>
                                            <p:strVal val="#ppt_x"/>
                                          </p:val>
                                        </p:tav>
                                      </p:tavLst>
                                    </p:anim>
                                    <p:anim calcmode="lin" valueType="num">
                                      <p:cBhvr additive="base">
                                        <p:cTn id="14" dur="1000" fill="hold"/>
                                        <p:tgtEl>
                                          <p:spTgt spid="1127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7" presetClass="entr" presetSubtype="8" fill="hold" grpId="0" nodeType="clickEffect">
                                  <p:stCondLst>
                                    <p:cond delay="0"/>
                                  </p:stCondLst>
                                  <p:childTnLst>
                                    <p:set>
                                      <p:cBhvr>
                                        <p:cTn id="18" dur="1" fill="hold">
                                          <p:stCondLst>
                                            <p:cond delay="0"/>
                                          </p:stCondLst>
                                        </p:cTn>
                                        <p:tgtEl>
                                          <p:spTgt spid="11278"/>
                                        </p:tgtEl>
                                        <p:attrNameLst>
                                          <p:attrName>style.visibility</p:attrName>
                                        </p:attrNameLst>
                                      </p:cBhvr>
                                      <p:to>
                                        <p:strVal val="visible"/>
                                      </p:to>
                                    </p:set>
                                    <p:anim calcmode="lin" valueType="num">
                                      <p:cBhvr additive="base">
                                        <p:cTn id="19" dur="1000" fill="hold"/>
                                        <p:tgtEl>
                                          <p:spTgt spid="11278"/>
                                        </p:tgtEl>
                                        <p:attrNameLst>
                                          <p:attrName>ppt_x</p:attrName>
                                        </p:attrNameLst>
                                      </p:cBhvr>
                                      <p:tavLst>
                                        <p:tav tm="0">
                                          <p:val>
                                            <p:strVal val="0-#ppt_w/2"/>
                                          </p:val>
                                        </p:tav>
                                        <p:tav tm="100000">
                                          <p:val>
                                            <p:strVal val="#ppt_x"/>
                                          </p:val>
                                        </p:tav>
                                      </p:tavLst>
                                    </p:anim>
                                    <p:anim calcmode="lin" valueType="num">
                                      <p:cBhvr additive="base">
                                        <p:cTn id="20" dur="1000" fill="hold"/>
                                        <p:tgtEl>
                                          <p:spTgt spid="1127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1000"/>
                                        <p:tgtEl>
                                          <p:spTgt spid="12"/>
                                        </p:tgtEl>
                                      </p:cBhvr>
                                    </p:animEffect>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0-#ppt_w/2"/>
                                          </p:val>
                                        </p:tav>
                                        <p:tav tm="100000">
                                          <p:val>
                                            <p:strVal val="#ppt_x"/>
                                          </p:val>
                                        </p:tav>
                                      </p:tavLst>
                                    </p:anim>
                                    <p:anim calcmode="lin" valueType="num">
                                      <p:cBhvr additive="base">
                                        <p:cTn id="30" dur="500" fill="hold"/>
                                        <p:tgtEl>
                                          <p:spTgt spid="13"/>
                                        </p:tgtEl>
                                        <p:attrNameLst>
                                          <p:attrName>ppt_y</p:attrName>
                                        </p:attrNameLst>
                                      </p:cBhvr>
                                      <p:tavLst>
                                        <p:tav tm="0">
                                          <p:val>
                                            <p:strVal val="#ppt_y"/>
                                          </p:val>
                                        </p:tav>
                                        <p:tav tm="100000">
                                          <p:val>
                                            <p:strVal val="#ppt_y"/>
                                          </p:val>
                                        </p:tav>
                                      </p:tavLst>
                                    </p:anim>
                                  </p:childTnLst>
                                </p:cTn>
                              </p:par>
                            </p:childTnLst>
                          </p:cTn>
                        </p:par>
                        <p:par>
                          <p:cTn id="31" fill="hold">
                            <p:stCondLst>
                              <p:cond delay="1500"/>
                            </p:stCondLst>
                            <p:childTnLst>
                              <p:par>
                                <p:cTn id="32" presetID="3" presetClass="entr" presetSubtype="1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1000"/>
                                        <p:tgtEl>
                                          <p:spTgt spid="14"/>
                                        </p:tgtEl>
                                      </p:cBhvr>
                                    </p:animEffect>
                                  </p:childTnLst>
                                </p:cTn>
                              </p:par>
                            </p:childTnLst>
                          </p:cTn>
                        </p:par>
                        <p:par>
                          <p:cTn id="35" fill="hold">
                            <p:stCondLst>
                              <p:cond delay="2500"/>
                            </p:stCondLst>
                            <p:childTnLst>
                              <p:par>
                                <p:cTn id="36" presetID="2" presetClass="entr" presetSubtype="8"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0-#ppt_w/2"/>
                                          </p:val>
                                        </p:tav>
                                        <p:tav tm="100000">
                                          <p:val>
                                            <p:strVal val="#ppt_x"/>
                                          </p:val>
                                        </p:tav>
                                      </p:tavLst>
                                    </p:anim>
                                    <p:anim calcmode="lin" valueType="num">
                                      <p:cBhvr additive="base">
                                        <p:cTn id="39" dur="500" fill="hold"/>
                                        <p:tgtEl>
                                          <p:spTgt spid="15"/>
                                        </p:tgtEl>
                                        <p:attrNameLst>
                                          <p:attrName>ppt_y</p:attrName>
                                        </p:attrNameLst>
                                      </p:cBhvr>
                                      <p:tavLst>
                                        <p:tav tm="0">
                                          <p:val>
                                            <p:strVal val="#ppt_y"/>
                                          </p:val>
                                        </p:tav>
                                        <p:tav tm="100000">
                                          <p:val>
                                            <p:strVal val="#ppt_y"/>
                                          </p:val>
                                        </p:tav>
                                      </p:tavLst>
                                    </p:anim>
                                  </p:childTnLst>
                                </p:cTn>
                              </p:par>
                            </p:childTnLst>
                          </p:cTn>
                        </p:par>
                        <p:par>
                          <p:cTn id="40" fill="hold">
                            <p:stCondLst>
                              <p:cond delay="3000"/>
                            </p:stCondLst>
                            <p:childTnLst>
                              <p:par>
                                <p:cTn id="41" presetID="3" presetClass="entr" presetSubtype="1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linds(horizontal)">
                                      <p:cBhvr>
                                        <p:cTn id="43" dur="1000"/>
                                        <p:tgtEl>
                                          <p:spTgt spid="16"/>
                                        </p:tgtEl>
                                      </p:cBhvr>
                                    </p:animEffect>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1000" fill="hold"/>
                                        <p:tgtEl>
                                          <p:spTgt spid="17"/>
                                        </p:tgtEl>
                                        <p:attrNameLst>
                                          <p:attrName>ppt_x</p:attrName>
                                        </p:attrNameLst>
                                      </p:cBhvr>
                                      <p:tavLst>
                                        <p:tav tm="0">
                                          <p:val>
                                            <p:strVal val="0-#ppt_w/2"/>
                                          </p:val>
                                        </p:tav>
                                        <p:tav tm="100000">
                                          <p:val>
                                            <p:strVal val="#ppt_x"/>
                                          </p:val>
                                        </p:tav>
                                      </p:tavLst>
                                    </p:anim>
                                    <p:anim calcmode="lin" valueType="num">
                                      <p:cBhvr additive="base">
                                        <p:cTn id="48" dur="1000" fill="hold"/>
                                        <p:tgtEl>
                                          <p:spTgt spid="17"/>
                                        </p:tgtEl>
                                        <p:attrNameLst>
                                          <p:attrName>ppt_y</p:attrName>
                                        </p:attrNameLst>
                                      </p:cBhvr>
                                      <p:tavLst>
                                        <p:tav tm="0">
                                          <p:val>
                                            <p:strVal val="#ppt_y"/>
                                          </p:val>
                                        </p:tav>
                                        <p:tav tm="100000">
                                          <p:val>
                                            <p:strVal val="#ppt_y"/>
                                          </p:val>
                                        </p:tav>
                                      </p:tavLst>
                                    </p:anim>
                                  </p:childTnLst>
                                </p:cTn>
                              </p:par>
                            </p:childTnLst>
                          </p:cTn>
                        </p:par>
                        <p:par>
                          <p:cTn id="49" fill="hold">
                            <p:stCondLst>
                              <p:cond delay="5000"/>
                            </p:stCondLst>
                            <p:childTnLst>
                              <p:par>
                                <p:cTn id="50" presetID="8" presetClass="entr" presetSubtype="32" fill="hold" grpId="0" nodeType="after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diamond(out)">
                                      <p:cBhvr>
                                        <p:cTn id="5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autoUpdateAnimBg="0"/>
      <p:bldP spid="11272" grpId="0" autoUpdateAnimBg="0"/>
      <p:bldP spid="11278" grpId="0" autoUpdateAnimBg="0"/>
      <p:bldP spid="12" grpId="0" animBg="1"/>
      <p:bldP spid="13" grpId="0" animBg="1"/>
      <p:bldP spid="14" grpId="0" animBg="1"/>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395288" y="2786063"/>
            <a:ext cx="8424862" cy="3530600"/>
          </a:xfrm>
        </p:spPr>
        <p:txBody>
          <a:bodyPr/>
          <a:lstStyle/>
          <a:p>
            <a:pPr eaLnBrk="1" hangingPunct="1">
              <a:buFontTx/>
              <a:buNone/>
            </a:pPr>
            <a:r>
              <a:rPr lang="zh-CN" altLang="en-US" b="1" smtClean="0"/>
              <a:t>   </a:t>
            </a:r>
          </a:p>
          <a:p>
            <a:pPr eaLnBrk="1" hangingPunct="1"/>
            <a:endParaRPr lang="zh-CN" altLang="en-US" b="1" smtClean="0"/>
          </a:p>
        </p:txBody>
      </p:sp>
      <p:sp>
        <p:nvSpPr>
          <p:cNvPr id="12300" name="Text Box 12"/>
          <p:cNvSpPr txBox="1">
            <a:spLocks noChangeArrowheads="1"/>
          </p:cNvSpPr>
          <p:nvPr/>
        </p:nvSpPr>
        <p:spPr bwMode="auto">
          <a:xfrm>
            <a:off x="357188" y="714375"/>
            <a:ext cx="8497887" cy="1323975"/>
          </a:xfrm>
          <a:prstGeom prst="rect">
            <a:avLst/>
          </a:prstGeom>
          <a:noFill/>
          <a:ln w="12700">
            <a:noFill/>
            <a:miter lim="800000"/>
          </a:ln>
        </p:spPr>
        <p:txBody>
          <a:bodyPr anchor="ctr">
            <a:spAutoFit/>
          </a:bodyPr>
          <a:lstStyle/>
          <a:p>
            <a:pPr eaLnBrk="1" hangingPunct="1">
              <a:spcBef>
                <a:spcPct val="50000"/>
              </a:spcBef>
            </a:pPr>
            <a:r>
              <a:rPr kumimoji="1" lang="zh-CN" altLang="en-US" sz="3200">
                <a:solidFill>
                  <a:srgbClr val="FF0000"/>
                </a:solidFill>
              </a:rPr>
              <a:t>垄断：</a:t>
            </a:r>
            <a:r>
              <a:rPr kumimoji="1" lang="zh-CN" altLang="en-US">
                <a:solidFill>
                  <a:srgbClr val="0000FF"/>
                </a:solidFill>
                <a:latin typeface="楷体" panose="02010609060101010101" pitchFamily="49" charset="-122"/>
                <a:ea typeface="楷体" panose="02010609060101010101" pitchFamily="49" charset="-122"/>
              </a:rPr>
              <a:t>是指少数资本主义大企业为了获得高额利润，通过相互协议或联合，对一个或几个部门商品的生产、销售和价格进行操纵和控制。</a:t>
            </a:r>
          </a:p>
        </p:txBody>
      </p:sp>
      <p:sp>
        <p:nvSpPr>
          <p:cNvPr id="12301" name="Text Box 13"/>
          <p:cNvSpPr txBox="1">
            <a:spLocks noChangeArrowheads="1"/>
          </p:cNvSpPr>
          <p:nvPr/>
        </p:nvSpPr>
        <p:spPr bwMode="auto">
          <a:xfrm>
            <a:off x="357188" y="2571750"/>
            <a:ext cx="8497887" cy="2908300"/>
          </a:xfrm>
          <a:prstGeom prst="rect">
            <a:avLst/>
          </a:prstGeom>
          <a:noFill/>
          <a:ln w="9525">
            <a:noFill/>
            <a:miter lim="800000"/>
          </a:ln>
        </p:spPr>
        <p:txBody>
          <a:bodyPr>
            <a:spAutoFit/>
          </a:bodyPr>
          <a:lstStyle/>
          <a:p>
            <a:pPr eaLnBrk="1" hangingPunct="1"/>
            <a:r>
              <a:rPr kumimoji="1" lang="zh-CN" altLang="en-US" sz="2800">
                <a:solidFill>
                  <a:srgbClr val="FF0000"/>
                </a:solidFill>
              </a:rPr>
              <a:t>垄断产生的原因：</a:t>
            </a:r>
          </a:p>
          <a:p>
            <a:pPr>
              <a:lnSpc>
                <a:spcPct val="125000"/>
              </a:lnSpc>
              <a:spcBef>
                <a:spcPct val="50000"/>
              </a:spcBef>
            </a:pPr>
            <a:r>
              <a:rPr lang="en-US" altLang="zh-CN" sz="2000">
                <a:solidFill>
                  <a:srgbClr val="003399"/>
                </a:solidFill>
                <a:latin typeface="楷体" panose="02010609060101010101" pitchFamily="49" charset="-122"/>
                <a:ea typeface="楷体" panose="02010609060101010101" pitchFamily="49" charset="-122"/>
              </a:rPr>
              <a:t>- </a:t>
            </a:r>
            <a:r>
              <a:rPr lang="zh-CN" altLang="en-US" sz="2000">
                <a:solidFill>
                  <a:srgbClr val="003399"/>
                </a:solidFill>
                <a:latin typeface="楷体" panose="02010609060101010101" pitchFamily="49" charset="-122"/>
                <a:ea typeface="楷体" panose="02010609060101010101" pitchFamily="49" charset="-122"/>
              </a:rPr>
              <a:t>当生产集中发展到相当高的程度，极少数企业就会联合起来，操纵和控制本部门的生产和销售，实行垄断，以获得高额利润。</a:t>
            </a:r>
          </a:p>
          <a:p>
            <a:pPr>
              <a:lnSpc>
                <a:spcPct val="125000"/>
              </a:lnSpc>
              <a:spcBef>
                <a:spcPct val="50000"/>
              </a:spcBef>
            </a:pPr>
            <a:r>
              <a:rPr lang="en-US" altLang="zh-CN" sz="2000">
                <a:solidFill>
                  <a:srgbClr val="003399"/>
                </a:solidFill>
                <a:latin typeface="楷体" panose="02010609060101010101" pitchFamily="49" charset="-122"/>
                <a:ea typeface="楷体" panose="02010609060101010101" pitchFamily="49" charset="-122"/>
              </a:rPr>
              <a:t>- </a:t>
            </a:r>
            <a:r>
              <a:rPr lang="zh-CN" altLang="en-US" sz="2000">
                <a:solidFill>
                  <a:srgbClr val="003399"/>
                </a:solidFill>
                <a:latin typeface="楷体" panose="02010609060101010101" pitchFamily="49" charset="-122"/>
                <a:ea typeface="楷体" panose="02010609060101010101" pitchFamily="49" charset="-122"/>
              </a:rPr>
              <a:t>企业规模巨大，形成对竞争的限制，也会产生垄断。</a:t>
            </a:r>
          </a:p>
          <a:p>
            <a:pPr>
              <a:lnSpc>
                <a:spcPct val="125000"/>
              </a:lnSpc>
              <a:spcBef>
                <a:spcPct val="50000"/>
              </a:spcBef>
            </a:pPr>
            <a:r>
              <a:rPr lang="en-US" altLang="zh-CN" sz="2000">
                <a:solidFill>
                  <a:srgbClr val="003399"/>
                </a:solidFill>
                <a:latin typeface="楷体" panose="02010609060101010101" pitchFamily="49" charset="-122"/>
                <a:ea typeface="楷体" panose="02010609060101010101" pitchFamily="49" charset="-122"/>
              </a:rPr>
              <a:t>- </a:t>
            </a:r>
            <a:r>
              <a:rPr lang="zh-CN" altLang="en-US" sz="2000">
                <a:solidFill>
                  <a:srgbClr val="003399"/>
                </a:solidFill>
                <a:latin typeface="楷体" panose="02010609060101010101" pitchFamily="49" charset="-122"/>
                <a:ea typeface="楷体" panose="02010609060101010101" pitchFamily="49" charset="-122"/>
              </a:rPr>
              <a:t>激烈的竞争给竞争各方带来的的损失越来越严重，为了避免两败俱伤，企业之间会达成妥协，联合起来，实行垄断。</a:t>
            </a:r>
            <a:endParaRPr lang="zh-CN" altLang="en-US" sz="200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2" fill="hold" grpId="0" nodeType="clickEffect">
                                  <p:stCondLst>
                                    <p:cond delay="0"/>
                                  </p:stCondLst>
                                  <p:childTnLst>
                                    <p:set>
                                      <p:cBhvr>
                                        <p:cTn id="6" dur="1" fill="hold">
                                          <p:stCondLst>
                                            <p:cond delay="0"/>
                                          </p:stCondLst>
                                        </p:cTn>
                                        <p:tgtEl>
                                          <p:spTgt spid="12300"/>
                                        </p:tgtEl>
                                        <p:attrNameLst>
                                          <p:attrName>style.visibility</p:attrName>
                                        </p:attrNameLst>
                                      </p:cBhvr>
                                      <p:to>
                                        <p:strVal val="visible"/>
                                      </p:to>
                                    </p:set>
                                    <p:anim calcmode="lin" valueType="num">
                                      <p:cBhvr additive="base">
                                        <p:cTn id="7" dur="1000" fill="hold"/>
                                        <p:tgtEl>
                                          <p:spTgt spid="12300"/>
                                        </p:tgtEl>
                                        <p:attrNameLst>
                                          <p:attrName>ppt_x</p:attrName>
                                        </p:attrNameLst>
                                      </p:cBhvr>
                                      <p:tavLst>
                                        <p:tav tm="0">
                                          <p:val>
                                            <p:strVal val="1+#ppt_w/2"/>
                                          </p:val>
                                        </p:tav>
                                        <p:tav tm="100000">
                                          <p:val>
                                            <p:strVal val="#ppt_x"/>
                                          </p:val>
                                        </p:tav>
                                      </p:tavLst>
                                    </p:anim>
                                    <p:anim calcmode="lin" valueType="num">
                                      <p:cBhvr additive="base">
                                        <p:cTn id="8" dur="1000" fill="hold"/>
                                        <p:tgtEl>
                                          <p:spTgt spid="1230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301">
                                            <p:txEl>
                                              <p:pRg st="0" end="0"/>
                                            </p:txEl>
                                          </p:spTgt>
                                        </p:tgtEl>
                                        <p:attrNameLst>
                                          <p:attrName>style.visibility</p:attrName>
                                        </p:attrNameLst>
                                      </p:cBhvr>
                                      <p:to>
                                        <p:strVal val="visible"/>
                                      </p:to>
                                    </p:set>
                                    <p:anim calcmode="lin" valueType="num">
                                      <p:cBhvr additive="base">
                                        <p:cTn id="13" dur="1000" fill="hold"/>
                                        <p:tgtEl>
                                          <p:spTgt spid="12301">
                                            <p:txEl>
                                              <p:pRg st="0" end="0"/>
                                            </p:txEl>
                                          </p:spTgt>
                                        </p:tgtEl>
                                        <p:attrNameLst>
                                          <p:attrName>ppt_x</p:attrName>
                                        </p:attrNameLst>
                                      </p:cBhvr>
                                      <p:tavLst>
                                        <p:tav tm="0">
                                          <p:val>
                                            <p:strVal val="1+#ppt_w/2"/>
                                          </p:val>
                                        </p:tav>
                                        <p:tav tm="100000">
                                          <p:val>
                                            <p:strVal val="#ppt_x"/>
                                          </p:val>
                                        </p:tav>
                                      </p:tavLst>
                                    </p:anim>
                                    <p:anim calcmode="lin" valueType="num">
                                      <p:cBhvr additive="base">
                                        <p:cTn id="14" dur="1000" fill="hold"/>
                                        <p:tgtEl>
                                          <p:spTgt spid="1230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autoUpdateAnimBg="0"/>
      <p:bldP spid="1230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68313" y="139700"/>
            <a:ext cx="8001000" cy="828675"/>
          </a:xfrm>
        </p:spPr>
        <p:txBody>
          <a:bodyPr/>
          <a:lstStyle/>
          <a:p>
            <a:pPr algn="l" eaLnBrk="1" hangingPunct="1"/>
            <a:r>
              <a:rPr lang="zh-CN" altLang="en-US" sz="3200" b="1" smtClean="0">
                <a:effectLst/>
                <a:ea typeface="楷体_GB2312" pitchFamily="49" charset="-122"/>
              </a:rPr>
              <a:t>（二）垄断条件下竞争的特点</a:t>
            </a:r>
          </a:p>
        </p:txBody>
      </p:sp>
      <p:sp>
        <p:nvSpPr>
          <p:cNvPr id="18436" name="Text Box 4"/>
          <p:cNvSpPr txBox="1">
            <a:spLocks noChangeArrowheads="1"/>
          </p:cNvSpPr>
          <p:nvPr/>
        </p:nvSpPr>
        <p:spPr bwMode="auto">
          <a:xfrm>
            <a:off x="179388" y="1041400"/>
            <a:ext cx="8785225" cy="2262188"/>
          </a:xfrm>
          <a:prstGeom prst="rect">
            <a:avLst/>
          </a:prstGeom>
          <a:noFill/>
          <a:ln w="12700">
            <a:noFill/>
            <a:miter lim="800000"/>
          </a:ln>
        </p:spPr>
        <p:txBody>
          <a:bodyPr anchor="ctr">
            <a:spAutoFit/>
          </a:bodyPr>
          <a:lstStyle/>
          <a:p>
            <a:pPr eaLnBrk="1" hangingPunct="1">
              <a:lnSpc>
                <a:spcPct val="105000"/>
              </a:lnSpc>
              <a:spcBef>
                <a:spcPct val="50000"/>
              </a:spcBef>
            </a:pPr>
            <a:r>
              <a:rPr kumimoji="1" lang="zh-CN" altLang="en-US" sz="2800">
                <a:solidFill>
                  <a:srgbClr val="0000FF"/>
                </a:solidFill>
              </a:rPr>
              <a:t>垄断形成后，垄断统治没有也不可能消除竞争的原因：</a:t>
            </a:r>
          </a:p>
          <a:p>
            <a:pPr eaLnBrk="1" hangingPunct="1">
              <a:lnSpc>
                <a:spcPct val="105000"/>
              </a:lnSpc>
              <a:spcBef>
                <a:spcPct val="50000"/>
              </a:spcBef>
            </a:pPr>
            <a:r>
              <a:rPr lang="zh-CN" altLang="en-US">
                <a:latin typeface="Verdana" panose="020B0604030504040204" pitchFamily="34" charset="0"/>
              </a:rPr>
              <a:t>第一，垄断没有消除产生竞争的经济条件。</a:t>
            </a:r>
          </a:p>
          <a:p>
            <a:pPr eaLnBrk="1" hangingPunct="1">
              <a:lnSpc>
                <a:spcPct val="105000"/>
              </a:lnSpc>
              <a:spcBef>
                <a:spcPct val="50000"/>
              </a:spcBef>
            </a:pPr>
            <a:r>
              <a:rPr lang="zh-CN" altLang="en-US">
                <a:latin typeface="Verdana" panose="020B0604030504040204" pitchFamily="34" charset="0"/>
              </a:rPr>
              <a:t>第二，垄断必须通过竞争来维持。</a:t>
            </a:r>
          </a:p>
          <a:p>
            <a:pPr eaLnBrk="1" hangingPunct="1">
              <a:lnSpc>
                <a:spcPct val="105000"/>
              </a:lnSpc>
              <a:spcBef>
                <a:spcPct val="50000"/>
              </a:spcBef>
            </a:pPr>
            <a:r>
              <a:rPr lang="zh-CN" altLang="en-US">
                <a:latin typeface="Verdana" panose="020B0604030504040204" pitchFamily="34" charset="0"/>
              </a:rPr>
              <a:t>第三，任何垄断组织都不可能把包罗万象的社会生产都包下来。</a:t>
            </a:r>
          </a:p>
        </p:txBody>
      </p:sp>
      <p:sp>
        <p:nvSpPr>
          <p:cNvPr id="18437" name="Text Box 5"/>
          <p:cNvSpPr txBox="1">
            <a:spLocks noChangeArrowheads="1"/>
          </p:cNvSpPr>
          <p:nvPr/>
        </p:nvSpPr>
        <p:spPr bwMode="auto">
          <a:xfrm>
            <a:off x="179388" y="3429000"/>
            <a:ext cx="8785225" cy="2730500"/>
          </a:xfrm>
          <a:prstGeom prst="rect">
            <a:avLst/>
          </a:prstGeom>
          <a:noFill/>
          <a:ln w="12700">
            <a:noFill/>
            <a:miter lim="800000"/>
          </a:ln>
        </p:spPr>
        <p:txBody>
          <a:bodyPr anchor="ctr">
            <a:spAutoFit/>
          </a:bodyPr>
          <a:lstStyle/>
          <a:p>
            <a:pPr eaLnBrk="1" hangingPunct="1">
              <a:lnSpc>
                <a:spcPct val="105000"/>
              </a:lnSpc>
              <a:spcBef>
                <a:spcPct val="50000"/>
              </a:spcBef>
            </a:pPr>
            <a:r>
              <a:rPr kumimoji="1" lang="zh-CN" altLang="en-US" sz="2800">
                <a:solidFill>
                  <a:srgbClr val="0000FF"/>
                </a:solidFill>
              </a:rPr>
              <a:t>垄断条件下竞争的新特点：</a:t>
            </a:r>
          </a:p>
          <a:p>
            <a:pPr eaLnBrk="1" hangingPunct="1"/>
            <a:r>
              <a:rPr lang="zh-CN" altLang="en-US">
                <a:latin typeface="Verdana" panose="020B0604030504040204" pitchFamily="34" charset="0"/>
              </a:rPr>
              <a:t>第一，竞争目的不同，由取得利润或超额利润，扩大资本积累转变为攫取高额垄断利润，巩固和扩大垄断地位和统治权力。</a:t>
            </a:r>
          </a:p>
          <a:p>
            <a:pPr eaLnBrk="1" hangingPunct="1"/>
            <a:r>
              <a:rPr lang="zh-CN" altLang="en-US">
                <a:latin typeface="Verdana" panose="020B0604030504040204" pitchFamily="34" charset="0"/>
              </a:rPr>
              <a:t>第二、竞争手段不同，由经济手段转变为经济手段和非经济手段并用，竞争更激烈更复杂。</a:t>
            </a:r>
          </a:p>
          <a:p>
            <a:pPr eaLnBrk="1" hangingPunct="1"/>
            <a:r>
              <a:rPr lang="zh-CN" altLang="en-US">
                <a:latin typeface="Verdana" panose="020B0604030504040204" pitchFamily="34" charset="0"/>
              </a:rPr>
              <a:t>第三、竞争范围不同，由经济领域的国内市场的竞争转变为经济领域之外的，国际间的竞争。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8"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 calcmode="lin" valueType="num">
                                      <p:cBhvr additive="base">
                                        <p:cTn id="7" dur="1000" fill="hold"/>
                                        <p:tgtEl>
                                          <p:spTgt spid="18436"/>
                                        </p:tgtEl>
                                        <p:attrNameLst>
                                          <p:attrName>ppt_x</p:attrName>
                                        </p:attrNameLst>
                                      </p:cBhvr>
                                      <p:tavLst>
                                        <p:tav tm="0">
                                          <p:val>
                                            <p:strVal val="0-#ppt_w/2"/>
                                          </p:val>
                                        </p:tav>
                                        <p:tav tm="100000">
                                          <p:val>
                                            <p:strVal val="#ppt_x"/>
                                          </p:val>
                                        </p:tav>
                                      </p:tavLst>
                                    </p:anim>
                                    <p:anim calcmode="lin" valueType="num">
                                      <p:cBhvr additive="base">
                                        <p:cTn id="8" dur="1000" fill="hold"/>
                                        <p:tgtEl>
                                          <p:spTgt spid="184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2" fill="hold" grpId="0" nodeType="clickEffect">
                                  <p:stCondLst>
                                    <p:cond delay="0"/>
                                  </p:stCondLst>
                                  <p:childTnLst>
                                    <p:set>
                                      <p:cBhvr>
                                        <p:cTn id="12" dur="1" fill="hold">
                                          <p:stCondLst>
                                            <p:cond delay="0"/>
                                          </p:stCondLst>
                                        </p:cTn>
                                        <p:tgtEl>
                                          <p:spTgt spid="18437"/>
                                        </p:tgtEl>
                                        <p:attrNameLst>
                                          <p:attrName>style.visibility</p:attrName>
                                        </p:attrNameLst>
                                      </p:cBhvr>
                                      <p:to>
                                        <p:strVal val="visible"/>
                                      </p:to>
                                    </p:set>
                                    <p:anim calcmode="lin" valueType="num">
                                      <p:cBhvr additive="base">
                                        <p:cTn id="13" dur="1000" fill="hold"/>
                                        <p:tgtEl>
                                          <p:spTgt spid="18437"/>
                                        </p:tgtEl>
                                        <p:attrNameLst>
                                          <p:attrName>ppt_x</p:attrName>
                                        </p:attrNameLst>
                                      </p:cBhvr>
                                      <p:tavLst>
                                        <p:tav tm="0">
                                          <p:val>
                                            <p:strVal val="1+#ppt_w/2"/>
                                          </p:val>
                                        </p:tav>
                                        <p:tav tm="100000">
                                          <p:val>
                                            <p:strVal val="#ppt_x"/>
                                          </p:val>
                                        </p:tav>
                                      </p:tavLst>
                                    </p:anim>
                                    <p:anim calcmode="lin" valueType="num">
                                      <p:cBhvr additive="base">
                                        <p:cTn id="14" dur="1000" fill="hold"/>
                                        <p:tgtEl>
                                          <p:spTgt spid="184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utoUpdateAnimBg="0"/>
      <p:bldP spid="1843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95288" y="188913"/>
            <a:ext cx="8291512" cy="733425"/>
          </a:xfrm>
        </p:spPr>
        <p:txBody>
          <a:bodyPr/>
          <a:lstStyle/>
          <a:p>
            <a:pPr algn="l" eaLnBrk="1" hangingPunct="1"/>
            <a:r>
              <a:rPr lang="zh-CN" altLang="en-US" sz="3200" b="1" smtClean="0">
                <a:effectLst/>
                <a:ea typeface="楷体_GB2312" pitchFamily="49" charset="-122"/>
              </a:rPr>
              <a:t>（三）金融资本与金融寡头</a:t>
            </a:r>
          </a:p>
        </p:txBody>
      </p:sp>
      <p:sp>
        <p:nvSpPr>
          <p:cNvPr id="43012" name="Text Box 4"/>
          <p:cNvSpPr txBox="1">
            <a:spLocks noChangeArrowheads="1"/>
          </p:cNvSpPr>
          <p:nvPr/>
        </p:nvSpPr>
        <p:spPr bwMode="auto">
          <a:xfrm>
            <a:off x="3419475" y="1254125"/>
            <a:ext cx="2376488" cy="547688"/>
          </a:xfrm>
          <a:prstGeom prst="rect">
            <a:avLst/>
          </a:prstGeom>
          <a:noFill/>
          <a:ln w="28575">
            <a:solidFill>
              <a:srgbClr val="0000FF"/>
            </a:solidFill>
            <a:prstDash val="lgDash"/>
            <a:miter lim="800000"/>
          </a:ln>
        </p:spPr>
        <p:txBody>
          <a:bodyPr anchor="ctr">
            <a:spAutoFit/>
          </a:bodyPr>
          <a:lstStyle/>
          <a:p>
            <a:pPr eaLnBrk="1" hangingPunct="1">
              <a:spcBef>
                <a:spcPct val="50000"/>
              </a:spcBef>
            </a:pPr>
            <a:r>
              <a:rPr kumimoji="1" lang="zh-CN" altLang="en-US" sz="2800">
                <a:solidFill>
                  <a:srgbClr val="0000FF"/>
                </a:solidFill>
              </a:rPr>
              <a:t>银行资本集中</a:t>
            </a:r>
          </a:p>
        </p:txBody>
      </p:sp>
      <p:sp>
        <p:nvSpPr>
          <p:cNvPr id="43013" name="Text Box 5"/>
          <p:cNvSpPr txBox="1">
            <a:spLocks noChangeArrowheads="1"/>
          </p:cNvSpPr>
          <p:nvPr/>
        </p:nvSpPr>
        <p:spPr bwMode="auto">
          <a:xfrm>
            <a:off x="6084888" y="1268413"/>
            <a:ext cx="2374900" cy="547687"/>
          </a:xfrm>
          <a:prstGeom prst="rect">
            <a:avLst/>
          </a:prstGeom>
          <a:noFill/>
          <a:ln w="28575">
            <a:solidFill>
              <a:srgbClr val="0000FF"/>
            </a:solidFill>
            <a:prstDash val="lgDash"/>
            <a:miter lim="800000"/>
          </a:ln>
        </p:spPr>
        <p:txBody>
          <a:bodyPr>
            <a:spAutoFit/>
          </a:bodyPr>
          <a:lstStyle/>
          <a:p>
            <a:pPr eaLnBrk="1" hangingPunct="1">
              <a:spcBef>
                <a:spcPct val="50000"/>
              </a:spcBef>
            </a:pPr>
            <a:r>
              <a:rPr kumimoji="1" lang="zh-CN" altLang="en-US" sz="2800">
                <a:solidFill>
                  <a:srgbClr val="0000FF"/>
                </a:solidFill>
              </a:rPr>
              <a:t>银行垄断形成</a:t>
            </a:r>
          </a:p>
        </p:txBody>
      </p:sp>
      <p:sp>
        <p:nvSpPr>
          <p:cNvPr id="43014" name="Text Box 6"/>
          <p:cNvSpPr txBox="1">
            <a:spLocks noChangeArrowheads="1"/>
          </p:cNvSpPr>
          <p:nvPr/>
        </p:nvSpPr>
        <p:spPr bwMode="auto">
          <a:xfrm>
            <a:off x="250825" y="1989138"/>
            <a:ext cx="8642350" cy="519112"/>
          </a:xfrm>
          <a:prstGeom prst="rect">
            <a:avLst/>
          </a:prstGeom>
          <a:noFill/>
          <a:ln w="76200" cmpd="tri">
            <a:noFill/>
            <a:miter lim="800000"/>
          </a:ln>
        </p:spPr>
        <p:txBody>
          <a:bodyPr>
            <a:spAutoFit/>
          </a:bodyPr>
          <a:lstStyle/>
          <a:p>
            <a:pPr eaLnBrk="1" hangingPunct="1">
              <a:spcBef>
                <a:spcPct val="50000"/>
              </a:spcBef>
            </a:pPr>
            <a:r>
              <a:rPr kumimoji="1" lang="zh-CN" altLang="en-US" sz="2800">
                <a:solidFill>
                  <a:srgbClr val="0000FF"/>
                </a:solidFill>
                <a:latin typeface="楷体_GB2312" pitchFamily="49" charset="-122"/>
              </a:rPr>
              <a:t>垄断银行的新作用</a:t>
            </a:r>
            <a:r>
              <a:rPr kumimoji="1" lang="en-US" altLang="zh-CN" sz="2800">
                <a:solidFill>
                  <a:srgbClr val="0000FF"/>
                </a:solidFill>
                <a:latin typeface="楷体_GB2312" pitchFamily="49" charset="-122"/>
              </a:rPr>
              <a:t>:</a:t>
            </a:r>
            <a:r>
              <a:rPr kumimoji="1" lang="zh-CN" altLang="en-US" sz="2800">
                <a:solidFill>
                  <a:schemeClr val="tx2"/>
                </a:solidFill>
                <a:latin typeface="楷体_GB2312" pitchFamily="49" charset="-122"/>
              </a:rPr>
              <a:t>由简单的中介人变成万能的垄断者</a:t>
            </a:r>
            <a:endParaRPr kumimoji="1" lang="en-US" altLang="zh-CN" sz="2800">
              <a:solidFill>
                <a:schemeClr val="tx2"/>
              </a:solidFill>
              <a:latin typeface="楷体_GB2312" pitchFamily="49" charset="-122"/>
            </a:endParaRPr>
          </a:p>
        </p:txBody>
      </p:sp>
      <p:sp>
        <p:nvSpPr>
          <p:cNvPr id="43015" name="Text Box 7"/>
          <p:cNvSpPr txBox="1">
            <a:spLocks noChangeArrowheads="1"/>
          </p:cNvSpPr>
          <p:nvPr/>
        </p:nvSpPr>
        <p:spPr bwMode="auto">
          <a:xfrm>
            <a:off x="395288" y="1254125"/>
            <a:ext cx="2736850" cy="547688"/>
          </a:xfrm>
          <a:prstGeom prst="rect">
            <a:avLst/>
          </a:prstGeom>
          <a:noFill/>
          <a:ln w="28575">
            <a:solidFill>
              <a:srgbClr val="0000FF"/>
            </a:solidFill>
            <a:prstDash val="lgDash"/>
            <a:miter lim="800000"/>
          </a:ln>
        </p:spPr>
        <p:txBody>
          <a:bodyPr anchor="ctr">
            <a:spAutoFit/>
          </a:bodyPr>
          <a:lstStyle/>
          <a:p>
            <a:pPr eaLnBrk="1" hangingPunct="1">
              <a:spcBef>
                <a:spcPct val="50000"/>
              </a:spcBef>
            </a:pPr>
            <a:r>
              <a:rPr kumimoji="1" lang="zh-CN" altLang="en-US" sz="2800">
                <a:solidFill>
                  <a:srgbClr val="0000FF"/>
                </a:solidFill>
              </a:rPr>
              <a:t>生产集中和垄断</a:t>
            </a:r>
          </a:p>
        </p:txBody>
      </p:sp>
      <p:sp>
        <p:nvSpPr>
          <p:cNvPr id="43016" name="Text Box 8"/>
          <p:cNvSpPr txBox="1">
            <a:spLocks noChangeArrowheads="1"/>
          </p:cNvSpPr>
          <p:nvPr/>
        </p:nvSpPr>
        <p:spPr bwMode="auto">
          <a:xfrm>
            <a:off x="323850" y="2565400"/>
            <a:ext cx="8248678" cy="892552"/>
          </a:xfrm>
          <a:prstGeom prst="rect">
            <a:avLst/>
          </a:prstGeom>
          <a:noFill/>
          <a:ln w="76200" cmpd="tri">
            <a:noFill/>
            <a:miter lim="800000"/>
          </a:ln>
        </p:spPr>
        <p:txBody>
          <a:bodyPr wrap="square">
            <a:spAutoFit/>
          </a:bodyPr>
          <a:lstStyle/>
          <a:p>
            <a:pPr eaLnBrk="1" hangingPunct="1">
              <a:spcBef>
                <a:spcPct val="50000"/>
              </a:spcBef>
            </a:pPr>
            <a:r>
              <a:rPr kumimoji="1" lang="zh-CN" altLang="en-US" sz="2800" dirty="0">
                <a:solidFill>
                  <a:schemeClr val="tx2"/>
                </a:solidFill>
              </a:rPr>
              <a:t>金融资本：</a:t>
            </a:r>
            <a:r>
              <a:rPr kumimoji="1" lang="zh-CN" altLang="en-US" dirty="0">
                <a:solidFill>
                  <a:srgbClr val="0000FF"/>
                </a:solidFill>
              </a:rPr>
              <a:t>由工业垄断资本和银行垄断资本通过金融联系、资本参与和人事参与密切融合在一起的新的垄断资本。</a:t>
            </a:r>
          </a:p>
        </p:txBody>
      </p:sp>
      <p:sp>
        <p:nvSpPr>
          <p:cNvPr id="43017" name="AutoShape 9"/>
          <p:cNvSpPr>
            <a:spLocks noChangeArrowheads="1"/>
          </p:cNvSpPr>
          <p:nvPr/>
        </p:nvSpPr>
        <p:spPr bwMode="auto">
          <a:xfrm>
            <a:off x="3132138" y="1484313"/>
            <a:ext cx="287337" cy="144462"/>
          </a:xfrm>
          <a:prstGeom prst="notchedRightArrow">
            <a:avLst>
              <a:gd name="adj1" fmla="val 50000"/>
              <a:gd name="adj2" fmla="val 49725"/>
            </a:avLst>
          </a:prstGeom>
          <a:solidFill>
            <a:schemeClr val="accent1"/>
          </a:solidFill>
          <a:ln w="9525">
            <a:solidFill>
              <a:srgbClr val="0000FF"/>
            </a:solidFill>
            <a:miter lim="800000"/>
          </a:ln>
        </p:spPr>
        <p:txBody>
          <a:bodyPr wrap="none" anchor="ctr"/>
          <a:lstStyle/>
          <a:p>
            <a:pPr eaLnBrk="1" hangingPunct="1">
              <a:spcBef>
                <a:spcPct val="50000"/>
              </a:spcBef>
            </a:pPr>
            <a:endParaRPr lang="zh-CN" altLang="en-US"/>
          </a:p>
        </p:txBody>
      </p:sp>
      <p:sp>
        <p:nvSpPr>
          <p:cNvPr id="43018" name="AutoShape 10"/>
          <p:cNvSpPr>
            <a:spLocks noChangeArrowheads="1"/>
          </p:cNvSpPr>
          <p:nvPr/>
        </p:nvSpPr>
        <p:spPr bwMode="auto">
          <a:xfrm>
            <a:off x="5795963" y="1484313"/>
            <a:ext cx="287337" cy="144462"/>
          </a:xfrm>
          <a:prstGeom prst="notchedRightArrow">
            <a:avLst>
              <a:gd name="adj1" fmla="val 50000"/>
              <a:gd name="adj2" fmla="val 49725"/>
            </a:avLst>
          </a:prstGeom>
          <a:solidFill>
            <a:schemeClr val="accent1"/>
          </a:solidFill>
          <a:ln w="9525">
            <a:solidFill>
              <a:srgbClr val="0000FF"/>
            </a:solidFill>
            <a:miter lim="800000"/>
          </a:ln>
        </p:spPr>
        <p:txBody>
          <a:bodyPr wrap="none" anchor="ctr"/>
          <a:lstStyle/>
          <a:p>
            <a:pPr eaLnBrk="1" hangingPunct="1">
              <a:spcBef>
                <a:spcPct val="50000"/>
              </a:spcBef>
            </a:pPr>
            <a:endParaRPr lang="zh-CN" altLang="en-US"/>
          </a:p>
        </p:txBody>
      </p:sp>
      <p:sp>
        <p:nvSpPr>
          <p:cNvPr id="43019" name="Text Box 11"/>
          <p:cNvSpPr txBox="1">
            <a:spLocks noChangeArrowheads="1"/>
          </p:cNvSpPr>
          <p:nvPr/>
        </p:nvSpPr>
        <p:spPr bwMode="auto">
          <a:xfrm>
            <a:off x="285720" y="3571876"/>
            <a:ext cx="8072494" cy="892552"/>
          </a:xfrm>
          <a:prstGeom prst="rect">
            <a:avLst/>
          </a:prstGeom>
          <a:noFill/>
          <a:ln w="76200" cmpd="tri">
            <a:noFill/>
            <a:miter lim="800000"/>
          </a:ln>
        </p:spPr>
        <p:txBody>
          <a:bodyPr wrap="square">
            <a:spAutoFit/>
          </a:bodyPr>
          <a:lstStyle/>
          <a:p>
            <a:pPr eaLnBrk="1" hangingPunct="1">
              <a:spcBef>
                <a:spcPct val="50000"/>
              </a:spcBef>
            </a:pPr>
            <a:r>
              <a:rPr kumimoji="1" lang="zh-CN" altLang="en-US" sz="2800" dirty="0">
                <a:solidFill>
                  <a:schemeClr val="tx2"/>
                </a:solidFill>
              </a:rPr>
              <a:t>金融寡头：</a:t>
            </a:r>
            <a:r>
              <a:rPr kumimoji="1" lang="zh-CN" altLang="en-US" dirty="0">
                <a:solidFill>
                  <a:srgbClr val="0000FF"/>
                </a:solidFill>
              </a:rPr>
              <a:t>操纵国民经济命脉，在实际上控制国家政权的少数垄断资本家或垄断资本家集团。</a:t>
            </a:r>
          </a:p>
        </p:txBody>
      </p:sp>
      <p:sp>
        <p:nvSpPr>
          <p:cNvPr id="43020" name="Text Box 12"/>
          <p:cNvSpPr txBox="1">
            <a:spLocks noChangeArrowheads="1"/>
          </p:cNvSpPr>
          <p:nvPr/>
        </p:nvSpPr>
        <p:spPr bwMode="auto">
          <a:xfrm>
            <a:off x="395288" y="4724400"/>
            <a:ext cx="5033968" cy="1630045"/>
          </a:xfrm>
          <a:prstGeom prst="rect">
            <a:avLst/>
          </a:prstGeom>
          <a:noFill/>
          <a:ln w="76200" cmpd="tri">
            <a:noFill/>
            <a:miter lim="800000"/>
          </a:ln>
        </p:spPr>
        <p:txBody>
          <a:bodyPr wrap="square">
            <a:spAutoFit/>
          </a:bodyPr>
          <a:lstStyle/>
          <a:p>
            <a:pPr eaLnBrk="1" hangingPunct="1">
              <a:spcBef>
                <a:spcPct val="50000"/>
              </a:spcBef>
            </a:pPr>
            <a:r>
              <a:rPr kumimoji="1" lang="zh-CN" altLang="en-US" sz="2800" dirty="0" smtClean="0">
                <a:solidFill>
                  <a:schemeClr val="tx2"/>
                </a:solidFill>
              </a:rPr>
              <a:t>金融寡头的统治</a:t>
            </a:r>
            <a:r>
              <a:rPr kumimoji="1" lang="zh-CN" altLang="en-US" sz="2800" dirty="0">
                <a:solidFill>
                  <a:schemeClr val="tx2"/>
                </a:solidFill>
              </a:rPr>
              <a:t>：</a:t>
            </a:r>
          </a:p>
          <a:p>
            <a:pPr eaLnBrk="1" hangingPunct="1">
              <a:spcBef>
                <a:spcPct val="50000"/>
              </a:spcBef>
            </a:pPr>
            <a:r>
              <a:rPr kumimoji="1" lang="zh-CN" altLang="en-US" dirty="0">
                <a:solidFill>
                  <a:srgbClr val="0000FF"/>
                </a:solidFill>
                <a:latin typeface="Verdana" panose="020B0604030504040204" pitchFamily="34" charset="0"/>
              </a:rPr>
              <a:t>*经济上的</a:t>
            </a:r>
            <a:r>
              <a:rPr kumimoji="1" lang="zh-CN" altLang="en-US" dirty="0">
                <a:solidFill>
                  <a:srgbClr val="0000FF"/>
                </a:solidFill>
                <a:latin typeface="Arial" panose="020B0604020202020204" pitchFamily="34" charset="0"/>
                <a:sym typeface="+mn-ea"/>
              </a:rPr>
              <a:t>“</a:t>
            </a:r>
            <a:r>
              <a:rPr kumimoji="1" lang="zh-CN" altLang="en-US" dirty="0">
                <a:solidFill>
                  <a:srgbClr val="0000FF"/>
                </a:solidFill>
                <a:latin typeface="Verdana" panose="020B0604030504040204" pitchFamily="34" charset="0"/>
              </a:rPr>
              <a:t>参与制</a:t>
            </a:r>
            <a:r>
              <a:rPr kumimoji="1" lang="zh-CN" altLang="en-US" dirty="0">
                <a:solidFill>
                  <a:srgbClr val="0000FF"/>
                </a:solidFill>
                <a:latin typeface="Arial" panose="020B0604020202020204" pitchFamily="34" charset="0"/>
                <a:sym typeface="+mn-ea"/>
              </a:rPr>
              <a:t>”</a:t>
            </a:r>
            <a:endParaRPr kumimoji="1" lang="zh-CN" altLang="en-US" dirty="0">
              <a:solidFill>
                <a:srgbClr val="0000FF"/>
              </a:solidFill>
              <a:latin typeface="Verdana" panose="020B0604030504040204" pitchFamily="34" charset="0"/>
            </a:endParaRPr>
          </a:p>
          <a:p>
            <a:pPr eaLnBrk="1" hangingPunct="1">
              <a:spcBef>
                <a:spcPct val="50000"/>
              </a:spcBef>
            </a:pPr>
            <a:r>
              <a:rPr kumimoji="1" lang="zh-CN" altLang="en-US" dirty="0">
                <a:solidFill>
                  <a:srgbClr val="0000FF"/>
                </a:solidFill>
                <a:latin typeface="Verdana" panose="020B0604030504040204" pitchFamily="34" charset="0"/>
              </a:rPr>
              <a:t>*政治上同政府的</a:t>
            </a:r>
            <a:r>
              <a:rPr kumimoji="1" lang="zh-CN" altLang="en-US" dirty="0">
                <a:solidFill>
                  <a:srgbClr val="0000FF"/>
                </a:solidFill>
                <a:latin typeface="Arial" panose="020B0604020202020204" pitchFamily="34" charset="0"/>
              </a:rPr>
              <a:t>“</a:t>
            </a:r>
            <a:r>
              <a:rPr kumimoji="1" lang="zh-CN" altLang="en-US" dirty="0">
                <a:solidFill>
                  <a:srgbClr val="0000FF"/>
                </a:solidFill>
                <a:latin typeface="Verdana" panose="020B0604030504040204" pitchFamily="34" charset="0"/>
              </a:rPr>
              <a:t>个人联合</a:t>
            </a:r>
            <a:r>
              <a:rPr kumimoji="1" lang="zh-CN" altLang="en-US" dirty="0">
                <a:solidFill>
                  <a:srgbClr val="0000FF"/>
                </a:solidFill>
                <a:latin typeface="Arial" panose="020B0604020202020204" pitchFamily="34" charset="0"/>
              </a:rPr>
              <a:t>”</a:t>
            </a:r>
            <a:endParaRPr kumimoji="1" lang="zh-CN" altLang="en-US" dirty="0">
              <a:solidFill>
                <a:srgbClr val="0000FF"/>
              </a:solidFill>
              <a:latin typeface="Verdan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5">
                                            <p:txEl>
                                              <p:pRg st="0" end="0"/>
                                            </p:txEl>
                                          </p:spTgt>
                                        </p:tgtEl>
                                        <p:attrNameLst>
                                          <p:attrName>style.visibility</p:attrName>
                                        </p:attrNameLst>
                                      </p:cBhvr>
                                      <p:to>
                                        <p:strVal val="visible"/>
                                      </p:to>
                                    </p:set>
                                    <p:anim calcmode="lin" valueType="num">
                                      <p:cBhvr additive="base">
                                        <p:cTn id="7" dur="1000" fill="hold"/>
                                        <p:tgtEl>
                                          <p:spTgt spid="43015">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4301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fill="hold" grpId="0" nodeType="afterEffect">
                                  <p:stCondLst>
                                    <p:cond delay="0"/>
                                  </p:stCondLst>
                                  <p:childTnLst>
                                    <p:set>
                                      <p:cBhvr>
                                        <p:cTn id="11" dur="1" fill="hold">
                                          <p:stCondLst>
                                            <p:cond delay="0"/>
                                          </p:stCondLst>
                                        </p:cTn>
                                        <p:tgtEl>
                                          <p:spTgt spid="43017"/>
                                        </p:tgtEl>
                                        <p:attrNameLst>
                                          <p:attrName>style.visibility</p:attrName>
                                        </p:attrNameLst>
                                      </p:cBhvr>
                                      <p:to>
                                        <p:strVal val="visible"/>
                                      </p:to>
                                    </p:set>
                                    <p:anim calcmode="lin" valueType="num">
                                      <p:cBhvr additive="base">
                                        <p:cTn id="12" dur="500" fill="hold"/>
                                        <p:tgtEl>
                                          <p:spTgt spid="43017"/>
                                        </p:tgtEl>
                                        <p:attrNameLst>
                                          <p:attrName>ppt_x</p:attrName>
                                        </p:attrNameLst>
                                      </p:cBhvr>
                                      <p:tavLst>
                                        <p:tav tm="0">
                                          <p:val>
                                            <p:strVal val="0-#ppt_w/2"/>
                                          </p:val>
                                        </p:tav>
                                        <p:tav tm="100000">
                                          <p:val>
                                            <p:strVal val="#ppt_x"/>
                                          </p:val>
                                        </p:tav>
                                      </p:tavLst>
                                    </p:anim>
                                    <p:anim calcmode="lin" valueType="num">
                                      <p:cBhvr additive="base">
                                        <p:cTn id="13" dur="500" fill="hold"/>
                                        <p:tgtEl>
                                          <p:spTgt spid="43017"/>
                                        </p:tgtEl>
                                        <p:attrNameLst>
                                          <p:attrName>ppt_y</p:attrName>
                                        </p:attrNameLst>
                                      </p:cBhvr>
                                      <p:tavLst>
                                        <p:tav tm="0">
                                          <p:val>
                                            <p:strVal val="#ppt_y"/>
                                          </p:val>
                                        </p:tav>
                                        <p:tav tm="100000">
                                          <p:val>
                                            <p:strVal val="#ppt_y"/>
                                          </p:val>
                                        </p:tav>
                                      </p:tavLst>
                                    </p:anim>
                                  </p:childTnLst>
                                </p:cTn>
                              </p:par>
                            </p:childTnLst>
                          </p:cTn>
                        </p:par>
                        <p:par>
                          <p:cTn id="14" fill="hold">
                            <p:stCondLst>
                              <p:cond delay="1500"/>
                            </p:stCondLst>
                            <p:childTnLst>
                              <p:par>
                                <p:cTn id="15" presetID="2" presetClass="entr" presetSubtype="8" fill="hold" grpId="0" nodeType="afterEffect">
                                  <p:stCondLst>
                                    <p:cond delay="0"/>
                                  </p:stCondLst>
                                  <p:childTnLst>
                                    <p:set>
                                      <p:cBhvr>
                                        <p:cTn id="16" dur="1" fill="hold">
                                          <p:stCondLst>
                                            <p:cond delay="0"/>
                                          </p:stCondLst>
                                        </p:cTn>
                                        <p:tgtEl>
                                          <p:spTgt spid="43012">
                                            <p:txEl>
                                              <p:pRg st="0" end="0"/>
                                            </p:txEl>
                                          </p:spTgt>
                                        </p:tgtEl>
                                        <p:attrNameLst>
                                          <p:attrName>style.visibility</p:attrName>
                                        </p:attrNameLst>
                                      </p:cBhvr>
                                      <p:to>
                                        <p:strVal val="visible"/>
                                      </p:to>
                                    </p:set>
                                    <p:anim calcmode="lin" valueType="num">
                                      <p:cBhvr additive="base">
                                        <p:cTn id="17" dur="1000" fill="hold"/>
                                        <p:tgtEl>
                                          <p:spTgt spid="43012">
                                            <p:txEl>
                                              <p:pRg st="0" end="0"/>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43012">
                                            <p:txEl>
                                              <p:pRg st="0" end="0"/>
                                            </p:txEl>
                                          </p:spTgt>
                                        </p:tgtEl>
                                        <p:attrNameLst>
                                          <p:attrName>ppt_y</p:attrName>
                                        </p:attrNameLst>
                                      </p:cBhvr>
                                      <p:tavLst>
                                        <p:tav tm="0">
                                          <p:val>
                                            <p:strVal val="#ppt_y"/>
                                          </p:val>
                                        </p:tav>
                                        <p:tav tm="100000">
                                          <p:val>
                                            <p:strVal val="#ppt_y"/>
                                          </p:val>
                                        </p:tav>
                                      </p:tavLst>
                                    </p:anim>
                                  </p:childTnLst>
                                </p:cTn>
                              </p:par>
                            </p:childTnLst>
                          </p:cTn>
                        </p:par>
                        <p:par>
                          <p:cTn id="19" fill="hold">
                            <p:stCondLst>
                              <p:cond delay="2500"/>
                            </p:stCondLst>
                            <p:childTnLst>
                              <p:par>
                                <p:cTn id="20" presetID="2" presetClass="entr" presetSubtype="8" fill="hold" grpId="0" nodeType="afterEffect">
                                  <p:stCondLst>
                                    <p:cond delay="0"/>
                                  </p:stCondLst>
                                  <p:childTnLst>
                                    <p:set>
                                      <p:cBhvr>
                                        <p:cTn id="21" dur="1" fill="hold">
                                          <p:stCondLst>
                                            <p:cond delay="0"/>
                                          </p:stCondLst>
                                        </p:cTn>
                                        <p:tgtEl>
                                          <p:spTgt spid="43018"/>
                                        </p:tgtEl>
                                        <p:attrNameLst>
                                          <p:attrName>style.visibility</p:attrName>
                                        </p:attrNameLst>
                                      </p:cBhvr>
                                      <p:to>
                                        <p:strVal val="visible"/>
                                      </p:to>
                                    </p:set>
                                    <p:anim calcmode="lin" valueType="num">
                                      <p:cBhvr additive="base">
                                        <p:cTn id="22" dur="500" fill="hold"/>
                                        <p:tgtEl>
                                          <p:spTgt spid="43018"/>
                                        </p:tgtEl>
                                        <p:attrNameLst>
                                          <p:attrName>ppt_x</p:attrName>
                                        </p:attrNameLst>
                                      </p:cBhvr>
                                      <p:tavLst>
                                        <p:tav tm="0">
                                          <p:val>
                                            <p:strVal val="0-#ppt_w/2"/>
                                          </p:val>
                                        </p:tav>
                                        <p:tav tm="100000">
                                          <p:val>
                                            <p:strVal val="#ppt_x"/>
                                          </p:val>
                                        </p:tav>
                                      </p:tavLst>
                                    </p:anim>
                                    <p:anim calcmode="lin" valueType="num">
                                      <p:cBhvr additive="base">
                                        <p:cTn id="23" dur="500" fill="hold"/>
                                        <p:tgtEl>
                                          <p:spTgt spid="43018"/>
                                        </p:tgtEl>
                                        <p:attrNameLst>
                                          <p:attrName>ppt_y</p:attrName>
                                        </p:attrNameLst>
                                      </p:cBhvr>
                                      <p:tavLst>
                                        <p:tav tm="0">
                                          <p:val>
                                            <p:strVal val="#ppt_y"/>
                                          </p:val>
                                        </p:tav>
                                        <p:tav tm="100000">
                                          <p:val>
                                            <p:strVal val="#ppt_y"/>
                                          </p:val>
                                        </p:tav>
                                      </p:tavLst>
                                    </p:anim>
                                  </p:childTnLst>
                                </p:cTn>
                              </p:par>
                            </p:childTnLst>
                          </p:cTn>
                        </p:par>
                        <p:par>
                          <p:cTn id="24" fill="hold">
                            <p:stCondLst>
                              <p:cond delay="3000"/>
                            </p:stCondLst>
                            <p:childTnLst>
                              <p:par>
                                <p:cTn id="25" presetID="2" presetClass="entr" presetSubtype="1" fill="hold" grpId="0" nodeType="afterEffect">
                                  <p:stCondLst>
                                    <p:cond delay="0"/>
                                  </p:stCondLst>
                                  <p:iterate type="wd">
                                    <p:tmPct val="100000"/>
                                  </p:iterate>
                                  <p:childTnLst>
                                    <p:set>
                                      <p:cBhvr>
                                        <p:cTn id="26" dur="1" fill="hold">
                                          <p:stCondLst>
                                            <p:cond delay="0"/>
                                          </p:stCondLst>
                                        </p:cTn>
                                        <p:tgtEl>
                                          <p:spTgt spid="43013">
                                            <p:txEl>
                                              <p:pRg st="0" end="0"/>
                                            </p:txEl>
                                          </p:spTgt>
                                        </p:tgtEl>
                                        <p:attrNameLst>
                                          <p:attrName>style.visibility</p:attrName>
                                        </p:attrNameLst>
                                      </p:cBhvr>
                                      <p:to>
                                        <p:strVal val="visible"/>
                                      </p:to>
                                    </p:set>
                                    <p:anim calcmode="lin" valueType="num">
                                      <p:cBhvr additive="base">
                                        <p:cTn id="27" dur="500" fill="hold"/>
                                        <p:tgtEl>
                                          <p:spTgt spid="43013">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01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3014">
                                            <p:txEl>
                                              <p:pRg st="0" end="0"/>
                                            </p:txEl>
                                          </p:spTgt>
                                        </p:tgtEl>
                                        <p:attrNameLst>
                                          <p:attrName>style.visibility</p:attrName>
                                        </p:attrNameLst>
                                      </p:cBhvr>
                                      <p:to>
                                        <p:strVal val="visible"/>
                                      </p:to>
                                    </p:set>
                                    <p:anim calcmode="lin" valueType="num">
                                      <p:cBhvr additive="base">
                                        <p:cTn id="33" dur="1000" fill="hold"/>
                                        <p:tgtEl>
                                          <p:spTgt spid="43014">
                                            <p:txEl>
                                              <p:pRg st="0" end="0"/>
                                            </p:txEl>
                                          </p:spTgt>
                                        </p:tgtEl>
                                        <p:attrNameLst>
                                          <p:attrName>ppt_x</p:attrName>
                                        </p:attrNameLst>
                                      </p:cBhvr>
                                      <p:tavLst>
                                        <p:tav tm="0">
                                          <p:val>
                                            <p:strVal val="1+#ppt_w/2"/>
                                          </p:val>
                                        </p:tav>
                                        <p:tav tm="100000">
                                          <p:val>
                                            <p:strVal val="#ppt_x"/>
                                          </p:val>
                                        </p:tav>
                                      </p:tavLst>
                                    </p:anim>
                                    <p:anim calcmode="lin" valueType="num">
                                      <p:cBhvr additive="base">
                                        <p:cTn id="34" dur="1000" fill="hold"/>
                                        <p:tgtEl>
                                          <p:spTgt spid="430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43016">
                                            <p:txEl>
                                              <p:pRg st="0" end="0"/>
                                            </p:txEl>
                                          </p:spTgt>
                                        </p:tgtEl>
                                        <p:attrNameLst>
                                          <p:attrName>style.visibility</p:attrName>
                                        </p:attrNameLst>
                                      </p:cBhvr>
                                      <p:to>
                                        <p:strVal val="visible"/>
                                      </p:to>
                                    </p:set>
                                    <p:anim calcmode="lin" valueType="num">
                                      <p:cBhvr additive="base">
                                        <p:cTn id="39" dur="1000" fill="hold"/>
                                        <p:tgtEl>
                                          <p:spTgt spid="43016">
                                            <p:txEl>
                                              <p:pRg st="0" end="0"/>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430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43019">
                                            <p:txEl>
                                              <p:pRg st="0" end="0"/>
                                            </p:txEl>
                                          </p:spTgt>
                                        </p:tgtEl>
                                        <p:attrNameLst>
                                          <p:attrName>style.visibility</p:attrName>
                                        </p:attrNameLst>
                                      </p:cBhvr>
                                      <p:to>
                                        <p:strVal val="visible"/>
                                      </p:to>
                                    </p:set>
                                    <p:anim calcmode="lin" valueType="num">
                                      <p:cBhvr additive="base">
                                        <p:cTn id="45" dur="1000" fill="hold"/>
                                        <p:tgtEl>
                                          <p:spTgt spid="43019">
                                            <p:txEl>
                                              <p:pRg st="0" end="0"/>
                                            </p:txEl>
                                          </p:spTgt>
                                        </p:tgtEl>
                                        <p:attrNameLst>
                                          <p:attrName>ppt_x</p:attrName>
                                        </p:attrNameLst>
                                      </p:cBhvr>
                                      <p:tavLst>
                                        <p:tav tm="0">
                                          <p:val>
                                            <p:strVal val="1+#ppt_w/2"/>
                                          </p:val>
                                        </p:tav>
                                        <p:tav tm="100000">
                                          <p:val>
                                            <p:strVal val="#ppt_x"/>
                                          </p:val>
                                        </p:tav>
                                      </p:tavLst>
                                    </p:anim>
                                    <p:anim calcmode="lin" valueType="num">
                                      <p:cBhvr additive="base">
                                        <p:cTn id="46" dur="1000" fill="hold"/>
                                        <p:tgtEl>
                                          <p:spTgt spid="43019">
                                            <p:txEl>
                                              <p:pRg st="0" end="0"/>
                                            </p:txEl>
                                          </p:spTgt>
                                        </p:tgtEl>
                                        <p:attrNameLst>
                                          <p:attrName>ppt_y</p:attrName>
                                        </p:attrNameLst>
                                      </p:cBhvr>
                                      <p:tavLst>
                                        <p:tav tm="0">
                                          <p:val>
                                            <p:strVal val="#ppt_y"/>
                                          </p:val>
                                        </p:tav>
                                        <p:tav tm="100000">
                                          <p:val>
                                            <p:strVal val="#ppt_y"/>
                                          </p:val>
                                        </p:tav>
                                      </p:tavLst>
                                    </p:anim>
                                  </p:childTnLst>
                                </p:cTn>
                              </p:par>
                            </p:childTnLst>
                          </p:cTn>
                        </p:par>
                        <p:par>
                          <p:cTn id="47" fill="hold">
                            <p:stCondLst>
                              <p:cond delay="1000"/>
                            </p:stCondLst>
                            <p:childTnLst>
                              <p:par>
                                <p:cTn id="48" presetID="2" presetClass="entr" presetSubtype="8" fill="hold" grpId="0" nodeType="afterEffect">
                                  <p:stCondLst>
                                    <p:cond delay="0"/>
                                  </p:stCondLst>
                                  <p:childTnLst>
                                    <p:set>
                                      <p:cBhvr>
                                        <p:cTn id="49" dur="1" fill="hold">
                                          <p:stCondLst>
                                            <p:cond delay="0"/>
                                          </p:stCondLst>
                                        </p:cTn>
                                        <p:tgtEl>
                                          <p:spTgt spid="43020">
                                            <p:txEl>
                                              <p:pRg st="0" end="0"/>
                                            </p:txEl>
                                          </p:spTgt>
                                        </p:tgtEl>
                                        <p:attrNameLst>
                                          <p:attrName>style.visibility</p:attrName>
                                        </p:attrNameLst>
                                      </p:cBhvr>
                                      <p:to>
                                        <p:strVal val="visible"/>
                                      </p:to>
                                    </p:set>
                                    <p:anim calcmode="lin" valueType="num">
                                      <p:cBhvr additive="base">
                                        <p:cTn id="50" dur="500" fill="hold"/>
                                        <p:tgtEl>
                                          <p:spTgt spid="43020">
                                            <p:txEl>
                                              <p:pRg st="0" end="0"/>
                                            </p:tx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43020">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1500"/>
                            </p:stCondLst>
                            <p:childTnLst>
                              <p:par>
                                <p:cTn id="53" presetID="2" presetClass="entr" presetSubtype="8" fill="hold" grpId="0" nodeType="afterEffect">
                                  <p:stCondLst>
                                    <p:cond delay="0"/>
                                  </p:stCondLst>
                                  <p:childTnLst>
                                    <p:set>
                                      <p:cBhvr>
                                        <p:cTn id="54" dur="1" fill="hold">
                                          <p:stCondLst>
                                            <p:cond delay="0"/>
                                          </p:stCondLst>
                                        </p:cTn>
                                        <p:tgtEl>
                                          <p:spTgt spid="43020">
                                            <p:txEl>
                                              <p:pRg st="1" end="1"/>
                                            </p:txEl>
                                          </p:spTgt>
                                        </p:tgtEl>
                                        <p:attrNameLst>
                                          <p:attrName>style.visibility</p:attrName>
                                        </p:attrNameLst>
                                      </p:cBhvr>
                                      <p:to>
                                        <p:strVal val="visible"/>
                                      </p:to>
                                    </p:set>
                                    <p:anim calcmode="lin" valueType="num">
                                      <p:cBhvr additive="base">
                                        <p:cTn id="55" dur="500" fill="hold"/>
                                        <p:tgtEl>
                                          <p:spTgt spid="43020">
                                            <p:txEl>
                                              <p:pRg st="1" end="1"/>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3020">
                                            <p:txEl>
                                              <p:pRg st="1" end="1"/>
                                            </p:txEl>
                                          </p:spTgt>
                                        </p:tgtEl>
                                        <p:attrNameLst>
                                          <p:attrName>ppt_y</p:attrName>
                                        </p:attrNameLst>
                                      </p:cBhvr>
                                      <p:tavLst>
                                        <p:tav tm="0">
                                          <p:val>
                                            <p:strVal val="#ppt_y"/>
                                          </p:val>
                                        </p:tav>
                                        <p:tav tm="100000">
                                          <p:val>
                                            <p:strVal val="#ppt_y"/>
                                          </p:val>
                                        </p:tav>
                                      </p:tavLst>
                                    </p:anim>
                                  </p:childTnLst>
                                </p:cTn>
                              </p:par>
                            </p:childTnLst>
                          </p:cTn>
                        </p:par>
                        <p:par>
                          <p:cTn id="57" fill="hold">
                            <p:stCondLst>
                              <p:cond delay="2000"/>
                            </p:stCondLst>
                            <p:childTnLst>
                              <p:par>
                                <p:cTn id="58" presetID="2" presetClass="entr" presetSubtype="8" fill="hold" grpId="0" nodeType="afterEffect">
                                  <p:stCondLst>
                                    <p:cond delay="0"/>
                                  </p:stCondLst>
                                  <p:childTnLst>
                                    <p:set>
                                      <p:cBhvr>
                                        <p:cTn id="59" dur="1" fill="hold">
                                          <p:stCondLst>
                                            <p:cond delay="0"/>
                                          </p:stCondLst>
                                        </p:cTn>
                                        <p:tgtEl>
                                          <p:spTgt spid="43020">
                                            <p:txEl>
                                              <p:pRg st="2" end="2"/>
                                            </p:txEl>
                                          </p:spTgt>
                                        </p:tgtEl>
                                        <p:attrNameLst>
                                          <p:attrName>style.visibility</p:attrName>
                                        </p:attrNameLst>
                                      </p:cBhvr>
                                      <p:to>
                                        <p:strVal val="visible"/>
                                      </p:to>
                                    </p:set>
                                    <p:anim calcmode="lin" valueType="num">
                                      <p:cBhvr additive="base">
                                        <p:cTn id="60" dur="500" fill="hold"/>
                                        <p:tgtEl>
                                          <p:spTgt spid="43020">
                                            <p:txEl>
                                              <p:pRg st="2" end="2"/>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4302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uild="p" autoUpdateAnimBg="0"/>
      <p:bldP spid="43013" grpId="0" build="p" autoUpdateAnimBg="0"/>
      <p:bldP spid="43014" grpId="0" build="p" autoUpdateAnimBg="0"/>
      <p:bldP spid="43015" grpId="0" build="p" autoUpdateAnimBg="0"/>
      <p:bldP spid="43016" grpId="0" build="p" autoUpdateAnimBg="0"/>
      <p:bldP spid="43017" grpId="0" animBg="1"/>
      <p:bldP spid="43018" grpId="0" animBg="1"/>
      <p:bldP spid="43019" grpId="0" build="p" autoUpdateAnimBg="0"/>
      <p:bldP spid="4302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8313" y="188913"/>
            <a:ext cx="8077200" cy="595312"/>
          </a:xfrm>
        </p:spPr>
        <p:txBody>
          <a:bodyPr/>
          <a:lstStyle/>
          <a:p>
            <a:pPr algn="l" eaLnBrk="1" hangingPunct="1"/>
            <a:r>
              <a:rPr lang="zh-CN" altLang="en-US" sz="3200" b="1" smtClean="0">
                <a:effectLst/>
                <a:ea typeface="楷体_GB2312" pitchFamily="49" charset="-122"/>
              </a:rPr>
              <a:t>（四）垄断利润和垄断价格</a:t>
            </a:r>
          </a:p>
        </p:txBody>
      </p:sp>
      <p:sp>
        <p:nvSpPr>
          <p:cNvPr id="19460" name="Text Box 4"/>
          <p:cNvSpPr txBox="1">
            <a:spLocks noChangeArrowheads="1"/>
          </p:cNvSpPr>
          <p:nvPr/>
        </p:nvSpPr>
        <p:spPr bwMode="auto">
          <a:xfrm>
            <a:off x="539750" y="1086962"/>
            <a:ext cx="8135938" cy="891540"/>
          </a:xfrm>
          <a:prstGeom prst="rect">
            <a:avLst/>
          </a:prstGeom>
          <a:noFill/>
          <a:ln w="9525">
            <a:noFill/>
            <a:prstDash val="lgDash"/>
            <a:miter lim="800000"/>
          </a:ln>
        </p:spPr>
        <p:txBody>
          <a:bodyPr anchor="ctr">
            <a:spAutoFit/>
          </a:bodyPr>
          <a:lstStyle/>
          <a:p>
            <a:pPr eaLnBrk="1" hangingPunct="1">
              <a:spcBef>
                <a:spcPct val="50000"/>
              </a:spcBef>
            </a:pPr>
            <a:r>
              <a:rPr kumimoji="1" lang="zh-CN" altLang="en-US" sz="2800">
                <a:solidFill>
                  <a:schemeClr val="tx2"/>
                </a:solidFill>
              </a:rPr>
              <a:t>垄断利润：</a:t>
            </a:r>
            <a:r>
              <a:rPr kumimoji="1" lang="zh-CN" altLang="en-US">
                <a:solidFill>
                  <a:srgbClr val="0000FF"/>
                </a:solidFill>
              </a:rPr>
              <a:t>是垄断资本家凭借其在社会生产和流通中的垄断地位而获得的超过平均利润的高额利润。</a:t>
            </a:r>
          </a:p>
        </p:txBody>
      </p:sp>
      <p:sp>
        <p:nvSpPr>
          <p:cNvPr id="19461" name="Text Box 5"/>
          <p:cNvSpPr txBox="1">
            <a:spLocks noChangeArrowheads="1"/>
          </p:cNvSpPr>
          <p:nvPr/>
        </p:nvSpPr>
        <p:spPr bwMode="auto">
          <a:xfrm>
            <a:off x="539750" y="2205038"/>
            <a:ext cx="3671888" cy="521970"/>
          </a:xfrm>
          <a:prstGeom prst="rect">
            <a:avLst/>
          </a:prstGeom>
          <a:noFill/>
          <a:ln w="76200" cmpd="tri">
            <a:noFill/>
            <a:miter lim="800000"/>
          </a:ln>
        </p:spPr>
        <p:txBody>
          <a:bodyPr>
            <a:spAutoFit/>
          </a:bodyPr>
          <a:lstStyle/>
          <a:p>
            <a:pPr eaLnBrk="1" hangingPunct="1">
              <a:spcBef>
                <a:spcPct val="50000"/>
              </a:spcBef>
            </a:pPr>
            <a:r>
              <a:rPr kumimoji="1" lang="zh-CN" altLang="en-US" sz="2800">
                <a:solidFill>
                  <a:schemeClr val="tx2"/>
                </a:solidFill>
              </a:rPr>
              <a:t>垄断利润的来源：</a:t>
            </a:r>
          </a:p>
        </p:txBody>
      </p:sp>
      <p:sp>
        <p:nvSpPr>
          <p:cNvPr id="19462" name="Text Box 6"/>
          <p:cNvSpPr txBox="1">
            <a:spLocks noChangeArrowheads="1"/>
          </p:cNvSpPr>
          <p:nvPr/>
        </p:nvSpPr>
        <p:spPr bwMode="auto">
          <a:xfrm>
            <a:off x="539750" y="2781300"/>
            <a:ext cx="8382000" cy="457200"/>
          </a:xfrm>
          <a:prstGeom prst="rect">
            <a:avLst/>
          </a:prstGeom>
          <a:noFill/>
          <a:ln w="9525">
            <a:noFill/>
            <a:miter lim="800000"/>
          </a:ln>
        </p:spPr>
        <p:txBody>
          <a:bodyPr>
            <a:spAutoFit/>
          </a:bodyPr>
          <a:lstStyle/>
          <a:p>
            <a:pPr eaLnBrk="1" hangingPunct="1">
              <a:spcBef>
                <a:spcPct val="50000"/>
              </a:spcBef>
            </a:pPr>
            <a:r>
              <a:rPr kumimoji="1" lang="en-US" altLang="zh-CN">
                <a:solidFill>
                  <a:srgbClr val="0000FF"/>
                </a:solidFill>
                <a:latin typeface="楷体_GB2312" pitchFamily="49" charset="-122"/>
              </a:rPr>
              <a:t>1.</a:t>
            </a:r>
            <a:r>
              <a:rPr kumimoji="1" lang="zh-CN" altLang="en-US">
                <a:solidFill>
                  <a:srgbClr val="0000FF"/>
                </a:solidFill>
                <a:latin typeface="楷体_GB2312" pitchFamily="49" charset="-122"/>
              </a:rPr>
              <a:t>垄断企业内部工人创造的剩余价值</a:t>
            </a:r>
          </a:p>
        </p:txBody>
      </p:sp>
      <p:sp>
        <p:nvSpPr>
          <p:cNvPr id="19463" name="Text Box 7"/>
          <p:cNvSpPr txBox="1">
            <a:spLocks noChangeArrowheads="1"/>
          </p:cNvSpPr>
          <p:nvPr/>
        </p:nvSpPr>
        <p:spPr bwMode="auto">
          <a:xfrm>
            <a:off x="539750" y="3284538"/>
            <a:ext cx="8382000" cy="457200"/>
          </a:xfrm>
          <a:prstGeom prst="rect">
            <a:avLst/>
          </a:prstGeom>
          <a:noFill/>
          <a:ln w="9525">
            <a:noFill/>
            <a:miter lim="800000"/>
          </a:ln>
        </p:spPr>
        <p:txBody>
          <a:bodyPr>
            <a:spAutoFit/>
          </a:bodyPr>
          <a:lstStyle/>
          <a:p>
            <a:pPr eaLnBrk="1" hangingPunct="1">
              <a:spcBef>
                <a:spcPct val="50000"/>
              </a:spcBef>
            </a:pPr>
            <a:r>
              <a:rPr kumimoji="1" lang="en-US" altLang="zh-CN">
                <a:solidFill>
                  <a:srgbClr val="0000FF"/>
                </a:solidFill>
                <a:latin typeface="楷体_GB2312" pitchFamily="49" charset="-122"/>
              </a:rPr>
              <a:t>2.</a:t>
            </a:r>
            <a:r>
              <a:rPr kumimoji="1" lang="zh-CN" altLang="en-US">
                <a:solidFill>
                  <a:srgbClr val="0000FF"/>
                </a:solidFill>
                <a:latin typeface="楷体_GB2312" pitchFamily="49" charset="-122"/>
              </a:rPr>
              <a:t>非垄断企业部分剩余价值和小生产者创造的价值</a:t>
            </a:r>
          </a:p>
        </p:txBody>
      </p:sp>
      <p:sp>
        <p:nvSpPr>
          <p:cNvPr id="19464" name="Text Box 8"/>
          <p:cNvSpPr txBox="1">
            <a:spLocks noChangeArrowheads="1"/>
          </p:cNvSpPr>
          <p:nvPr/>
        </p:nvSpPr>
        <p:spPr bwMode="auto">
          <a:xfrm>
            <a:off x="539750" y="3789363"/>
            <a:ext cx="6911975" cy="457200"/>
          </a:xfrm>
          <a:prstGeom prst="rect">
            <a:avLst/>
          </a:prstGeom>
          <a:noFill/>
          <a:ln w="9525">
            <a:noFill/>
            <a:miter lim="800000"/>
          </a:ln>
        </p:spPr>
        <p:txBody>
          <a:bodyPr>
            <a:spAutoFit/>
          </a:bodyPr>
          <a:lstStyle/>
          <a:p>
            <a:pPr eaLnBrk="1" hangingPunct="1">
              <a:spcBef>
                <a:spcPct val="50000"/>
              </a:spcBef>
            </a:pPr>
            <a:r>
              <a:rPr kumimoji="1" lang="en-US" altLang="zh-CN">
                <a:solidFill>
                  <a:srgbClr val="0000FF"/>
                </a:solidFill>
                <a:latin typeface="楷体_GB2312" pitchFamily="49" charset="-122"/>
              </a:rPr>
              <a:t>3.</a:t>
            </a:r>
            <a:r>
              <a:rPr kumimoji="1" lang="zh-CN" altLang="en-US">
                <a:solidFill>
                  <a:srgbClr val="0000FF"/>
                </a:solidFill>
                <a:latin typeface="楷体_GB2312" pitchFamily="49" charset="-122"/>
              </a:rPr>
              <a:t>其他国家人民的劳动和国外利润</a:t>
            </a:r>
          </a:p>
        </p:txBody>
      </p:sp>
      <p:sp>
        <p:nvSpPr>
          <p:cNvPr id="19465" name="Text Box 9"/>
          <p:cNvSpPr txBox="1">
            <a:spLocks noChangeArrowheads="1"/>
          </p:cNvSpPr>
          <p:nvPr/>
        </p:nvSpPr>
        <p:spPr bwMode="auto">
          <a:xfrm>
            <a:off x="539750" y="4292600"/>
            <a:ext cx="8280400" cy="457200"/>
          </a:xfrm>
          <a:prstGeom prst="rect">
            <a:avLst/>
          </a:prstGeom>
          <a:noFill/>
          <a:ln w="9525">
            <a:noFill/>
            <a:miter lim="800000"/>
          </a:ln>
        </p:spPr>
        <p:txBody>
          <a:bodyPr>
            <a:spAutoFit/>
          </a:bodyPr>
          <a:lstStyle/>
          <a:p>
            <a:pPr eaLnBrk="1" hangingPunct="1">
              <a:spcBef>
                <a:spcPct val="50000"/>
              </a:spcBef>
            </a:pPr>
            <a:r>
              <a:rPr kumimoji="1" lang="en-US" altLang="zh-CN">
                <a:solidFill>
                  <a:srgbClr val="0000FF"/>
                </a:solidFill>
                <a:latin typeface="楷体_GB2312" pitchFamily="49" charset="-122"/>
              </a:rPr>
              <a:t>4.</a:t>
            </a:r>
            <a:r>
              <a:rPr kumimoji="1" lang="zh-CN" altLang="en-US">
                <a:solidFill>
                  <a:srgbClr val="0000FF"/>
                </a:solidFill>
                <a:latin typeface="楷体_GB2312" pitchFamily="49" charset="-122"/>
              </a:rPr>
              <a:t>国内劳动人民创造的国民收入的再分配</a:t>
            </a:r>
          </a:p>
        </p:txBody>
      </p:sp>
      <p:sp>
        <p:nvSpPr>
          <p:cNvPr id="19466" name="Text Box 10"/>
          <p:cNvSpPr txBox="1">
            <a:spLocks noChangeArrowheads="1"/>
          </p:cNvSpPr>
          <p:nvPr/>
        </p:nvSpPr>
        <p:spPr bwMode="auto">
          <a:xfrm>
            <a:off x="468313" y="5013325"/>
            <a:ext cx="8280400" cy="946150"/>
          </a:xfrm>
          <a:prstGeom prst="rect">
            <a:avLst/>
          </a:prstGeom>
          <a:noFill/>
          <a:ln w="9525">
            <a:noFill/>
            <a:miter lim="800000"/>
          </a:ln>
        </p:spPr>
        <p:txBody>
          <a:bodyPr>
            <a:spAutoFit/>
          </a:bodyPr>
          <a:lstStyle/>
          <a:p>
            <a:pPr eaLnBrk="1" hangingPunct="1">
              <a:spcBef>
                <a:spcPct val="50000"/>
              </a:spcBef>
            </a:pPr>
            <a:r>
              <a:rPr kumimoji="1" lang="zh-CN" altLang="en-US" sz="2800">
                <a:solidFill>
                  <a:srgbClr val="FF0000"/>
                </a:solidFill>
                <a:latin typeface="楷体_GB2312" pitchFamily="49" charset="-122"/>
              </a:rPr>
              <a:t>垄断利润归根到底是来自国内外工人阶级和其他劳动人民创造的剩余价值。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 calcmode="lin" valueType="num">
                                      <p:cBhvr additive="base">
                                        <p:cTn id="7" dur="1000" fill="hold"/>
                                        <p:tgtEl>
                                          <p:spTgt spid="19460">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1946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type="lt">
                                    <p:tmPct val="100000"/>
                                  </p:iterate>
                                  <p:childTnLst>
                                    <p:set>
                                      <p:cBhvr>
                                        <p:cTn id="12" dur="1" fill="hold">
                                          <p:stCondLst>
                                            <p:cond delay="0"/>
                                          </p:stCondLst>
                                        </p:cTn>
                                        <p:tgtEl>
                                          <p:spTgt spid="19461">
                                            <p:txEl>
                                              <p:pRg st="0" end="0"/>
                                            </p:txEl>
                                          </p:spTgt>
                                        </p:tgtEl>
                                        <p:attrNameLst>
                                          <p:attrName>style.visibility</p:attrName>
                                        </p:attrNameLst>
                                      </p:cBhvr>
                                      <p:to>
                                        <p:strVal val="visible"/>
                                      </p:to>
                                    </p:set>
                                    <p:anim calcmode="lin" valueType="num">
                                      <p:cBhvr additive="base">
                                        <p:cTn id="13" dur="500" fill="hold"/>
                                        <p:tgtEl>
                                          <p:spTgt spid="1946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6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62">
                                            <p:txEl>
                                              <p:pRg st="0" end="0"/>
                                            </p:txEl>
                                          </p:spTgt>
                                        </p:tgtEl>
                                        <p:attrNameLst>
                                          <p:attrName>style.visibility</p:attrName>
                                        </p:attrNameLst>
                                      </p:cBhvr>
                                      <p:to>
                                        <p:strVal val="visible"/>
                                      </p:to>
                                    </p:set>
                                    <p:anim calcmode="lin" valueType="num">
                                      <p:cBhvr additive="base">
                                        <p:cTn id="19" dur="500" fill="hold"/>
                                        <p:tgtEl>
                                          <p:spTgt spid="19462">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62">
                                            <p:txEl>
                                              <p:pRg st="0" end="0"/>
                                            </p:txEl>
                                          </p:spTgt>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 presetClass="entr" presetSubtype="2" fill="hold" grpId="0" nodeType="afterEffect">
                                  <p:stCondLst>
                                    <p:cond delay="0"/>
                                  </p:stCondLst>
                                  <p:childTnLst>
                                    <p:set>
                                      <p:cBhvr>
                                        <p:cTn id="23" dur="1" fill="hold">
                                          <p:stCondLst>
                                            <p:cond delay="0"/>
                                          </p:stCondLst>
                                        </p:cTn>
                                        <p:tgtEl>
                                          <p:spTgt spid="19463">
                                            <p:txEl>
                                              <p:pRg st="0" end="0"/>
                                            </p:txEl>
                                          </p:spTgt>
                                        </p:tgtEl>
                                        <p:attrNameLst>
                                          <p:attrName>style.visibility</p:attrName>
                                        </p:attrNameLst>
                                      </p:cBhvr>
                                      <p:to>
                                        <p:strVal val="visible"/>
                                      </p:to>
                                    </p:set>
                                    <p:anim calcmode="lin" valueType="num">
                                      <p:cBhvr additive="base">
                                        <p:cTn id="24" dur="500" fill="hold"/>
                                        <p:tgtEl>
                                          <p:spTgt spid="19463">
                                            <p:txEl>
                                              <p:pRg st="0" end="0"/>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19463">
                                            <p:txEl>
                                              <p:pRg st="0" end="0"/>
                                            </p:txEl>
                                          </p:spTgt>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2" presetClass="entr" presetSubtype="1" fill="hold" grpId="0" nodeType="afterEffect">
                                  <p:stCondLst>
                                    <p:cond delay="0"/>
                                  </p:stCondLst>
                                  <p:iterate type="lt">
                                    <p:tmPct val="100000"/>
                                  </p:iterate>
                                  <p:childTnLst>
                                    <p:set>
                                      <p:cBhvr>
                                        <p:cTn id="28" dur="1" fill="hold">
                                          <p:stCondLst>
                                            <p:cond delay="0"/>
                                          </p:stCondLst>
                                        </p:cTn>
                                        <p:tgtEl>
                                          <p:spTgt spid="19464">
                                            <p:txEl>
                                              <p:pRg st="0" end="0"/>
                                            </p:txEl>
                                          </p:spTgt>
                                        </p:tgtEl>
                                        <p:attrNameLst>
                                          <p:attrName>style.visibility</p:attrName>
                                        </p:attrNameLst>
                                      </p:cBhvr>
                                      <p:to>
                                        <p:strVal val="visible"/>
                                      </p:to>
                                    </p:set>
                                    <p:animEffect transition="in" filter="wipe(up)">
                                      <p:cBhvr>
                                        <p:cTn id="29" dur="75"/>
                                        <p:tgtEl>
                                          <p:spTgt spid="19464">
                                            <p:txEl>
                                              <p:pRg st="0" end="0"/>
                                            </p:txEl>
                                          </p:spTgt>
                                        </p:tgtEl>
                                      </p:cBhvr>
                                    </p:animEffect>
                                  </p:childTnLst>
                                </p:cTn>
                              </p:par>
                            </p:childTnLst>
                          </p:cTn>
                        </p:par>
                        <p:par>
                          <p:cTn id="30" fill="hold">
                            <p:stCondLst>
                              <p:cond delay="2200"/>
                            </p:stCondLst>
                            <p:childTnLst>
                              <p:par>
                                <p:cTn id="31" presetID="22" presetClass="entr" presetSubtype="1" fill="hold" grpId="0" nodeType="afterEffect">
                                  <p:stCondLst>
                                    <p:cond delay="0"/>
                                  </p:stCondLst>
                                  <p:iterate type="lt">
                                    <p:tmPct val="100000"/>
                                  </p:iterate>
                                  <p:childTnLst>
                                    <p:set>
                                      <p:cBhvr>
                                        <p:cTn id="32" dur="1" fill="hold">
                                          <p:stCondLst>
                                            <p:cond delay="0"/>
                                          </p:stCondLst>
                                        </p:cTn>
                                        <p:tgtEl>
                                          <p:spTgt spid="19465">
                                            <p:txEl>
                                              <p:pRg st="0" end="0"/>
                                            </p:txEl>
                                          </p:spTgt>
                                        </p:tgtEl>
                                        <p:attrNameLst>
                                          <p:attrName>style.visibility</p:attrName>
                                        </p:attrNameLst>
                                      </p:cBhvr>
                                      <p:to>
                                        <p:strVal val="visible"/>
                                      </p:to>
                                    </p:set>
                                    <p:animEffect transition="in" filter="wipe(up)">
                                      <p:cBhvr>
                                        <p:cTn id="33" dur="75"/>
                                        <p:tgtEl>
                                          <p:spTgt spid="1946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iterate type="lt">
                                    <p:tmPct val="100000"/>
                                  </p:iterate>
                                  <p:childTnLst>
                                    <p:set>
                                      <p:cBhvr>
                                        <p:cTn id="37" dur="1" fill="hold">
                                          <p:stCondLst>
                                            <p:cond delay="0"/>
                                          </p:stCondLst>
                                        </p:cTn>
                                        <p:tgtEl>
                                          <p:spTgt spid="19466">
                                            <p:txEl>
                                              <p:pRg st="0" end="0"/>
                                            </p:txEl>
                                          </p:spTgt>
                                        </p:tgtEl>
                                        <p:attrNameLst>
                                          <p:attrName>style.visibility</p:attrName>
                                        </p:attrNameLst>
                                      </p:cBhvr>
                                      <p:to>
                                        <p:strVal val="visible"/>
                                      </p:to>
                                    </p:set>
                                    <p:animEffect transition="in" filter="wipe(up)">
                                      <p:cBhvr>
                                        <p:cTn id="38" dur="75"/>
                                        <p:tgtEl>
                                          <p:spTgt spid="194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autoUpdateAnimBg="0"/>
      <p:bldP spid="19461" grpId="0" build="p" autoUpdateAnimBg="0"/>
      <p:bldP spid="19462" grpId="0" build="p" autoUpdateAnimBg="0"/>
      <p:bldP spid="19463" grpId="0" build="p" autoUpdateAnimBg="0"/>
      <p:bldP spid="19464" grpId="0" build="p" autoUpdateAnimBg="0"/>
      <p:bldP spid="19465" grpId="0" build="p" autoUpdateAnimBg="0"/>
      <p:bldP spid="19466"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098550" y="189230"/>
            <a:ext cx="2538730" cy="647700"/>
          </a:xfrm>
          <a:noFill/>
        </p:spPr>
        <p:txBody>
          <a:bodyPr/>
          <a:lstStyle/>
          <a:p>
            <a:pPr algn="l" eaLnBrk="1" hangingPunct="1"/>
            <a:r>
              <a:rPr lang="zh-CN" altLang="en-US" sz="3200" b="1" u="sng" smtClean="0">
                <a:effectLst/>
                <a:latin typeface="楷体_GB2312" pitchFamily="49" charset="-122"/>
                <a:ea typeface="楷体_GB2312" pitchFamily="49" charset="-122"/>
              </a:rPr>
              <a:t>垄断价格</a:t>
            </a:r>
            <a:endParaRPr lang="zh-CN" altLang="en-US" sz="3200" b="1" smtClean="0">
              <a:effectLst/>
              <a:latin typeface="楷体_GB2312" pitchFamily="49" charset="-122"/>
              <a:ea typeface="楷体_GB2312" pitchFamily="49" charset="-122"/>
            </a:endParaRPr>
          </a:p>
        </p:txBody>
      </p:sp>
      <p:sp>
        <p:nvSpPr>
          <p:cNvPr id="20485" name="Text Box 5"/>
          <p:cNvSpPr txBox="1">
            <a:spLocks noChangeArrowheads="1"/>
          </p:cNvSpPr>
          <p:nvPr/>
        </p:nvSpPr>
        <p:spPr bwMode="auto">
          <a:xfrm>
            <a:off x="539750" y="1125538"/>
            <a:ext cx="3097213" cy="2682875"/>
          </a:xfrm>
          <a:prstGeom prst="rect">
            <a:avLst/>
          </a:prstGeom>
          <a:noFill/>
          <a:ln w="28575">
            <a:solidFill>
              <a:srgbClr val="0000FF"/>
            </a:solidFill>
            <a:prstDash val="lgDash"/>
            <a:miter lim="800000"/>
          </a:ln>
        </p:spPr>
        <p:txBody>
          <a:bodyPr anchor="ctr">
            <a:spAutoFit/>
          </a:bodyPr>
          <a:lstStyle/>
          <a:p>
            <a:pPr eaLnBrk="1" hangingPunct="1">
              <a:spcBef>
                <a:spcPct val="50000"/>
              </a:spcBef>
            </a:pPr>
            <a:r>
              <a:rPr kumimoji="1" lang="zh-CN" altLang="en-US" sz="2800">
                <a:solidFill>
                  <a:srgbClr val="0000FF"/>
                </a:solidFill>
              </a:rPr>
              <a:t>垄断组织为了保证其获得高额垄断利润，凭借其垄断地位所规定的价格，包括垄断高价和垄断低价。</a:t>
            </a:r>
          </a:p>
        </p:txBody>
      </p:sp>
      <p:sp>
        <p:nvSpPr>
          <p:cNvPr id="20486" name="Text Box 6"/>
          <p:cNvSpPr txBox="1">
            <a:spLocks noChangeArrowheads="1"/>
          </p:cNvSpPr>
          <p:nvPr/>
        </p:nvSpPr>
        <p:spPr bwMode="auto">
          <a:xfrm>
            <a:off x="4859338" y="981075"/>
            <a:ext cx="3600450" cy="1216025"/>
          </a:xfrm>
          <a:prstGeom prst="rect">
            <a:avLst/>
          </a:prstGeom>
          <a:noFill/>
          <a:ln w="28575">
            <a:solidFill>
              <a:schemeClr val="tx2"/>
            </a:solidFill>
            <a:prstDash val="lgDash"/>
            <a:miter lim="800000"/>
          </a:ln>
        </p:spPr>
        <p:txBody>
          <a:bodyPr anchor="ctr">
            <a:spAutoFit/>
          </a:bodyPr>
          <a:lstStyle/>
          <a:p>
            <a:pPr eaLnBrk="1" hangingPunct="1">
              <a:spcBef>
                <a:spcPct val="50000"/>
              </a:spcBef>
            </a:pPr>
            <a:r>
              <a:rPr lang="zh-CN" altLang="en-US" i="1" u="sng">
                <a:latin typeface="Verdana" panose="020B0604030504040204" pitchFamily="34" charset="0"/>
              </a:rPr>
              <a:t>垄断高价</a:t>
            </a:r>
            <a:r>
              <a:rPr lang="zh-CN" altLang="en-US">
                <a:latin typeface="Verdana" panose="020B0604030504040204" pitchFamily="34" charset="0"/>
              </a:rPr>
              <a:t>是指垄断组织出售商品时规定的高于生产价格的价格。</a:t>
            </a:r>
          </a:p>
        </p:txBody>
      </p:sp>
      <p:sp>
        <p:nvSpPr>
          <p:cNvPr id="20487" name="Text Box 7"/>
          <p:cNvSpPr txBox="1">
            <a:spLocks noChangeArrowheads="1"/>
          </p:cNvSpPr>
          <p:nvPr/>
        </p:nvSpPr>
        <p:spPr bwMode="auto">
          <a:xfrm>
            <a:off x="4859338" y="2349500"/>
            <a:ext cx="3600450" cy="1581150"/>
          </a:xfrm>
          <a:prstGeom prst="rect">
            <a:avLst/>
          </a:prstGeom>
          <a:noFill/>
          <a:ln w="28575">
            <a:solidFill>
              <a:schemeClr val="tx2"/>
            </a:solidFill>
            <a:prstDash val="lgDash"/>
            <a:miter lim="800000"/>
          </a:ln>
        </p:spPr>
        <p:txBody>
          <a:bodyPr anchor="ctr">
            <a:spAutoFit/>
          </a:bodyPr>
          <a:lstStyle/>
          <a:p>
            <a:pPr eaLnBrk="1" hangingPunct="1">
              <a:spcBef>
                <a:spcPct val="50000"/>
              </a:spcBef>
            </a:pPr>
            <a:r>
              <a:rPr lang="zh-CN" altLang="en-US" i="1" u="sng">
                <a:latin typeface="Verdana" panose="020B0604030504040204" pitchFamily="34" charset="0"/>
              </a:rPr>
              <a:t>垄断低价</a:t>
            </a:r>
            <a:r>
              <a:rPr lang="zh-CN" altLang="en-US">
                <a:latin typeface="Verdana" panose="020B0604030504040204" pitchFamily="34" charset="0"/>
              </a:rPr>
              <a:t>是指垄断组织在购买非垄断企业所生产的原材料等生产资料时规定的低于生产价格的价格。</a:t>
            </a:r>
          </a:p>
        </p:txBody>
      </p:sp>
      <p:sp>
        <p:nvSpPr>
          <p:cNvPr id="20489" name="Line 9"/>
          <p:cNvSpPr>
            <a:spLocks noChangeShapeType="1"/>
          </p:cNvSpPr>
          <p:nvPr/>
        </p:nvSpPr>
        <p:spPr bwMode="auto">
          <a:xfrm flipV="1">
            <a:off x="3708400" y="1341438"/>
            <a:ext cx="1079500" cy="863600"/>
          </a:xfrm>
          <a:prstGeom prst="line">
            <a:avLst/>
          </a:prstGeom>
          <a:noFill/>
          <a:ln w="28575">
            <a:solidFill>
              <a:srgbClr val="FF0000"/>
            </a:solidFill>
            <a:round/>
            <a:tailEnd type="triangle" w="med" len="med"/>
          </a:ln>
        </p:spPr>
        <p:txBody>
          <a:bodyPr anchor="ctr">
            <a:spAutoFit/>
          </a:bodyPr>
          <a:lstStyle/>
          <a:p>
            <a:endParaRPr lang="zh-CN" altLang="en-US"/>
          </a:p>
        </p:txBody>
      </p:sp>
      <p:sp>
        <p:nvSpPr>
          <p:cNvPr id="20490" name="Line 10"/>
          <p:cNvSpPr>
            <a:spLocks noChangeShapeType="1"/>
          </p:cNvSpPr>
          <p:nvPr/>
        </p:nvSpPr>
        <p:spPr bwMode="auto">
          <a:xfrm>
            <a:off x="3708400" y="2708275"/>
            <a:ext cx="1079500" cy="792163"/>
          </a:xfrm>
          <a:prstGeom prst="line">
            <a:avLst/>
          </a:prstGeom>
          <a:noFill/>
          <a:ln w="28575">
            <a:solidFill>
              <a:srgbClr val="FF0000"/>
            </a:solidFill>
            <a:round/>
            <a:tailEnd type="triangle" w="med" len="med"/>
          </a:ln>
        </p:spPr>
        <p:txBody>
          <a:bodyPr anchor="ctr">
            <a:spAutoFit/>
          </a:bodyPr>
          <a:lstStyle/>
          <a:p>
            <a:endParaRPr lang="zh-CN" altLang="en-US"/>
          </a:p>
        </p:txBody>
      </p:sp>
      <p:sp>
        <p:nvSpPr>
          <p:cNvPr id="20491" name="Text Box 11"/>
          <p:cNvSpPr txBox="1">
            <a:spLocks noChangeArrowheads="1"/>
          </p:cNvSpPr>
          <p:nvPr/>
        </p:nvSpPr>
        <p:spPr bwMode="auto">
          <a:xfrm>
            <a:off x="323850" y="3998913"/>
            <a:ext cx="8497888" cy="2647950"/>
          </a:xfrm>
          <a:prstGeom prst="rect">
            <a:avLst/>
          </a:prstGeom>
          <a:noFill/>
          <a:ln w="28575">
            <a:noFill/>
            <a:prstDash val="lgDash"/>
            <a:miter lim="800000"/>
          </a:ln>
        </p:spPr>
        <p:txBody>
          <a:bodyPr anchor="ctr">
            <a:spAutoFit/>
          </a:bodyPr>
          <a:lstStyle/>
          <a:p>
            <a:pPr eaLnBrk="1" hangingPunct="1">
              <a:spcBef>
                <a:spcPct val="50000"/>
              </a:spcBef>
            </a:pPr>
            <a:r>
              <a:rPr lang="zh-CN" altLang="en-US">
                <a:solidFill>
                  <a:srgbClr val="FF0000"/>
                </a:solidFill>
              </a:rPr>
              <a:t>垄断价格的特征与价值规律的关系：</a:t>
            </a:r>
            <a:r>
              <a:rPr lang="zh-CN" altLang="en-US"/>
              <a:t>是价值规律在垄断资本主义条件下新的表现形式，不违背其规定。</a:t>
            </a:r>
          </a:p>
          <a:p>
            <a:pPr eaLnBrk="1" hangingPunct="1">
              <a:spcBef>
                <a:spcPct val="50000"/>
              </a:spcBef>
            </a:pPr>
            <a:r>
              <a:rPr lang="zh-CN" altLang="en-US"/>
              <a:t>从全社会看，商品的价值仍然由生产它们的社会必要劳动时间决定，垄断价格没有改变整个社会生产的价值总量，只是对商品价值和剩余价值作了有利于垄断资本的再分配。</a:t>
            </a:r>
          </a:p>
          <a:p>
            <a:pPr eaLnBrk="1" hangingPunct="1">
              <a:spcBef>
                <a:spcPct val="50000"/>
              </a:spcBef>
            </a:pPr>
            <a:r>
              <a:rPr lang="zh-CN" altLang="en-US"/>
              <a:t>从全社会看，商品的价格总额仍然等于其价值总额。</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 calcmode="lin" valueType="num">
                                      <p:cBhvr additive="base">
                                        <p:cTn id="7" dur="500" fill="hold"/>
                                        <p:tgtEl>
                                          <p:spTgt spid="2048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20489"/>
                                        </p:tgtEl>
                                        <p:attrNameLst>
                                          <p:attrName>style.visibility</p:attrName>
                                        </p:attrNameLst>
                                      </p:cBhvr>
                                      <p:to>
                                        <p:strVal val="visible"/>
                                      </p:to>
                                    </p:set>
                                    <p:anim calcmode="lin" valueType="num">
                                      <p:cBhvr additive="base">
                                        <p:cTn id="13" dur="500" fill="hold"/>
                                        <p:tgtEl>
                                          <p:spTgt spid="20489"/>
                                        </p:tgtEl>
                                        <p:attrNameLst>
                                          <p:attrName>ppt_x</p:attrName>
                                        </p:attrNameLst>
                                      </p:cBhvr>
                                      <p:tavLst>
                                        <p:tav tm="0">
                                          <p:val>
                                            <p:strVal val="0-#ppt_w/2"/>
                                          </p:val>
                                        </p:tav>
                                        <p:tav tm="100000">
                                          <p:val>
                                            <p:strVal val="#ppt_x"/>
                                          </p:val>
                                        </p:tav>
                                      </p:tavLst>
                                    </p:anim>
                                    <p:anim calcmode="lin" valueType="num">
                                      <p:cBhvr additive="base">
                                        <p:cTn id="14" dur="500" fill="hold"/>
                                        <p:tgtEl>
                                          <p:spTgt spid="20489"/>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20486">
                                            <p:txEl>
                                              <p:pRg st="0" end="0"/>
                                            </p:txEl>
                                          </p:spTgt>
                                        </p:tgtEl>
                                        <p:attrNameLst>
                                          <p:attrName>style.visibility</p:attrName>
                                        </p:attrNameLst>
                                      </p:cBhvr>
                                      <p:to>
                                        <p:strVal val="visible"/>
                                      </p:to>
                                    </p:set>
                                    <p:animEffect transition="in" filter="dissolve">
                                      <p:cBhvr>
                                        <p:cTn id="18" dur="1000"/>
                                        <p:tgtEl>
                                          <p:spTgt spid="2048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9" fill="hold" grpId="0" nodeType="clickEffect">
                                  <p:stCondLst>
                                    <p:cond delay="0"/>
                                  </p:stCondLst>
                                  <p:childTnLst>
                                    <p:set>
                                      <p:cBhvr>
                                        <p:cTn id="22" dur="1" fill="hold">
                                          <p:stCondLst>
                                            <p:cond delay="0"/>
                                          </p:stCondLst>
                                        </p:cTn>
                                        <p:tgtEl>
                                          <p:spTgt spid="20490"/>
                                        </p:tgtEl>
                                        <p:attrNameLst>
                                          <p:attrName>style.visibility</p:attrName>
                                        </p:attrNameLst>
                                      </p:cBhvr>
                                      <p:to>
                                        <p:strVal val="visible"/>
                                      </p:to>
                                    </p:set>
                                    <p:anim calcmode="lin" valueType="num">
                                      <p:cBhvr additive="base">
                                        <p:cTn id="23" dur="500" fill="hold"/>
                                        <p:tgtEl>
                                          <p:spTgt spid="20490"/>
                                        </p:tgtEl>
                                        <p:attrNameLst>
                                          <p:attrName>ppt_x</p:attrName>
                                        </p:attrNameLst>
                                      </p:cBhvr>
                                      <p:tavLst>
                                        <p:tav tm="0">
                                          <p:val>
                                            <p:strVal val="0-#ppt_w/2"/>
                                          </p:val>
                                        </p:tav>
                                        <p:tav tm="100000">
                                          <p:val>
                                            <p:strVal val="#ppt_x"/>
                                          </p:val>
                                        </p:tav>
                                      </p:tavLst>
                                    </p:anim>
                                    <p:anim calcmode="lin" valueType="num">
                                      <p:cBhvr additive="base">
                                        <p:cTn id="24" dur="500" fill="hold"/>
                                        <p:tgtEl>
                                          <p:spTgt spid="20490"/>
                                        </p:tgtEl>
                                        <p:attrNameLst>
                                          <p:attrName>ppt_y</p:attrName>
                                        </p:attrNameLst>
                                      </p:cBhvr>
                                      <p:tavLst>
                                        <p:tav tm="0">
                                          <p:val>
                                            <p:strVal val="0-#ppt_h/2"/>
                                          </p:val>
                                        </p:tav>
                                        <p:tav tm="100000">
                                          <p:val>
                                            <p:strVal val="#ppt_y"/>
                                          </p:val>
                                        </p:tav>
                                      </p:tavLst>
                                    </p:anim>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20487">
                                            <p:txEl>
                                              <p:pRg st="0" end="0"/>
                                            </p:txEl>
                                          </p:spTgt>
                                        </p:tgtEl>
                                        <p:attrNameLst>
                                          <p:attrName>style.visibility</p:attrName>
                                        </p:attrNameLst>
                                      </p:cBhvr>
                                      <p:to>
                                        <p:strVal val="visible"/>
                                      </p:to>
                                    </p:set>
                                    <p:animEffect transition="in" filter="dissolve">
                                      <p:cBhvr>
                                        <p:cTn id="28" dur="1000"/>
                                        <p:tgtEl>
                                          <p:spTgt spid="2048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20491">
                                            <p:txEl>
                                              <p:pRg st="0" end="0"/>
                                            </p:txEl>
                                          </p:spTgt>
                                        </p:tgtEl>
                                        <p:attrNameLst>
                                          <p:attrName>style.visibility</p:attrName>
                                        </p:attrNameLst>
                                      </p:cBhvr>
                                      <p:to>
                                        <p:strVal val="visible"/>
                                      </p:to>
                                    </p:set>
                                    <p:anim calcmode="lin" valueType="num">
                                      <p:cBhvr additive="base">
                                        <p:cTn id="33" dur="1000" fill="hold"/>
                                        <p:tgtEl>
                                          <p:spTgt spid="20491">
                                            <p:txEl>
                                              <p:pRg st="0" end="0"/>
                                            </p:txEl>
                                          </p:spTgt>
                                        </p:tgtEl>
                                        <p:attrNameLst>
                                          <p:attrName>ppt_x</p:attrName>
                                        </p:attrNameLst>
                                      </p:cBhvr>
                                      <p:tavLst>
                                        <p:tav tm="0">
                                          <p:val>
                                            <p:strVal val="0-#ppt_w/2"/>
                                          </p:val>
                                        </p:tav>
                                        <p:tav tm="100000">
                                          <p:val>
                                            <p:strVal val="#ppt_x"/>
                                          </p:val>
                                        </p:tav>
                                      </p:tavLst>
                                    </p:anim>
                                    <p:anim calcmode="lin" valueType="num">
                                      <p:cBhvr additive="base">
                                        <p:cTn id="34" dur="1000" fill="hold"/>
                                        <p:tgtEl>
                                          <p:spTgt spid="20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20491">
                                            <p:txEl>
                                              <p:pRg st="1" end="1"/>
                                            </p:txEl>
                                          </p:spTgt>
                                        </p:tgtEl>
                                        <p:attrNameLst>
                                          <p:attrName>style.visibility</p:attrName>
                                        </p:attrNameLst>
                                      </p:cBhvr>
                                      <p:to>
                                        <p:strVal val="visible"/>
                                      </p:to>
                                    </p:set>
                                    <p:anim calcmode="lin" valueType="num">
                                      <p:cBhvr additive="base">
                                        <p:cTn id="39" dur="1000" fill="hold"/>
                                        <p:tgtEl>
                                          <p:spTgt spid="20491">
                                            <p:txEl>
                                              <p:pRg st="1" end="1"/>
                                            </p:txEl>
                                          </p:spTgt>
                                        </p:tgtEl>
                                        <p:attrNameLst>
                                          <p:attrName>ppt_x</p:attrName>
                                        </p:attrNameLst>
                                      </p:cBhvr>
                                      <p:tavLst>
                                        <p:tav tm="0">
                                          <p:val>
                                            <p:strVal val="0-#ppt_w/2"/>
                                          </p:val>
                                        </p:tav>
                                        <p:tav tm="100000">
                                          <p:val>
                                            <p:strVal val="#ppt_x"/>
                                          </p:val>
                                        </p:tav>
                                      </p:tavLst>
                                    </p:anim>
                                    <p:anim calcmode="lin" valueType="num">
                                      <p:cBhvr additive="base">
                                        <p:cTn id="40" dur="1000" fill="hold"/>
                                        <p:tgtEl>
                                          <p:spTgt spid="204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20491">
                                            <p:txEl>
                                              <p:pRg st="2" end="2"/>
                                            </p:txEl>
                                          </p:spTgt>
                                        </p:tgtEl>
                                        <p:attrNameLst>
                                          <p:attrName>style.visibility</p:attrName>
                                        </p:attrNameLst>
                                      </p:cBhvr>
                                      <p:to>
                                        <p:strVal val="visible"/>
                                      </p:to>
                                    </p:set>
                                    <p:anim calcmode="lin" valueType="num">
                                      <p:cBhvr additive="base">
                                        <p:cTn id="45" dur="1000" fill="hold"/>
                                        <p:tgtEl>
                                          <p:spTgt spid="20491">
                                            <p:txEl>
                                              <p:pRg st="2" end="2"/>
                                            </p:txEl>
                                          </p:spTgt>
                                        </p:tgtEl>
                                        <p:attrNameLst>
                                          <p:attrName>ppt_x</p:attrName>
                                        </p:attrNameLst>
                                      </p:cBhvr>
                                      <p:tavLst>
                                        <p:tav tm="0">
                                          <p:val>
                                            <p:strVal val="0-#ppt_w/2"/>
                                          </p:val>
                                        </p:tav>
                                        <p:tav tm="100000">
                                          <p:val>
                                            <p:strVal val="#ppt_x"/>
                                          </p:val>
                                        </p:tav>
                                      </p:tavLst>
                                    </p:anim>
                                    <p:anim calcmode="lin" valueType="num">
                                      <p:cBhvr additive="base">
                                        <p:cTn id="46" dur="1000" fill="hold"/>
                                        <p:tgtEl>
                                          <p:spTgt spid="204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allAtOnce" autoUpdateAnimBg="0"/>
      <p:bldP spid="20486" grpId="0" build="p" autoUpdateAnimBg="0"/>
      <p:bldP spid="20487" grpId="0" build="p" autoUpdateAnimBg="0"/>
      <p:bldP spid="20489" grpId="0" animBg="1"/>
      <p:bldP spid="20490" grpId="0" animBg="1"/>
      <p:bldP spid="20491" grpId="0" build="allAtOnce"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68313" y="260350"/>
            <a:ext cx="7713662" cy="646113"/>
          </a:xfrm>
        </p:spPr>
        <p:txBody>
          <a:bodyPr/>
          <a:lstStyle/>
          <a:p>
            <a:pPr algn="l" eaLnBrk="1" hangingPunct="1"/>
            <a:r>
              <a:rPr lang="zh-CN" altLang="en-US" sz="3600" b="1" smtClean="0">
                <a:effectLst/>
                <a:ea typeface="楷体_GB2312" pitchFamily="49" charset="-122"/>
              </a:rPr>
              <a:t>二、垄断资本主义的发展</a:t>
            </a:r>
          </a:p>
        </p:txBody>
      </p:sp>
      <p:sp>
        <p:nvSpPr>
          <p:cNvPr id="15363" name="Rectangle 3"/>
          <p:cNvSpPr>
            <a:spLocks noGrp="1" noChangeArrowheads="1"/>
          </p:cNvSpPr>
          <p:nvPr>
            <p:ph type="body" idx="1"/>
          </p:nvPr>
        </p:nvSpPr>
        <p:spPr>
          <a:xfrm>
            <a:off x="250825" y="4005263"/>
            <a:ext cx="8713788" cy="2266950"/>
          </a:xfrm>
        </p:spPr>
        <p:txBody>
          <a:bodyPr/>
          <a:lstStyle/>
          <a:p>
            <a:pPr eaLnBrk="1" hangingPunct="1"/>
            <a:endParaRPr lang="zh-CN" altLang="en-US" b="1" smtClean="0"/>
          </a:p>
          <a:p>
            <a:pPr eaLnBrk="1" hangingPunct="1"/>
            <a:endParaRPr lang="zh-CN" altLang="en-US" b="1" smtClean="0"/>
          </a:p>
          <a:p>
            <a:pPr eaLnBrk="1" hangingPunct="1"/>
            <a:endParaRPr lang="zh-CN" altLang="en-US" b="1" smtClean="0"/>
          </a:p>
        </p:txBody>
      </p:sp>
      <p:sp>
        <p:nvSpPr>
          <p:cNvPr id="21508" name="Text Box 4"/>
          <p:cNvSpPr txBox="1">
            <a:spLocks noChangeArrowheads="1"/>
          </p:cNvSpPr>
          <p:nvPr/>
        </p:nvSpPr>
        <p:spPr bwMode="auto">
          <a:xfrm>
            <a:off x="250825" y="981075"/>
            <a:ext cx="8610600" cy="579438"/>
          </a:xfrm>
          <a:prstGeom prst="rect">
            <a:avLst/>
          </a:prstGeom>
          <a:noFill/>
          <a:ln w="76200" cmpd="tri">
            <a:noFill/>
            <a:miter lim="800000"/>
          </a:ln>
        </p:spPr>
        <p:txBody>
          <a:bodyPr>
            <a:spAutoFit/>
          </a:bodyPr>
          <a:lstStyle/>
          <a:p>
            <a:pPr eaLnBrk="1" hangingPunct="1">
              <a:spcBef>
                <a:spcPct val="50000"/>
              </a:spcBef>
            </a:pPr>
            <a:r>
              <a:rPr lang="zh-CN" altLang="en-US" sz="3200">
                <a:solidFill>
                  <a:srgbClr val="0000FF"/>
                </a:solidFill>
              </a:rPr>
              <a:t>原因：</a:t>
            </a:r>
            <a:r>
              <a:rPr lang="zh-CN" altLang="en-US" sz="2800">
                <a:solidFill>
                  <a:srgbClr val="0000FF"/>
                </a:solidFill>
              </a:rPr>
              <a:t>资本主义根本矛盾发展的必然结果</a:t>
            </a:r>
          </a:p>
        </p:txBody>
      </p:sp>
      <p:sp>
        <p:nvSpPr>
          <p:cNvPr id="21510" name="Text Box 6"/>
          <p:cNvSpPr txBox="1">
            <a:spLocks noChangeArrowheads="1"/>
          </p:cNvSpPr>
          <p:nvPr/>
        </p:nvSpPr>
        <p:spPr bwMode="auto">
          <a:xfrm>
            <a:off x="250825" y="2205038"/>
            <a:ext cx="8683625" cy="1260475"/>
          </a:xfrm>
          <a:prstGeom prst="rect">
            <a:avLst/>
          </a:prstGeom>
          <a:noFill/>
          <a:ln w="76200" cmpd="tri">
            <a:noFill/>
            <a:miter lim="800000"/>
          </a:ln>
        </p:spPr>
        <p:txBody>
          <a:bodyPr>
            <a:spAutoFit/>
          </a:bodyPr>
          <a:lstStyle/>
          <a:p>
            <a:pPr eaLnBrk="1" hangingPunct="1">
              <a:spcBef>
                <a:spcPct val="50000"/>
              </a:spcBef>
            </a:pPr>
            <a:r>
              <a:rPr kumimoji="1" lang="en-US" altLang="zh-CN" sz="2800" dirty="0" smtClean="0">
                <a:solidFill>
                  <a:srgbClr val="0000FF"/>
                </a:solidFill>
              </a:rPr>
              <a:t>1.</a:t>
            </a:r>
            <a:r>
              <a:rPr kumimoji="1" lang="zh-CN" altLang="en-US" sz="2800" dirty="0" smtClean="0">
                <a:solidFill>
                  <a:srgbClr val="0000FF"/>
                </a:solidFill>
              </a:rPr>
              <a:t>概念</a:t>
            </a:r>
            <a:r>
              <a:rPr kumimoji="1" lang="zh-CN" altLang="en-US" sz="2800" dirty="0">
                <a:solidFill>
                  <a:srgbClr val="0000FF"/>
                </a:solidFill>
              </a:rPr>
              <a:t>：</a:t>
            </a:r>
            <a:r>
              <a:rPr lang="zh-CN" altLang="en-US" dirty="0"/>
              <a:t>国家垄断资本主义是</a:t>
            </a:r>
            <a:r>
              <a:rPr lang="zh-CN" altLang="en-US" dirty="0">
                <a:solidFill>
                  <a:srgbClr val="0000FF"/>
                </a:solidFill>
              </a:rPr>
              <a:t>国家政权</a:t>
            </a:r>
            <a:r>
              <a:rPr lang="zh-CN" altLang="en-US" dirty="0"/>
              <a:t>和</a:t>
            </a:r>
            <a:r>
              <a:rPr lang="zh-CN" altLang="en-US" dirty="0">
                <a:solidFill>
                  <a:srgbClr val="0000FF"/>
                </a:solidFill>
              </a:rPr>
              <a:t>私人垄断资本</a:t>
            </a:r>
            <a:r>
              <a:rPr lang="zh-CN" altLang="en-US" dirty="0"/>
              <a:t>融合在一起的垄断资本主义。它的产生是垄断资本主义生产关系在自身范围内的</a:t>
            </a:r>
            <a:r>
              <a:rPr lang="zh-CN" altLang="en-US" dirty="0">
                <a:solidFill>
                  <a:srgbClr val="0000FF"/>
                </a:solidFill>
              </a:rPr>
              <a:t>部分质变</a:t>
            </a:r>
            <a:r>
              <a:rPr lang="zh-CN" altLang="en-US" dirty="0"/>
              <a:t>，标志着资本主义发展进入</a:t>
            </a:r>
            <a:r>
              <a:rPr lang="zh-CN" altLang="en-US" dirty="0">
                <a:solidFill>
                  <a:srgbClr val="0000FF"/>
                </a:solidFill>
              </a:rPr>
              <a:t>新阶段</a:t>
            </a:r>
            <a:r>
              <a:rPr lang="zh-CN" altLang="en-US" dirty="0"/>
              <a:t>。</a:t>
            </a:r>
          </a:p>
        </p:txBody>
      </p:sp>
      <p:sp>
        <p:nvSpPr>
          <p:cNvPr id="21513" name="Text Box 9"/>
          <p:cNvSpPr txBox="1">
            <a:spLocks noChangeArrowheads="1"/>
          </p:cNvSpPr>
          <p:nvPr/>
        </p:nvSpPr>
        <p:spPr bwMode="auto">
          <a:xfrm>
            <a:off x="5003800" y="3716338"/>
            <a:ext cx="3673475" cy="1581150"/>
          </a:xfrm>
          <a:prstGeom prst="rect">
            <a:avLst/>
          </a:prstGeom>
          <a:noFill/>
          <a:ln w="28575">
            <a:solidFill>
              <a:schemeClr val="tx2"/>
            </a:solidFill>
            <a:prstDash val="dashDot"/>
            <a:miter lim="800000"/>
          </a:ln>
        </p:spPr>
        <p:txBody>
          <a:bodyPr>
            <a:spAutoFit/>
          </a:bodyPr>
          <a:lstStyle/>
          <a:p>
            <a:pPr eaLnBrk="1" hangingPunct="1">
              <a:spcBef>
                <a:spcPct val="50000"/>
              </a:spcBef>
            </a:pPr>
            <a:r>
              <a:rPr lang="zh-CN" altLang="en-US">
                <a:latin typeface="楷体_GB2312" pitchFamily="49" charset="-122"/>
              </a:rPr>
              <a:t>初步形成时期：</a:t>
            </a:r>
            <a:r>
              <a:rPr lang="en-US" altLang="zh-CN">
                <a:latin typeface="楷体_GB2312" pitchFamily="49" charset="-122"/>
              </a:rPr>
              <a:t>20</a:t>
            </a:r>
            <a:r>
              <a:rPr lang="zh-CN" altLang="en-US">
                <a:latin typeface="楷体_GB2312" pitchFamily="49" charset="-122"/>
              </a:rPr>
              <a:t>世纪</a:t>
            </a:r>
            <a:r>
              <a:rPr lang="en-US" altLang="zh-CN">
                <a:latin typeface="楷体_GB2312" pitchFamily="49" charset="-122"/>
              </a:rPr>
              <a:t>20</a:t>
            </a:r>
            <a:r>
              <a:rPr lang="zh-CN" altLang="en-US">
                <a:latin typeface="楷体_GB2312" pitchFamily="49" charset="-122"/>
              </a:rPr>
              <a:t>年代，二战前后，特别是</a:t>
            </a:r>
            <a:r>
              <a:rPr lang="en-US" altLang="zh-CN">
                <a:latin typeface="楷体_GB2312" pitchFamily="49" charset="-122"/>
              </a:rPr>
              <a:t>1929-1933</a:t>
            </a:r>
            <a:r>
              <a:rPr lang="zh-CN" altLang="en-US">
                <a:latin typeface="楷体_GB2312" pitchFamily="49" charset="-122"/>
              </a:rPr>
              <a:t>年经济危机时期（美国 罗斯福新政）</a:t>
            </a:r>
          </a:p>
        </p:txBody>
      </p:sp>
      <p:sp>
        <p:nvSpPr>
          <p:cNvPr id="21514" name="Text Box 10"/>
          <p:cNvSpPr txBox="1">
            <a:spLocks noChangeArrowheads="1"/>
          </p:cNvSpPr>
          <p:nvPr/>
        </p:nvSpPr>
        <p:spPr bwMode="auto">
          <a:xfrm>
            <a:off x="1116013" y="5734050"/>
            <a:ext cx="3384550" cy="850900"/>
          </a:xfrm>
          <a:prstGeom prst="rect">
            <a:avLst/>
          </a:prstGeom>
          <a:noFill/>
          <a:ln w="28575">
            <a:solidFill>
              <a:schemeClr val="tx2"/>
            </a:solidFill>
            <a:prstDash val="dashDot"/>
            <a:miter lim="800000"/>
          </a:ln>
        </p:spPr>
        <p:txBody>
          <a:bodyPr>
            <a:spAutoFit/>
          </a:bodyPr>
          <a:lstStyle/>
          <a:p>
            <a:pPr eaLnBrk="1" hangingPunct="1">
              <a:spcBef>
                <a:spcPct val="50000"/>
              </a:spcBef>
            </a:pPr>
            <a:r>
              <a:rPr lang="zh-CN" altLang="en-US">
                <a:latin typeface="楷体_GB2312" pitchFamily="49" charset="-122"/>
              </a:rPr>
              <a:t>完成时期：二战结束</a:t>
            </a:r>
            <a:r>
              <a:rPr lang="en-US" altLang="zh-CN">
                <a:latin typeface="楷体_GB2312" pitchFamily="49" charset="-122"/>
              </a:rPr>
              <a:t>-20</a:t>
            </a:r>
            <a:r>
              <a:rPr lang="zh-CN" altLang="en-US">
                <a:latin typeface="楷体_GB2312" pitchFamily="49" charset="-122"/>
              </a:rPr>
              <a:t>世纪</a:t>
            </a:r>
            <a:r>
              <a:rPr lang="en-US" altLang="zh-CN">
                <a:latin typeface="楷体_GB2312" pitchFamily="49" charset="-122"/>
              </a:rPr>
              <a:t>70</a:t>
            </a:r>
            <a:r>
              <a:rPr lang="zh-CN" altLang="en-US">
                <a:latin typeface="楷体_GB2312" pitchFamily="49" charset="-122"/>
              </a:rPr>
              <a:t>年代</a:t>
            </a:r>
          </a:p>
        </p:txBody>
      </p:sp>
      <p:sp>
        <p:nvSpPr>
          <p:cNvPr id="21515" name="Text Box 11"/>
          <p:cNvSpPr txBox="1">
            <a:spLocks noChangeArrowheads="1"/>
          </p:cNvSpPr>
          <p:nvPr/>
        </p:nvSpPr>
        <p:spPr bwMode="auto">
          <a:xfrm>
            <a:off x="5003800" y="5734050"/>
            <a:ext cx="3673475" cy="850900"/>
          </a:xfrm>
          <a:prstGeom prst="rect">
            <a:avLst/>
          </a:prstGeom>
          <a:noFill/>
          <a:ln w="28575">
            <a:solidFill>
              <a:schemeClr val="tx2"/>
            </a:solidFill>
            <a:prstDash val="dashDot"/>
            <a:miter lim="800000"/>
          </a:ln>
        </p:spPr>
        <p:txBody>
          <a:bodyPr>
            <a:spAutoFit/>
          </a:bodyPr>
          <a:lstStyle/>
          <a:p>
            <a:pPr eaLnBrk="1" hangingPunct="1">
              <a:spcBef>
                <a:spcPct val="50000"/>
              </a:spcBef>
            </a:pPr>
            <a:r>
              <a:rPr lang="zh-CN" altLang="en-US">
                <a:latin typeface="楷体_GB2312" pitchFamily="49" charset="-122"/>
              </a:rPr>
              <a:t>调整时期：</a:t>
            </a:r>
            <a:r>
              <a:rPr lang="en-US" altLang="zh-CN">
                <a:latin typeface="楷体_GB2312" pitchFamily="49" charset="-122"/>
              </a:rPr>
              <a:t>20</a:t>
            </a:r>
            <a:r>
              <a:rPr lang="zh-CN" altLang="en-US">
                <a:latin typeface="楷体_GB2312" pitchFamily="49" charset="-122"/>
              </a:rPr>
              <a:t>世纪</a:t>
            </a:r>
            <a:r>
              <a:rPr lang="en-US" altLang="zh-CN">
                <a:latin typeface="楷体_GB2312" pitchFamily="49" charset="-122"/>
              </a:rPr>
              <a:t>70</a:t>
            </a:r>
            <a:r>
              <a:rPr lang="zh-CN" altLang="en-US">
                <a:latin typeface="楷体_GB2312" pitchFamily="49" charset="-122"/>
              </a:rPr>
              <a:t>年代中期以后</a:t>
            </a:r>
          </a:p>
        </p:txBody>
      </p:sp>
      <p:sp>
        <p:nvSpPr>
          <p:cNvPr id="21516" name="Text Box 12"/>
          <p:cNvSpPr txBox="1">
            <a:spLocks noChangeArrowheads="1"/>
          </p:cNvSpPr>
          <p:nvPr/>
        </p:nvSpPr>
        <p:spPr bwMode="auto">
          <a:xfrm>
            <a:off x="323850" y="3789363"/>
            <a:ext cx="611188" cy="1873250"/>
          </a:xfrm>
          <a:prstGeom prst="rect">
            <a:avLst/>
          </a:prstGeom>
          <a:noFill/>
          <a:ln w="28575" algn="ctr">
            <a:noFill/>
            <a:prstDash val="lgDash"/>
            <a:miter lim="800000"/>
          </a:ln>
        </p:spPr>
        <p:txBody>
          <a:bodyPr vert="eaVert">
            <a:spAutoFit/>
          </a:bodyPr>
          <a:lstStyle/>
          <a:p>
            <a:pPr eaLnBrk="1" hangingPunct="1">
              <a:spcBef>
                <a:spcPct val="50000"/>
              </a:spcBef>
            </a:pPr>
            <a:r>
              <a:rPr kumimoji="1" lang="zh-CN" altLang="en-US" sz="2800">
                <a:solidFill>
                  <a:srgbClr val="0000FF"/>
                </a:solidFill>
              </a:rPr>
              <a:t>发展过程</a:t>
            </a:r>
          </a:p>
        </p:txBody>
      </p:sp>
      <p:sp>
        <p:nvSpPr>
          <p:cNvPr id="21517" name="AutoShape 13"/>
          <p:cNvSpPr>
            <a:spLocks noChangeArrowheads="1"/>
          </p:cNvSpPr>
          <p:nvPr/>
        </p:nvSpPr>
        <p:spPr bwMode="auto">
          <a:xfrm>
            <a:off x="4500563" y="4365625"/>
            <a:ext cx="503237" cy="215900"/>
          </a:xfrm>
          <a:prstGeom prst="notchedRightArrow">
            <a:avLst>
              <a:gd name="adj1" fmla="val 50000"/>
              <a:gd name="adj2" fmla="val 58272"/>
            </a:avLst>
          </a:prstGeom>
          <a:noFill/>
          <a:ln w="28575" algn="ctr">
            <a:solidFill>
              <a:schemeClr val="tx2"/>
            </a:solidFill>
            <a:miter lim="800000"/>
          </a:ln>
        </p:spPr>
        <p:txBody>
          <a:bodyPr wrap="none" anchor="ctr">
            <a:spAutoFit/>
          </a:bodyPr>
          <a:lstStyle/>
          <a:p>
            <a:pPr eaLnBrk="1" hangingPunct="1">
              <a:spcBef>
                <a:spcPct val="50000"/>
              </a:spcBef>
            </a:pPr>
            <a:endParaRPr lang="zh-CN" altLang="en-US"/>
          </a:p>
        </p:txBody>
      </p:sp>
      <p:sp>
        <p:nvSpPr>
          <p:cNvPr id="21518" name="AutoShape 14"/>
          <p:cNvSpPr>
            <a:spLocks noChangeArrowheads="1"/>
          </p:cNvSpPr>
          <p:nvPr/>
        </p:nvSpPr>
        <p:spPr bwMode="auto">
          <a:xfrm>
            <a:off x="611188" y="6092825"/>
            <a:ext cx="503237" cy="215900"/>
          </a:xfrm>
          <a:prstGeom prst="notchedRightArrow">
            <a:avLst>
              <a:gd name="adj1" fmla="val 50000"/>
              <a:gd name="adj2" fmla="val 58272"/>
            </a:avLst>
          </a:prstGeom>
          <a:noFill/>
          <a:ln w="28575" algn="ctr">
            <a:solidFill>
              <a:schemeClr val="tx2"/>
            </a:solidFill>
            <a:miter lim="800000"/>
          </a:ln>
        </p:spPr>
        <p:txBody>
          <a:bodyPr wrap="none" anchor="ctr">
            <a:spAutoFit/>
          </a:bodyPr>
          <a:lstStyle/>
          <a:p>
            <a:pPr eaLnBrk="1" hangingPunct="1">
              <a:spcBef>
                <a:spcPct val="50000"/>
              </a:spcBef>
            </a:pPr>
            <a:endParaRPr lang="zh-CN" altLang="en-US"/>
          </a:p>
        </p:txBody>
      </p:sp>
      <p:sp>
        <p:nvSpPr>
          <p:cNvPr id="21519" name="AutoShape 15"/>
          <p:cNvSpPr>
            <a:spLocks noChangeArrowheads="1"/>
          </p:cNvSpPr>
          <p:nvPr/>
        </p:nvSpPr>
        <p:spPr bwMode="auto">
          <a:xfrm>
            <a:off x="4500563" y="6092825"/>
            <a:ext cx="503237" cy="215900"/>
          </a:xfrm>
          <a:prstGeom prst="notchedRightArrow">
            <a:avLst>
              <a:gd name="adj1" fmla="val 50000"/>
              <a:gd name="adj2" fmla="val 58272"/>
            </a:avLst>
          </a:prstGeom>
          <a:noFill/>
          <a:ln w="28575" algn="ctr">
            <a:solidFill>
              <a:schemeClr val="tx2"/>
            </a:solidFill>
            <a:miter lim="800000"/>
          </a:ln>
        </p:spPr>
        <p:txBody>
          <a:bodyPr wrap="none" anchor="ctr">
            <a:spAutoFit/>
          </a:bodyPr>
          <a:lstStyle/>
          <a:p>
            <a:pPr eaLnBrk="1" hangingPunct="1">
              <a:spcBef>
                <a:spcPct val="50000"/>
              </a:spcBef>
            </a:pPr>
            <a:endParaRPr lang="zh-CN" altLang="en-US"/>
          </a:p>
        </p:txBody>
      </p:sp>
      <p:sp>
        <p:nvSpPr>
          <p:cNvPr id="21512" name="Text Box 8"/>
          <p:cNvSpPr txBox="1">
            <a:spLocks noChangeArrowheads="1"/>
          </p:cNvSpPr>
          <p:nvPr/>
        </p:nvSpPr>
        <p:spPr bwMode="auto">
          <a:xfrm>
            <a:off x="1187450" y="3860800"/>
            <a:ext cx="3311525" cy="1216025"/>
          </a:xfrm>
          <a:prstGeom prst="rect">
            <a:avLst/>
          </a:prstGeom>
          <a:noFill/>
          <a:ln w="28575">
            <a:solidFill>
              <a:schemeClr val="tx2"/>
            </a:solidFill>
            <a:prstDash val="dashDot"/>
            <a:miter lim="800000"/>
          </a:ln>
        </p:spPr>
        <p:txBody>
          <a:bodyPr>
            <a:spAutoFit/>
          </a:bodyPr>
          <a:lstStyle/>
          <a:p>
            <a:pPr eaLnBrk="1" hangingPunct="1">
              <a:spcBef>
                <a:spcPct val="50000"/>
              </a:spcBef>
            </a:pPr>
            <a:r>
              <a:rPr lang="zh-CN" altLang="en-US"/>
              <a:t>萌芽时期：一战前后，国民经济军事化的“军事国家垄断资本主义”</a:t>
            </a:r>
          </a:p>
        </p:txBody>
      </p:sp>
      <p:sp>
        <p:nvSpPr>
          <p:cNvPr id="15" name="矩形 799748"/>
          <p:cNvSpPr>
            <a:spLocks noChangeArrowheads="1"/>
          </p:cNvSpPr>
          <p:nvPr/>
        </p:nvSpPr>
        <p:spPr bwMode="auto">
          <a:xfrm>
            <a:off x="357158" y="1643050"/>
            <a:ext cx="6005525" cy="553998"/>
          </a:xfrm>
          <a:prstGeom prst="rect">
            <a:avLst/>
          </a:prstGeom>
          <a:solidFill>
            <a:srgbClr val="CCFFFF"/>
          </a:solidFill>
          <a:ln w="12700">
            <a:solidFill>
              <a:srgbClr val="FF3300"/>
            </a:solidFill>
            <a:miter lim="800000"/>
          </a:ln>
        </p:spPr>
        <p:txBody>
          <a:bodyPr wrap="square">
            <a:spAutoFit/>
          </a:bodyPr>
          <a:lstStyle/>
          <a:p>
            <a:pPr eaLnBrk="1" hangingPunct="1">
              <a:lnSpc>
                <a:spcPct val="125000"/>
              </a:lnSpc>
              <a:spcBef>
                <a:spcPct val="50000"/>
              </a:spcBef>
            </a:pPr>
            <a:r>
              <a:rPr lang="zh-CN" altLang="en-US" dirty="0" smtClean="0">
                <a:solidFill>
                  <a:srgbClr val="0000FF"/>
                </a:solidFill>
                <a:latin typeface="黑体" panose="02010609060101010101" pitchFamily="49" charset="-122"/>
                <a:ea typeface="黑体" panose="02010609060101010101" pitchFamily="49" charset="-122"/>
              </a:rPr>
              <a:t>（一）国家垄断资本主义的形成及作用</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 calcmode="lin" valueType="num">
                                      <p:cBhvr additive="base">
                                        <p:cTn id="7" dur="1000" fill="hold"/>
                                        <p:tgtEl>
                                          <p:spTgt spid="21508">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15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10">
                                            <p:txEl>
                                              <p:pRg st="0" end="0"/>
                                            </p:txEl>
                                          </p:spTgt>
                                        </p:tgtEl>
                                        <p:attrNameLst>
                                          <p:attrName>style.visibility</p:attrName>
                                        </p:attrNameLst>
                                      </p:cBhvr>
                                      <p:to>
                                        <p:strVal val="visible"/>
                                      </p:to>
                                    </p:set>
                                    <p:anim calcmode="lin" valueType="num">
                                      <p:cBhvr additive="base">
                                        <p:cTn id="13" dur="1000" fill="hold"/>
                                        <p:tgtEl>
                                          <p:spTgt spid="21510">
                                            <p:txEl>
                                              <p:pRg st="0" end="0"/>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15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0" presetClass="entr" presetSubtype="0" fill="hold" grpId="0" nodeType="clickEffect">
                                  <p:stCondLst>
                                    <p:cond delay="0"/>
                                  </p:stCondLst>
                                  <p:childTnLst>
                                    <p:set>
                                      <p:cBhvr>
                                        <p:cTn id="18" dur="1" fill="hold">
                                          <p:stCondLst>
                                            <p:cond delay="0"/>
                                          </p:stCondLst>
                                        </p:cTn>
                                        <p:tgtEl>
                                          <p:spTgt spid="21516"/>
                                        </p:tgtEl>
                                        <p:attrNameLst>
                                          <p:attrName>style.visibility</p:attrName>
                                        </p:attrNameLst>
                                      </p:cBhvr>
                                      <p:to>
                                        <p:strVal val="visible"/>
                                      </p:to>
                                    </p:set>
                                    <p:animEffect transition="in" filter="wedge">
                                      <p:cBhvr>
                                        <p:cTn id="19" dur="1000"/>
                                        <p:tgtEl>
                                          <p:spTgt spid="21516"/>
                                        </p:tgtEl>
                                      </p:cBhvr>
                                    </p:animEffect>
                                  </p:childTnLst>
                                </p:cTn>
                              </p:par>
                            </p:childTnLst>
                          </p:cTn>
                        </p:par>
                        <p:par>
                          <p:cTn id="20" fill="hold">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21512">
                                            <p:txEl>
                                              <p:pRg st="0" end="0"/>
                                            </p:txEl>
                                          </p:spTgt>
                                        </p:tgtEl>
                                        <p:attrNameLst>
                                          <p:attrName>style.visibility</p:attrName>
                                        </p:attrNameLst>
                                      </p:cBhvr>
                                      <p:to>
                                        <p:strVal val="visible"/>
                                      </p:to>
                                    </p:set>
                                    <p:animEffect transition="in" filter="dissolve">
                                      <p:cBhvr>
                                        <p:cTn id="23" dur="1000"/>
                                        <p:tgtEl>
                                          <p:spTgt spid="21512">
                                            <p:txEl>
                                              <p:pRg st="0" end="0"/>
                                            </p:txEl>
                                          </p:spTgt>
                                        </p:tgtEl>
                                      </p:cBhvr>
                                    </p:animEffect>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21517"/>
                                        </p:tgtEl>
                                        <p:attrNameLst>
                                          <p:attrName>style.visibility</p:attrName>
                                        </p:attrNameLst>
                                      </p:cBhvr>
                                      <p:to>
                                        <p:strVal val="visible"/>
                                      </p:to>
                                    </p:set>
                                    <p:anim calcmode="lin" valueType="num">
                                      <p:cBhvr additive="base">
                                        <p:cTn id="27" dur="500" fill="hold"/>
                                        <p:tgtEl>
                                          <p:spTgt spid="21517"/>
                                        </p:tgtEl>
                                        <p:attrNameLst>
                                          <p:attrName>ppt_x</p:attrName>
                                        </p:attrNameLst>
                                      </p:cBhvr>
                                      <p:tavLst>
                                        <p:tav tm="0">
                                          <p:val>
                                            <p:strVal val="0-#ppt_w/2"/>
                                          </p:val>
                                        </p:tav>
                                        <p:tav tm="100000">
                                          <p:val>
                                            <p:strVal val="#ppt_x"/>
                                          </p:val>
                                        </p:tav>
                                      </p:tavLst>
                                    </p:anim>
                                    <p:anim calcmode="lin" valueType="num">
                                      <p:cBhvr additive="base">
                                        <p:cTn id="28" dur="500" fill="hold"/>
                                        <p:tgtEl>
                                          <p:spTgt spid="21517"/>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grpId="0" nodeType="afterEffect">
                                  <p:stCondLst>
                                    <p:cond delay="0"/>
                                  </p:stCondLst>
                                  <p:childTnLst>
                                    <p:set>
                                      <p:cBhvr>
                                        <p:cTn id="31" dur="1" fill="hold">
                                          <p:stCondLst>
                                            <p:cond delay="0"/>
                                          </p:stCondLst>
                                        </p:cTn>
                                        <p:tgtEl>
                                          <p:spTgt spid="21513">
                                            <p:txEl>
                                              <p:pRg st="0" end="0"/>
                                            </p:txEl>
                                          </p:spTgt>
                                        </p:tgtEl>
                                        <p:attrNameLst>
                                          <p:attrName>style.visibility</p:attrName>
                                        </p:attrNameLst>
                                      </p:cBhvr>
                                      <p:to>
                                        <p:strVal val="visible"/>
                                      </p:to>
                                    </p:set>
                                    <p:anim calcmode="lin" valueType="num">
                                      <p:cBhvr additive="base">
                                        <p:cTn id="32" dur="500" fill="hold"/>
                                        <p:tgtEl>
                                          <p:spTgt spid="21513">
                                            <p:txEl>
                                              <p:pRg st="0" end="0"/>
                                            </p:txEl>
                                          </p:spTgt>
                                        </p:tgtEl>
                                        <p:attrNameLst>
                                          <p:attrName>ppt_x</p:attrName>
                                        </p:attrNameLst>
                                      </p:cBhvr>
                                      <p:tavLst>
                                        <p:tav tm="0">
                                          <p:val>
                                            <p:strVal val="1+#ppt_w/2"/>
                                          </p:val>
                                        </p:tav>
                                        <p:tav tm="100000">
                                          <p:val>
                                            <p:strVal val="#ppt_x"/>
                                          </p:val>
                                        </p:tav>
                                      </p:tavLst>
                                    </p:anim>
                                    <p:anim calcmode="lin" valueType="num">
                                      <p:cBhvr additive="base">
                                        <p:cTn id="33" dur="500" fill="hold"/>
                                        <p:tgtEl>
                                          <p:spTgt spid="21513">
                                            <p:txEl>
                                              <p:pRg st="0" end="0"/>
                                            </p:txEl>
                                          </p:spTgt>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21518"/>
                                        </p:tgtEl>
                                        <p:attrNameLst>
                                          <p:attrName>style.visibility</p:attrName>
                                        </p:attrNameLst>
                                      </p:cBhvr>
                                      <p:to>
                                        <p:strVal val="visible"/>
                                      </p:to>
                                    </p:set>
                                    <p:anim calcmode="lin" valueType="num">
                                      <p:cBhvr additive="base">
                                        <p:cTn id="37" dur="500" fill="hold"/>
                                        <p:tgtEl>
                                          <p:spTgt spid="21518"/>
                                        </p:tgtEl>
                                        <p:attrNameLst>
                                          <p:attrName>ppt_x</p:attrName>
                                        </p:attrNameLst>
                                      </p:cBhvr>
                                      <p:tavLst>
                                        <p:tav tm="0">
                                          <p:val>
                                            <p:strVal val="0-#ppt_w/2"/>
                                          </p:val>
                                        </p:tav>
                                        <p:tav tm="100000">
                                          <p:val>
                                            <p:strVal val="#ppt_x"/>
                                          </p:val>
                                        </p:tav>
                                      </p:tavLst>
                                    </p:anim>
                                    <p:anim calcmode="lin" valueType="num">
                                      <p:cBhvr additive="base">
                                        <p:cTn id="38" dur="500" fill="hold"/>
                                        <p:tgtEl>
                                          <p:spTgt spid="21518"/>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21514">
                                            <p:txEl>
                                              <p:pRg st="0" end="0"/>
                                            </p:txEl>
                                          </p:spTgt>
                                        </p:tgtEl>
                                        <p:attrNameLst>
                                          <p:attrName>style.visibility</p:attrName>
                                        </p:attrNameLst>
                                      </p:cBhvr>
                                      <p:to>
                                        <p:strVal val="visible"/>
                                      </p:to>
                                    </p:set>
                                    <p:anim calcmode="lin" valueType="num">
                                      <p:cBhvr additive="base">
                                        <p:cTn id="42" dur="500" fill="hold"/>
                                        <p:tgtEl>
                                          <p:spTgt spid="21514">
                                            <p:txEl>
                                              <p:pRg st="0" end="0"/>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21514">
                                            <p:txEl>
                                              <p:pRg st="0" end="0"/>
                                            </p:txEl>
                                          </p:spTgt>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8" fill="hold" grpId="0" nodeType="afterEffect">
                                  <p:stCondLst>
                                    <p:cond delay="0"/>
                                  </p:stCondLst>
                                  <p:childTnLst>
                                    <p:set>
                                      <p:cBhvr>
                                        <p:cTn id="46" dur="1" fill="hold">
                                          <p:stCondLst>
                                            <p:cond delay="0"/>
                                          </p:stCondLst>
                                        </p:cTn>
                                        <p:tgtEl>
                                          <p:spTgt spid="21519"/>
                                        </p:tgtEl>
                                        <p:attrNameLst>
                                          <p:attrName>style.visibility</p:attrName>
                                        </p:attrNameLst>
                                      </p:cBhvr>
                                      <p:to>
                                        <p:strVal val="visible"/>
                                      </p:to>
                                    </p:set>
                                    <p:anim calcmode="lin" valueType="num">
                                      <p:cBhvr additive="base">
                                        <p:cTn id="47" dur="500" fill="hold"/>
                                        <p:tgtEl>
                                          <p:spTgt spid="21519"/>
                                        </p:tgtEl>
                                        <p:attrNameLst>
                                          <p:attrName>ppt_x</p:attrName>
                                        </p:attrNameLst>
                                      </p:cBhvr>
                                      <p:tavLst>
                                        <p:tav tm="0">
                                          <p:val>
                                            <p:strVal val="0-#ppt_w/2"/>
                                          </p:val>
                                        </p:tav>
                                        <p:tav tm="100000">
                                          <p:val>
                                            <p:strVal val="#ppt_x"/>
                                          </p:val>
                                        </p:tav>
                                      </p:tavLst>
                                    </p:anim>
                                    <p:anim calcmode="lin" valueType="num">
                                      <p:cBhvr additive="base">
                                        <p:cTn id="48" dur="500" fill="hold"/>
                                        <p:tgtEl>
                                          <p:spTgt spid="21519"/>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5" presetClass="entr" presetSubtype="10" fill="hold" grpId="0" nodeType="afterEffect">
                                  <p:stCondLst>
                                    <p:cond delay="0"/>
                                  </p:stCondLst>
                                  <p:childTnLst>
                                    <p:set>
                                      <p:cBhvr>
                                        <p:cTn id="51" dur="1" fill="hold">
                                          <p:stCondLst>
                                            <p:cond delay="0"/>
                                          </p:stCondLst>
                                        </p:cTn>
                                        <p:tgtEl>
                                          <p:spTgt spid="21515">
                                            <p:txEl>
                                              <p:pRg st="0" end="0"/>
                                            </p:txEl>
                                          </p:spTgt>
                                        </p:tgtEl>
                                        <p:attrNameLst>
                                          <p:attrName>style.visibility</p:attrName>
                                        </p:attrNameLst>
                                      </p:cBhvr>
                                      <p:to>
                                        <p:strVal val="visible"/>
                                      </p:to>
                                    </p:set>
                                    <p:animEffect transition="in" filter="checkerboard(across)">
                                      <p:cBhvr>
                                        <p:cTn id="52" dur="500"/>
                                        <p:tgtEl>
                                          <p:spTgt spid="215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build="p" autoUpdateAnimBg="0"/>
      <p:bldP spid="21510" grpId="0" build="p" autoUpdateAnimBg="0"/>
      <p:bldP spid="21513" grpId="0" build="p" autoUpdateAnimBg="0"/>
      <p:bldP spid="21514" grpId="0" build="p" autoUpdateAnimBg="0"/>
      <p:bldP spid="21515" grpId="0" build="p" autoUpdateAnimBg="0"/>
      <p:bldP spid="21516" grpId="0"/>
      <p:bldP spid="21517" grpId="0" animBg="1"/>
      <p:bldP spid="21518" grpId="0" animBg="1"/>
      <p:bldP spid="21519" grpId="0" animBg="1"/>
      <p:bldP spid="21512"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85720" y="214290"/>
            <a:ext cx="8501063" cy="611209"/>
          </a:xfrm>
        </p:spPr>
        <p:txBody>
          <a:bodyPr/>
          <a:lstStyle/>
          <a:p>
            <a:pPr algn="l" eaLnBrk="1" hangingPunct="1"/>
            <a:r>
              <a:rPr lang="en-US" altLang="zh-CN" sz="3200" b="1" dirty="0" smtClean="0">
                <a:solidFill>
                  <a:srgbClr val="0000FF"/>
                </a:solidFill>
                <a:effectLst/>
                <a:latin typeface="楷体" panose="02010609060101010101" pitchFamily="49" charset="-122"/>
                <a:ea typeface="楷体" panose="02010609060101010101" pitchFamily="49" charset="-122"/>
              </a:rPr>
              <a:t>2.</a:t>
            </a:r>
            <a:r>
              <a:rPr lang="zh-CN" altLang="en-US" sz="3200" b="1" dirty="0" smtClean="0">
                <a:solidFill>
                  <a:srgbClr val="0000FF"/>
                </a:solidFill>
                <a:effectLst/>
                <a:latin typeface="楷体" panose="02010609060101010101" pitchFamily="49" charset="-122"/>
                <a:ea typeface="楷体" panose="02010609060101010101" pitchFamily="49" charset="-122"/>
              </a:rPr>
              <a:t>国家垄断资本主义形成和发展的原因</a:t>
            </a:r>
          </a:p>
        </p:txBody>
      </p:sp>
      <p:sp>
        <p:nvSpPr>
          <p:cNvPr id="16387" name="Rectangle 3"/>
          <p:cNvSpPr>
            <a:spLocks noGrp="1" noChangeArrowheads="1"/>
          </p:cNvSpPr>
          <p:nvPr>
            <p:ph type="body" idx="1"/>
          </p:nvPr>
        </p:nvSpPr>
        <p:spPr>
          <a:xfrm>
            <a:off x="395288" y="1341438"/>
            <a:ext cx="8221662" cy="4902200"/>
          </a:xfrm>
        </p:spPr>
        <p:txBody>
          <a:bodyPr/>
          <a:lstStyle/>
          <a:p>
            <a:pPr eaLnBrk="1" hangingPunct="1"/>
            <a:endParaRPr lang="zh-CN" altLang="en-US" b="1" smtClean="0">
              <a:latin typeface="宋体" panose="02010600030101010101" pitchFamily="2" charset="-122"/>
            </a:endParaRPr>
          </a:p>
          <a:p>
            <a:pPr eaLnBrk="1" hangingPunct="1"/>
            <a:endParaRPr lang="zh-CN" altLang="en-US" b="1" smtClean="0">
              <a:latin typeface="宋体" panose="02010600030101010101" pitchFamily="2" charset="-122"/>
            </a:endParaRPr>
          </a:p>
          <a:p>
            <a:pPr eaLnBrk="1" hangingPunct="1"/>
            <a:endParaRPr lang="zh-CN" altLang="en-US" b="1" smtClean="0">
              <a:latin typeface="宋体" panose="02010600030101010101" pitchFamily="2" charset="-122"/>
            </a:endParaRPr>
          </a:p>
          <a:p>
            <a:pPr eaLnBrk="1" hangingPunct="1"/>
            <a:endParaRPr lang="zh-CN" altLang="en-US" b="1" smtClean="0">
              <a:latin typeface="宋体" panose="02010600030101010101" pitchFamily="2" charset="-122"/>
            </a:endParaRPr>
          </a:p>
        </p:txBody>
      </p:sp>
      <p:sp>
        <p:nvSpPr>
          <p:cNvPr id="22533" name="Text Box 5"/>
          <p:cNvSpPr txBox="1">
            <a:spLocks noChangeArrowheads="1"/>
          </p:cNvSpPr>
          <p:nvPr/>
        </p:nvSpPr>
        <p:spPr bwMode="auto">
          <a:xfrm>
            <a:off x="250825" y="1052513"/>
            <a:ext cx="8683625" cy="829945"/>
          </a:xfrm>
          <a:prstGeom prst="rect">
            <a:avLst/>
          </a:prstGeom>
          <a:noFill/>
          <a:ln w="76200" cmpd="tri">
            <a:noFill/>
            <a:miter lim="800000"/>
          </a:ln>
        </p:spPr>
        <p:txBody>
          <a:bodyPr>
            <a:spAutoFit/>
          </a:bodyPr>
          <a:lstStyle/>
          <a:p>
            <a:pPr eaLnBrk="1" hangingPunct="1">
              <a:spcBef>
                <a:spcPct val="50000"/>
              </a:spcBef>
            </a:pPr>
            <a:r>
              <a:rPr kumimoji="1" lang="zh-CN" altLang="en-US" dirty="0">
                <a:latin typeface="楷体" panose="02010609060101010101" pitchFamily="49" charset="-122"/>
                <a:ea typeface="楷体" panose="02010609060101010101" pitchFamily="49" charset="-122"/>
              </a:rPr>
              <a:t>科技进步和生产社会化程度进一步提高的产物，是资本主义基本矛盾进一步尖锐化的必然结果。</a:t>
            </a:r>
          </a:p>
        </p:txBody>
      </p:sp>
      <p:sp>
        <p:nvSpPr>
          <p:cNvPr id="22535" name="Text Box 7"/>
          <p:cNvSpPr txBox="1">
            <a:spLocks noChangeArrowheads="1"/>
          </p:cNvSpPr>
          <p:nvPr/>
        </p:nvSpPr>
        <p:spPr bwMode="auto">
          <a:xfrm>
            <a:off x="250825" y="2349500"/>
            <a:ext cx="8683625" cy="829945"/>
          </a:xfrm>
          <a:prstGeom prst="rect">
            <a:avLst/>
          </a:prstGeom>
          <a:noFill/>
          <a:ln w="76200" cmpd="tri">
            <a:noFill/>
            <a:miter lim="800000"/>
          </a:ln>
        </p:spPr>
        <p:txBody>
          <a:bodyPr>
            <a:spAutoFit/>
          </a:bodyPr>
          <a:lstStyle/>
          <a:p>
            <a:pPr eaLnBrk="1" hangingPunct="1">
              <a:spcBef>
                <a:spcPct val="50000"/>
              </a:spcBef>
            </a:pPr>
            <a:r>
              <a:rPr kumimoji="1" lang="zh-CN" altLang="en-US" dirty="0">
                <a:latin typeface="楷体" panose="02010609060101010101" pitchFamily="49" charset="-122"/>
                <a:ea typeface="楷体" panose="02010609060101010101" pitchFamily="49" charset="-122"/>
              </a:rPr>
              <a:t>首先，社会生产力的发展，要求资本主义生产资料在更大范围内被支配，从而促进了国家垄断资本主义的产生。</a:t>
            </a:r>
          </a:p>
        </p:txBody>
      </p:sp>
      <p:sp>
        <p:nvSpPr>
          <p:cNvPr id="22536" name="Text Box 8"/>
          <p:cNvSpPr txBox="1">
            <a:spLocks noChangeArrowheads="1"/>
          </p:cNvSpPr>
          <p:nvPr/>
        </p:nvSpPr>
        <p:spPr bwMode="auto">
          <a:xfrm>
            <a:off x="216535" y="3501390"/>
            <a:ext cx="8683625" cy="1753235"/>
          </a:xfrm>
          <a:prstGeom prst="rect">
            <a:avLst/>
          </a:prstGeom>
          <a:noFill/>
          <a:ln w="76200" cmpd="tri">
            <a:noFill/>
            <a:miter lim="800000"/>
          </a:ln>
        </p:spPr>
        <p:txBody>
          <a:bodyPr>
            <a:spAutoFit/>
          </a:bodyPr>
          <a:lstStyle/>
          <a:p>
            <a:pPr eaLnBrk="1" hangingPunct="1">
              <a:spcBef>
                <a:spcPct val="50000"/>
              </a:spcBef>
            </a:pPr>
            <a:r>
              <a:rPr kumimoji="1" lang="zh-CN" altLang="en-US" dirty="0">
                <a:latin typeface="楷体" panose="02010609060101010101" pitchFamily="49" charset="-122"/>
                <a:ea typeface="楷体" panose="02010609060101010101" pitchFamily="49" charset="-122"/>
              </a:rPr>
              <a:t>其次，经济波动和经济危机的深化，推动国家垄断资本主义的产生。</a:t>
            </a:r>
          </a:p>
          <a:p>
            <a:pPr eaLnBrk="1" hangingPunct="1">
              <a:spcBef>
                <a:spcPct val="50000"/>
              </a:spcBef>
            </a:pPr>
            <a:r>
              <a:rPr kumimoji="1" lang="zh-CN" altLang="en-US" dirty="0">
                <a:latin typeface="楷体" panose="02010609060101010101" pitchFamily="49" charset="-122"/>
                <a:ea typeface="楷体" panose="02010609060101010101" pitchFamily="49" charset="-122"/>
              </a:rPr>
              <a:t>最后，缓和社会矛盾，协调利益关系的需求，促使国家垄断资本主义的产生。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anim calcmode="lin" valueType="num">
                                      <p:cBhvr additive="base">
                                        <p:cTn id="7" dur="1000" fill="hold"/>
                                        <p:tgtEl>
                                          <p:spTgt spid="2253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2253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5">
                                            <p:txEl>
                                              <p:pRg st="0" end="0"/>
                                            </p:txEl>
                                          </p:spTgt>
                                        </p:tgtEl>
                                        <p:attrNameLst>
                                          <p:attrName>style.visibility</p:attrName>
                                        </p:attrNameLst>
                                      </p:cBhvr>
                                      <p:to>
                                        <p:strVal val="visible"/>
                                      </p:to>
                                    </p:set>
                                    <p:anim calcmode="lin" valueType="num">
                                      <p:cBhvr additive="base">
                                        <p:cTn id="13" dur="1000" fill="hold"/>
                                        <p:tgtEl>
                                          <p:spTgt spid="22535">
                                            <p:txEl>
                                              <p:pRg st="0" end="0"/>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225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6">
                                            <p:txEl>
                                              <p:pRg st="0" end="0"/>
                                            </p:txEl>
                                          </p:spTgt>
                                        </p:tgtEl>
                                        <p:attrNameLst>
                                          <p:attrName>style.visibility</p:attrName>
                                        </p:attrNameLst>
                                      </p:cBhvr>
                                      <p:to>
                                        <p:strVal val="visible"/>
                                      </p:to>
                                    </p:set>
                                    <p:anim calcmode="lin" valueType="num">
                                      <p:cBhvr additive="base">
                                        <p:cTn id="19" dur="1000" fill="hold"/>
                                        <p:tgtEl>
                                          <p:spTgt spid="22536">
                                            <p:txEl>
                                              <p:pRg st="0" end="0"/>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225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6">
                                            <p:txEl>
                                              <p:pRg st="1" end="1"/>
                                            </p:txEl>
                                          </p:spTgt>
                                        </p:tgtEl>
                                        <p:attrNameLst>
                                          <p:attrName>style.visibility</p:attrName>
                                        </p:attrNameLst>
                                      </p:cBhvr>
                                      <p:to>
                                        <p:strVal val="visible"/>
                                      </p:to>
                                    </p:set>
                                    <p:anim calcmode="lin" valueType="num">
                                      <p:cBhvr additive="base">
                                        <p:cTn id="25" dur="1000" fill="hold"/>
                                        <p:tgtEl>
                                          <p:spTgt spid="22536">
                                            <p:txEl>
                                              <p:pRg st="1" end="1"/>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253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uild="p" autoUpdateAnimBg="0"/>
      <p:bldP spid="22535" grpId="0" build="p" autoUpdateAnimBg="0"/>
      <p:bldP spid="22536"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850" y="188913"/>
            <a:ext cx="7851775" cy="649287"/>
          </a:xfrm>
        </p:spPr>
        <p:txBody>
          <a:bodyPr/>
          <a:lstStyle/>
          <a:p>
            <a:pPr algn="l" eaLnBrk="1" hangingPunct="1"/>
            <a:r>
              <a:rPr lang="en-US" altLang="zh-CN" sz="3200" b="1" dirty="0" smtClean="0">
                <a:solidFill>
                  <a:srgbClr val="0000FF"/>
                </a:solidFill>
                <a:effectLst/>
                <a:latin typeface="楷体" panose="02010609060101010101" pitchFamily="49" charset="-122"/>
                <a:ea typeface="楷体" panose="02010609060101010101" pitchFamily="49" charset="-122"/>
              </a:rPr>
              <a:t>3.</a:t>
            </a:r>
            <a:r>
              <a:rPr lang="zh-CN" altLang="en-US" sz="3200" b="1" dirty="0" smtClean="0">
                <a:solidFill>
                  <a:srgbClr val="0000FF"/>
                </a:solidFill>
                <a:effectLst/>
                <a:latin typeface="楷体" panose="02010609060101010101" pitchFamily="49" charset="-122"/>
                <a:ea typeface="楷体" panose="02010609060101010101" pitchFamily="49" charset="-122"/>
              </a:rPr>
              <a:t>国家垄断资本主义的主要形式</a:t>
            </a:r>
          </a:p>
        </p:txBody>
      </p:sp>
      <p:sp>
        <p:nvSpPr>
          <p:cNvPr id="27652" name="Text Box 4"/>
          <p:cNvSpPr txBox="1">
            <a:spLocks noChangeArrowheads="1"/>
          </p:cNvSpPr>
          <p:nvPr/>
        </p:nvSpPr>
        <p:spPr bwMode="auto">
          <a:xfrm>
            <a:off x="285750" y="1000125"/>
            <a:ext cx="7821613" cy="461963"/>
          </a:xfrm>
          <a:prstGeom prst="rect">
            <a:avLst/>
          </a:prstGeom>
          <a:noFill/>
          <a:ln w="28575" algn="ctr">
            <a:noFill/>
            <a:prstDash val="dashDot"/>
            <a:miter lim="800000"/>
          </a:ln>
        </p:spPr>
        <p:txBody>
          <a:bodyPr>
            <a:spAutoFit/>
          </a:bodyPr>
          <a:lstStyle/>
          <a:p>
            <a:pPr eaLnBrk="1" hangingPunct="1">
              <a:spcBef>
                <a:spcPct val="50000"/>
              </a:spcBef>
            </a:pPr>
            <a:r>
              <a:rPr lang="en-US" altLang="zh-CN" dirty="0" smtClean="0">
                <a:latin typeface="楷体" panose="02010609060101010101" pitchFamily="49" charset="-122"/>
                <a:ea typeface="楷体" panose="02010609060101010101" pitchFamily="49" charset="-122"/>
              </a:rPr>
              <a:t>1</a:t>
            </a:r>
            <a:r>
              <a:rPr lang="zh-CN" altLang="en-US" dirty="0" smtClean="0">
                <a:latin typeface="楷体" panose="02010609060101010101" pitchFamily="49" charset="-122"/>
                <a:ea typeface="楷体" panose="02010609060101010101" pitchFamily="49" charset="-122"/>
              </a:rPr>
              <a:t>）国家</a:t>
            </a:r>
            <a:r>
              <a:rPr lang="zh-CN" altLang="en-US" dirty="0">
                <a:latin typeface="楷体" panose="02010609060101010101" pitchFamily="49" charset="-122"/>
                <a:ea typeface="楷体" panose="02010609060101010101" pitchFamily="49" charset="-122"/>
              </a:rPr>
              <a:t>所有并直接经营的企业，国有企业是其组织形式</a:t>
            </a:r>
          </a:p>
        </p:txBody>
      </p:sp>
      <p:sp>
        <p:nvSpPr>
          <p:cNvPr id="27653" name="Text Box 5"/>
          <p:cNvSpPr txBox="1">
            <a:spLocks noChangeArrowheads="1"/>
          </p:cNvSpPr>
          <p:nvPr/>
        </p:nvSpPr>
        <p:spPr bwMode="auto">
          <a:xfrm>
            <a:off x="285750" y="1500188"/>
            <a:ext cx="4929188" cy="461962"/>
          </a:xfrm>
          <a:prstGeom prst="rect">
            <a:avLst/>
          </a:prstGeom>
          <a:noFill/>
          <a:ln w="28575" algn="ctr">
            <a:noFill/>
            <a:prstDash val="dashDot"/>
            <a:miter lim="800000"/>
          </a:ln>
        </p:spPr>
        <p:txBody>
          <a:bodyPr>
            <a:spAutoFit/>
          </a:bodyPr>
          <a:lstStyle/>
          <a:p>
            <a:pPr eaLnBrk="1" hangingPunct="1">
              <a:spcBef>
                <a:spcPct val="50000"/>
              </a:spcBef>
            </a:pPr>
            <a:r>
              <a:rPr lang="en-US" altLang="zh-CN" dirty="0" smtClean="0">
                <a:latin typeface="楷体" panose="02010609060101010101" pitchFamily="49" charset="-122"/>
                <a:ea typeface="楷体" panose="02010609060101010101" pitchFamily="49" charset="-122"/>
              </a:rPr>
              <a:t>2</a:t>
            </a:r>
            <a:r>
              <a:rPr lang="zh-CN" altLang="en-US" dirty="0" smtClean="0">
                <a:latin typeface="楷体" panose="02010609060101010101" pitchFamily="49" charset="-122"/>
                <a:ea typeface="楷体" panose="02010609060101010101" pitchFamily="49" charset="-122"/>
              </a:rPr>
              <a:t>）国家</a:t>
            </a:r>
            <a:r>
              <a:rPr lang="zh-CN" altLang="en-US" dirty="0">
                <a:latin typeface="楷体" panose="02010609060101010101" pitchFamily="49" charset="-122"/>
                <a:ea typeface="楷体" panose="02010609060101010101" pitchFamily="49" charset="-122"/>
              </a:rPr>
              <a:t>和私人共有、合营企业</a:t>
            </a:r>
          </a:p>
        </p:txBody>
      </p:sp>
      <p:sp>
        <p:nvSpPr>
          <p:cNvPr id="27654" name="Text Box 6"/>
          <p:cNvSpPr txBox="1">
            <a:spLocks noChangeArrowheads="1"/>
          </p:cNvSpPr>
          <p:nvPr/>
        </p:nvSpPr>
        <p:spPr bwMode="auto">
          <a:xfrm>
            <a:off x="285750" y="2071688"/>
            <a:ext cx="8031163" cy="461962"/>
          </a:xfrm>
          <a:prstGeom prst="rect">
            <a:avLst/>
          </a:prstGeom>
          <a:noFill/>
          <a:ln w="28575" algn="ctr">
            <a:noFill/>
            <a:prstDash val="dashDot"/>
            <a:miter lim="800000"/>
          </a:ln>
        </p:spPr>
        <p:txBody>
          <a:bodyPr>
            <a:spAutoFit/>
          </a:bodyPr>
          <a:lstStyle/>
          <a:p>
            <a:pPr eaLnBrk="1" hangingPunct="1">
              <a:spcBef>
                <a:spcPct val="50000"/>
              </a:spcBef>
            </a:pPr>
            <a:r>
              <a:rPr lang="en-US" altLang="zh-CN" dirty="0" smtClean="0">
                <a:latin typeface="楷体" panose="02010609060101010101" pitchFamily="49" charset="-122"/>
                <a:ea typeface="楷体" panose="02010609060101010101" pitchFamily="49" charset="-122"/>
              </a:rPr>
              <a:t>3</a:t>
            </a:r>
            <a:r>
              <a:rPr lang="zh-CN" altLang="en-US" dirty="0" smtClean="0">
                <a:latin typeface="楷体" panose="02010609060101010101" pitchFamily="49" charset="-122"/>
                <a:ea typeface="楷体" panose="02010609060101010101" pitchFamily="49" charset="-122"/>
              </a:rPr>
              <a:t>）国家</a:t>
            </a:r>
            <a:r>
              <a:rPr lang="zh-CN" altLang="en-US" dirty="0">
                <a:latin typeface="楷体" panose="02010609060101010101" pitchFamily="49" charset="-122"/>
                <a:ea typeface="楷体" panose="02010609060101010101" pitchFamily="49" charset="-122"/>
              </a:rPr>
              <a:t>通过多种形式参与私人垄断资本的再生产过程</a:t>
            </a:r>
          </a:p>
        </p:txBody>
      </p:sp>
      <p:sp>
        <p:nvSpPr>
          <p:cNvPr id="27658" name="Text Box 10"/>
          <p:cNvSpPr txBox="1">
            <a:spLocks noChangeArrowheads="1"/>
          </p:cNvSpPr>
          <p:nvPr/>
        </p:nvSpPr>
        <p:spPr bwMode="auto">
          <a:xfrm>
            <a:off x="2571750" y="2571750"/>
            <a:ext cx="6138545" cy="706755"/>
          </a:xfrm>
          <a:prstGeom prst="rect">
            <a:avLst/>
          </a:prstGeom>
          <a:noFill/>
          <a:ln w="28575" algn="ctr">
            <a:solidFill>
              <a:schemeClr val="tx1"/>
            </a:solidFill>
            <a:prstDash val="dashDot"/>
            <a:miter lim="800000"/>
          </a:ln>
        </p:spPr>
        <p:txBody>
          <a:bodyPr wrap="square">
            <a:spAutoFit/>
          </a:bodyPr>
          <a:lstStyle/>
          <a:p>
            <a:pPr eaLnBrk="1" hangingPunct="1">
              <a:spcBef>
                <a:spcPct val="50000"/>
              </a:spcBef>
            </a:pPr>
            <a:r>
              <a:rPr lang="zh-CN" altLang="en-US" sz="2000"/>
              <a:t>国家运用财政政策、货币政策等经济手段，对社会总供给和总需求进行调节，以实现经济快速增长</a:t>
            </a:r>
          </a:p>
        </p:txBody>
      </p:sp>
      <p:sp>
        <p:nvSpPr>
          <p:cNvPr id="27659" name="Text Box 11"/>
          <p:cNvSpPr txBox="1">
            <a:spLocks noChangeArrowheads="1"/>
          </p:cNvSpPr>
          <p:nvPr/>
        </p:nvSpPr>
        <p:spPr bwMode="auto">
          <a:xfrm>
            <a:off x="2571750" y="3357880"/>
            <a:ext cx="6146800" cy="706755"/>
          </a:xfrm>
          <a:prstGeom prst="rect">
            <a:avLst/>
          </a:prstGeom>
          <a:noFill/>
          <a:ln w="28575" algn="ctr">
            <a:solidFill>
              <a:schemeClr val="tx1"/>
            </a:solidFill>
            <a:prstDash val="dashDot"/>
            <a:miter lim="800000"/>
          </a:ln>
        </p:spPr>
        <p:txBody>
          <a:bodyPr wrap="square">
            <a:spAutoFit/>
          </a:bodyPr>
          <a:lstStyle/>
          <a:p>
            <a:pPr eaLnBrk="1" hangingPunct="1">
              <a:spcBef>
                <a:spcPct val="50000"/>
              </a:spcBef>
            </a:pPr>
            <a:r>
              <a:rPr lang="zh-CN" altLang="en-US" sz="2000"/>
              <a:t>国家运用法律手段规范市场秩序，限制垄断，保护竞争，维护社会公众的合法利益。</a:t>
            </a:r>
          </a:p>
        </p:txBody>
      </p:sp>
      <p:sp>
        <p:nvSpPr>
          <p:cNvPr id="13" name="Text Box 5"/>
          <p:cNvSpPr txBox="1">
            <a:spLocks noChangeArrowheads="1"/>
          </p:cNvSpPr>
          <p:nvPr/>
        </p:nvSpPr>
        <p:spPr bwMode="auto">
          <a:xfrm>
            <a:off x="285750" y="2714625"/>
            <a:ext cx="1928813" cy="461963"/>
          </a:xfrm>
          <a:prstGeom prst="rect">
            <a:avLst/>
          </a:prstGeom>
          <a:noFill/>
          <a:ln w="28575" algn="ctr">
            <a:noFill/>
            <a:prstDash val="dashDot"/>
            <a:miter lim="800000"/>
          </a:ln>
        </p:spPr>
        <p:txBody>
          <a:bodyPr>
            <a:spAutoFit/>
          </a:bodyPr>
          <a:lstStyle/>
          <a:p>
            <a:pPr eaLnBrk="1" hangingPunct="1">
              <a:spcBef>
                <a:spcPct val="50000"/>
              </a:spcBef>
            </a:pPr>
            <a:r>
              <a:rPr lang="en-US" altLang="zh-CN" dirty="0" smtClean="0">
                <a:latin typeface="楷体" panose="02010609060101010101" pitchFamily="49" charset="-122"/>
                <a:ea typeface="楷体" panose="02010609060101010101" pitchFamily="49" charset="-122"/>
              </a:rPr>
              <a:t>4</a:t>
            </a:r>
            <a:r>
              <a:rPr lang="zh-CN" altLang="en-US" dirty="0" smtClean="0">
                <a:latin typeface="楷体" panose="02010609060101010101" pitchFamily="49" charset="-122"/>
                <a:ea typeface="楷体" panose="02010609060101010101" pitchFamily="49" charset="-122"/>
              </a:rPr>
              <a:t>）宏观</a:t>
            </a:r>
            <a:r>
              <a:rPr lang="zh-CN" altLang="en-US" dirty="0">
                <a:latin typeface="楷体" panose="02010609060101010101" pitchFamily="49" charset="-122"/>
                <a:ea typeface="楷体" panose="02010609060101010101" pitchFamily="49" charset="-122"/>
              </a:rPr>
              <a:t>调节</a:t>
            </a:r>
          </a:p>
        </p:txBody>
      </p:sp>
      <p:sp>
        <p:nvSpPr>
          <p:cNvPr id="14" name="Text Box 5"/>
          <p:cNvSpPr txBox="1">
            <a:spLocks noChangeArrowheads="1"/>
          </p:cNvSpPr>
          <p:nvPr/>
        </p:nvSpPr>
        <p:spPr bwMode="auto">
          <a:xfrm>
            <a:off x="357188" y="3500438"/>
            <a:ext cx="1928812" cy="461962"/>
          </a:xfrm>
          <a:prstGeom prst="rect">
            <a:avLst/>
          </a:prstGeom>
          <a:noFill/>
          <a:ln w="28575" algn="ctr">
            <a:noFill/>
            <a:prstDash val="dashDot"/>
            <a:miter lim="800000"/>
          </a:ln>
        </p:spPr>
        <p:txBody>
          <a:bodyPr>
            <a:spAutoFit/>
          </a:bodyPr>
          <a:lstStyle/>
          <a:p>
            <a:pPr eaLnBrk="1" hangingPunct="1">
              <a:spcBef>
                <a:spcPct val="50000"/>
              </a:spcBef>
            </a:pPr>
            <a:r>
              <a:rPr lang="en-US" altLang="zh-CN" dirty="0" smtClean="0">
                <a:latin typeface="楷体" panose="02010609060101010101" pitchFamily="49" charset="-122"/>
                <a:ea typeface="楷体" panose="02010609060101010101" pitchFamily="49" charset="-122"/>
              </a:rPr>
              <a:t>5</a:t>
            </a:r>
            <a:r>
              <a:rPr lang="zh-CN" altLang="en-US" dirty="0" smtClean="0">
                <a:latin typeface="楷体" panose="02010609060101010101" pitchFamily="49" charset="-122"/>
                <a:ea typeface="楷体" panose="02010609060101010101" pitchFamily="49" charset="-122"/>
              </a:rPr>
              <a:t>）微观</a:t>
            </a:r>
            <a:r>
              <a:rPr lang="zh-CN" altLang="en-US" dirty="0">
                <a:latin typeface="楷体" panose="02010609060101010101" pitchFamily="49" charset="-122"/>
                <a:ea typeface="楷体" panose="02010609060101010101" pitchFamily="49" charset="-122"/>
              </a:rPr>
              <a:t>规制</a:t>
            </a:r>
          </a:p>
        </p:txBody>
      </p:sp>
      <p:sp>
        <p:nvSpPr>
          <p:cNvPr id="15" name="Rectangle 2"/>
          <p:cNvSpPr txBox="1">
            <a:spLocks noChangeArrowheads="1"/>
          </p:cNvSpPr>
          <p:nvPr/>
        </p:nvSpPr>
        <p:spPr bwMode="auto">
          <a:xfrm>
            <a:off x="357188" y="4143375"/>
            <a:ext cx="8243887" cy="661988"/>
          </a:xfrm>
          <a:prstGeom prst="rect">
            <a:avLst/>
          </a:prstGeom>
          <a:noFill/>
          <a:ln>
            <a:noFill/>
          </a:ln>
        </p:spPr>
        <p:txBody>
          <a:bodyPr anchor="b"/>
          <a:lstStyle/>
          <a:p>
            <a:pPr eaLnBrk="1" hangingPunct="1">
              <a:lnSpc>
                <a:spcPct val="90000"/>
              </a:lnSpc>
              <a:defRPr/>
            </a:pPr>
            <a:r>
              <a:rPr lang="en-US" altLang="zh-CN" sz="3200" dirty="0" smtClean="0">
                <a:solidFill>
                  <a:srgbClr val="0000FF"/>
                </a:solidFill>
                <a:latin typeface="楷体" panose="02010609060101010101" pitchFamily="49" charset="-122"/>
                <a:ea typeface="楷体" panose="02010609060101010101" pitchFamily="49" charset="-122"/>
                <a:cs typeface="+mj-cs"/>
              </a:rPr>
              <a:t>4.</a:t>
            </a:r>
            <a:r>
              <a:rPr lang="zh-CN" altLang="en-US" sz="3200" dirty="0" smtClean="0">
                <a:solidFill>
                  <a:srgbClr val="0000FF"/>
                </a:solidFill>
                <a:latin typeface="楷体" panose="02010609060101010101" pitchFamily="49" charset="-122"/>
                <a:ea typeface="楷体" panose="02010609060101010101" pitchFamily="49" charset="-122"/>
                <a:cs typeface="+mj-cs"/>
              </a:rPr>
              <a:t>国家垄断资本主义</a:t>
            </a:r>
            <a:r>
              <a:rPr lang="zh-CN" altLang="en-US" sz="3200" dirty="0">
                <a:solidFill>
                  <a:srgbClr val="0000FF"/>
                </a:solidFill>
                <a:latin typeface="楷体" panose="02010609060101010101" pitchFamily="49" charset="-122"/>
                <a:ea typeface="楷体" panose="02010609060101010101" pitchFamily="49" charset="-122"/>
                <a:cs typeface="+mj-cs"/>
              </a:rPr>
              <a:t>的作用及其实质</a:t>
            </a:r>
          </a:p>
        </p:txBody>
      </p:sp>
      <p:sp>
        <p:nvSpPr>
          <p:cNvPr id="16" name="Text Box 4"/>
          <p:cNvSpPr txBox="1">
            <a:spLocks noChangeArrowheads="1"/>
          </p:cNvSpPr>
          <p:nvPr/>
        </p:nvSpPr>
        <p:spPr bwMode="auto">
          <a:xfrm>
            <a:off x="357188" y="4786313"/>
            <a:ext cx="8135937" cy="830262"/>
          </a:xfrm>
          <a:prstGeom prst="rect">
            <a:avLst/>
          </a:prstGeom>
          <a:noFill/>
          <a:ln w="28575" algn="ctr">
            <a:noFill/>
            <a:prstDash val="dashDot"/>
            <a:miter lim="800000"/>
          </a:ln>
        </p:spPr>
        <p:txBody>
          <a:bodyPr>
            <a:spAutoFit/>
          </a:bodyPr>
          <a:lstStyle/>
          <a:p>
            <a:pPr eaLnBrk="1" hangingPunct="1">
              <a:spcBef>
                <a:spcPct val="50000"/>
              </a:spcBef>
            </a:pPr>
            <a:r>
              <a:rPr lang="zh-CN" altLang="en-US">
                <a:latin typeface="楷体" panose="02010609060101010101" pitchFamily="49" charset="-122"/>
                <a:ea typeface="楷体" panose="02010609060101010101" pitchFamily="49" charset="-122"/>
              </a:rPr>
              <a:t>国家垄断资本主义是垄断资本主义发展的新阶段，对资本主义的发展产生了积极作用。</a:t>
            </a:r>
          </a:p>
        </p:txBody>
      </p:sp>
      <p:sp>
        <p:nvSpPr>
          <p:cNvPr id="17" name="Text Box 6"/>
          <p:cNvSpPr txBox="1">
            <a:spLocks noChangeArrowheads="1"/>
          </p:cNvSpPr>
          <p:nvPr/>
        </p:nvSpPr>
        <p:spPr bwMode="auto">
          <a:xfrm>
            <a:off x="428625" y="5643563"/>
            <a:ext cx="8207375" cy="1014730"/>
          </a:xfrm>
          <a:prstGeom prst="rect">
            <a:avLst/>
          </a:prstGeom>
          <a:noFill/>
          <a:ln w="28575" algn="ctr">
            <a:noFill/>
            <a:prstDash val="dashDot"/>
            <a:miter lim="800000"/>
          </a:ln>
        </p:spPr>
        <p:txBody>
          <a:bodyPr>
            <a:spAutoFit/>
          </a:bodyPr>
          <a:lstStyle/>
          <a:p>
            <a:pPr eaLnBrk="1" hangingPunct="1">
              <a:spcBef>
                <a:spcPct val="50000"/>
              </a:spcBef>
            </a:pPr>
            <a:r>
              <a:rPr lang="zh-CN" altLang="en-US" sz="2000">
                <a:solidFill>
                  <a:srgbClr val="FF0000"/>
                </a:solidFill>
                <a:latin typeface="楷体" panose="02010609060101010101" pitchFamily="49" charset="-122"/>
                <a:ea typeface="楷体" panose="02010609060101010101" pitchFamily="49" charset="-122"/>
              </a:rPr>
              <a:t>实质：</a:t>
            </a:r>
            <a:r>
              <a:rPr lang="zh-CN" altLang="en-US" sz="2000">
                <a:latin typeface="楷体" panose="02010609060101010101" pitchFamily="49" charset="-122"/>
                <a:ea typeface="楷体" panose="02010609060101010101" pitchFamily="49" charset="-122"/>
              </a:rPr>
              <a:t>国家垄断资本主义的出现没有根本改变垄断资本主义生产的性质，其实质是资产阶级国家力量同垄断组织力量结合的产物，只是适应了垄断资产阶级获得高额垄断利润的需要，更有利于维护资本主义制度。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7653"/>
                                        </p:tgtEl>
                                        <p:attrNameLst>
                                          <p:attrName>style.visibility</p:attrName>
                                        </p:attrNameLst>
                                      </p:cBhvr>
                                      <p:to>
                                        <p:strVal val="visible"/>
                                      </p:to>
                                    </p:set>
                                    <p:anim calcmode="lin" valueType="num">
                                      <p:cBhvr additive="base">
                                        <p:cTn id="13" dur="500" fill="hold"/>
                                        <p:tgtEl>
                                          <p:spTgt spid="27653"/>
                                        </p:tgtEl>
                                        <p:attrNameLst>
                                          <p:attrName>ppt_x</p:attrName>
                                        </p:attrNameLst>
                                      </p:cBhvr>
                                      <p:tavLst>
                                        <p:tav tm="0">
                                          <p:val>
                                            <p:strVal val="1+#ppt_w/2"/>
                                          </p:val>
                                        </p:tav>
                                        <p:tav tm="100000">
                                          <p:val>
                                            <p:strVal val="#ppt_x"/>
                                          </p:val>
                                        </p:tav>
                                      </p:tavLst>
                                    </p:anim>
                                    <p:anim calcmode="lin" valueType="num">
                                      <p:cBhvr additive="base">
                                        <p:cTn id="14" dur="500" fill="hold"/>
                                        <p:tgtEl>
                                          <p:spTgt spid="2765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7654"/>
                                        </p:tgtEl>
                                        <p:attrNameLst>
                                          <p:attrName>style.visibility</p:attrName>
                                        </p:attrNameLst>
                                      </p:cBhvr>
                                      <p:to>
                                        <p:strVal val="visible"/>
                                      </p:to>
                                    </p:set>
                                    <p:anim calcmode="lin" valueType="num">
                                      <p:cBhvr additive="base">
                                        <p:cTn id="19" dur="500" fill="hold"/>
                                        <p:tgtEl>
                                          <p:spTgt spid="27654"/>
                                        </p:tgtEl>
                                        <p:attrNameLst>
                                          <p:attrName>ppt_x</p:attrName>
                                        </p:attrNameLst>
                                      </p:cBhvr>
                                      <p:tavLst>
                                        <p:tav tm="0">
                                          <p:val>
                                            <p:strVal val="1+#ppt_w/2"/>
                                          </p:val>
                                        </p:tav>
                                        <p:tav tm="100000">
                                          <p:val>
                                            <p:strVal val="#ppt_x"/>
                                          </p:val>
                                        </p:tav>
                                      </p:tavLst>
                                    </p:anim>
                                    <p:anim calcmode="lin" valueType="num">
                                      <p:cBhvr additive="base">
                                        <p:cTn id="20" dur="500" fill="hold"/>
                                        <p:tgtEl>
                                          <p:spTgt spid="27654"/>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18" presetClass="entr" presetSubtype="6" fill="hold" grpId="0" nodeType="afterEffect">
                                  <p:stCondLst>
                                    <p:cond delay="0"/>
                                  </p:stCondLst>
                                  <p:childTnLst>
                                    <p:set>
                                      <p:cBhvr>
                                        <p:cTn id="23" dur="1" fill="hold">
                                          <p:stCondLst>
                                            <p:cond delay="0"/>
                                          </p:stCondLst>
                                        </p:cTn>
                                        <p:tgtEl>
                                          <p:spTgt spid="27658"/>
                                        </p:tgtEl>
                                        <p:attrNameLst>
                                          <p:attrName>style.visibility</p:attrName>
                                        </p:attrNameLst>
                                      </p:cBhvr>
                                      <p:to>
                                        <p:strVal val="visible"/>
                                      </p:to>
                                    </p:set>
                                    <p:animEffect transition="in" filter="strips(downRight)">
                                      <p:cBhvr>
                                        <p:cTn id="24" dur="500"/>
                                        <p:tgtEl>
                                          <p:spTgt spid="27658"/>
                                        </p:tgtEl>
                                      </p:cBhvr>
                                    </p:animEffect>
                                  </p:childTnLst>
                                </p:cTn>
                              </p:par>
                            </p:childTnLst>
                          </p:cTn>
                        </p:par>
                        <p:par>
                          <p:cTn id="25" fill="hold">
                            <p:stCondLst>
                              <p:cond delay="1000"/>
                            </p:stCondLst>
                            <p:childTnLst>
                              <p:par>
                                <p:cTn id="26" presetID="18" presetClass="entr" presetSubtype="12" fill="hold" grpId="0" nodeType="afterEffect">
                                  <p:stCondLst>
                                    <p:cond delay="0"/>
                                  </p:stCondLst>
                                  <p:childTnLst>
                                    <p:set>
                                      <p:cBhvr>
                                        <p:cTn id="27" dur="1" fill="hold">
                                          <p:stCondLst>
                                            <p:cond delay="0"/>
                                          </p:stCondLst>
                                        </p:cTn>
                                        <p:tgtEl>
                                          <p:spTgt spid="27659"/>
                                        </p:tgtEl>
                                        <p:attrNameLst>
                                          <p:attrName>style.visibility</p:attrName>
                                        </p:attrNameLst>
                                      </p:cBhvr>
                                      <p:to>
                                        <p:strVal val="visible"/>
                                      </p:to>
                                    </p:set>
                                    <p:animEffect transition="in" filter="strips(downLeft)">
                                      <p:cBhvr>
                                        <p:cTn id="28" dur="500"/>
                                        <p:tgtEl>
                                          <p:spTgt spid="2765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1+#ppt_w/2"/>
                                          </p:val>
                                        </p:tav>
                                        <p:tav tm="100000">
                                          <p:val>
                                            <p:strVal val="#ppt_x"/>
                                          </p:val>
                                        </p:tav>
                                      </p:tavLst>
                                    </p:anim>
                                    <p:anim calcmode="lin" valueType="num">
                                      <p:cBhvr additive="base">
                                        <p:cTn id="3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10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dissolve">
                                      <p:cBhvr>
                                        <p:cTn id="5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27653" grpId="0"/>
      <p:bldP spid="27654" grpId="0"/>
      <p:bldP spid="27658" grpId="0" bldLvl="0" animBg="1"/>
      <p:bldP spid="27659" grpId="0" bldLvl="0" animBg="1"/>
      <p:bldP spid="13" grpId="0"/>
      <p:bldP spid="14"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799748"/>
          <p:cNvSpPr>
            <a:spLocks noChangeArrowheads="1"/>
          </p:cNvSpPr>
          <p:nvPr/>
        </p:nvSpPr>
        <p:spPr bwMode="auto">
          <a:xfrm>
            <a:off x="423863" y="415925"/>
            <a:ext cx="4176712"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dirty="0">
                <a:solidFill>
                  <a:srgbClr val="0000FF"/>
                </a:solidFill>
                <a:latin typeface="黑体" panose="02010609060101010101" pitchFamily="49" charset="-122"/>
                <a:ea typeface="黑体" panose="02010609060101010101" pitchFamily="49" charset="-122"/>
              </a:rPr>
              <a:t>（二）金融垄断资本的发展</a:t>
            </a:r>
            <a:endParaRPr lang="zh-CN" altLang="en-US" dirty="0">
              <a:latin typeface="黑体" panose="02010609060101010101" pitchFamily="49" charset="-122"/>
              <a:ea typeface="黑体" panose="02010609060101010101" pitchFamily="49" charset="-122"/>
            </a:endParaRPr>
          </a:p>
        </p:txBody>
      </p:sp>
      <p:sp>
        <p:nvSpPr>
          <p:cNvPr id="37892" name="矩形 799750"/>
          <p:cNvSpPr>
            <a:spLocks noChangeArrowheads="1"/>
          </p:cNvSpPr>
          <p:nvPr/>
        </p:nvSpPr>
        <p:spPr bwMode="auto">
          <a:xfrm>
            <a:off x="430213" y="1196975"/>
            <a:ext cx="8426450" cy="720725"/>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50000"/>
              </a:spcBef>
              <a:defRPr/>
            </a:pPr>
            <a:r>
              <a:rPr lang="en-US" altLang="zh-CN" sz="1600">
                <a:solidFill>
                  <a:srgbClr val="3333FF"/>
                </a:solidFill>
                <a:latin typeface="幼圆" pitchFamily="49" charset="-122"/>
                <a:ea typeface="幼圆" pitchFamily="49" charset="-122"/>
              </a:rPr>
              <a:t>   </a:t>
            </a:r>
            <a:r>
              <a:rPr lang="zh-CN" altLang="en-US" sz="1600">
                <a:solidFill>
                  <a:srgbClr val="0000FF"/>
                </a:solidFill>
                <a:latin typeface="幼圆" pitchFamily="49" charset="-122"/>
                <a:ea typeface="幼圆" pitchFamily="49" charset="-122"/>
              </a:rPr>
              <a:t>布雷顿森林体系崩溃后，西方国家普遍走上了</a:t>
            </a:r>
            <a:r>
              <a:rPr lang="zh-CN" altLang="en-US" sz="1600">
                <a:solidFill>
                  <a:srgbClr val="FF0000"/>
                </a:solidFill>
                <a:latin typeface="幼圆" pitchFamily="49" charset="-122"/>
                <a:ea typeface="幼圆" pitchFamily="49" charset="-122"/>
              </a:rPr>
              <a:t>金融自由化</a:t>
            </a:r>
            <a:r>
              <a:rPr lang="zh-CN" altLang="en-US" sz="1600">
                <a:solidFill>
                  <a:srgbClr val="0000FF"/>
                </a:solidFill>
                <a:latin typeface="幼圆" pitchFamily="49" charset="-122"/>
                <a:ea typeface="幼圆" pitchFamily="49" charset="-122"/>
              </a:rPr>
              <a:t>和</a:t>
            </a:r>
            <a:r>
              <a:rPr lang="zh-CN" altLang="en-US" sz="1600">
                <a:solidFill>
                  <a:srgbClr val="FF0000"/>
                </a:solidFill>
                <a:latin typeface="幼圆" pitchFamily="49" charset="-122"/>
                <a:ea typeface="幼圆" pitchFamily="49" charset="-122"/>
              </a:rPr>
              <a:t>金融创新</a:t>
            </a:r>
            <a:r>
              <a:rPr lang="zh-CN" altLang="en-US" sz="1600">
                <a:solidFill>
                  <a:srgbClr val="0000FF"/>
                </a:solidFill>
                <a:latin typeface="幼圆" pitchFamily="49" charset="-122"/>
                <a:ea typeface="幼圆" pitchFamily="49" charset="-122"/>
              </a:rPr>
              <a:t>的道路。金融自由化和金融创新是</a:t>
            </a:r>
            <a:r>
              <a:rPr lang="zh-CN" altLang="en-US" sz="1600">
                <a:solidFill>
                  <a:srgbClr val="FF0000"/>
                </a:solidFill>
                <a:latin typeface="幼圆" pitchFamily="49" charset="-122"/>
                <a:ea typeface="幼圆" pitchFamily="49" charset="-122"/>
              </a:rPr>
              <a:t>金融垄断资本主义</a:t>
            </a:r>
            <a:r>
              <a:rPr lang="zh-CN" altLang="en-US" sz="1600">
                <a:solidFill>
                  <a:srgbClr val="0000FF"/>
                </a:solidFill>
                <a:latin typeface="幼圆" pitchFamily="49" charset="-122"/>
                <a:ea typeface="幼圆" pitchFamily="49" charset="-122"/>
              </a:rPr>
              <a:t>得以形成和壮大的重要制度条件。</a:t>
            </a:r>
          </a:p>
        </p:txBody>
      </p:sp>
      <p:grpSp>
        <p:nvGrpSpPr>
          <p:cNvPr id="18436" name="组合 799751"/>
          <p:cNvGrpSpPr/>
          <p:nvPr/>
        </p:nvGrpSpPr>
        <p:grpSpPr bwMode="auto">
          <a:xfrm>
            <a:off x="900113" y="3213100"/>
            <a:ext cx="2303462" cy="647700"/>
            <a:chOff x="1338" y="1109"/>
            <a:chExt cx="3696" cy="384"/>
          </a:xfrm>
        </p:grpSpPr>
        <p:sp>
          <p:nvSpPr>
            <p:cNvPr id="37904" name="圆角矩形 79975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18448" name="文本框 799753"/>
            <p:cNvSpPr txBox="1">
              <a:spLocks noChangeArrowheads="1"/>
            </p:cNvSpPr>
            <p:nvPr/>
          </p:nvSpPr>
          <p:spPr bwMode="auto">
            <a:xfrm>
              <a:off x="1440"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金融自由化  </a:t>
              </a:r>
            </a:p>
          </p:txBody>
        </p:sp>
      </p:grpSp>
      <p:grpSp>
        <p:nvGrpSpPr>
          <p:cNvPr id="18437" name="组合 799754"/>
          <p:cNvGrpSpPr/>
          <p:nvPr/>
        </p:nvGrpSpPr>
        <p:grpSpPr bwMode="auto">
          <a:xfrm>
            <a:off x="900113" y="4076700"/>
            <a:ext cx="2303462" cy="647700"/>
            <a:chOff x="1338" y="1109"/>
            <a:chExt cx="3696" cy="384"/>
          </a:xfrm>
        </p:grpSpPr>
        <p:sp>
          <p:nvSpPr>
            <p:cNvPr id="37902" name="圆角矩形 7997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18446" name="文本框 799756"/>
            <p:cNvSpPr txBox="1">
              <a:spLocks noChangeArrowheads="1"/>
            </p:cNvSpPr>
            <p:nvPr/>
          </p:nvSpPr>
          <p:spPr bwMode="auto">
            <a:xfrm>
              <a:off x="1440"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金融创新  </a:t>
              </a:r>
            </a:p>
          </p:txBody>
        </p:sp>
      </p:grpSp>
      <p:grpSp>
        <p:nvGrpSpPr>
          <p:cNvPr id="18438" name="组合 799757"/>
          <p:cNvGrpSpPr/>
          <p:nvPr/>
        </p:nvGrpSpPr>
        <p:grpSpPr bwMode="auto">
          <a:xfrm>
            <a:off x="900113" y="4941888"/>
            <a:ext cx="3743325" cy="647700"/>
            <a:chOff x="1338" y="1109"/>
            <a:chExt cx="3696" cy="384"/>
          </a:xfrm>
        </p:grpSpPr>
        <p:sp>
          <p:nvSpPr>
            <p:cNvPr id="37900" name="圆角矩形 79975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18444" name="文本框 799759"/>
            <p:cNvSpPr txBox="1">
              <a:spLocks noChangeArrowheads="1"/>
            </p:cNvSpPr>
            <p:nvPr/>
          </p:nvSpPr>
          <p:spPr bwMode="auto">
            <a:xfrm>
              <a:off x="1440"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dirty="0">
                  <a:solidFill>
                    <a:schemeClr val="bg1"/>
                  </a:solidFill>
                  <a:latin typeface="楷体" panose="02010609060101010101" pitchFamily="49" charset="-122"/>
                  <a:ea typeface="楷体" panose="02010609060101010101" pitchFamily="49" charset="-122"/>
                </a:rPr>
                <a:t>4 </a:t>
              </a:r>
              <a:r>
                <a:rPr lang="zh-CN" altLang="en-US" dirty="0">
                  <a:solidFill>
                    <a:schemeClr val="bg1"/>
                  </a:solidFill>
                  <a:latin typeface="楷体" panose="02010609060101010101" pitchFamily="49" charset="-122"/>
                  <a:ea typeface="楷体" panose="02010609060101010101" pitchFamily="49" charset="-122"/>
                </a:rPr>
                <a:t>资本主义经济的金融化  </a:t>
              </a:r>
            </a:p>
          </p:txBody>
        </p:sp>
      </p:grpSp>
      <p:grpSp>
        <p:nvGrpSpPr>
          <p:cNvPr id="18439" name="组合 799763"/>
          <p:cNvGrpSpPr/>
          <p:nvPr/>
        </p:nvGrpSpPr>
        <p:grpSpPr bwMode="auto">
          <a:xfrm>
            <a:off x="900113" y="2420938"/>
            <a:ext cx="2808287" cy="647700"/>
            <a:chOff x="1338" y="1109"/>
            <a:chExt cx="3696" cy="384"/>
          </a:xfrm>
        </p:grpSpPr>
        <p:sp>
          <p:nvSpPr>
            <p:cNvPr id="37898" name="圆角矩形 79976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18442" name="文本框 799765"/>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布雷顿森林体系 </a:t>
              </a:r>
              <a:r>
                <a:rPr lang="zh-CN" altLang="en-US">
                  <a:solidFill>
                    <a:schemeClr val="bg1"/>
                  </a:solidFill>
                  <a:latin typeface="楷体_GB2312" pitchFamily="49" charset="-122"/>
                </a:rPr>
                <a:t> </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组合 800772"/>
          <p:cNvGrpSpPr/>
          <p:nvPr/>
        </p:nvGrpSpPr>
        <p:grpSpPr bwMode="auto">
          <a:xfrm>
            <a:off x="971550" y="549275"/>
            <a:ext cx="2808288" cy="647700"/>
            <a:chOff x="1338" y="1109"/>
            <a:chExt cx="3696" cy="384"/>
          </a:xfrm>
        </p:grpSpPr>
        <p:sp>
          <p:nvSpPr>
            <p:cNvPr id="38919" name="圆角矩形 80077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19462" name="文本框 800774"/>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布雷顿森林体系  </a:t>
              </a:r>
            </a:p>
          </p:txBody>
        </p:sp>
      </p:grpSp>
      <p:sp>
        <p:nvSpPr>
          <p:cNvPr id="19459" name="圆角矩形 5"/>
          <p:cNvSpPr>
            <a:spLocks noChangeArrowheads="1"/>
          </p:cNvSpPr>
          <p:nvPr/>
        </p:nvSpPr>
        <p:spPr bwMode="auto">
          <a:xfrm>
            <a:off x="428625" y="1341438"/>
            <a:ext cx="8501063" cy="1944687"/>
          </a:xfrm>
          <a:prstGeom prst="roundRect">
            <a:avLst>
              <a:gd name="adj" fmla="val 9903"/>
            </a:avLst>
          </a:prstGeom>
          <a:solidFill>
            <a:srgbClr val="CCFFFF"/>
          </a:solidFill>
          <a:ln w="9525">
            <a:solidFill>
              <a:srgbClr val="FF99CC"/>
            </a:solidFill>
            <a:round/>
          </a:ln>
        </p:spPr>
        <p:txBody>
          <a:bodyPr/>
          <a:lstStyle/>
          <a:p>
            <a:pPr eaLnBrk="1" hangingPunct="1">
              <a:lnSpc>
                <a:spcPct val="125000"/>
              </a:lnSpc>
              <a:spcBef>
                <a:spcPct val="50000"/>
              </a:spcBef>
            </a:pPr>
            <a:r>
              <a:rPr lang="en-US" altLang="zh-CN" sz="2000">
                <a:solidFill>
                  <a:srgbClr val="960000"/>
                </a:solidFill>
                <a:ea typeface="华文新魏" pitchFamily="2" charset="-122"/>
              </a:rPr>
              <a:t>     </a:t>
            </a:r>
            <a:r>
              <a:rPr lang="zh-CN" altLang="en-US" sz="2000">
                <a:solidFill>
                  <a:srgbClr val="0000FF"/>
                </a:solidFill>
                <a:ea typeface="幼圆" pitchFamily="49" charset="-122"/>
              </a:rPr>
              <a:t>二战后以美元为中心的国际货币体系。   </a:t>
            </a:r>
          </a:p>
          <a:p>
            <a:pPr eaLnBrk="1" hangingPunct="1">
              <a:lnSpc>
                <a:spcPct val="125000"/>
              </a:lnSpc>
              <a:spcBef>
                <a:spcPct val="50000"/>
              </a:spcBef>
            </a:pPr>
            <a:r>
              <a:rPr lang="zh-CN" altLang="en-US" sz="2000">
                <a:solidFill>
                  <a:srgbClr val="0000FF"/>
                </a:solidFill>
                <a:ea typeface="幼圆" pitchFamily="49" charset="-122"/>
              </a:rPr>
              <a:t>     </a:t>
            </a:r>
            <a:r>
              <a:rPr lang="zh-CN" altLang="en-US" sz="2000">
                <a:solidFill>
                  <a:srgbClr val="0000FF"/>
                </a:solidFill>
                <a:latin typeface="楷体" panose="02010609060101010101" pitchFamily="49" charset="-122"/>
                <a:ea typeface="楷体" panose="02010609060101010101" pitchFamily="49" charset="-122"/>
              </a:rPr>
              <a:t> </a:t>
            </a:r>
            <a:r>
              <a:rPr lang="en-US" altLang="zh-CN" sz="2000">
                <a:solidFill>
                  <a:srgbClr val="960000"/>
                </a:solidFill>
                <a:latin typeface="楷体" panose="02010609060101010101" pitchFamily="49" charset="-122"/>
                <a:ea typeface="楷体" panose="02010609060101010101" pitchFamily="49" charset="-122"/>
              </a:rPr>
              <a:t>1944</a:t>
            </a:r>
            <a:r>
              <a:rPr lang="zh-CN" altLang="en-US" sz="2000">
                <a:solidFill>
                  <a:srgbClr val="960000"/>
                </a:solidFill>
                <a:latin typeface="楷体" panose="02010609060101010101" pitchFamily="49" charset="-122"/>
                <a:ea typeface="楷体" panose="02010609060101010101" pitchFamily="49" charset="-122"/>
              </a:rPr>
              <a:t>年</a:t>
            </a:r>
            <a:r>
              <a:rPr lang="en-US" altLang="zh-CN" sz="2000">
                <a:solidFill>
                  <a:srgbClr val="960000"/>
                </a:solidFill>
                <a:latin typeface="楷体" panose="02010609060101010101" pitchFamily="49" charset="-122"/>
                <a:ea typeface="楷体" panose="02010609060101010101" pitchFamily="49" charset="-122"/>
              </a:rPr>
              <a:t>7</a:t>
            </a:r>
            <a:r>
              <a:rPr lang="zh-CN" altLang="en-US" sz="2000">
                <a:solidFill>
                  <a:srgbClr val="960000"/>
                </a:solidFill>
                <a:latin typeface="楷体" panose="02010609060101010101" pitchFamily="49" charset="-122"/>
                <a:ea typeface="楷体" panose="02010609060101010101" pitchFamily="49" charset="-122"/>
              </a:rPr>
              <a:t>月，西方主要国家的代表在联合国国际货币金融会议上确立（会议在美国新罕布什尔州布雷顿森林举行）。关税总协定作为会议补充，连同会议通过的各项协定，统称“布雷顿森林体系”。</a:t>
            </a:r>
            <a:endParaRPr lang="zh-CN" altLang="en-US">
              <a:solidFill>
                <a:srgbClr val="960000"/>
              </a:solidFill>
              <a:latin typeface="楷体" panose="02010609060101010101" pitchFamily="49" charset="-122"/>
              <a:ea typeface="楷体" panose="02010609060101010101" pitchFamily="49" charset="-122"/>
            </a:endParaRPr>
          </a:p>
        </p:txBody>
      </p:sp>
      <p:sp>
        <p:nvSpPr>
          <p:cNvPr id="19460" name="圆角矩形 5"/>
          <p:cNvSpPr>
            <a:spLocks noChangeArrowheads="1"/>
          </p:cNvSpPr>
          <p:nvPr/>
        </p:nvSpPr>
        <p:spPr bwMode="auto">
          <a:xfrm>
            <a:off x="500063" y="3714750"/>
            <a:ext cx="8429625" cy="1928813"/>
          </a:xfrm>
          <a:prstGeom prst="roundRect">
            <a:avLst>
              <a:gd name="adj" fmla="val 9903"/>
            </a:avLst>
          </a:prstGeom>
          <a:solidFill>
            <a:srgbClr val="CCFFFF"/>
          </a:solidFill>
          <a:ln w="9525">
            <a:solidFill>
              <a:srgbClr val="FF99CC"/>
            </a:solidFill>
            <a:round/>
          </a:ln>
        </p:spPr>
        <p:txBody>
          <a:bodyPr/>
          <a:lstStyle/>
          <a:p>
            <a:pPr eaLnBrk="1" hangingPunct="1">
              <a:lnSpc>
                <a:spcPct val="135000"/>
              </a:lnSpc>
              <a:spcBef>
                <a:spcPct val="50000"/>
              </a:spcBef>
            </a:pPr>
            <a:r>
              <a:rPr lang="en-US" altLang="zh-CN" sz="1800">
                <a:solidFill>
                  <a:srgbClr val="7030A0"/>
                </a:solidFill>
                <a:latin typeface="幼圆" pitchFamily="49" charset="-122"/>
                <a:ea typeface="幼圆" pitchFamily="49" charset="-122"/>
              </a:rPr>
              <a:t>   </a:t>
            </a:r>
            <a:r>
              <a:rPr lang="zh-CN" altLang="en-US" sz="1800">
                <a:solidFill>
                  <a:srgbClr val="7030A0"/>
                </a:solidFill>
                <a:latin typeface="幼圆" pitchFamily="49" charset="-122"/>
                <a:ea typeface="幼圆" pitchFamily="49" charset="-122"/>
              </a:rPr>
              <a:t>是以外汇自由化、资本自由化和贸易自由化为主要内容的多边经济制度，构成资本主义集团的核心内容，是按照美国利益制定的原则，实现美国经济霸权的体制。该体系的建立，促进了战后资本主义世界经济的恢复和发展。</a:t>
            </a:r>
          </a:p>
          <a:p>
            <a:pPr eaLnBrk="1" hangingPunct="1">
              <a:lnSpc>
                <a:spcPct val="135000"/>
              </a:lnSpc>
              <a:spcBef>
                <a:spcPct val="50000"/>
              </a:spcBef>
            </a:pPr>
            <a:r>
              <a:rPr lang="zh-CN" altLang="en-US" sz="1800">
                <a:solidFill>
                  <a:srgbClr val="7030A0"/>
                </a:solidFill>
                <a:latin typeface="幼圆" pitchFamily="49" charset="-122"/>
                <a:ea typeface="幼圆" pitchFamily="49" charset="-122"/>
              </a:rPr>
              <a:t>  该体系于</a:t>
            </a:r>
            <a:r>
              <a:rPr lang="en-US" altLang="zh-CN" sz="1800">
                <a:solidFill>
                  <a:srgbClr val="7030A0"/>
                </a:solidFill>
                <a:latin typeface="幼圆" pitchFamily="49" charset="-122"/>
                <a:ea typeface="幼圆" pitchFamily="49" charset="-122"/>
              </a:rPr>
              <a:t>1973</a:t>
            </a:r>
            <a:r>
              <a:rPr lang="zh-CN" altLang="en-US" sz="1800">
                <a:solidFill>
                  <a:srgbClr val="7030A0"/>
                </a:solidFill>
                <a:latin typeface="幼圆" pitchFamily="49" charset="-122"/>
                <a:ea typeface="幼圆" pitchFamily="49" charset="-122"/>
              </a:rPr>
              <a:t>年宣告结束。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组合 801799"/>
          <p:cNvGrpSpPr/>
          <p:nvPr/>
        </p:nvGrpSpPr>
        <p:grpSpPr bwMode="auto">
          <a:xfrm>
            <a:off x="1116013" y="836613"/>
            <a:ext cx="2303462" cy="647700"/>
            <a:chOff x="1338" y="1109"/>
            <a:chExt cx="3696" cy="384"/>
          </a:xfrm>
        </p:grpSpPr>
        <p:sp>
          <p:nvSpPr>
            <p:cNvPr id="39942" name="圆角矩形 80180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0489" name="文本框 801801"/>
            <p:cNvSpPr txBox="1">
              <a:spLocks noChangeArrowheads="1"/>
            </p:cNvSpPr>
            <p:nvPr/>
          </p:nvSpPr>
          <p:spPr bwMode="auto">
            <a:xfrm>
              <a:off x="1440"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金融自由化 </a:t>
              </a:r>
              <a:r>
                <a:rPr lang="zh-CN" altLang="en-US">
                  <a:solidFill>
                    <a:schemeClr val="bg1"/>
                  </a:solidFill>
                  <a:latin typeface="楷体_GB2312" pitchFamily="49" charset="-122"/>
                </a:rPr>
                <a:t> </a:t>
              </a:r>
            </a:p>
          </p:txBody>
        </p:sp>
      </p:grpSp>
      <p:sp>
        <p:nvSpPr>
          <p:cNvPr id="20483" name="圆角矩形 5"/>
          <p:cNvSpPr>
            <a:spLocks noChangeArrowheads="1"/>
          </p:cNvSpPr>
          <p:nvPr/>
        </p:nvSpPr>
        <p:spPr bwMode="auto">
          <a:xfrm>
            <a:off x="827088" y="1989138"/>
            <a:ext cx="3097212" cy="3097212"/>
          </a:xfrm>
          <a:prstGeom prst="roundRect">
            <a:avLst>
              <a:gd name="adj" fmla="val 9903"/>
            </a:avLst>
          </a:prstGeom>
          <a:solidFill>
            <a:srgbClr val="FFFFCC"/>
          </a:solidFill>
          <a:ln w="9525">
            <a:solidFill>
              <a:srgbClr val="FF99CC"/>
            </a:solidFill>
            <a:round/>
          </a:ln>
        </p:spPr>
        <p:txBody>
          <a:bodyPr/>
          <a:lstStyle/>
          <a:p>
            <a:pPr eaLnBrk="1" hangingPunct="1">
              <a:lnSpc>
                <a:spcPct val="125000"/>
              </a:lnSpc>
              <a:spcBef>
                <a:spcPct val="50000"/>
              </a:spcBef>
            </a:pPr>
            <a:r>
              <a:rPr lang="en-US" altLang="zh-CN" sz="2000">
                <a:solidFill>
                  <a:srgbClr val="960000"/>
                </a:solidFill>
                <a:ea typeface="华文新魏" pitchFamily="2" charset="-122"/>
              </a:rPr>
              <a:t>     </a:t>
            </a:r>
            <a:r>
              <a:rPr lang="en-US" altLang="zh-CN" sz="2000">
                <a:solidFill>
                  <a:srgbClr val="0000FF"/>
                </a:solidFill>
                <a:latin typeface="楷体" panose="02010609060101010101" pitchFamily="49" charset="-122"/>
                <a:ea typeface="楷体" panose="02010609060101010101" pitchFamily="49" charset="-122"/>
              </a:rPr>
              <a:t> </a:t>
            </a:r>
            <a:r>
              <a:rPr lang="zh-CN" altLang="en-US">
                <a:solidFill>
                  <a:srgbClr val="960000"/>
                </a:solidFill>
                <a:latin typeface="楷体" panose="02010609060101010101" pitchFamily="49" charset="-122"/>
                <a:ea typeface="楷体" panose="02010609060101010101" pitchFamily="49" charset="-122"/>
              </a:rPr>
              <a:t>各国政府放松对银行利率的管制，实行浮动汇率制度，取消外汇管制，金融市场相互开放。</a:t>
            </a:r>
          </a:p>
        </p:txBody>
      </p:sp>
      <p:grpSp>
        <p:nvGrpSpPr>
          <p:cNvPr id="20484" name="组合 802823"/>
          <p:cNvGrpSpPr/>
          <p:nvPr/>
        </p:nvGrpSpPr>
        <p:grpSpPr bwMode="auto">
          <a:xfrm>
            <a:off x="5072063" y="785813"/>
            <a:ext cx="2303462" cy="647700"/>
            <a:chOff x="1338" y="1109"/>
            <a:chExt cx="3696" cy="384"/>
          </a:xfrm>
        </p:grpSpPr>
        <p:sp>
          <p:nvSpPr>
            <p:cNvPr id="9" name="圆角矩形 80282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0487" name="文本框 802825"/>
            <p:cNvSpPr txBox="1">
              <a:spLocks noChangeArrowheads="1"/>
            </p:cNvSpPr>
            <p:nvPr/>
          </p:nvSpPr>
          <p:spPr bwMode="auto">
            <a:xfrm>
              <a:off x="1440"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金融创新</a:t>
              </a:r>
              <a:r>
                <a:rPr lang="zh-CN" altLang="en-US">
                  <a:solidFill>
                    <a:schemeClr val="bg1"/>
                  </a:solidFill>
                  <a:latin typeface="楷体_GB2312" pitchFamily="49" charset="-122"/>
                </a:rPr>
                <a:t>  </a:t>
              </a:r>
            </a:p>
          </p:txBody>
        </p:sp>
      </p:grpSp>
      <p:sp>
        <p:nvSpPr>
          <p:cNvPr id="20485" name="圆角矩形 5"/>
          <p:cNvSpPr>
            <a:spLocks noChangeArrowheads="1"/>
          </p:cNvSpPr>
          <p:nvPr/>
        </p:nvSpPr>
        <p:spPr bwMode="auto">
          <a:xfrm>
            <a:off x="4643438" y="1714500"/>
            <a:ext cx="3744912" cy="3673475"/>
          </a:xfrm>
          <a:prstGeom prst="roundRect">
            <a:avLst>
              <a:gd name="adj" fmla="val 9903"/>
            </a:avLst>
          </a:prstGeom>
          <a:solidFill>
            <a:srgbClr val="FFFFCC"/>
          </a:solidFill>
          <a:ln w="9525">
            <a:solidFill>
              <a:srgbClr val="FF99CC"/>
            </a:solidFill>
            <a:round/>
          </a:ln>
        </p:spPr>
        <p:txBody>
          <a:bodyPr/>
          <a:lstStyle/>
          <a:p>
            <a:pPr eaLnBrk="1" hangingPunct="1">
              <a:lnSpc>
                <a:spcPct val="125000"/>
              </a:lnSpc>
              <a:spcBef>
                <a:spcPct val="50000"/>
              </a:spcBef>
            </a:pPr>
            <a:r>
              <a:rPr lang="en-US" altLang="zh-CN" sz="2000">
                <a:solidFill>
                  <a:srgbClr val="960000"/>
                </a:solidFill>
              </a:rPr>
              <a:t> </a:t>
            </a:r>
            <a:r>
              <a:rPr lang="en-US" altLang="zh-CN" sz="2000">
                <a:solidFill>
                  <a:srgbClr val="960000"/>
                </a:solidFill>
                <a:latin typeface="楷体" panose="02010609060101010101" pitchFamily="49" charset="-122"/>
                <a:ea typeface="楷体" panose="02010609060101010101" pitchFamily="49" charset="-122"/>
              </a:rPr>
              <a:t> </a:t>
            </a:r>
            <a:r>
              <a:rPr lang="zh-CN" altLang="en-US" sz="2000">
                <a:solidFill>
                  <a:srgbClr val="960000"/>
                </a:solidFill>
                <a:latin typeface="楷体" panose="02010609060101010101" pitchFamily="49" charset="-122"/>
                <a:ea typeface="楷体" panose="02010609060101010101" pitchFamily="49" charset="-122"/>
              </a:rPr>
              <a:t>包括远期合约、期贷合约、期权合约等在内的信用风险防范工具和融资技术不断推陈出新，金融机构开始突破原有的专业分工界限，综合经营各种金融业务，金融工具不断创新，传统信贷业务逐年减少，债券业务迅速增长，融资方式的证券化趋势迅猛发展。</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组合 803847"/>
          <p:cNvGrpSpPr/>
          <p:nvPr/>
        </p:nvGrpSpPr>
        <p:grpSpPr bwMode="auto">
          <a:xfrm>
            <a:off x="539750" y="549275"/>
            <a:ext cx="3743325" cy="647700"/>
            <a:chOff x="1338" y="1109"/>
            <a:chExt cx="3696" cy="384"/>
          </a:xfrm>
        </p:grpSpPr>
        <p:sp>
          <p:nvSpPr>
            <p:cNvPr id="41991" name="圆角矩形 80384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1510" name="文本框 803849"/>
            <p:cNvSpPr txBox="1">
              <a:spLocks noChangeArrowheads="1"/>
            </p:cNvSpPr>
            <p:nvPr/>
          </p:nvSpPr>
          <p:spPr bwMode="auto">
            <a:xfrm>
              <a:off x="1440"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4 </a:t>
              </a:r>
              <a:r>
                <a:rPr lang="zh-CN" altLang="en-US">
                  <a:solidFill>
                    <a:schemeClr val="bg1"/>
                  </a:solidFill>
                  <a:latin typeface="楷体" panose="02010609060101010101" pitchFamily="49" charset="-122"/>
                  <a:ea typeface="楷体" panose="02010609060101010101" pitchFamily="49" charset="-122"/>
                </a:rPr>
                <a:t>资本主义经济的金融化 </a:t>
              </a:r>
              <a:r>
                <a:rPr lang="zh-CN" altLang="en-US">
                  <a:solidFill>
                    <a:schemeClr val="bg1"/>
                  </a:solidFill>
                  <a:latin typeface="楷体_GB2312" pitchFamily="49" charset="-122"/>
                </a:rPr>
                <a:t> </a:t>
              </a:r>
            </a:p>
          </p:txBody>
        </p:sp>
      </p:grpSp>
      <p:sp>
        <p:nvSpPr>
          <p:cNvPr id="21507" name="圆角矩形 5"/>
          <p:cNvSpPr>
            <a:spLocks noChangeArrowheads="1"/>
          </p:cNvSpPr>
          <p:nvPr/>
        </p:nvSpPr>
        <p:spPr bwMode="auto">
          <a:xfrm>
            <a:off x="395288" y="1341438"/>
            <a:ext cx="8248650" cy="1873250"/>
          </a:xfrm>
          <a:prstGeom prst="roundRect">
            <a:avLst>
              <a:gd name="adj" fmla="val 9903"/>
            </a:avLst>
          </a:prstGeom>
          <a:solidFill>
            <a:srgbClr val="FFFFCC"/>
          </a:solidFill>
          <a:ln w="9525">
            <a:solidFill>
              <a:srgbClr val="FF99CC"/>
            </a:solidFill>
            <a:round/>
          </a:ln>
        </p:spPr>
        <p:txBody>
          <a:bodyPr/>
          <a:lstStyle/>
          <a:p>
            <a:pPr eaLnBrk="1" hangingPunct="1">
              <a:lnSpc>
                <a:spcPct val="125000"/>
              </a:lnSpc>
              <a:spcBef>
                <a:spcPct val="50000"/>
              </a:spcBef>
            </a:pPr>
            <a:r>
              <a:rPr lang="en-US" altLang="zh-CN" sz="2000" dirty="0">
                <a:solidFill>
                  <a:srgbClr val="960000"/>
                </a:solidFill>
              </a:rPr>
              <a:t>  </a:t>
            </a:r>
            <a:r>
              <a:rPr lang="zh-CN" altLang="en-US" sz="2000" dirty="0">
                <a:solidFill>
                  <a:srgbClr val="960000"/>
                </a:solidFill>
                <a:latin typeface="楷体" panose="02010609060101010101" pitchFamily="49" charset="-122"/>
                <a:ea typeface="楷体" panose="02010609060101010101" pitchFamily="49" charset="-122"/>
              </a:rPr>
              <a:t>由工业垄断资本与银行垄断资本融合而成的金融寡头分化，以大银行和非银行金融机构为主体的金融垄断资本脱离实体经济独立发展，通过形形色色的金融衍生工具在金融市场呼风唤雨，巧取豪夺，使财富以惊人的速度膨胀。</a:t>
            </a:r>
          </a:p>
        </p:txBody>
      </p:sp>
      <p:sp>
        <p:nvSpPr>
          <p:cNvPr id="21508" name="圆角矩形 5"/>
          <p:cNvSpPr>
            <a:spLocks noChangeArrowheads="1"/>
          </p:cNvSpPr>
          <p:nvPr/>
        </p:nvSpPr>
        <p:spPr bwMode="auto">
          <a:xfrm>
            <a:off x="428625" y="3357563"/>
            <a:ext cx="8248650" cy="2643187"/>
          </a:xfrm>
          <a:prstGeom prst="roundRect">
            <a:avLst>
              <a:gd name="adj" fmla="val 9903"/>
            </a:avLst>
          </a:prstGeom>
          <a:solidFill>
            <a:srgbClr val="FFFFCC"/>
          </a:solidFill>
          <a:ln w="9525">
            <a:solidFill>
              <a:srgbClr val="FF99CC"/>
            </a:solidFill>
            <a:round/>
          </a:ln>
        </p:spPr>
        <p:txBody>
          <a:bodyPr/>
          <a:lstStyle/>
          <a:p>
            <a:pPr eaLnBrk="1" hangingPunct="1">
              <a:lnSpc>
                <a:spcPct val="125000"/>
              </a:lnSpc>
              <a:spcBef>
                <a:spcPct val="50000"/>
              </a:spcBef>
            </a:pPr>
            <a:r>
              <a:rPr lang="en-US" altLang="zh-CN" sz="2000">
                <a:solidFill>
                  <a:srgbClr val="960000"/>
                </a:solidFill>
              </a:rPr>
              <a:t>   </a:t>
            </a:r>
            <a:r>
              <a:rPr lang="zh-CN" altLang="en-US" sz="2000">
                <a:solidFill>
                  <a:srgbClr val="960000"/>
                </a:solidFill>
                <a:latin typeface="楷体" panose="02010609060101010101" pitchFamily="49" charset="-122"/>
                <a:ea typeface="楷体" panose="02010609060101010101" pitchFamily="49" charset="-122"/>
              </a:rPr>
              <a:t>垄断资本主义的金融化程度不断提高：</a:t>
            </a:r>
          </a:p>
          <a:p>
            <a:pPr eaLnBrk="1" hangingPunct="1">
              <a:lnSpc>
                <a:spcPct val="125000"/>
              </a:lnSpc>
              <a:spcBef>
                <a:spcPct val="50000"/>
              </a:spcBef>
            </a:pPr>
            <a:r>
              <a:rPr lang="zh-CN" altLang="en-US" sz="2000">
                <a:solidFill>
                  <a:srgbClr val="960000"/>
                </a:solidFill>
              </a:rPr>
              <a:t>    </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金融业地位大幅度上升</a:t>
            </a:r>
          </a:p>
          <a:p>
            <a:pPr eaLnBrk="1" hangingPunct="1">
              <a:lnSpc>
                <a:spcPct val="125000"/>
              </a:lnSpc>
              <a:spcBef>
                <a:spcPct val="50000"/>
              </a:spcBef>
            </a:pPr>
            <a:r>
              <a:rPr lang="zh-CN" altLang="en-US" sz="1800">
                <a:solidFill>
                  <a:srgbClr val="0000FF"/>
                </a:solidFill>
                <a:latin typeface="幼圆" pitchFamily="49" charset="-122"/>
                <a:ea typeface="幼圆" pitchFamily="49" charset="-122"/>
              </a:rPr>
              <a:t>  </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实体经济资本利润下降</a:t>
            </a:r>
          </a:p>
          <a:p>
            <a:pPr eaLnBrk="1" hangingPunct="1">
              <a:lnSpc>
                <a:spcPct val="125000"/>
              </a:lnSpc>
              <a:spcBef>
                <a:spcPct val="50000"/>
              </a:spcBef>
            </a:pPr>
            <a:r>
              <a:rPr lang="zh-CN" altLang="en-US" sz="1800">
                <a:solidFill>
                  <a:srgbClr val="0000FF"/>
                </a:solidFill>
                <a:latin typeface="幼圆" pitchFamily="49" charset="-122"/>
                <a:ea typeface="幼圆" pitchFamily="49" charset="-122"/>
              </a:rPr>
              <a:t>  </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制造业就业人数减少</a:t>
            </a:r>
          </a:p>
          <a:p>
            <a:pPr eaLnBrk="1" hangingPunct="1">
              <a:lnSpc>
                <a:spcPct val="125000"/>
              </a:lnSpc>
              <a:spcBef>
                <a:spcPct val="50000"/>
              </a:spcBef>
            </a:pPr>
            <a:r>
              <a:rPr lang="zh-CN" altLang="en-US" sz="1800">
                <a:solidFill>
                  <a:srgbClr val="0000FF"/>
                </a:solidFill>
                <a:latin typeface="幼圆" pitchFamily="49" charset="-122"/>
                <a:ea typeface="幼圆" pitchFamily="49" charset="-122"/>
              </a:rPr>
              <a:t>  </a:t>
            </a:r>
            <a:r>
              <a:rPr lang="en-US" altLang="zh-CN" sz="1800">
                <a:solidFill>
                  <a:srgbClr val="0000FF"/>
                </a:solidFill>
                <a:latin typeface="幼圆" pitchFamily="49" charset="-122"/>
                <a:ea typeface="幼圆" pitchFamily="49" charset="-122"/>
              </a:rPr>
              <a:t>- </a:t>
            </a:r>
            <a:r>
              <a:rPr lang="zh-CN" altLang="en-US" sz="1800">
                <a:solidFill>
                  <a:srgbClr val="0000FF"/>
                </a:solidFill>
                <a:latin typeface="幼圆" pitchFamily="49" charset="-122"/>
                <a:ea typeface="幼圆" pitchFamily="49" charset="-122"/>
              </a:rPr>
              <a:t>虚拟经济脱离经济实体</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749577"/>
          <p:cNvSpPr>
            <a:spLocks noChangeArrowheads="1"/>
          </p:cNvSpPr>
          <p:nvPr/>
        </p:nvSpPr>
        <p:spPr bwMode="auto">
          <a:xfrm>
            <a:off x="357505" y="2714625"/>
            <a:ext cx="8500745" cy="487045"/>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zh-CN" altLang="en-US" sz="2000">
                <a:solidFill>
                  <a:srgbClr val="990000"/>
                </a:solidFill>
                <a:latin typeface="楷体" panose="02010609060101010101" pitchFamily="49" charset="-122"/>
                <a:ea typeface="楷体" panose="02010609060101010101" pitchFamily="49" charset="-122"/>
              </a:rPr>
              <a:t>将国内过剩的资本输出，以便在国外谋求高额利润</a:t>
            </a:r>
          </a:p>
        </p:txBody>
      </p:sp>
      <p:sp>
        <p:nvSpPr>
          <p:cNvPr id="44035" name="矩形 749578"/>
          <p:cNvSpPr>
            <a:spLocks noChangeArrowheads="1"/>
          </p:cNvSpPr>
          <p:nvPr/>
        </p:nvSpPr>
        <p:spPr bwMode="auto">
          <a:xfrm>
            <a:off x="357505" y="5661660"/>
            <a:ext cx="8500745" cy="647700"/>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sz="1600" dirty="0">
                <a:solidFill>
                  <a:srgbClr val="3333FF"/>
                </a:solidFill>
                <a:latin typeface="幼圆" pitchFamily="49" charset="-122"/>
                <a:ea typeface="幼圆" pitchFamily="49" charset="-122"/>
              </a:rPr>
              <a:t> </a:t>
            </a:r>
            <a:r>
              <a:rPr lang="zh-CN" altLang="en-US" sz="1600" dirty="0">
                <a:solidFill>
                  <a:srgbClr val="0000FF"/>
                </a:solidFill>
                <a:latin typeface="幼圆" pitchFamily="49" charset="-122"/>
                <a:ea typeface="幼圆" pitchFamily="49" charset="-122"/>
              </a:rPr>
              <a:t>这些经济上的动因与垄断资本主义政治上、文化上、外交上的利益紧密联系在一起，交织发挥作用，共同促进了垄断资本主义向世界范围的扩展。</a:t>
            </a:r>
          </a:p>
        </p:txBody>
      </p:sp>
      <p:sp>
        <p:nvSpPr>
          <p:cNvPr id="22532" name="矩形 749583"/>
          <p:cNvSpPr>
            <a:spLocks noChangeArrowheads="1"/>
          </p:cNvSpPr>
          <p:nvPr/>
        </p:nvSpPr>
        <p:spPr bwMode="auto">
          <a:xfrm>
            <a:off x="357188" y="3357245"/>
            <a:ext cx="8501062" cy="868363"/>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zh-CN" altLang="en-US" sz="2000">
                <a:solidFill>
                  <a:srgbClr val="990000"/>
                </a:solidFill>
                <a:latin typeface="楷体" panose="02010609060101010101" pitchFamily="49" charset="-122"/>
                <a:ea typeface="楷体" panose="02010609060101010101" pitchFamily="49" charset="-122"/>
              </a:rPr>
              <a:t>将部分非要害的技术转移到国外，以取得在别国的垄断优势，攫取高额垄断利润</a:t>
            </a:r>
          </a:p>
        </p:txBody>
      </p:sp>
      <p:sp>
        <p:nvSpPr>
          <p:cNvPr id="22533" name="矩形 749584"/>
          <p:cNvSpPr>
            <a:spLocks noChangeArrowheads="1"/>
          </p:cNvSpPr>
          <p:nvPr/>
        </p:nvSpPr>
        <p:spPr bwMode="auto">
          <a:xfrm>
            <a:off x="357505" y="5013325"/>
            <a:ext cx="8500745" cy="455930"/>
          </a:xfrm>
          <a:prstGeom prst="rect">
            <a:avLst/>
          </a:prstGeom>
          <a:solidFill>
            <a:srgbClr val="D9F2AC"/>
          </a:solidFill>
          <a:ln w="9525">
            <a:solidFill>
              <a:srgbClr val="FF9900"/>
            </a:solidFill>
            <a:miter lim="800000"/>
          </a:ln>
        </p:spPr>
        <p:txBody>
          <a:bodyPr/>
          <a:lstStyle/>
          <a:p>
            <a:pPr marL="342900" indent="-342900" eaLnBrk="1" hangingPunct="1">
              <a:lnSpc>
                <a:spcPct val="110000"/>
              </a:lnSpc>
              <a:spcBef>
                <a:spcPct val="20000"/>
              </a:spcBef>
            </a:pPr>
            <a:r>
              <a:rPr lang="zh-CN" altLang="en-US" sz="2000">
                <a:solidFill>
                  <a:srgbClr val="990000"/>
                </a:solidFill>
                <a:latin typeface="楷体" panose="02010609060101010101" pitchFamily="49" charset="-122"/>
                <a:ea typeface="楷体" panose="02010609060101010101" pitchFamily="49" charset="-122"/>
              </a:rPr>
              <a:t>确保原材料和能源的可靠来源</a:t>
            </a:r>
          </a:p>
        </p:txBody>
      </p:sp>
      <p:sp>
        <p:nvSpPr>
          <p:cNvPr id="22534" name="矩形 749585"/>
          <p:cNvSpPr>
            <a:spLocks noChangeArrowheads="1"/>
          </p:cNvSpPr>
          <p:nvPr/>
        </p:nvSpPr>
        <p:spPr bwMode="auto">
          <a:xfrm>
            <a:off x="357505" y="4381500"/>
            <a:ext cx="8500745" cy="467360"/>
          </a:xfrm>
          <a:prstGeom prst="rect">
            <a:avLst/>
          </a:prstGeom>
          <a:solidFill>
            <a:srgbClr val="D9F2AC"/>
          </a:solidFill>
          <a:ln w="9525">
            <a:solidFill>
              <a:srgbClr val="FF9900"/>
            </a:solidFill>
            <a:miter lim="800000"/>
          </a:ln>
        </p:spPr>
        <p:txBody>
          <a:bodyPr/>
          <a:lstStyle/>
          <a:p>
            <a:pPr marL="342900" indent="-342900" eaLnBrk="1" hangingPunct="1">
              <a:lnSpc>
                <a:spcPct val="110000"/>
              </a:lnSpc>
              <a:spcBef>
                <a:spcPct val="20000"/>
              </a:spcBef>
            </a:pPr>
            <a:r>
              <a:rPr lang="zh-CN" altLang="en-US" sz="2000">
                <a:solidFill>
                  <a:srgbClr val="990000"/>
                </a:solidFill>
                <a:latin typeface="楷体" panose="02010609060101010101" pitchFamily="49" charset="-122"/>
                <a:ea typeface="楷体" panose="02010609060101010101" pitchFamily="49" charset="-122"/>
              </a:rPr>
              <a:t>争夺商品销售市场</a:t>
            </a:r>
          </a:p>
        </p:txBody>
      </p:sp>
      <p:grpSp>
        <p:nvGrpSpPr>
          <p:cNvPr id="22535" name="组合 749587"/>
          <p:cNvGrpSpPr/>
          <p:nvPr/>
        </p:nvGrpSpPr>
        <p:grpSpPr bwMode="auto">
          <a:xfrm>
            <a:off x="357188" y="1928813"/>
            <a:ext cx="2952750" cy="647700"/>
            <a:chOff x="1338" y="1109"/>
            <a:chExt cx="3696" cy="384"/>
          </a:xfrm>
        </p:grpSpPr>
        <p:sp>
          <p:nvSpPr>
            <p:cNvPr id="44041" name="圆角矩形 74958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2539" name="文本框 749589"/>
            <p:cNvSpPr txBox="1">
              <a:spLocks noChangeArrowheads="1"/>
            </p:cNvSpPr>
            <p:nvPr/>
          </p:nvSpPr>
          <p:spPr bwMode="auto">
            <a:xfrm>
              <a:off x="1440"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主要经济动因</a:t>
              </a:r>
              <a:r>
                <a:rPr lang="zh-CN" altLang="en-US">
                  <a:solidFill>
                    <a:schemeClr val="bg1"/>
                  </a:solidFill>
                  <a:latin typeface="楷体_GB2312" pitchFamily="49" charset="-122"/>
                </a:rPr>
                <a:t>  </a:t>
              </a:r>
            </a:p>
          </p:txBody>
        </p:sp>
      </p:grpSp>
      <p:sp>
        <p:nvSpPr>
          <p:cNvPr id="22536" name="矩形 715783"/>
          <p:cNvSpPr>
            <a:spLocks noChangeArrowheads="1"/>
          </p:cNvSpPr>
          <p:nvPr/>
        </p:nvSpPr>
        <p:spPr bwMode="auto">
          <a:xfrm>
            <a:off x="285750" y="500063"/>
            <a:ext cx="4967288" cy="553085"/>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（三）垄断资本向世界范围的扩展</a:t>
            </a:r>
            <a:endParaRPr lang="zh-CN" altLang="en-US">
              <a:latin typeface="黑体" panose="02010609060101010101" pitchFamily="49" charset="-122"/>
              <a:ea typeface="黑体" panose="02010609060101010101" pitchFamily="49" charset="-122"/>
            </a:endParaRPr>
          </a:p>
        </p:txBody>
      </p:sp>
      <p:sp>
        <p:nvSpPr>
          <p:cNvPr id="12" name="矩形 715785"/>
          <p:cNvSpPr>
            <a:spLocks noChangeArrowheads="1"/>
          </p:cNvSpPr>
          <p:nvPr/>
        </p:nvSpPr>
        <p:spPr bwMode="auto">
          <a:xfrm>
            <a:off x="323850" y="1196975"/>
            <a:ext cx="8712200" cy="431800"/>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90000"/>
              </a:lnSpc>
              <a:spcBef>
                <a:spcPct val="20000"/>
              </a:spcBef>
              <a:defRPr/>
            </a:pPr>
            <a:r>
              <a:rPr lang="zh-CN" altLang="en-US" sz="1600" dirty="0">
                <a:solidFill>
                  <a:srgbClr val="3333FF"/>
                </a:solidFill>
                <a:latin typeface="幼圆" pitchFamily="49" charset="-122"/>
                <a:ea typeface="幼圆" pitchFamily="49" charset="-122"/>
              </a:rPr>
              <a:t>垄断资本在世界范围的扩展，反映了资本主义发展的必然逻辑，也反映了资本主义发展的本质。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748553"/>
          <p:cNvSpPr>
            <a:spLocks noChangeArrowheads="1"/>
          </p:cNvSpPr>
          <p:nvPr/>
        </p:nvSpPr>
        <p:spPr bwMode="auto">
          <a:xfrm>
            <a:off x="428625" y="1000125"/>
            <a:ext cx="8391525" cy="2571750"/>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en-US" altLang="zh-CN">
                <a:latin typeface="楷体" panose="02010609060101010101" pitchFamily="49" charset="-122"/>
                <a:ea typeface="楷体" panose="02010609060101010101" pitchFamily="49"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借贷资本输出：</a:t>
            </a:r>
            <a:r>
              <a:rPr lang="zh-CN" altLang="en-US">
                <a:solidFill>
                  <a:srgbClr val="0000FF"/>
                </a:solidFill>
                <a:latin typeface="楷体" panose="02010609060101010101" pitchFamily="49" charset="-122"/>
                <a:ea typeface="楷体" panose="02010609060101010101" pitchFamily="49" charset="-122"/>
              </a:rPr>
              <a:t>由资本主义国家的政府、银行、企业把资本贷给其他国家的政府、银行或企业。</a:t>
            </a:r>
          </a:p>
          <a:p>
            <a:pPr eaLnBrk="1" hangingPunct="1">
              <a:lnSpc>
                <a:spcPct val="125000"/>
              </a:lnSpc>
              <a:spcBef>
                <a:spcPct val="20000"/>
              </a:spcBef>
            </a:pPr>
            <a:r>
              <a:rPr lang="zh-CN" altLang="en-US">
                <a:solidFill>
                  <a:srgbClr val="663300"/>
                </a:solidFill>
                <a:latin typeface="楷体" panose="02010609060101010101" pitchFamily="49" charset="-122"/>
                <a:ea typeface="楷体" panose="02010609060101010101" pitchFamily="49"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生产资本输出：</a:t>
            </a:r>
            <a:r>
              <a:rPr lang="zh-CN" altLang="en-US">
                <a:solidFill>
                  <a:srgbClr val="0000FF"/>
                </a:solidFill>
                <a:latin typeface="楷体" panose="02010609060101010101" pitchFamily="49" charset="-122"/>
                <a:ea typeface="楷体" panose="02010609060101010101" pitchFamily="49" charset="-122"/>
              </a:rPr>
              <a:t>在国外直接投资，独立创办企业，与国外资本合营，或者收购外国已有的企业等。</a:t>
            </a:r>
          </a:p>
          <a:p>
            <a:pPr eaLnBrk="1" hangingPunct="1">
              <a:lnSpc>
                <a:spcPct val="125000"/>
              </a:lnSpc>
              <a:spcBef>
                <a:spcPct val="20000"/>
              </a:spcBef>
            </a:pPr>
            <a:r>
              <a:rPr lang="zh-CN" altLang="en-US">
                <a:solidFill>
                  <a:srgbClr val="663300"/>
                </a:solidFill>
                <a:latin typeface="楷体" panose="02010609060101010101" pitchFamily="49" charset="-122"/>
                <a:ea typeface="楷体" panose="02010609060101010101" pitchFamily="49"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商品资本输出：</a:t>
            </a:r>
            <a:r>
              <a:rPr lang="zh-CN" altLang="en-US">
                <a:solidFill>
                  <a:srgbClr val="0000FF"/>
                </a:solidFill>
                <a:latin typeface="楷体" panose="02010609060101010101" pitchFamily="49" charset="-122"/>
                <a:ea typeface="楷体" panose="02010609060101010101" pitchFamily="49" charset="-122"/>
              </a:rPr>
              <a:t>直接把商品卖到世界各地。</a:t>
            </a:r>
          </a:p>
        </p:txBody>
      </p:sp>
      <p:sp>
        <p:nvSpPr>
          <p:cNvPr id="23555" name="矩形 748554"/>
          <p:cNvSpPr>
            <a:spLocks noChangeArrowheads="1"/>
          </p:cNvSpPr>
          <p:nvPr/>
        </p:nvSpPr>
        <p:spPr bwMode="auto">
          <a:xfrm>
            <a:off x="428625" y="4214813"/>
            <a:ext cx="8393113" cy="2378075"/>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en-US" altLang="zh-CN" sz="2000">
                <a:solidFill>
                  <a:srgbClr val="663300"/>
                </a:solidFill>
                <a:latin typeface="楷体" panose="02010609060101010101" pitchFamily="49" charset="-122"/>
                <a:ea typeface="楷体" panose="02010609060101010101" pitchFamily="49" charset="-122"/>
              </a:rPr>
              <a:t>  </a:t>
            </a:r>
            <a:r>
              <a:rPr lang="en-US" altLang="zh-CN" sz="1800">
                <a:solidFill>
                  <a:srgbClr val="990000"/>
                </a:solidFill>
                <a:latin typeface="楷体" panose="02010609060101010101" pitchFamily="49" charset="-122"/>
                <a:ea typeface="楷体" panose="02010609060101010101" pitchFamily="49" charset="-122"/>
              </a:rPr>
              <a:t>- </a:t>
            </a:r>
            <a:r>
              <a:rPr lang="zh-CN" altLang="en-US" sz="1800">
                <a:solidFill>
                  <a:srgbClr val="990000"/>
                </a:solidFill>
                <a:latin typeface="楷体" panose="02010609060101010101" pitchFamily="49" charset="-122"/>
                <a:ea typeface="楷体" panose="02010609060101010101" pitchFamily="49" charset="-122"/>
              </a:rPr>
              <a:t>私人资本输出：</a:t>
            </a:r>
            <a:r>
              <a:rPr lang="zh-CN" altLang="en-US" sz="1800">
                <a:solidFill>
                  <a:srgbClr val="0000FF"/>
                </a:solidFill>
                <a:latin typeface="楷体" panose="02010609060101010101" pitchFamily="49" charset="-122"/>
                <a:ea typeface="楷体" panose="02010609060101010101" pitchFamily="49" charset="-122"/>
              </a:rPr>
              <a:t>私人对外直接投资，各种对外证券投资，私人银行和非银行金融机构的对外贷款，私人在国外的房地产投资和存款，私人对外开展商品和服务贸易等。</a:t>
            </a:r>
          </a:p>
          <a:p>
            <a:pPr eaLnBrk="1" hangingPunct="1">
              <a:lnSpc>
                <a:spcPct val="125000"/>
              </a:lnSpc>
              <a:spcBef>
                <a:spcPct val="20000"/>
              </a:spcBef>
            </a:pPr>
            <a:r>
              <a:rPr lang="zh-CN" altLang="en-US" sz="1800">
                <a:solidFill>
                  <a:srgbClr val="663300"/>
                </a:solidFill>
                <a:latin typeface="楷体" panose="02010609060101010101" pitchFamily="49" charset="-122"/>
                <a:ea typeface="楷体" panose="02010609060101010101" pitchFamily="49" charset="-122"/>
              </a:rPr>
              <a:t>  </a:t>
            </a:r>
            <a:r>
              <a:rPr lang="en-US" altLang="zh-CN" sz="1800">
                <a:solidFill>
                  <a:srgbClr val="990000"/>
                </a:solidFill>
                <a:latin typeface="楷体" panose="02010609060101010101" pitchFamily="49" charset="-122"/>
                <a:ea typeface="楷体" panose="02010609060101010101" pitchFamily="49" charset="-122"/>
              </a:rPr>
              <a:t>- </a:t>
            </a:r>
            <a:r>
              <a:rPr lang="zh-CN" altLang="en-US" sz="1800">
                <a:solidFill>
                  <a:srgbClr val="990000"/>
                </a:solidFill>
                <a:latin typeface="楷体" panose="02010609060101010101" pitchFamily="49" charset="-122"/>
                <a:ea typeface="楷体" panose="02010609060101010101" pitchFamily="49" charset="-122"/>
              </a:rPr>
              <a:t>国家资本输出：</a:t>
            </a:r>
            <a:r>
              <a:rPr lang="zh-CN" altLang="en-US" sz="1800">
                <a:solidFill>
                  <a:srgbClr val="0000FF"/>
                </a:solidFill>
                <a:latin typeface="楷体" panose="02010609060101010101" pitchFamily="49" charset="-122"/>
                <a:ea typeface="楷体" panose="02010609060101010101" pitchFamily="49" charset="-122"/>
              </a:rPr>
              <a:t>政府及其所属的金融机构的对外贷款，政府的对外援助（经济援助和军事援助），向国际机构的投资（世界银行、欧洲开发基金、国际开发协会、亚洲开发银行等），政府在国外的资产等。</a:t>
            </a:r>
          </a:p>
        </p:txBody>
      </p:sp>
      <p:sp>
        <p:nvSpPr>
          <p:cNvPr id="50183" name="矩形 748566"/>
          <p:cNvSpPr/>
          <p:nvPr/>
        </p:nvSpPr>
        <p:spPr>
          <a:xfrm>
            <a:off x="428625" y="3714750"/>
            <a:ext cx="3538538" cy="401638"/>
          </a:xfrm>
          <a:prstGeom prst="rect">
            <a:avLst/>
          </a:prstGeom>
          <a:solidFill>
            <a:schemeClr val="accent3">
              <a:lumMod val="95000"/>
            </a:schemeClr>
          </a:solidFill>
          <a:ln w="9525">
            <a:noFill/>
          </a:ln>
        </p:spPr>
        <p:txBody>
          <a:bodyPr wrap="none">
            <a:spAutoFit/>
          </a:bodyPr>
          <a:lstStyle/>
          <a:p>
            <a:pPr eaLnBrk="1" hangingPunct="1">
              <a:spcBef>
                <a:spcPct val="50000"/>
              </a:spcBef>
              <a:defRPr/>
            </a:pPr>
            <a:r>
              <a:rPr lang="zh-CN" altLang="en-US" sz="2000" noProof="1">
                <a:solidFill>
                  <a:srgbClr val="FF0000"/>
                </a:solidFill>
                <a:ea typeface="黑体" panose="02010609060101010101" pitchFamily="49" charset="-122"/>
              </a:rPr>
              <a:t>类型</a:t>
            </a:r>
            <a:r>
              <a:rPr lang="en-US" altLang="zh-CN" sz="2000" noProof="1">
                <a:solidFill>
                  <a:srgbClr val="FF0000"/>
                </a:solidFill>
                <a:ea typeface="黑体" panose="02010609060101010101" pitchFamily="49" charset="-122"/>
              </a:rPr>
              <a:t>—</a:t>
            </a:r>
            <a:r>
              <a:rPr lang="zh-CN" altLang="en-US" sz="2000" noProof="1">
                <a:solidFill>
                  <a:srgbClr val="FF0000"/>
                </a:solidFill>
                <a:ea typeface="黑体" panose="02010609060101010101" pitchFamily="49" charset="-122"/>
              </a:rPr>
              <a:t>从输出资本的来源看：</a:t>
            </a:r>
          </a:p>
        </p:txBody>
      </p:sp>
      <p:grpSp>
        <p:nvGrpSpPr>
          <p:cNvPr id="23557" name="组合 748567"/>
          <p:cNvGrpSpPr/>
          <p:nvPr/>
        </p:nvGrpSpPr>
        <p:grpSpPr bwMode="auto">
          <a:xfrm>
            <a:off x="428625" y="142875"/>
            <a:ext cx="2952750" cy="647700"/>
            <a:chOff x="1338" y="1109"/>
            <a:chExt cx="3696" cy="384"/>
          </a:xfrm>
        </p:grpSpPr>
        <p:sp>
          <p:nvSpPr>
            <p:cNvPr id="45064" name="圆角矩形 74856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3560" name="文本框 748569"/>
            <p:cNvSpPr txBox="1">
              <a:spLocks noChangeArrowheads="1"/>
            </p:cNvSpPr>
            <p:nvPr/>
          </p:nvSpPr>
          <p:spPr bwMode="auto">
            <a:xfrm>
              <a:off x="1439"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基本形式和类型</a:t>
              </a:r>
              <a:r>
                <a:rPr lang="zh-CN" altLang="en-US">
                  <a:latin typeface="楷体" panose="02010609060101010101" pitchFamily="49" charset="-122"/>
                  <a:ea typeface="楷体" panose="02010609060101010101" pitchFamily="49" charset="-122"/>
                </a:rPr>
                <a:t>  </a:t>
              </a:r>
              <a:endParaRPr lang="zh-CN" altLang="en-US">
                <a:solidFill>
                  <a:schemeClr val="bg1"/>
                </a:solidFill>
                <a:latin typeface="楷体" panose="02010609060101010101" pitchFamily="49" charset="-122"/>
                <a:ea typeface="楷体" panose="02010609060101010101" pitchFamily="49" charset="-122"/>
              </a:endParaRPr>
            </a:p>
          </p:txBody>
        </p:sp>
      </p:grpSp>
      <p:sp>
        <p:nvSpPr>
          <p:cNvPr id="8" name="矩形 807943"/>
          <p:cNvSpPr>
            <a:spLocks noChangeArrowheads="1"/>
          </p:cNvSpPr>
          <p:nvPr/>
        </p:nvSpPr>
        <p:spPr bwMode="auto">
          <a:xfrm>
            <a:off x="4624387" y="3616325"/>
            <a:ext cx="1943100" cy="554038"/>
          </a:xfrm>
          <a:prstGeom prst="rect">
            <a:avLst/>
          </a:prstGeom>
          <a:solidFill>
            <a:srgbClr val="CCFFFF"/>
          </a:solidFill>
          <a:ln w="9525">
            <a:noFill/>
            <a:miter lim="800000"/>
          </a:ln>
          <a:effectLst>
            <a:outerShdw dist="35921" dir="2700000" algn="ctr" rotWithShape="0">
              <a:schemeClr val="bg2"/>
            </a:outerShdw>
          </a:effectLst>
        </p:spPr>
        <p:txBody>
          <a:bodyPr anchor="ctr">
            <a:spAutoFit/>
          </a:bodyPr>
          <a:lstStyle/>
          <a:p>
            <a:pPr algn="ctr">
              <a:lnSpc>
                <a:spcPct val="125000"/>
              </a:lnSpc>
              <a:spcBef>
                <a:spcPct val="50000"/>
              </a:spcBef>
              <a:defRPr/>
            </a:pPr>
            <a:r>
              <a:rPr lang="zh-CN" altLang="en-US" dirty="0">
                <a:solidFill>
                  <a:srgbClr val="990000"/>
                </a:solidFill>
                <a:latin typeface="楷体" panose="02010609060101010101" pitchFamily="49" charset="-122"/>
                <a:ea typeface="楷体" panose="02010609060101010101" pitchFamily="49" charset="-122"/>
              </a:rPr>
              <a:t>跨国公司</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747529"/>
          <p:cNvSpPr>
            <a:spLocks noChangeArrowheads="1"/>
          </p:cNvSpPr>
          <p:nvPr/>
        </p:nvSpPr>
        <p:spPr bwMode="auto">
          <a:xfrm>
            <a:off x="214630" y="1038225"/>
            <a:ext cx="8643620" cy="2894330"/>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zh-CN" altLang="en-US" sz="2000">
                <a:solidFill>
                  <a:srgbClr val="FF0000"/>
                </a:solidFill>
                <a:latin typeface="幼圆" pitchFamily="49" charset="-122"/>
                <a:ea typeface="幼圆" pitchFamily="49" charset="-122"/>
              </a:rPr>
              <a:t>对资本输出国的影响：</a:t>
            </a:r>
          </a:p>
          <a:p>
            <a:pPr eaLnBrk="1" hangingPunct="1">
              <a:lnSpc>
                <a:spcPct val="125000"/>
              </a:lnSpc>
              <a:spcBef>
                <a:spcPct val="50000"/>
              </a:spcBef>
            </a:pP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为垄断资本带来巨额利润，增强了垄断资本的实力，带动和扩大了商品输出，巩固和扩大了垄断资本的销售市场和投资场所，对发展中国家的经济命脉形成控制；</a:t>
            </a:r>
          </a:p>
          <a:p>
            <a:pPr eaLnBrk="1" hangingPunct="1">
              <a:lnSpc>
                <a:spcPct val="125000"/>
              </a:lnSpc>
              <a:spcBef>
                <a:spcPct val="50000"/>
              </a:spcBef>
            </a:pP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造成一定程度的“产业空洞化”，与发展中国家和其他发达国家矛盾加深。</a:t>
            </a:r>
          </a:p>
        </p:txBody>
      </p:sp>
      <p:sp>
        <p:nvSpPr>
          <p:cNvPr id="24579" name="矩形 747530"/>
          <p:cNvSpPr>
            <a:spLocks noChangeArrowheads="1"/>
          </p:cNvSpPr>
          <p:nvPr/>
        </p:nvSpPr>
        <p:spPr bwMode="auto">
          <a:xfrm>
            <a:off x="214630" y="4111625"/>
            <a:ext cx="8643620" cy="2534920"/>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zh-CN" altLang="en-US" sz="2000">
                <a:solidFill>
                  <a:srgbClr val="FF0000"/>
                </a:solidFill>
                <a:latin typeface="幼圆" pitchFamily="49" charset="-122"/>
                <a:ea typeface="幼圆" pitchFamily="49" charset="-122"/>
              </a:rPr>
              <a:t>对资本输入国的影响：</a:t>
            </a:r>
          </a:p>
          <a:p>
            <a:pPr eaLnBrk="1" hangingPunct="1">
              <a:lnSpc>
                <a:spcPct val="125000"/>
              </a:lnSpc>
              <a:spcBef>
                <a:spcPct val="50000"/>
              </a:spcBef>
            </a:pP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经济发展所需要的资金、技术、管理得到了一定程度的满足；对产业调整和出口、就业规模的扩大产生了积极作用。</a:t>
            </a:r>
          </a:p>
          <a:p>
            <a:pPr eaLnBrk="1" hangingPunct="1">
              <a:lnSpc>
                <a:spcPct val="125000"/>
              </a:lnSpc>
              <a:spcBef>
                <a:spcPct val="50000"/>
              </a:spcBef>
            </a:pP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环境、资源和能源消耗付出了巨大带价；产业调整的自主性收到约束；冲击民族经济；债务负担加重；对外依赖性增强。</a:t>
            </a:r>
          </a:p>
        </p:txBody>
      </p:sp>
      <p:grpSp>
        <p:nvGrpSpPr>
          <p:cNvPr id="24580" name="组合 747536"/>
          <p:cNvGrpSpPr/>
          <p:nvPr/>
        </p:nvGrpSpPr>
        <p:grpSpPr bwMode="auto">
          <a:xfrm>
            <a:off x="357188" y="214313"/>
            <a:ext cx="2952750" cy="647700"/>
            <a:chOff x="1338" y="1109"/>
            <a:chExt cx="3696" cy="384"/>
          </a:xfrm>
        </p:grpSpPr>
        <p:sp>
          <p:nvSpPr>
            <p:cNvPr id="47111" name="圆角矩形 74753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4582" name="文本框 747538"/>
            <p:cNvSpPr txBox="1">
              <a:spLocks noChangeArrowheads="1"/>
            </p:cNvSpPr>
            <p:nvPr/>
          </p:nvSpPr>
          <p:spPr bwMode="auto">
            <a:xfrm>
              <a:off x="1439" y="1122"/>
              <a:ext cx="3551"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社会经济后果</a:t>
              </a:r>
              <a:r>
                <a:rPr lang="zh-CN" altLang="en-US">
                  <a:latin typeface="Arial" panose="020B0604020202020204" pitchFamily="34" charset="0"/>
                  <a:ea typeface="宋体" panose="02010600030101010101" pitchFamily="2" charset="-122"/>
                </a:rPr>
                <a:t>  </a:t>
              </a:r>
              <a:endParaRPr lang="zh-CN" altLang="en-US">
                <a:solidFill>
                  <a:schemeClr val="bg1"/>
                </a:solidFill>
                <a:latin typeface="楷体_GB2312" pitchFamily="49"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746505"/>
          <p:cNvSpPr>
            <a:spLocks noChangeArrowheads="1"/>
          </p:cNvSpPr>
          <p:nvPr/>
        </p:nvSpPr>
        <p:spPr bwMode="auto">
          <a:xfrm>
            <a:off x="179388" y="1125538"/>
            <a:ext cx="8812212" cy="719137"/>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sz="1600">
                <a:solidFill>
                  <a:srgbClr val="3333FF"/>
                </a:solidFill>
                <a:latin typeface="幼圆" pitchFamily="49" charset="-122"/>
                <a:ea typeface="幼圆" pitchFamily="49" charset="-122"/>
              </a:rPr>
              <a:t>   </a:t>
            </a:r>
            <a:r>
              <a:rPr lang="zh-CN" altLang="en-US" sz="1600">
                <a:solidFill>
                  <a:srgbClr val="3333FF"/>
                </a:solidFill>
                <a:latin typeface="幼圆" pitchFamily="49" charset="-122"/>
                <a:ea typeface="幼圆" pitchFamily="49" charset="-122"/>
              </a:rPr>
              <a:t>各资本主义国家的垄断组织，通过订立协议建立其国际垄断资本的联盟，即国际垄断同盟，以便在世界范围形成垄断，并在经济上瓜分世界。</a:t>
            </a:r>
          </a:p>
        </p:txBody>
      </p:sp>
      <p:sp>
        <p:nvSpPr>
          <p:cNvPr id="25603" name="矩形 746507"/>
          <p:cNvSpPr>
            <a:spLocks noChangeArrowheads="1"/>
          </p:cNvSpPr>
          <p:nvPr/>
        </p:nvSpPr>
        <p:spPr bwMode="auto">
          <a:xfrm>
            <a:off x="179705" y="2133600"/>
            <a:ext cx="8750300" cy="902335"/>
          </a:xfrm>
          <a:prstGeom prst="rect">
            <a:avLst/>
          </a:prstGeom>
          <a:solidFill>
            <a:srgbClr val="CCFFFF"/>
          </a:solidFill>
          <a:ln w="9525">
            <a:solidFill>
              <a:srgbClr val="FF9900"/>
            </a:solidFill>
            <a:miter lim="800000"/>
          </a:ln>
        </p:spPr>
        <p:txBody>
          <a:bodyPr/>
          <a:lstStyle/>
          <a:p>
            <a:pPr eaLnBrk="1" hangingPunct="1">
              <a:lnSpc>
                <a:spcPct val="125000"/>
              </a:lnSpc>
              <a:spcBef>
                <a:spcPct val="50000"/>
              </a:spcBef>
            </a:pPr>
            <a:r>
              <a:rPr lang="en-US" altLang="zh-CN" sz="2000">
                <a:solidFill>
                  <a:srgbClr val="FF0000"/>
                </a:solidFill>
                <a:latin typeface="幼圆" pitchFamily="49" charset="-122"/>
                <a:ea typeface="幼圆" pitchFamily="49" charset="-122"/>
              </a:rPr>
              <a:t>   </a:t>
            </a:r>
            <a:r>
              <a:rPr lang="zh-CN" altLang="en-US" sz="2000">
                <a:solidFill>
                  <a:srgbClr val="FF0000"/>
                </a:solidFill>
                <a:latin typeface="幼圆" pitchFamily="49" charset="-122"/>
                <a:ea typeface="幼圆" pitchFamily="49" charset="-122"/>
              </a:rPr>
              <a:t>早期的国际垄断同盟主要是国际卡特尔，当代国际垄断同盟的形式以国家垄断资本主义的国际联盟为主。</a:t>
            </a:r>
            <a:endParaRPr lang="zh-CN" altLang="en-US" sz="1600">
              <a:solidFill>
                <a:srgbClr val="663300"/>
              </a:solidFill>
              <a:latin typeface="楷体_GB2312" pitchFamily="49" charset="-122"/>
            </a:endParaRPr>
          </a:p>
        </p:txBody>
      </p:sp>
      <p:grpSp>
        <p:nvGrpSpPr>
          <p:cNvPr id="25604" name="组合 746519"/>
          <p:cNvGrpSpPr/>
          <p:nvPr/>
        </p:nvGrpSpPr>
        <p:grpSpPr bwMode="auto">
          <a:xfrm>
            <a:off x="214313" y="214313"/>
            <a:ext cx="2735262" cy="576262"/>
            <a:chOff x="1338" y="1109"/>
            <a:chExt cx="3696" cy="384"/>
          </a:xfrm>
        </p:grpSpPr>
        <p:sp>
          <p:nvSpPr>
            <p:cNvPr id="48137" name="圆角矩形 74652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5607" name="文本框 746521"/>
            <p:cNvSpPr txBox="1">
              <a:spLocks noChangeArrowheads="1"/>
            </p:cNvSpPr>
            <p:nvPr/>
          </p:nvSpPr>
          <p:spPr bwMode="auto">
            <a:xfrm>
              <a:off x="1439" y="1122"/>
              <a:ext cx="3551" cy="369"/>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4 </a:t>
              </a:r>
              <a:r>
                <a:rPr lang="zh-CN" altLang="en-US">
                  <a:solidFill>
                    <a:schemeClr val="bg1"/>
                  </a:solidFill>
                  <a:latin typeface="楷体" panose="02010609060101010101" pitchFamily="49" charset="-122"/>
                  <a:ea typeface="楷体" panose="02010609060101010101" pitchFamily="49" charset="-122"/>
                </a:rPr>
                <a:t>国际垄断同盟</a:t>
              </a:r>
              <a:r>
                <a:rPr lang="zh-CN" altLang="en-US">
                  <a:latin typeface="Arial" panose="020B0604020202020204" pitchFamily="34" charset="0"/>
                  <a:ea typeface="宋体" panose="02010600030101010101" pitchFamily="2" charset="-122"/>
                </a:rPr>
                <a:t> </a:t>
              </a:r>
            </a:p>
          </p:txBody>
        </p:sp>
      </p:grpSp>
      <p:sp>
        <p:nvSpPr>
          <p:cNvPr id="25605" name="矩形 746522"/>
          <p:cNvSpPr>
            <a:spLocks noChangeArrowheads="1"/>
          </p:cNvSpPr>
          <p:nvPr/>
        </p:nvSpPr>
        <p:spPr bwMode="auto">
          <a:xfrm>
            <a:off x="214313" y="3929063"/>
            <a:ext cx="8715375" cy="1944687"/>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zh-CN" altLang="en-US" sz="2000">
                <a:solidFill>
                  <a:srgbClr val="FF0000"/>
                </a:solidFill>
                <a:latin typeface="幼圆" pitchFamily="49" charset="-122"/>
                <a:ea typeface="幼圆" pitchFamily="49" charset="-122"/>
              </a:rPr>
              <a:t>国际联盟</a:t>
            </a:r>
            <a:r>
              <a:rPr lang="zh-CN" altLang="en-US">
                <a:solidFill>
                  <a:srgbClr val="FF0000"/>
                </a:solidFill>
                <a:latin typeface="幼圆" pitchFamily="49" charset="-122"/>
                <a:ea typeface="幼圆" pitchFamily="49" charset="-122"/>
              </a:rPr>
              <a:t>：</a:t>
            </a:r>
          </a:p>
          <a:p>
            <a:pPr eaLnBrk="1" hangingPunct="1">
              <a:lnSpc>
                <a:spcPct val="125000"/>
              </a:lnSpc>
              <a:spcBef>
                <a:spcPct val="50000"/>
              </a:spcBef>
            </a:pPr>
            <a:r>
              <a:rPr lang="zh-CN" altLang="en-US" sz="2000">
                <a:solidFill>
                  <a:srgbClr val="663300"/>
                </a:solidFill>
                <a:latin typeface="楷体_GB2312" pitchFamily="49" charset="-122"/>
              </a:rPr>
              <a:t> </a:t>
            </a:r>
            <a:r>
              <a:rPr lang="zh-CN" altLang="en-US" sz="2000">
                <a:solidFill>
                  <a:srgbClr val="663300"/>
                </a:solidFill>
                <a:latin typeface="楷体" panose="02010609060101010101" pitchFamily="49" charset="-122"/>
                <a:ea typeface="楷体" panose="02010609060101010101" pitchFamily="49" charset="-122"/>
              </a:rPr>
              <a:t> 由一些资本主义国家的政府出面缔结协定所组成的国际经济集团。</a:t>
            </a:r>
          </a:p>
          <a:p>
            <a:pPr eaLnBrk="1" hangingPunct="1">
              <a:lnSpc>
                <a:spcPct val="125000"/>
              </a:lnSpc>
              <a:spcBef>
                <a:spcPct val="50000"/>
              </a:spcBef>
            </a:pPr>
            <a:r>
              <a:rPr lang="zh-CN" altLang="en-US" sz="1600">
                <a:solidFill>
                  <a:srgbClr val="663300"/>
                </a:solidFill>
                <a:latin typeface="楷体_GB2312" pitchFamily="49" charset="-122"/>
              </a:rPr>
              <a:t>  </a:t>
            </a:r>
            <a:r>
              <a:rPr lang="zh-CN" altLang="en-US" sz="2000">
                <a:solidFill>
                  <a:srgbClr val="0000FF"/>
                </a:solidFill>
                <a:latin typeface="幼圆" pitchFamily="49" charset="-122"/>
                <a:ea typeface="幼圆" pitchFamily="49" charset="-122"/>
              </a:rPr>
              <a:t>西方七国集团、欧盟等。</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750596"/>
          <p:cNvSpPr>
            <a:spLocks noChangeArrowheads="1"/>
          </p:cNvSpPr>
          <p:nvPr/>
        </p:nvSpPr>
        <p:spPr bwMode="auto">
          <a:xfrm>
            <a:off x="468313" y="1628775"/>
            <a:ext cx="3384550" cy="2159000"/>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zh-CN" altLang="en-US" sz="2000">
                <a:solidFill>
                  <a:srgbClr val="FF0000"/>
                </a:solidFill>
                <a:ea typeface="幼圆" pitchFamily="49" charset="-122"/>
              </a:rPr>
              <a:t>国际经济协调的具体形式：</a:t>
            </a:r>
            <a:endParaRPr lang="zh-CN" altLang="en-US" sz="2000">
              <a:solidFill>
                <a:srgbClr val="663300"/>
              </a:solidFill>
            </a:endParaRPr>
          </a:p>
          <a:p>
            <a:pPr eaLnBrk="1" hangingPunct="1">
              <a:lnSpc>
                <a:spcPct val="125000"/>
              </a:lnSpc>
              <a:spcBef>
                <a:spcPct val="50000"/>
              </a:spcBef>
            </a:pPr>
            <a:r>
              <a:rPr lang="zh-CN" altLang="en-US" sz="2000">
                <a:solidFill>
                  <a:srgbClr val="663300"/>
                </a:solidFill>
              </a:rPr>
              <a:t>    </a:t>
            </a:r>
            <a:r>
              <a:rPr lang="zh-CN" altLang="en-US" sz="2000">
                <a:solidFill>
                  <a:srgbClr val="990000"/>
                </a:solidFill>
                <a:latin typeface="楷体" panose="02010609060101010101" pitchFamily="49" charset="-122"/>
                <a:ea typeface="楷体" panose="02010609060101010101" pitchFamily="49" charset="-122"/>
              </a:rPr>
              <a:t>各种国际经济组织</a:t>
            </a:r>
          </a:p>
          <a:p>
            <a:pPr eaLnBrk="1" hangingPunct="1">
              <a:lnSpc>
                <a:spcPct val="125000"/>
              </a:lnSpc>
              <a:spcBef>
                <a:spcPct val="50000"/>
              </a:spcBef>
            </a:pPr>
            <a:r>
              <a:rPr lang="zh-CN" altLang="en-US" sz="2000">
                <a:solidFill>
                  <a:srgbClr val="990000"/>
                </a:solidFill>
                <a:latin typeface="楷体" panose="02010609060101010101" pitchFamily="49" charset="-122"/>
                <a:ea typeface="楷体" panose="02010609060101010101" pitchFamily="49" charset="-122"/>
              </a:rPr>
              <a:t>  国际经济协议</a:t>
            </a:r>
          </a:p>
          <a:p>
            <a:pPr eaLnBrk="1" hangingPunct="1">
              <a:lnSpc>
                <a:spcPct val="125000"/>
              </a:lnSpc>
              <a:spcBef>
                <a:spcPct val="50000"/>
              </a:spcBef>
            </a:pPr>
            <a:r>
              <a:rPr lang="zh-CN" altLang="en-US" sz="2000">
                <a:solidFill>
                  <a:srgbClr val="990000"/>
                </a:solidFill>
                <a:latin typeface="楷体" panose="02010609060101010101" pitchFamily="49" charset="-122"/>
                <a:ea typeface="楷体" panose="02010609060101010101" pitchFamily="49" charset="-122"/>
              </a:rPr>
              <a:t>  地区性的经济组织和集团</a:t>
            </a:r>
          </a:p>
        </p:txBody>
      </p:sp>
      <p:sp>
        <p:nvSpPr>
          <p:cNvPr id="26627" name="矩形 750597"/>
          <p:cNvSpPr>
            <a:spLocks noChangeArrowheads="1"/>
          </p:cNvSpPr>
          <p:nvPr/>
        </p:nvSpPr>
        <p:spPr bwMode="auto">
          <a:xfrm>
            <a:off x="4286250" y="1643063"/>
            <a:ext cx="4343400" cy="2143125"/>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zh-CN" altLang="en-US" sz="2000">
                <a:solidFill>
                  <a:srgbClr val="FF0000"/>
                </a:solidFill>
                <a:ea typeface="幼圆" pitchFamily="49" charset="-122"/>
              </a:rPr>
              <a:t>国际性协调组织：</a:t>
            </a:r>
          </a:p>
          <a:p>
            <a:pPr eaLnBrk="1" hangingPunct="1">
              <a:lnSpc>
                <a:spcPct val="125000"/>
              </a:lnSpc>
              <a:spcBef>
                <a:spcPct val="50000"/>
              </a:spcBef>
            </a:pPr>
            <a:r>
              <a:rPr lang="zh-CN" altLang="en-US" sz="2000">
                <a:solidFill>
                  <a:srgbClr val="990000"/>
                </a:solidFill>
                <a:latin typeface="楷体" panose="02010609060101010101" pitchFamily="49" charset="-122"/>
                <a:ea typeface="楷体" panose="02010609060101010101" pitchFamily="49" charset="-122"/>
              </a:rPr>
              <a:t>  国际货币基金组织</a:t>
            </a:r>
          </a:p>
          <a:p>
            <a:pPr eaLnBrk="1" hangingPunct="1">
              <a:lnSpc>
                <a:spcPct val="125000"/>
              </a:lnSpc>
              <a:spcBef>
                <a:spcPct val="50000"/>
              </a:spcBef>
            </a:pPr>
            <a:r>
              <a:rPr lang="zh-CN" altLang="en-US" sz="2000">
                <a:solidFill>
                  <a:srgbClr val="990000"/>
                </a:solidFill>
                <a:latin typeface="楷体" panose="02010609060101010101" pitchFamily="49" charset="-122"/>
                <a:ea typeface="楷体" panose="02010609060101010101" pitchFamily="49" charset="-122"/>
              </a:rPr>
              <a:t>  世界银行</a:t>
            </a:r>
          </a:p>
          <a:p>
            <a:pPr eaLnBrk="1" hangingPunct="1">
              <a:lnSpc>
                <a:spcPct val="125000"/>
              </a:lnSpc>
              <a:spcBef>
                <a:spcPct val="50000"/>
              </a:spcBef>
            </a:pPr>
            <a:r>
              <a:rPr lang="zh-CN" altLang="en-US" sz="2000">
                <a:solidFill>
                  <a:srgbClr val="990000"/>
                </a:solidFill>
                <a:latin typeface="楷体" panose="02010609060101010101" pitchFamily="49" charset="-122"/>
                <a:ea typeface="楷体" panose="02010609060101010101" pitchFamily="49" charset="-122"/>
              </a:rPr>
              <a:t>  世界贸易组织</a:t>
            </a:r>
            <a:endParaRPr lang="zh-CN" altLang="en-US" sz="2000">
              <a:solidFill>
                <a:srgbClr val="0000FF"/>
              </a:solidFill>
              <a:latin typeface="楷体" panose="02010609060101010101" pitchFamily="49" charset="-122"/>
              <a:ea typeface="楷体" panose="02010609060101010101" pitchFamily="49" charset="-122"/>
            </a:endParaRPr>
          </a:p>
        </p:txBody>
      </p:sp>
      <p:grpSp>
        <p:nvGrpSpPr>
          <p:cNvPr id="26628" name="组合 750606"/>
          <p:cNvGrpSpPr/>
          <p:nvPr/>
        </p:nvGrpSpPr>
        <p:grpSpPr bwMode="auto">
          <a:xfrm>
            <a:off x="468313" y="476250"/>
            <a:ext cx="3240087" cy="647700"/>
            <a:chOff x="1338" y="1109"/>
            <a:chExt cx="3696" cy="384"/>
          </a:xfrm>
        </p:grpSpPr>
        <p:sp>
          <p:nvSpPr>
            <p:cNvPr id="50185" name="圆角矩形 75060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26631" name="文本框 750608"/>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5 </a:t>
              </a:r>
              <a:r>
                <a:rPr lang="zh-CN" altLang="en-US">
                  <a:solidFill>
                    <a:schemeClr val="bg1"/>
                  </a:solidFill>
                  <a:latin typeface="楷体" panose="02010609060101010101" pitchFamily="49" charset="-122"/>
                  <a:ea typeface="楷体" panose="02010609060101010101" pitchFamily="49" charset="-122"/>
                </a:rPr>
                <a:t>国际经济调节体系</a:t>
              </a:r>
              <a:r>
                <a:rPr lang="zh-CN" altLang="en-US">
                  <a:solidFill>
                    <a:schemeClr val="bg1"/>
                  </a:solidFill>
                  <a:latin typeface="楷体_GB2312" pitchFamily="49" charset="-122"/>
                </a:rPr>
                <a:t>  </a:t>
              </a:r>
            </a:p>
          </p:txBody>
        </p:sp>
      </p:grpSp>
      <p:sp>
        <p:nvSpPr>
          <p:cNvPr id="26629" name="矩形 750613"/>
          <p:cNvSpPr>
            <a:spLocks noChangeArrowheads="1"/>
          </p:cNvSpPr>
          <p:nvPr/>
        </p:nvSpPr>
        <p:spPr bwMode="auto">
          <a:xfrm>
            <a:off x="500063" y="4546600"/>
            <a:ext cx="8143875" cy="2051050"/>
          </a:xfrm>
          <a:prstGeom prst="rect">
            <a:avLst/>
          </a:prstGeom>
          <a:solidFill>
            <a:srgbClr val="CCFFFF"/>
          </a:solidFill>
          <a:ln w="9525">
            <a:solidFill>
              <a:srgbClr val="FF9900"/>
            </a:solidFill>
            <a:miter lim="800000"/>
          </a:ln>
        </p:spPr>
        <p:txBody>
          <a:bodyPr/>
          <a:lstStyle/>
          <a:p>
            <a:pPr eaLnBrk="1" hangingPunct="1">
              <a:lnSpc>
                <a:spcPct val="125000"/>
              </a:lnSpc>
              <a:spcBef>
                <a:spcPct val="50000"/>
              </a:spcBef>
            </a:pPr>
            <a:r>
              <a:rPr lang="en-US" altLang="zh-CN" sz="1600">
                <a:solidFill>
                  <a:srgbClr val="FF0000"/>
                </a:solidFill>
                <a:latin typeface="幼圆" pitchFamily="49" charset="-122"/>
                <a:ea typeface="幼圆" pitchFamily="49" charset="-122"/>
              </a:rPr>
              <a:t>     </a:t>
            </a:r>
            <a:r>
              <a:rPr lang="zh-CN" altLang="en-US" sz="2000">
                <a:solidFill>
                  <a:srgbClr val="0000FF"/>
                </a:solidFill>
                <a:latin typeface="楷体" panose="02010609060101010101" pitchFamily="49" charset="-122"/>
                <a:ea typeface="楷体" panose="02010609060101010101" pitchFamily="49" charset="-122"/>
              </a:rPr>
              <a:t>垄断资本国际化条件下各种形式的国际垄断组织、国际垄断同盟和国际经济协调机构的发展，加快了资本、技术等生产要素在国际间的流动，推动了商品和服务贸易额的迅速增加，加快了各国之间的经济联系，促进了经济全球化的发展。</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716808"/>
          <p:cNvSpPr>
            <a:spLocks noChangeArrowheads="1"/>
          </p:cNvSpPr>
          <p:nvPr/>
        </p:nvSpPr>
        <p:spPr bwMode="auto">
          <a:xfrm>
            <a:off x="785813" y="428625"/>
            <a:ext cx="3967162"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（四）垄断资本主义的实质</a:t>
            </a:r>
          </a:p>
        </p:txBody>
      </p:sp>
      <p:sp>
        <p:nvSpPr>
          <p:cNvPr id="27651" name="矩形 716809"/>
          <p:cNvSpPr>
            <a:spLocks noChangeArrowheads="1"/>
          </p:cNvSpPr>
          <p:nvPr/>
        </p:nvSpPr>
        <p:spPr bwMode="auto">
          <a:xfrm>
            <a:off x="755650" y="1196975"/>
            <a:ext cx="7673975" cy="3671888"/>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en-US" altLang="zh-CN" sz="2000">
                <a:solidFill>
                  <a:srgbClr val="663300"/>
                </a:solidFill>
                <a:latin typeface="宋体" panose="02010600030101010101" pitchFamily="2" charset="-122"/>
              </a:rPr>
              <a:t> </a:t>
            </a:r>
            <a:r>
              <a:rPr lang="en-US" altLang="zh-CN">
                <a:solidFill>
                  <a:srgbClr val="990000"/>
                </a:solidFill>
                <a:latin typeface="宋体" panose="02010600030101010101" pitchFamily="2" charset="-122"/>
              </a:rPr>
              <a:t>- </a:t>
            </a:r>
            <a:r>
              <a:rPr lang="zh-CN" altLang="en-US">
                <a:solidFill>
                  <a:srgbClr val="FF0000"/>
                </a:solidFill>
                <a:latin typeface="宋体" panose="02010600030101010101" pitchFamily="2" charset="-122"/>
                <a:ea typeface="幼圆" pitchFamily="49" charset="-122"/>
              </a:rPr>
              <a:t>垄断组织</a:t>
            </a:r>
            <a:r>
              <a:rPr lang="zh-CN" altLang="en-US">
                <a:solidFill>
                  <a:srgbClr val="990000"/>
                </a:solidFill>
                <a:latin typeface="楷体" panose="02010609060101010101" pitchFamily="49" charset="-122"/>
                <a:ea typeface="楷体" panose="02010609060101010101" pitchFamily="49" charset="-122"/>
              </a:rPr>
              <a:t>在经济生活中起决定作用</a:t>
            </a:r>
          </a:p>
          <a:p>
            <a:pPr algn="just" eaLnBrk="1" hangingPunct="1">
              <a:lnSpc>
                <a:spcPct val="125000"/>
              </a:lnSpc>
              <a:spcBef>
                <a:spcPct val="50000"/>
              </a:spcBef>
            </a:pPr>
            <a:r>
              <a:rPr lang="zh-CN" altLang="en-US">
                <a:solidFill>
                  <a:srgbClr val="990000"/>
                </a:solidFill>
                <a:latin typeface="楷体" panose="02010609060101010101" pitchFamily="49" charset="-122"/>
                <a:ea typeface="楷体" panose="02010609060101010101" pitchFamily="49"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在金融资本的基础上形成</a:t>
            </a:r>
            <a:r>
              <a:rPr lang="zh-CN" altLang="en-US">
                <a:solidFill>
                  <a:srgbClr val="FF0000"/>
                </a:solidFill>
                <a:latin typeface="宋体" panose="02010600030101010101" pitchFamily="2" charset="-122"/>
                <a:ea typeface="幼圆" pitchFamily="49" charset="-122"/>
              </a:rPr>
              <a:t>金融寡头</a:t>
            </a:r>
            <a:r>
              <a:rPr lang="zh-CN" altLang="en-US">
                <a:solidFill>
                  <a:srgbClr val="990000"/>
                </a:solidFill>
                <a:latin typeface="楷体" panose="02010609060101010101" pitchFamily="49" charset="-122"/>
                <a:ea typeface="楷体" panose="02010609060101010101" pitchFamily="49" charset="-122"/>
              </a:rPr>
              <a:t>的统治</a:t>
            </a:r>
          </a:p>
          <a:p>
            <a:pPr algn="just" eaLnBrk="1" hangingPunct="1">
              <a:lnSpc>
                <a:spcPct val="125000"/>
              </a:lnSpc>
              <a:spcBef>
                <a:spcPct val="50000"/>
              </a:spcBef>
            </a:pPr>
            <a:r>
              <a:rPr lang="zh-CN" altLang="en-US">
                <a:solidFill>
                  <a:srgbClr val="990000"/>
                </a:solidFill>
                <a:latin typeface="宋体" panose="02010600030101010101" pitchFamily="2" charset="-122"/>
              </a:rPr>
              <a:t> </a:t>
            </a:r>
            <a:r>
              <a:rPr lang="en-US" altLang="zh-CN">
                <a:solidFill>
                  <a:srgbClr val="990000"/>
                </a:solidFill>
                <a:latin typeface="宋体" panose="02010600030101010101" pitchFamily="2" charset="-122"/>
              </a:rPr>
              <a:t>- </a:t>
            </a:r>
            <a:r>
              <a:rPr lang="zh-CN" altLang="en-US">
                <a:solidFill>
                  <a:srgbClr val="FF0000"/>
                </a:solidFill>
                <a:latin typeface="宋体" panose="02010600030101010101" pitchFamily="2" charset="-122"/>
                <a:ea typeface="幼圆" pitchFamily="49" charset="-122"/>
              </a:rPr>
              <a:t>资本输出</a:t>
            </a:r>
            <a:r>
              <a:rPr lang="zh-CN" altLang="en-US">
                <a:solidFill>
                  <a:srgbClr val="990000"/>
                </a:solidFill>
                <a:latin typeface="楷体" panose="02010609060101010101" pitchFamily="49" charset="-122"/>
                <a:ea typeface="楷体" panose="02010609060101010101" pitchFamily="49" charset="-122"/>
              </a:rPr>
              <a:t>有了特别重要的意义</a:t>
            </a:r>
          </a:p>
          <a:p>
            <a:pPr algn="just" eaLnBrk="1" hangingPunct="1">
              <a:lnSpc>
                <a:spcPct val="125000"/>
              </a:lnSpc>
              <a:spcBef>
                <a:spcPct val="50000"/>
              </a:spcBef>
            </a:pPr>
            <a:r>
              <a:rPr lang="zh-CN" altLang="en-US">
                <a:solidFill>
                  <a:srgbClr val="990000"/>
                </a:solidFill>
                <a:latin typeface="宋体" panose="02010600030101010101" pitchFamily="2"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瓜分世界的资本家</a:t>
            </a:r>
            <a:r>
              <a:rPr lang="zh-CN" altLang="en-US">
                <a:solidFill>
                  <a:srgbClr val="FF0000"/>
                </a:solidFill>
                <a:latin typeface="宋体" panose="02010600030101010101" pitchFamily="2" charset="-122"/>
                <a:ea typeface="幼圆" pitchFamily="49" charset="-122"/>
              </a:rPr>
              <a:t>国际垄断同盟</a:t>
            </a:r>
            <a:r>
              <a:rPr lang="zh-CN" altLang="en-US">
                <a:solidFill>
                  <a:srgbClr val="990000"/>
                </a:solidFill>
                <a:latin typeface="楷体" panose="02010609060101010101" pitchFamily="49" charset="-122"/>
                <a:ea typeface="楷体" panose="02010609060101010101" pitchFamily="49" charset="-122"/>
              </a:rPr>
              <a:t>已经形成</a:t>
            </a:r>
          </a:p>
          <a:p>
            <a:pPr eaLnBrk="1" hangingPunct="1">
              <a:lnSpc>
                <a:spcPct val="125000"/>
              </a:lnSpc>
              <a:spcBef>
                <a:spcPct val="50000"/>
              </a:spcBef>
            </a:pPr>
            <a:r>
              <a:rPr lang="zh-CN" altLang="en-US">
                <a:solidFill>
                  <a:srgbClr val="990000"/>
                </a:solidFill>
                <a:latin typeface="楷体" panose="02010609060101010101" pitchFamily="49" charset="-122"/>
                <a:ea typeface="楷体" panose="02010609060101010101" pitchFamily="49" charset="-122"/>
              </a:rPr>
              <a:t> </a:t>
            </a: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最大资本主义大国已把世界上的</a:t>
            </a:r>
            <a:r>
              <a:rPr lang="zh-CN" altLang="en-US">
                <a:solidFill>
                  <a:srgbClr val="FF0000"/>
                </a:solidFill>
                <a:latin typeface="宋体" panose="02010600030101010101" pitchFamily="2" charset="-122"/>
                <a:ea typeface="幼圆" pitchFamily="49" charset="-122"/>
              </a:rPr>
              <a:t>领土瓜分完毕</a:t>
            </a:r>
          </a:p>
        </p:txBody>
      </p:sp>
      <p:sp>
        <p:nvSpPr>
          <p:cNvPr id="27652" name="矩形 716815"/>
          <p:cNvSpPr>
            <a:spLocks noChangeArrowheads="1" noChangeShapeType="1" noTextEdit="1"/>
          </p:cNvSpPr>
          <p:nvPr/>
        </p:nvSpPr>
        <p:spPr bwMode="auto">
          <a:xfrm rot="5400000">
            <a:off x="-1116806" y="2556669"/>
            <a:ext cx="3024187" cy="288925"/>
          </a:xfrm>
          <a:prstGeom prst="rect">
            <a:avLst/>
          </a:prstGeom>
        </p:spPr>
        <p:txBody>
          <a:bodyPr vert="eaVert" wrap="none" fromWordArt="1">
            <a:prstTxWarp prst="textPlain">
              <a:avLst>
                <a:gd name="adj" fmla="val 50000"/>
              </a:avLst>
            </a:prstTxWarp>
            <a:scene3d>
              <a:camera prst="legacyPerspectiveFront">
                <a:rot lat="20639990" lon="20699983" rev="0"/>
              </a:camera>
              <a:lightRig rig="legacyNormal3" dir="l"/>
            </a:scene3d>
            <a:sp3d extrusionH="201600" prstMaterial="legacyPlastic">
              <a:extrusionClr>
                <a:srgbClr val="FF9966"/>
              </a:extrusionClr>
            </a:sp3d>
          </a:bodyPr>
          <a:lstStyle/>
          <a:p>
            <a:pPr algn="ctr" fontAlgn="auto"/>
            <a:r>
              <a:rPr lang="zh-CN" altLang="en-US" sz="3600" kern="10">
                <a:ln w="9525">
                  <a:round/>
                </a:ln>
                <a:solidFill>
                  <a:srgbClr val="CC0000"/>
                </a:solidFill>
                <a:latin typeface="宋体" panose="02010600030101010101" pitchFamily="2" charset="-122"/>
                <a:ea typeface="宋体" panose="02010600030101010101" pitchFamily="2" charset="-122"/>
              </a:rPr>
              <a:t>五个基本特征</a:t>
            </a:r>
          </a:p>
        </p:txBody>
      </p:sp>
      <p:sp>
        <p:nvSpPr>
          <p:cNvPr id="27653" name="矩形 716816"/>
          <p:cNvSpPr>
            <a:spLocks noChangeArrowheads="1" noChangeShapeType="1" noTextEdit="1"/>
          </p:cNvSpPr>
          <p:nvPr/>
        </p:nvSpPr>
        <p:spPr bwMode="auto">
          <a:xfrm rot="5400000">
            <a:off x="8232776" y="5610225"/>
            <a:ext cx="1079500" cy="314325"/>
          </a:xfrm>
          <a:prstGeom prst="rect">
            <a:avLst/>
          </a:prstGeom>
        </p:spPr>
        <p:txBody>
          <a:bodyPr vert="eaVert" wrap="none" fromWordArt="1">
            <a:prstTxWarp prst="textPlain">
              <a:avLst>
                <a:gd name="adj" fmla="val 50000"/>
              </a:avLst>
            </a:prstTxWarp>
            <a:scene3d>
              <a:camera prst="legacyPerspectiveFront">
                <a:rot lat="20639990" lon="20699983" rev="0"/>
              </a:camera>
              <a:lightRig rig="legacyNormal3" dir="l"/>
            </a:scene3d>
            <a:sp3d extrusionH="201600" prstMaterial="legacyPlastic">
              <a:extrusionClr>
                <a:srgbClr val="FF9966"/>
              </a:extrusionClr>
            </a:sp3d>
          </a:bodyPr>
          <a:lstStyle/>
          <a:p>
            <a:pPr algn="ctr" fontAlgn="auto"/>
            <a:r>
              <a:rPr lang="zh-CN" altLang="en-US" sz="3600" kern="10">
                <a:ln w="9525">
                  <a:round/>
                </a:ln>
                <a:solidFill>
                  <a:srgbClr val="CC0000"/>
                </a:solidFill>
                <a:latin typeface="宋体" panose="02010600030101010101" pitchFamily="2" charset="-122"/>
                <a:ea typeface="宋体" panose="02010600030101010101" pitchFamily="2" charset="-122"/>
              </a:rPr>
              <a:t>实 质</a:t>
            </a:r>
          </a:p>
        </p:txBody>
      </p:sp>
      <p:sp>
        <p:nvSpPr>
          <p:cNvPr id="27654" name="矩形 716819"/>
          <p:cNvSpPr>
            <a:spLocks noChangeArrowheads="1"/>
          </p:cNvSpPr>
          <p:nvPr/>
        </p:nvSpPr>
        <p:spPr bwMode="auto">
          <a:xfrm>
            <a:off x="714375" y="5286375"/>
            <a:ext cx="7745413" cy="1201738"/>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en-US" altLang="zh-CN">
                <a:solidFill>
                  <a:srgbClr val="663300"/>
                </a:solidFill>
                <a:latin typeface="宋体" panose="02010600030101010101" pitchFamily="2" charset="-122"/>
              </a:rPr>
              <a:t>  </a:t>
            </a:r>
            <a:r>
              <a:rPr lang="zh-CN" altLang="en-US">
                <a:solidFill>
                  <a:srgbClr val="990000"/>
                </a:solidFill>
                <a:latin typeface="楷体" panose="02010609060101010101" pitchFamily="49" charset="-122"/>
                <a:ea typeface="楷体" panose="02010609060101010101" pitchFamily="49" charset="-122"/>
              </a:rPr>
              <a:t>垄断资本凭借垄断地位，获取高额垄断利润。</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753669"/>
          <p:cNvSpPr>
            <a:spLocks noChangeArrowheads="1"/>
          </p:cNvSpPr>
          <p:nvPr/>
        </p:nvSpPr>
        <p:spPr bwMode="auto">
          <a:xfrm>
            <a:off x="214313" y="1071563"/>
            <a:ext cx="8643937" cy="1571625"/>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en-US" altLang="zh-CN" sz="2000">
                <a:solidFill>
                  <a:srgbClr val="0000FF"/>
                </a:solidFill>
              </a:rPr>
              <a:t> - </a:t>
            </a:r>
            <a:r>
              <a:rPr lang="zh-CN" altLang="en-US" sz="2000">
                <a:solidFill>
                  <a:srgbClr val="FF0000"/>
                </a:solidFill>
                <a:ea typeface="幼圆" pitchFamily="49" charset="-122"/>
              </a:rPr>
              <a:t>对内</a:t>
            </a:r>
            <a:r>
              <a:rPr lang="zh-CN" altLang="en-US" sz="2000">
                <a:solidFill>
                  <a:srgbClr val="0000FF"/>
                </a:solidFill>
                <a:latin typeface="楷体" panose="02010609060101010101" pitchFamily="49" charset="-122"/>
                <a:ea typeface="楷体" panose="02010609060101010101" pitchFamily="49" charset="-122"/>
              </a:rPr>
              <a:t>通过“参与制”和“个人联合”谋求从经济到政治对整个国家的统治；</a:t>
            </a:r>
            <a:r>
              <a:rPr lang="zh-CN" altLang="en-US" sz="2000">
                <a:solidFill>
                  <a:srgbClr val="0000FF"/>
                </a:solidFill>
              </a:rPr>
              <a:t>    </a:t>
            </a:r>
          </a:p>
          <a:p>
            <a:pPr eaLnBrk="1" hangingPunct="1">
              <a:lnSpc>
                <a:spcPct val="125000"/>
              </a:lnSpc>
              <a:spcBef>
                <a:spcPct val="20000"/>
              </a:spcBef>
            </a:pPr>
            <a:r>
              <a:rPr lang="zh-CN" altLang="en-US" sz="2000">
                <a:solidFill>
                  <a:srgbClr val="0000FF"/>
                </a:solidFill>
              </a:rPr>
              <a:t>  </a:t>
            </a:r>
            <a:r>
              <a:rPr lang="en-US" altLang="zh-CN" sz="2000">
                <a:solidFill>
                  <a:srgbClr val="0000FF"/>
                </a:solidFill>
              </a:rPr>
              <a:t>- </a:t>
            </a:r>
            <a:r>
              <a:rPr lang="zh-CN" altLang="en-US" sz="2000">
                <a:solidFill>
                  <a:srgbClr val="FF0000"/>
                </a:solidFill>
                <a:ea typeface="幼圆" pitchFamily="49" charset="-122"/>
              </a:rPr>
              <a:t>对外</a:t>
            </a:r>
            <a:r>
              <a:rPr lang="zh-CN" altLang="en-US" sz="2000">
                <a:solidFill>
                  <a:srgbClr val="0000FF"/>
                </a:solidFill>
                <a:latin typeface="楷体" panose="02010609060101010101" pitchFamily="49" charset="-122"/>
                <a:ea typeface="楷体" panose="02010609060101010101" pitchFamily="49" charset="-122"/>
              </a:rPr>
              <a:t>运用经济、政治甚至战争的手段进行扩张，谋求对整个世界经济和政治的控制。</a:t>
            </a:r>
          </a:p>
        </p:txBody>
      </p:sp>
      <p:sp>
        <p:nvSpPr>
          <p:cNvPr id="28675" name="矩形 753679"/>
          <p:cNvSpPr>
            <a:spLocks noChangeArrowheads="1"/>
          </p:cNvSpPr>
          <p:nvPr/>
        </p:nvSpPr>
        <p:spPr bwMode="auto">
          <a:xfrm>
            <a:off x="214313" y="2786063"/>
            <a:ext cx="8662987" cy="1214437"/>
          </a:xfrm>
          <a:prstGeom prst="rect">
            <a:avLst/>
          </a:prstGeom>
          <a:solidFill>
            <a:srgbClr val="D9F2AC"/>
          </a:solidFill>
          <a:ln w="9525">
            <a:solidFill>
              <a:srgbClr val="FF9900"/>
            </a:solidFill>
            <a:miter lim="800000"/>
          </a:ln>
        </p:spPr>
        <p:txBody>
          <a:bodyPr/>
          <a:lstStyle/>
          <a:p>
            <a:pPr eaLnBrk="1" hangingPunct="1">
              <a:lnSpc>
                <a:spcPct val="125000"/>
              </a:lnSpc>
              <a:spcBef>
                <a:spcPct val="20000"/>
              </a:spcBef>
            </a:pPr>
            <a:r>
              <a:rPr lang="en-US" altLang="zh-CN" sz="2000">
                <a:solidFill>
                  <a:srgbClr val="0000FF"/>
                </a:solidFill>
              </a:rPr>
              <a:t>    </a:t>
            </a:r>
            <a:r>
              <a:rPr lang="zh-CN" altLang="en-US">
                <a:solidFill>
                  <a:srgbClr val="0000FF"/>
                </a:solidFill>
                <a:latin typeface="楷体" panose="02010609060101010101" pitchFamily="49" charset="-122"/>
                <a:ea typeface="楷体" panose="02010609060101010101" pitchFamily="49" charset="-122"/>
              </a:rPr>
              <a:t>当代垄断资本主义国家更多地采取比较缓和和隐蔽的手法，打着所谓援助的旗号实现其对发展中国家的剥削、控制。</a:t>
            </a:r>
          </a:p>
        </p:txBody>
      </p:sp>
      <p:sp>
        <p:nvSpPr>
          <p:cNvPr id="28676" name="矩形 753685" descr="白色大理石"/>
          <p:cNvSpPr>
            <a:spLocks noChangeArrowheads="1" noChangeShapeType="1" noTextEdit="1"/>
          </p:cNvSpPr>
          <p:nvPr/>
        </p:nvSpPr>
        <p:spPr bwMode="auto">
          <a:xfrm>
            <a:off x="285750" y="357188"/>
            <a:ext cx="5111750" cy="423862"/>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a:ln w="9525">
                  <a:round/>
                </a:ln>
                <a:solidFill>
                  <a:srgbClr val="FF0000"/>
                </a:solidFill>
                <a:latin typeface="宋体" panose="02010600030101010101" pitchFamily="2" charset="-122"/>
                <a:ea typeface="宋体" panose="02010600030101010101" pitchFamily="2" charset="-122"/>
              </a:rPr>
              <a:t>为了获取高额垄断利润，垄断资本：</a:t>
            </a:r>
          </a:p>
        </p:txBody>
      </p:sp>
      <p:sp>
        <p:nvSpPr>
          <p:cNvPr id="28677" name="矩形 753686"/>
          <p:cNvSpPr>
            <a:spLocks noChangeArrowheads="1"/>
          </p:cNvSpPr>
          <p:nvPr/>
        </p:nvSpPr>
        <p:spPr bwMode="auto">
          <a:xfrm>
            <a:off x="214313" y="4214813"/>
            <a:ext cx="8713787" cy="1512887"/>
          </a:xfrm>
          <a:prstGeom prst="rect">
            <a:avLst/>
          </a:prstGeom>
          <a:solidFill>
            <a:srgbClr val="CCFFFF"/>
          </a:solidFill>
          <a:ln w="9525">
            <a:solidFill>
              <a:srgbClr val="FF9900"/>
            </a:solidFill>
            <a:miter lim="800000"/>
          </a:ln>
        </p:spPr>
        <p:txBody>
          <a:bodyPr/>
          <a:lstStyle/>
          <a:p>
            <a:pPr eaLnBrk="1" hangingPunct="1">
              <a:lnSpc>
                <a:spcPct val="125000"/>
              </a:lnSpc>
              <a:spcBef>
                <a:spcPct val="50000"/>
              </a:spcBef>
            </a:pPr>
            <a:r>
              <a:rPr lang="en-US" altLang="zh-CN" sz="1600">
                <a:solidFill>
                  <a:srgbClr val="FF0000"/>
                </a:solidFill>
                <a:latin typeface="幼圆" pitchFamily="49" charset="-122"/>
                <a:ea typeface="幼圆" pitchFamily="49" charset="-122"/>
              </a:rPr>
              <a:t>   </a:t>
            </a:r>
            <a:r>
              <a:rPr lang="zh-CN" altLang="en-US">
                <a:solidFill>
                  <a:srgbClr val="990000"/>
                </a:solidFill>
                <a:latin typeface="黑体" panose="02010609060101010101" pitchFamily="49" charset="-122"/>
                <a:ea typeface="黑体" panose="02010609060101010101" pitchFamily="49" charset="-122"/>
              </a:rPr>
              <a:t>虽然列宁指出的垄断资本主义的基本经济特征在表现形式上发生了一些变化，但其基本内容及实质并没有发生根本变化，列宁的论述仍然是我们认识当代资本主义的重要理论武器。</a:t>
            </a:r>
            <a:endParaRPr lang="zh-CN" altLang="en-US">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框 703492"/>
          <p:cNvSpPr txBox="1">
            <a:spLocks noChangeArrowheads="1"/>
          </p:cNvSpPr>
          <p:nvPr/>
        </p:nvSpPr>
        <p:spPr bwMode="auto">
          <a:xfrm>
            <a:off x="668338" y="1628775"/>
            <a:ext cx="7920037" cy="1938020"/>
          </a:xfrm>
          <a:prstGeom prst="rect">
            <a:avLst/>
          </a:prstGeom>
          <a:solidFill>
            <a:srgbClr val="FFFF99"/>
          </a:solidFill>
          <a:ln w="38100">
            <a:solidFill>
              <a:srgbClr val="FF3300"/>
            </a:solidFill>
            <a:miter lim="800000"/>
          </a:ln>
        </p:spPr>
        <p:txBody>
          <a:bodyPr>
            <a:spAutoFit/>
          </a:bodyPr>
          <a:lstStyle/>
          <a:p>
            <a:pPr eaLnBrk="1" hangingPunct="1">
              <a:lnSpc>
                <a:spcPct val="125000"/>
              </a:lnSpc>
              <a:spcBef>
                <a:spcPct val="50000"/>
              </a:spcBef>
            </a:pPr>
            <a:r>
              <a:rPr lang="zh-CN" altLang="en-US">
                <a:solidFill>
                  <a:srgbClr val="3333FF"/>
                </a:solidFill>
                <a:latin typeface="楷体" panose="02010609060101010101" pitchFamily="49" charset="-122"/>
                <a:ea typeface="楷体" panose="02010609060101010101" pitchFamily="49" charset="-122"/>
              </a:rPr>
              <a:t>经济全球化是指在生产不断发展、科技加速进步、社会分工和国际分工不断深化、生产的社会化和国际化程度不断提高的情况下，世界各国、各地区的经济活动越来越超出某一国家和地区的范围而相互联系、相互依赖的过程。</a:t>
            </a:r>
            <a:endParaRPr lang="zh-CN" altLang="en-US">
              <a:latin typeface="楷体" panose="02010609060101010101" pitchFamily="49" charset="-122"/>
              <a:ea typeface="楷体" panose="02010609060101010101" pitchFamily="49" charset="-122"/>
            </a:endParaRPr>
          </a:p>
        </p:txBody>
      </p:sp>
      <p:sp>
        <p:nvSpPr>
          <p:cNvPr id="29699" name="矩形 703495"/>
          <p:cNvSpPr>
            <a:spLocks noChangeArrowheads="1"/>
          </p:cNvSpPr>
          <p:nvPr/>
        </p:nvSpPr>
        <p:spPr bwMode="auto">
          <a:xfrm>
            <a:off x="668655" y="3788728"/>
            <a:ext cx="3814763" cy="561975"/>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（一）经济全球化的表现</a:t>
            </a:r>
            <a:endParaRPr lang="zh-CN" altLang="en-US"/>
          </a:p>
        </p:txBody>
      </p:sp>
      <p:sp>
        <p:nvSpPr>
          <p:cNvPr id="29700" name="矩形 703496"/>
          <p:cNvSpPr>
            <a:spLocks noChangeArrowheads="1"/>
          </p:cNvSpPr>
          <p:nvPr/>
        </p:nvSpPr>
        <p:spPr bwMode="auto">
          <a:xfrm>
            <a:off x="667385" y="4652963"/>
            <a:ext cx="3816350" cy="561975"/>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（二）经济全球化的动因</a:t>
            </a:r>
            <a:endParaRPr lang="zh-CN" altLang="en-US"/>
          </a:p>
        </p:txBody>
      </p:sp>
      <p:sp>
        <p:nvSpPr>
          <p:cNvPr id="29701" name="矩形 703499"/>
          <p:cNvSpPr>
            <a:spLocks noChangeArrowheads="1"/>
          </p:cNvSpPr>
          <p:nvPr/>
        </p:nvSpPr>
        <p:spPr bwMode="auto">
          <a:xfrm>
            <a:off x="667068" y="5517198"/>
            <a:ext cx="3816350"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（三）经济全球化的影响</a:t>
            </a:r>
            <a:endParaRPr lang="zh-CN" altLang="en-US"/>
          </a:p>
        </p:txBody>
      </p:sp>
      <p:sp>
        <p:nvSpPr>
          <p:cNvPr id="703507" name="矩形 703506"/>
          <p:cNvSpPr/>
          <p:nvPr/>
        </p:nvSpPr>
        <p:spPr>
          <a:xfrm>
            <a:off x="668338" y="476250"/>
            <a:ext cx="6546850" cy="783590"/>
          </a:xfrm>
          <a:prstGeom prst="rect">
            <a:avLst/>
          </a:prstGeom>
          <a:noFill/>
          <a:ln w="38100">
            <a:noFill/>
          </a:ln>
        </p:spPr>
        <p:txBody>
          <a:bodyPr>
            <a:spAutoFit/>
          </a:bodyPr>
          <a:lstStyle/>
          <a:p>
            <a:pPr>
              <a:lnSpc>
                <a:spcPct val="125000"/>
              </a:lnSpc>
              <a:spcBef>
                <a:spcPct val="50000"/>
              </a:spcBef>
              <a:defRPr/>
            </a:pPr>
            <a:r>
              <a:rPr lang="zh-CN" altLang="en-US" sz="3600" noProof="1">
                <a:solidFill>
                  <a:schemeClr val="tx2"/>
                </a:solidFill>
                <a:latin typeface="+mn-ea"/>
                <a:ea typeface="+mn-ea"/>
              </a:rPr>
              <a:t>三、经济全球化及其影响</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717829"/>
          <p:cNvSpPr>
            <a:spLocks noChangeArrowheads="1"/>
          </p:cNvSpPr>
          <p:nvPr/>
        </p:nvSpPr>
        <p:spPr bwMode="auto">
          <a:xfrm>
            <a:off x="500063" y="366713"/>
            <a:ext cx="3887787"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（一）经济全球化的表现</a:t>
            </a:r>
            <a:endParaRPr lang="zh-CN" altLang="en-US">
              <a:latin typeface="黑体" panose="02010609060101010101" pitchFamily="49" charset="-122"/>
              <a:ea typeface="黑体" panose="02010609060101010101" pitchFamily="49" charset="-122"/>
            </a:endParaRPr>
          </a:p>
        </p:txBody>
      </p:sp>
      <p:sp>
        <p:nvSpPr>
          <p:cNvPr id="30723" name="矩形 717846"/>
          <p:cNvSpPr>
            <a:spLocks noChangeArrowheads="1"/>
          </p:cNvSpPr>
          <p:nvPr/>
        </p:nvSpPr>
        <p:spPr bwMode="auto">
          <a:xfrm>
            <a:off x="6804025" y="404813"/>
            <a:ext cx="1727200" cy="915987"/>
          </a:xfrm>
          <a:prstGeom prst="rect">
            <a:avLst/>
          </a:prstGeom>
          <a:solidFill>
            <a:schemeClr val="bg1"/>
          </a:solidFill>
          <a:ln w="9525">
            <a:noFill/>
            <a:miter lim="800000"/>
          </a:ln>
        </p:spPr>
        <p:txBody>
          <a:bodyPr>
            <a:spAutoFit/>
          </a:bodyPr>
          <a:lstStyle/>
          <a:p>
            <a:pPr eaLnBrk="1" hangingPunct="1">
              <a:spcBef>
                <a:spcPct val="50000"/>
              </a:spcBef>
            </a:pPr>
            <a:endParaRPr lang="en-US" altLang="zh-CN">
              <a:solidFill>
                <a:srgbClr val="990000"/>
              </a:solidFill>
            </a:endParaRPr>
          </a:p>
          <a:p>
            <a:pPr eaLnBrk="1" hangingPunct="1">
              <a:spcBef>
                <a:spcPct val="50000"/>
              </a:spcBef>
            </a:pPr>
            <a:endParaRPr lang="en-US" altLang="zh-CN">
              <a:solidFill>
                <a:srgbClr val="990000"/>
              </a:solidFill>
            </a:endParaRPr>
          </a:p>
          <a:p>
            <a:pPr eaLnBrk="1" hangingPunct="1">
              <a:spcBef>
                <a:spcPct val="50000"/>
              </a:spcBef>
            </a:pPr>
            <a:endParaRPr lang="en-US" altLang="zh-CN">
              <a:solidFill>
                <a:srgbClr val="990000"/>
              </a:solidFill>
            </a:endParaRPr>
          </a:p>
        </p:txBody>
      </p:sp>
      <p:grpSp>
        <p:nvGrpSpPr>
          <p:cNvPr id="30724" name="组合 717854"/>
          <p:cNvGrpSpPr/>
          <p:nvPr/>
        </p:nvGrpSpPr>
        <p:grpSpPr bwMode="auto">
          <a:xfrm>
            <a:off x="468313" y="1196975"/>
            <a:ext cx="3671887" cy="647700"/>
            <a:chOff x="1338" y="1109"/>
            <a:chExt cx="3696" cy="384"/>
          </a:xfrm>
        </p:grpSpPr>
        <p:sp>
          <p:nvSpPr>
            <p:cNvPr id="55314"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42" name="文本框 717856"/>
            <p:cNvSpPr txBox="1">
              <a:spLocks noChangeArrowheads="1"/>
            </p:cNvSpPr>
            <p:nvPr/>
          </p:nvSpPr>
          <p:spPr bwMode="auto">
            <a:xfrm>
              <a:off x="1439" y="1122"/>
              <a:ext cx="3552" cy="291"/>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生产全球化 </a:t>
              </a:r>
            </a:p>
          </p:txBody>
        </p:sp>
      </p:grpSp>
      <p:grpSp>
        <p:nvGrpSpPr>
          <p:cNvPr id="30725" name="组合 717857"/>
          <p:cNvGrpSpPr/>
          <p:nvPr/>
        </p:nvGrpSpPr>
        <p:grpSpPr bwMode="auto">
          <a:xfrm>
            <a:off x="468313" y="2060575"/>
            <a:ext cx="3675062" cy="647700"/>
            <a:chOff x="1338" y="1109"/>
            <a:chExt cx="3696" cy="384"/>
          </a:xfrm>
        </p:grpSpPr>
        <p:sp>
          <p:nvSpPr>
            <p:cNvPr id="55312" name="圆角矩形 71785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40" name="文本框 717859"/>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贸易全球化  </a:t>
              </a:r>
            </a:p>
          </p:txBody>
        </p:sp>
      </p:grpSp>
      <p:grpSp>
        <p:nvGrpSpPr>
          <p:cNvPr id="30726" name="组合 717860"/>
          <p:cNvGrpSpPr/>
          <p:nvPr/>
        </p:nvGrpSpPr>
        <p:grpSpPr bwMode="auto">
          <a:xfrm>
            <a:off x="500063" y="2928938"/>
            <a:ext cx="3643312" cy="647700"/>
            <a:chOff x="1338" y="1109"/>
            <a:chExt cx="3696" cy="384"/>
          </a:xfrm>
        </p:grpSpPr>
        <p:sp>
          <p:nvSpPr>
            <p:cNvPr id="55310" name="圆角矩形 71786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38" name="文本框 717862"/>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金融全球化</a:t>
              </a:r>
              <a:r>
                <a:rPr lang="zh-CN" altLang="en-US">
                  <a:solidFill>
                    <a:schemeClr val="bg1"/>
                  </a:solidFill>
                  <a:latin typeface="楷体_GB2312" pitchFamily="49" charset="-122"/>
                </a:rPr>
                <a:t> </a:t>
              </a:r>
            </a:p>
          </p:txBody>
        </p:sp>
      </p:grpSp>
      <p:sp>
        <p:nvSpPr>
          <p:cNvPr id="30727" name="矩形 718854"/>
          <p:cNvSpPr>
            <a:spLocks noChangeArrowheads="1"/>
          </p:cNvSpPr>
          <p:nvPr/>
        </p:nvSpPr>
        <p:spPr bwMode="auto">
          <a:xfrm>
            <a:off x="4786313" y="357188"/>
            <a:ext cx="3887787"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（二）经济全球化的动因</a:t>
            </a:r>
          </a:p>
        </p:txBody>
      </p:sp>
      <p:grpSp>
        <p:nvGrpSpPr>
          <p:cNvPr id="30728" name="组合 718865"/>
          <p:cNvGrpSpPr/>
          <p:nvPr/>
        </p:nvGrpSpPr>
        <p:grpSpPr bwMode="auto">
          <a:xfrm>
            <a:off x="4786313" y="1143000"/>
            <a:ext cx="3929062" cy="1357313"/>
            <a:chOff x="1338" y="1109"/>
            <a:chExt cx="3696" cy="384"/>
          </a:xfrm>
        </p:grpSpPr>
        <p:sp>
          <p:nvSpPr>
            <p:cNvPr id="22" name="圆角矩形 71886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36" name="文本框 718867"/>
            <p:cNvSpPr txBox="1">
              <a:spLocks noChangeArrowheads="1"/>
            </p:cNvSpPr>
            <p:nvPr/>
          </p:nvSpPr>
          <p:spPr bwMode="auto">
            <a:xfrm>
              <a:off x="1439" y="1122"/>
              <a:ext cx="3553"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科学技术的进步和生产力的发展</a:t>
              </a:r>
              <a:r>
                <a:rPr lang="zh-CN" altLang="en-US">
                  <a:solidFill>
                    <a:schemeClr val="bg1"/>
                  </a:solidFill>
                  <a:latin typeface="楷体_GB2312" pitchFamily="49" charset="-122"/>
                </a:rPr>
                <a:t>  </a:t>
              </a:r>
            </a:p>
          </p:txBody>
        </p:sp>
      </p:grpSp>
      <p:grpSp>
        <p:nvGrpSpPr>
          <p:cNvPr id="30729" name="组合 718868"/>
          <p:cNvGrpSpPr/>
          <p:nvPr/>
        </p:nvGrpSpPr>
        <p:grpSpPr bwMode="auto">
          <a:xfrm>
            <a:off x="4857750" y="2928938"/>
            <a:ext cx="3857625" cy="647700"/>
            <a:chOff x="1338" y="1109"/>
            <a:chExt cx="3696" cy="384"/>
          </a:xfrm>
        </p:grpSpPr>
        <p:sp>
          <p:nvSpPr>
            <p:cNvPr id="25" name="圆角矩形 71886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34" name="文本框 718870"/>
            <p:cNvSpPr txBox="1">
              <a:spLocks noChangeArrowheads="1"/>
            </p:cNvSpPr>
            <p:nvPr/>
          </p:nvSpPr>
          <p:spPr bwMode="auto">
            <a:xfrm>
              <a:off x="1439" y="1122"/>
              <a:ext cx="3553"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跨国公司的发展</a:t>
              </a:r>
              <a:r>
                <a:rPr lang="zh-CN" altLang="en-US">
                  <a:solidFill>
                    <a:srgbClr val="990000"/>
                  </a:solidFill>
                  <a:latin typeface="Arial" panose="020B0604020202020204" pitchFamily="34" charset="0"/>
                  <a:ea typeface="宋体" panose="02010600030101010101" pitchFamily="2" charset="-122"/>
                </a:rPr>
                <a:t>  </a:t>
              </a:r>
              <a:endParaRPr lang="zh-CN" altLang="en-US">
                <a:solidFill>
                  <a:schemeClr val="bg1"/>
                </a:solidFill>
                <a:latin typeface="楷体_GB2312" pitchFamily="49" charset="-122"/>
              </a:endParaRPr>
            </a:p>
          </p:txBody>
        </p:sp>
      </p:grpSp>
      <p:grpSp>
        <p:nvGrpSpPr>
          <p:cNvPr id="30730" name="组合 718871"/>
          <p:cNvGrpSpPr/>
          <p:nvPr/>
        </p:nvGrpSpPr>
        <p:grpSpPr bwMode="auto">
          <a:xfrm>
            <a:off x="4857750" y="4000500"/>
            <a:ext cx="3857625" cy="1714500"/>
            <a:chOff x="1338" y="1109"/>
            <a:chExt cx="3696" cy="615"/>
          </a:xfrm>
        </p:grpSpPr>
        <p:sp>
          <p:nvSpPr>
            <p:cNvPr id="28" name="圆角矩形 71887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0732" name="文本框 718873"/>
            <p:cNvSpPr txBox="1">
              <a:spLocks noChangeArrowheads="1"/>
            </p:cNvSpPr>
            <p:nvPr/>
          </p:nvSpPr>
          <p:spPr bwMode="auto">
            <a:xfrm>
              <a:off x="1439" y="1122"/>
              <a:ext cx="3554" cy="602"/>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各国经济体制的变革和国际经济组织的发展</a:t>
              </a:r>
              <a:r>
                <a:rPr lang="zh-CN" altLang="en-US">
                  <a:solidFill>
                    <a:schemeClr val="bg1"/>
                  </a:solidFill>
                  <a:latin typeface="楷体_GB2312" pitchFamily="49" charset="-122"/>
                </a:rPr>
                <a:t>  </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719879"/>
          <p:cNvSpPr>
            <a:spLocks noChangeArrowheads="1"/>
          </p:cNvSpPr>
          <p:nvPr/>
        </p:nvSpPr>
        <p:spPr bwMode="auto">
          <a:xfrm>
            <a:off x="314325" y="476250"/>
            <a:ext cx="3684588"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（三）经济全球化的影响</a:t>
            </a:r>
          </a:p>
        </p:txBody>
      </p:sp>
      <p:sp>
        <p:nvSpPr>
          <p:cNvPr id="57348" name="矩形 719894"/>
          <p:cNvSpPr>
            <a:spLocks noChangeArrowheads="1"/>
          </p:cNvSpPr>
          <p:nvPr/>
        </p:nvSpPr>
        <p:spPr bwMode="auto">
          <a:xfrm>
            <a:off x="314325" y="1163638"/>
            <a:ext cx="8186738" cy="1731962"/>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zh-CN" altLang="en-US" dirty="0">
                <a:solidFill>
                  <a:srgbClr val="0000FF"/>
                </a:solidFill>
                <a:latin typeface="楷体" panose="02010609060101010101" pitchFamily="49" charset="-122"/>
                <a:ea typeface="楷体" panose="02010609060101010101" pitchFamily="49" charset="-122"/>
              </a:rPr>
              <a:t>经济全球化的过程是生产社会化程度不断提高的过程。</a:t>
            </a:r>
            <a:endParaRPr lang="en-US" altLang="zh-CN" dirty="0">
              <a:solidFill>
                <a:srgbClr val="0000FF"/>
              </a:solidFill>
              <a:latin typeface="楷体" panose="02010609060101010101" pitchFamily="49" charset="-122"/>
              <a:ea typeface="楷体" panose="02010609060101010101" pitchFamily="49" charset="-122"/>
            </a:endParaRPr>
          </a:p>
          <a:p>
            <a:pPr>
              <a:lnSpc>
                <a:spcPct val="125000"/>
              </a:lnSpc>
              <a:spcBef>
                <a:spcPct val="50000"/>
              </a:spcBef>
              <a:defRPr/>
            </a:pPr>
            <a:r>
              <a:rPr lang="zh-CN" altLang="en-US" sz="1800" dirty="0">
                <a:solidFill>
                  <a:srgbClr val="990000"/>
                </a:solidFill>
                <a:latin typeface="幼圆" pitchFamily="49" charset="-122"/>
                <a:ea typeface="幼圆" pitchFamily="49" charset="-122"/>
              </a:rPr>
              <a:t>    在经济全球化过程中，社会分工得以在更大的范围内进行，资金、技术等生产要素可以在国际社会流动和优化配置，由此可以带来巨大的分工利益，推动世界生产力的发展。</a:t>
            </a:r>
            <a:r>
              <a:rPr lang="zh-CN" altLang="en-US" sz="1800" dirty="0">
                <a:solidFill>
                  <a:srgbClr val="990000"/>
                </a:solidFill>
                <a:latin typeface="楷体_GB2312" pitchFamily="49" charset="-122"/>
              </a:rPr>
              <a:t>  </a:t>
            </a:r>
          </a:p>
        </p:txBody>
      </p:sp>
      <p:sp>
        <p:nvSpPr>
          <p:cNvPr id="57351" name="矩形 719897"/>
          <p:cNvSpPr>
            <a:spLocks noChangeArrowheads="1"/>
          </p:cNvSpPr>
          <p:nvPr/>
        </p:nvSpPr>
        <p:spPr bwMode="auto">
          <a:xfrm>
            <a:off x="285750" y="3143250"/>
            <a:ext cx="8215313" cy="506413"/>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dirty="0"/>
              <a:t>     </a:t>
            </a:r>
            <a:r>
              <a:rPr lang="en-US" altLang="zh-CN" dirty="0">
                <a:latin typeface="楷体" panose="02010609060101010101" pitchFamily="49" charset="-122"/>
                <a:ea typeface="楷体" panose="02010609060101010101" pitchFamily="49" charset="-122"/>
              </a:rPr>
              <a:t> </a:t>
            </a:r>
            <a:r>
              <a:rPr lang="zh-CN" altLang="en-US" dirty="0">
                <a:solidFill>
                  <a:srgbClr val="0000FF"/>
                </a:solidFill>
                <a:latin typeface="楷体" panose="02010609060101010101" pitchFamily="49" charset="-122"/>
                <a:ea typeface="楷体" panose="02010609060101010101" pitchFamily="49" charset="-122"/>
              </a:rPr>
              <a:t>经济全球化对发展中国家的积极作用。</a:t>
            </a:r>
            <a:endParaRPr lang="zh-CN" altLang="en-US" dirty="0">
              <a:solidFill>
                <a:srgbClr val="990000"/>
              </a:solidFill>
              <a:latin typeface="楷体" panose="02010609060101010101" pitchFamily="49" charset="-122"/>
              <a:ea typeface="楷体" panose="02010609060101010101" pitchFamily="49" charset="-122"/>
            </a:endParaRPr>
          </a:p>
        </p:txBody>
      </p:sp>
      <p:sp>
        <p:nvSpPr>
          <p:cNvPr id="5" name="矩形 719897"/>
          <p:cNvSpPr>
            <a:spLocks noChangeArrowheads="1"/>
          </p:cNvSpPr>
          <p:nvPr/>
        </p:nvSpPr>
        <p:spPr bwMode="auto">
          <a:xfrm>
            <a:off x="285750" y="4071938"/>
            <a:ext cx="8215313" cy="95250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dirty="0"/>
              <a:t>     </a:t>
            </a:r>
            <a:r>
              <a:rPr lang="en-US" altLang="zh-CN" dirty="0">
                <a:latin typeface="楷体" panose="02010609060101010101" pitchFamily="49" charset="-122"/>
                <a:ea typeface="楷体" panose="02010609060101010101" pitchFamily="49" charset="-122"/>
              </a:rPr>
              <a:t> </a:t>
            </a:r>
            <a:r>
              <a:rPr lang="zh-CN" altLang="en-US" dirty="0">
                <a:solidFill>
                  <a:srgbClr val="0000FF"/>
                </a:solidFill>
                <a:latin typeface="楷体" panose="02010609060101010101" pitchFamily="49" charset="-122"/>
                <a:ea typeface="楷体" panose="02010609060101010101" pitchFamily="49" charset="-122"/>
              </a:rPr>
              <a:t>经济全球化的两面性：积极效应与消极后果。在此过程中，我们应有的正确态度。</a:t>
            </a:r>
            <a:r>
              <a:rPr lang="zh-CN" altLang="en-US" dirty="0">
                <a:solidFill>
                  <a:srgbClr val="990000"/>
                </a:solidFill>
                <a:latin typeface="楷体" panose="02010609060101010101" pitchFamily="49" charset="-122"/>
                <a:ea typeface="楷体" panose="02010609060101010101" pitchFamily="49" charset="-122"/>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0" name="组合 815108"/>
          <p:cNvGrpSpPr/>
          <p:nvPr/>
        </p:nvGrpSpPr>
        <p:grpSpPr bwMode="auto">
          <a:xfrm>
            <a:off x="252413" y="571500"/>
            <a:ext cx="8662987" cy="6062663"/>
            <a:chOff x="158" y="323"/>
            <a:chExt cx="5457" cy="3467"/>
          </a:xfrm>
        </p:grpSpPr>
        <p:sp>
          <p:nvSpPr>
            <p:cNvPr id="32771" name="矩形 815109"/>
            <p:cNvSpPr>
              <a:spLocks noChangeArrowheads="1"/>
            </p:cNvSpPr>
            <p:nvPr/>
          </p:nvSpPr>
          <p:spPr bwMode="auto">
            <a:xfrm>
              <a:off x="158" y="1616"/>
              <a:ext cx="408" cy="1018"/>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CC"/>
                  </a:solidFill>
                  <a:ea typeface="幼圆" pitchFamily="49" charset="-122"/>
                </a:rPr>
                <a:t>经济全球化</a:t>
              </a:r>
            </a:p>
          </p:txBody>
        </p:sp>
        <p:sp>
          <p:nvSpPr>
            <p:cNvPr id="32772" name="直接连接符 815110"/>
            <p:cNvSpPr>
              <a:spLocks noChangeShapeType="1"/>
            </p:cNvSpPr>
            <p:nvPr/>
          </p:nvSpPr>
          <p:spPr bwMode="auto">
            <a:xfrm>
              <a:off x="674" y="895"/>
              <a:ext cx="228" cy="0"/>
            </a:xfrm>
            <a:prstGeom prst="line">
              <a:avLst/>
            </a:prstGeom>
            <a:noFill/>
            <a:ln w="57150">
              <a:solidFill>
                <a:srgbClr val="800000"/>
              </a:solidFill>
              <a:round/>
              <a:tailEnd type="triangle" w="med" len="med"/>
            </a:ln>
          </p:spPr>
          <p:txBody>
            <a:bodyPr/>
            <a:lstStyle/>
            <a:p>
              <a:endParaRPr lang="zh-CN" altLang="en-US"/>
            </a:p>
          </p:txBody>
        </p:sp>
        <p:sp>
          <p:nvSpPr>
            <p:cNvPr id="32773" name="直接连接符 815111"/>
            <p:cNvSpPr>
              <a:spLocks noChangeShapeType="1"/>
            </p:cNvSpPr>
            <p:nvPr/>
          </p:nvSpPr>
          <p:spPr bwMode="auto">
            <a:xfrm>
              <a:off x="680" y="890"/>
              <a:ext cx="23" cy="2404"/>
            </a:xfrm>
            <a:prstGeom prst="line">
              <a:avLst/>
            </a:prstGeom>
            <a:noFill/>
            <a:ln w="57150">
              <a:solidFill>
                <a:srgbClr val="800000"/>
              </a:solidFill>
              <a:round/>
            </a:ln>
          </p:spPr>
          <p:txBody>
            <a:bodyPr/>
            <a:lstStyle/>
            <a:p>
              <a:endParaRPr lang="zh-CN" altLang="en-US"/>
            </a:p>
          </p:txBody>
        </p:sp>
        <p:sp>
          <p:nvSpPr>
            <p:cNvPr id="32774" name="直接连接符 815112"/>
            <p:cNvSpPr>
              <a:spLocks noChangeShapeType="1"/>
            </p:cNvSpPr>
            <p:nvPr/>
          </p:nvSpPr>
          <p:spPr bwMode="auto">
            <a:xfrm>
              <a:off x="567" y="2160"/>
              <a:ext cx="271" cy="0"/>
            </a:xfrm>
            <a:prstGeom prst="line">
              <a:avLst/>
            </a:prstGeom>
            <a:noFill/>
            <a:ln w="57150">
              <a:solidFill>
                <a:srgbClr val="800000"/>
              </a:solidFill>
              <a:round/>
              <a:tailEnd type="triangle" w="med" len="med"/>
            </a:ln>
          </p:spPr>
          <p:txBody>
            <a:bodyPr/>
            <a:lstStyle/>
            <a:p>
              <a:endParaRPr lang="zh-CN" altLang="en-US"/>
            </a:p>
          </p:txBody>
        </p:sp>
        <p:sp>
          <p:nvSpPr>
            <p:cNvPr id="32775" name="直接连接符 815113"/>
            <p:cNvSpPr>
              <a:spLocks noChangeShapeType="1"/>
            </p:cNvSpPr>
            <p:nvPr/>
          </p:nvSpPr>
          <p:spPr bwMode="auto">
            <a:xfrm>
              <a:off x="703" y="3294"/>
              <a:ext cx="226" cy="0"/>
            </a:xfrm>
            <a:prstGeom prst="line">
              <a:avLst/>
            </a:prstGeom>
            <a:noFill/>
            <a:ln w="57150">
              <a:solidFill>
                <a:srgbClr val="800000"/>
              </a:solidFill>
              <a:round/>
              <a:tailEnd type="triangle" w="med" len="med"/>
            </a:ln>
          </p:spPr>
          <p:txBody>
            <a:bodyPr/>
            <a:lstStyle/>
            <a:p>
              <a:endParaRPr lang="zh-CN" altLang="en-US"/>
            </a:p>
          </p:txBody>
        </p:sp>
        <p:sp>
          <p:nvSpPr>
            <p:cNvPr id="32776" name="矩形 815114"/>
            <p:cNvSpPr>
              <a:spLocks noChangeArrowheads="1"/>
            </p:cNvSpPr>
            <p:nvPr/>
          </p:nvSpPr>
          <p:spPr bwMode="auto">
            <a:xfrm>
              <a:off x="919" y="762"/>
              <a:ext cx="531"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chemeClr val="bg1"/>
                  </a:solidFill>
                  <a:ea typeface="幼圆" pitchFamily="49" charset="-122"/>
                </a:rPr>
                <a:t>表 现</a:t>
              </a:r>
            </a:p>
          </p:txBody>
        </p:sp>
        <p:sp>
          <p:nvSpPr>
            <p:cNvPr id="32777" name="矩形 815115"/>
            <p:cNvSpPr>
              <a:spLocks noChangeArrowheads="1"/>
            </p:cNvSpPr>
            <p:nvPr/>
          </p:nvSpPr>
          <p:spPr bwMode="auto">
            <a:xfrm>
              <a:off x="930" y="2069"/>
              <a:ext cx="576"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chemeClr val="bg1"/>
                  </a:solidFill>
                  <a:ea typeface="幼圆" pitchFamily="49" charset="-122"/>
                </a:rPr>
                <a:t>动 因</a:t>
              </a:r>
            </a:p>
          </p:txBody>
        </p:sp>
        <p:sp>
          <p:nvSpPr>
            <p:cNvPr id="32778" name="矩形 815116"/>
            <p:cNvSpPr>
              <a:spLocks noChangeArrowheads="1"/>
            </p:cNvSpPr>
            <p:nvPr/>
          </p:nvSpPr>
          <p:spPr bwMode="auto">
            <a:xfrm>
              <a:off x="1020" y="3203"/>
              <a:ext cx="576"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chemeClr val="bg1"/>
                  </a:solidFill>
                  <a:ea typeface="幼圆" pitchFamily="49" charset="-122"/>
                </a:rPr>
                <a:t>后果</a:t>
              </a:r>
            </a:p>
          </p:txBody>
        </p:sp>
        <p:grpSp>
          <p:nvGrpSpPr>
            <p:cNvPr id="32779" name="组合 815117"/>
            <p:cNvGrpSpPr/>
            <p:nvPr/>
          </p:nvGrpSpPr>
          <p:grpSpPr bwMode="auto">
            <a:xfrm>
              <a:off x="1460" y="323"/>
              <a:ext cx="4155" cy="1257"/>
              <a:chOff x="1460" y="323"/>
              <a:chExt cx="4155" cy="1257"/>
            </a:xfrm>
          </p:grpSpPr>
          <p:sp>
            <p:nvSpPr>
              <p:cNvPr id="32797" name="直接连接符 815118"/>
              <p:cNvSpPr>
                <a:spLocks noChangeShapeType="1"/>
              </p:cNvSpPr>
              <p:nvPr/>
            </p:nvSpPr>
            <p:spPr bwMode="auto">
              <a:xfrm flipH="1">
                <a:off x="1460" y="900"/>
                <a:ext cx="194" cy="0"/>
              </a:xfrm>
              <a:prstGeom prst="line">
                <a:avLst/>
              </a:prstGeom>
              <a:noFill/>
              <a:ln w="57150">
                <a:solidFill>
                  <a:srgbClr val="800000"/>
                </a:solidFill>
                <a:round/>
              </a:ln>
            </p:spPr>
            <p:txBody>
              <a:bodyPr/>
              <a:lstStyle/>
              <a:p>
                <a:endParaRPr lang="zh-CN" altLang="en-US"/>
              </a:p>
            </p:txBody>
          </p:sp>
          <p:sp>
            <p:nvSpPr>
              <p:cNvPr id="32798" name="文本框 815119"/>
              <p:cNvSpPr txBox="1">
                <a:spLocks noChangeArrowheads="1"/>
              </p:cNvSpPr>
              <p:nvPr/>
            </p:nvSpPr>
            <p:spPr bwMode="auto">
              <a:xfrm>
                <a:off x="1934" y="323"/>
                <a:ext cx="3681" cy="317"/>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生产全球化</a:t>
                </a:r>
                <a:r>
                  <a:rPr lang="zh-CN" altLang="en-US" sz="1600">
                    <a:solidFill>
                      <a:srgbClr val="0000FF"/>
                    </a:solidFill>
                    <a:latin typeface="幼圆" pitchFamily="49" charset="-122"/>
                    <a:ea typeface="幼圆" pitchFamily="49" charset="-122"/>
                  </a:rPr>
                  <a:t>（国际分工深化，多国协作完成生产）</a:t>
                </a:r>
              </a:p>
            </p:txBody>
          </p:sp>
          <p:sp>
            <p:nvSpPr>
              <p:cNvPr id="32799" name="直接连接符 815120"/>
              <p:cNvSpPr>
                <a:spLocks noChangeShapeType="1"/>
              </p:cNvSpPr>
              <p:nvPr/>
            </p:nvSpPr>
            <p:spPr bwMode="auto">
              <a:xfrm flipH="1">
                <a:off x="1654" y="459"/>
                <a:ext cx="1" cy="1044"/>
              </a:xfrm>
              <a:prstGeom prst="line">
                <a:avLst/>
              </a:prstGeom>
              <a:noFill/>
              <a:ln w="57150">
                <a:solidFill>
                  <a:srgbClr val="800000"/>
                </a:solidFill>
                <a:round/>
              </a:ln>
            </p:spPr>
            <p:txBody>
              <a:bodyPr/>
              <a:lstStyle/>
              <a:p>
                <a:endParaRPr lang="zh-CN" altLang="en-US"/>
              </a:p>
            </p:txBody>
          </p:sp>
          <p:sp>
            <p:nvSpPr>
              <p:cNvPr id="32800" name="直接连接符 815121"/>
              <p:cNvSpPr>
                <a:spLocks noChangeShapeType="1"/>
              </p:cNvSpPr>
              <p:nvPr/>
            </p:nvSpPr>
            <p:spPr bwMode="auto">
              <a:xfrm flipH="1">
                <a:off x="1654" y="482"/>
                <a:ext cx="272" cy="0"/>
              </a:xfrm>
              <a:prstGeom prst="line">
                <a:avLst/>
              </a:prstGeom>
              <a:noFill/>
              <a:ln w="57150">
                <a:solidFill>
                  <a:srgbClr val="800000"/>
                </a:solidFill>
                <a:round/>
              </a:ln>
            </p:spPr>
            <p:txBody>
              <a:bodyPr/>
              <a:lstStyle/>
              <a:p>
                <a:endParaRPr lang="zh-CN" altLang="en-US"/>
              </a:p>
            </p:txBody>
          </p:sp>
          <p:sp>
            <p:nvSpPr>
              <p:cNvPr id="32801" name="直接连接符 815122"/>
              <p:cNvSpPr>
                <a:spLocks noChangeShapeType="1"/>
              </p:cNvSpPr>
              <p:nvPr/>
            </p:nvSpPr>
            <p:spPr bwMode="auto">
              <a:xfrm flipH="1">
                <a:off x="1664" y="977"/>
                <a:ext cx="257" cy="0"/>
              </a:xfrm>
              <a:prstGeom prst="line">
                <a:avLst/>
              </a:prstGeom>
              <a:noFill/>
              <a:ln w="57150">
                <a:solidFill>
                  <a:srgbClr val="800000"/>
                </a:solidFill>
                <a:round/>
              </a:ln>
            </p:spPr>
            <p:txBody>
              <a:bodyPr/>
              <a:lstStyle/>
              <a:p>
                <a:endParaRPr lang="zh-CN" altLang="en-US"/>
              </a:p>
            </p:txBody>
          </p:sp>
          <p:sp>
            <p:nvSpPr>
              <p:cNvPr id="32802" name="直接连接符 815123"/>
              <p:cNvSpPr>
                <a:spLocks noChangeShapeType="1"/>
              </p:cNvSpPr>
              <p:nvPr/>
            </p:nvSpPr>
            <p:spPr bwMode="auto">
              <a:xfrm flipH="1">
                <a:off x="1664" y="1467"/>
                <a:ext cx="272" cy="0"/>
              </a:xfrm>
              <a:prstGeom prst="line">
                <a:avLst/>
              </a:prstGeom>
              <a:noFill/>
              <a:ln w="57150">
                <a:solidFill>
                  <a:srgbClr val="800000"/>
                </a:solidFill>
                <a:round/>
              </a:ln>
            </p:spPr>
            <p:txBody>
              <a:bodyPr/>
              <a:lstStyle/>
              <a:p>
                <a:endParaRPr lang="zh-CN" altLang="en-US"/>
              </a:p>
            </p:txBody>
          </p:sp>
          <p:sp>
            <p:nvSpPr>
              <p:cNvPr id="32803" name="文本框 815124"/>
              <p:cNvSpPr txBox="1">
                <a:spLocks noChangeArrowheads="1"/>
              </p:cNvSpPr>
              <p:nvPr/>
            </p:nvSpPr>
            <p:spPr bwMode="auto">
              <a:xfrm>
                <a:off x="1934" y="1304"/>
                <a:ext cx="3675" cy="276"/>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金融全球化</a:t>
                </a:r>
                <a:r>
                  <a:rPr lang="zh-CN" altLang="en-US" sz="1600">
                    <a:solidFill>
                      <a:srgbClr val="0000FF"/>
                    </a:solidFill>
                    <a:latin typeface="幼圆" pitchFamily="49" charset="-122"/>
                    <a:ea typeface="幼圆" pitchFamily="49" charset="-122"/>
                  </a:rPr>
                  <a:t>（市场更开放、体系更融合、交易更自由）</a:t>
                </a:r>
              </a:p>
            </p:txBody>
          </p:sp>
          <p:sp>
            <p:nvSpPr>
              <p:cNvPr id="32804" name="文本框 815125"/>
              <p:cNvSpPr txBox="1">
                <a:spLocks noChangeArrowheads="1"/>
              </p:cNvSpPr>
              <p:nvPr/>
            </p:nvSpPr>
            <p:spPr bwMode="auto">
              <a:xfrm>
                <a:off x="1934" y="813"/>
                <a:ext cx="3668" cy="331"/>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贸易全球化</a:t>
                </a:r>
                <a:r>
                  <a:rPr lang="zh-CN" altLang="en-US" sz="1600">
                    <a:solidFill>
                      <a:srgbClr val="0000FF"/>
                    </a:solidFill>
                    <a:latin typeface="幼圆" pitchFamily="49" charset="-122"/>
                    <a:ea typeface="幼圆" pitchFamily="49" charset="-122"/>
                  </a:rPr>
                  <a:t>（商品和劳务在全球范围内自由流动）</a:t>
                </a:r>
              </a:p>
            </p:txBody>
          </p:sp>
        </p:grpSp>
        <p:grpSp>
          <p:nvGrpSpPr>
            <p:cNvPr id="32780" name="组合 815128"/>
            <p:cNvGrpSpPr/>
            <p:nvPr/>
          </p:nvGrpSpPr>
          <p:grpSpPr bwMode="auto">
            <a:xfrm>
              <a:off x="1610" y="2934"/>
              <a:ext cx="4000" cy="856"/>
              <a:chOff x="1610" y="2934"/>
              <a:chExt cx="4000" cy="856"/>
            </a:xfrm>
          </p:grpSpPr>
          <p:sp>
            <p:nvSpPr>
              <p:cNvPr id="32791" name="直接连接符 815129"/>
              <p:cNvSpPr>
                <a:spLocks noChangeShapeType="1"/>
              </p:cNvSpPr>
              <p:nvPr/>
            </p:nvSpPr>
            <p:spPr bwMode="auto">
              <a:xfrm flipH="1">
                <a:off x="1610" y="3339"/>
                <a:ext cx="137" cy="0"/>
              </a:xfrm>
              <a:prstGeom prst="line">
                <a:avLst/>
              </a:prstGeom>
              <a:noFill/>
              <a:ln w="57150">
                <a:solidFill>
                  <a:srgbClr val="800000"/>
                </a:solidFill>
                <a:round/>
              </a:ln>
            </p:spPr>
            <p:txBody>
              <a:bodyPr/>
              <a:lstStyle/>
              <a:p>
                <a:endParaRPr lang="zh-CN" altLang="en-US"/>
              </a:p>
            </p:txBody>
          </p:sp>
          <p:sp>
            <p:nvSpPr>
              <p:cNvPr id="32792" name="直接连接符 815130"/>
              <p:cNvSpPr>
                <a:spLocks noChangeShapeType="1"/>
              </p:cNvSpPr>
              <p:nvPr/>
            </p:nvSpPr>
            <p:spPr bwMode="auto">
              <a:xfrm flipH="1">
                <a:off x="1747" y="3158"/>
                <a:ext cx="273" cy="0"/>
              </a:xfrm>
              <a:prstGeom prst="line">
                <a:avLst/>
              </a:prstGeom>
              <a:noFill/>
              <a:ln w="57150">
                <a:solidFill>
                  <a:srgbClr val="800000"/>
                </a:solidFill>
                <a:round/>
              </a:ln>
            </p:spPr>
            <p:txBody>
              <a:bodyPr/>
              <a:lstStyle/>
              <a:p>
                <a:endParaRPr lang="zh-CN" altLang="en-US"/>
              </a:p>
            </p:txBody>
          </p:sp>
          <p:sp>
            <p:nvSpPr>
              <p:cNvPr id="32793" name="Rectangle 2"/>
              <p:cNvSpPr txBox="1">
                <a:spLocks noChangeArrowheads="1"/>
              </p:cNvSpPr>
              <p:nvPr/>
            </p:nvSpPr>
            <p:spPr bwMode="auto">
              <a:xfrm>
                <a:off x="2019" y="2934"/>
                <a:ext cx="2449" cy="294"/>
              </a:xfrm>
              <a:prstGeom prst="rect">
                <a:avLst/>
              </a:prstGeom>
              <a:solidFill>
                <a:srgbClr val="F2F2F2"/>
              </a:solidFill>
              <a:ln w="28575">
                <a:solidFill>
                  <a:schemeClr val="accent2"/>
                </a:solidFill>
                <a:miter lim="800000"/>
              </a:ln>
            </p:spPr>
            <p:txBody>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生产社会化程度不断提高</a:t>
                </a:r>
              </a:p>
            </p:txBody>
          </p:sp>
          <p:sp>
            <p:nvSpPr>
              <p:cNvPr id="32794" name="直接连接符 815132"/>
              <p:cNvSpPr>
                <a:spLocks noChangeShapeType="1"/>
              </p:cNvSpPr>
              <p:nvPr/>
            </p:nvSpPr>
            <p:spPr bwMode="auto">
              <a:xfrm>
                <a:off x="1747" y="3158"/>
                <a:ext cx="0" cy="393"/>
              </a:xfrm>
              <a:prstGeom prst="line">
                <a:avLst/>
              </a:prstGeom>
              <a:noFill/>
              <a:ln w="57150">
                <a:solidFill>
                  <a:srgbClr val="800000"/>
                </a:solidFill>
                <a:round/>
              </a:ln>
            </p:spPr>
            <p:txBody>
              <a:bodyPr/>
              <a:lstStyle/>
              <a:p>
                <a:endParaRPr lang="zh-CN" altLang="en-US"/>
              </a:p>
            </p:txBody>
          </p:sp>
          <p:sp>
            <p:nvSpPr>
              <p:cNvPr id="32795" name="直接连接符 815133"/>
              <p:cNvSpPr>
                <a:spLocks noChangeShapeType="1"/>
              </p:cNvSpPr>
              <p:nvPr/>
            </p:nvSpPr>
            <p:spPr bwMode="auto">
              <a:xfrm flipH="1">
                <a:off x="1747" y="3521"/>
                <a:ext cx="272" cy="0"/>
              </a:xfrm>
              <a:prstGeom prst="line">
                <a:avLst/>
              </a:prstGeom>
              <a:noFill/>
              <a:ln w="57150">
                <a:solidFill>
                  <a:srgbClr val="800000"/>
                </a:solidFill>
                <a:round/>
              </a:ln>
            </p:spPr>
            <p:txBody>
              <a:bodyPr/>
              <a:lstStyle/>
              <a:p>
                <a:endParaRPr lang="zh-CN" altLang="en-US"/>
              </a:p>
            </p:txBody>
          </p:sp>
          <p:sp>
            <p:nvSpPr>
              <p:cNvPr id="32796" name="Rectangle 2"/>
              <p:cNvSpPr txBox="1">
                <a:spLocks noChangeArrowheads="1"/>
              </p:cNvSpPr>
              <p:nvPr/>
            </p:nvSpPr>
            <p:spPr bwMode="auto">
              <a:xfrm>
                <a:off x="2026" y="3311"/>
                <a:ext cx="3584" cy="479"/>
              </a:xfrm>
              <a:prstGeom prst="rect">
                <a:avLst/>
              </a:prstGeom>
              <a:solidFill>
                <a:srgbClr val="F2F2F2"/>
              </a:solidFill>
              <a:ln w="28575">
                <a:solidFill>
                  <a:schemeClr val="accent2"/>
                </a:solidFill>
                <a:miter lim="800000"/>
              </a:ln>
            </p:spPr>
            <p:txBody>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消极后果</a:t>
                </a:r>
                <a:r>
                  <a:rPr lang="zh-CN" altLang="en-US" sz="1800">
                    <a:solidFill>
                      <a:srgbClr val="0000FF"/>
                    </a:solidFill>
                    <a:latin typeface="幼圆" pitchFamily="49" charset="-122"/>
                    <a:ea typeface="幼圆" pitchFamily="49" charset="-122"/>
                  </a:rPr>
                  <a:t>（各国间差距扩大、资源短缺和环境污染、经济风险增加）</a:t>
                </a:r>
                <a:endParaRPr lang="zh-CN" altLang="zh-CN" sz="1800">
                  <a:solidFill>
                    <a:srgbClr val="0000FF"/>
                  </a:solidFill>
                  <a:latin typeface="幼圆" pitchFamily="49" charset="-122"/>
                  <a:ea typeface="幼圆" pitchFamily="49" charset="-122"/>
                </a:endParaRPr>
              </a:p>
            </p:txBody>
          </p:sp>
        </p:grpSp>
        <p:grpSp>
          <p:nvGrpSpPr>
            <p:cNvPr id="32781" name="组合 815135"/>
            <p:cNvGrpSpPr/>
            <p:nvPr/>
          </p:nvGrpSpPr>
          <p:grpSpPr bwMode="auto">
            <a:xfrm>
              <a:off x="1519" y="1706"/>
              <a:ext cx="3295" cy="1043"/>
              <a:chOff x="1565" y="2024"/>
              <a:chExt cx="3295" cy="1043"/>
            </a:xfrm>
          </p:grpSpPr>
          <p:sp>
            <p:nvSpPr>
              <p:cNvPr id="32783" name="文本框 815136"/>
              <p:cNvSpPr txBox="1">
                <a:spLocks noChangeArrowheads="1"/>
              </p:cNvSpPr>
              <p:nvPr/>
            </p:nvSpPr>
            <p:spPr bwMode="auto">
              <a:xfrm>
                <a:off x="1973" y="2024"/>
                <a:ext cx="2887" cy="317"/>
              </a:xfrm>
              <a:prstGeom prst="rect">
                <a:avLst/>
              </a:prstGeom>
              <a:solidFill>
                <a:srgbClr val="CCFFCC"/>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科学技术的进步和生产力的发展</a:t>
                </a:r>
                <a:endParaRPr lang="zh-CN" altLang="en-US" sz="2000">
                  <a:solidFill>
                    <a:srgbClr val="A50021"/>
                  </a:solidFill>
                  <a:latin typeface="楷体" panose="02010609060101010101" pitchFamily="49" charset="-122"/>
                  <a:ea typeface="楷体" panose="02010609060101010101" pitchFamily="49" charset="-122"/>
                </a:endParaRPr>
              </a:p>
            </p:txBody>
          </p:sp>
          <p:sp>
            <p:nvSpPr>
              <p:cNvPr id="32784" name="直接连接符 815137"/>
              <p:cNvSpPr>
                <a:spLocks noChangeShapeType="1"/>
              </p:cNvSpPr>
              <p:nvPr/>
            </p:nvSpPr>
            <p:spPr bwMode="auto">
              <a:xfrm>
                <a:off x="1701" y="2206"/>
                <a:ext cx="0" cy="725"/>
              </a:xfrm>
              <a:prstGeom prst="line">
                <a:avLst/>
              </a:prstGeom>
              <a:noFill/>
              <a:ln w="57150">
                <a:solidFill>
                  <a:srgbClr val="800000"/>
                </a:solidFill>
                <a:round/>
              </a:ln>
            </p:spPr>
            <p:txBody>
              <a:bodyPr/>
              <a:lstStyle/>
              <a:p>
                <a:endParaRPr lang="zh-CN" altLang="en-US"/>
              </a:p>
            </p:txBody>
          </p:sp>
          <p:sp>
            <p:nvSpPr>
              <p:cNvPr id="32785" name="直接连接符 815138"/>
              <p:cNvSpPr>
                <a:spLocks noChangeShapeType="1"/>
              </p:cNvSpPr>
              <p:nvPr/>
            </p:nvSpPr>
            <p:spPr bwMode="auto">
              <a:xfrm flipH="1">
                <a:off x="1701" y="2206"/>
                <a:ext cx="272" cy="0"/>
              </a:xfrm>
              <a:prstGeom prst="line">
                <a:avLst/>
              </a:prstGeom>
              <a:noFill/>
              <a:ln w="57150">
                <a:solidFill>
                  <a:srgbClr val="800000"/>
                </a:solidFill>
                <a:round/>
              </a:ln>
            </p:spPr>
            <p:txBody>
              <a:bodyPr/>
              <a:lstStyle/>
              <a:p>
                <a:endParaRPr lang="zh-CN" altLang="en-US"/>
              </a:p>
            </p:txBody>
          </p:sp>
          <p:sp>
            <p:nvSpPr>
              <p:cNvPr id="32786" name="直接连接符 815139"/>
              <p:cNvSpPr>
                <a:spLocks noChangeShapeType="1"/>
              </p:cNvSpPr>
              <p:nvPr/>
            </p:nvSpPr>
            <p:spPr bwMode="auto">
              <a:xfrm flipH="1">
                <a:off x="1701" y="2523"/>
                <a:ext cx="317" cy="0"/>
              </a:xfrm>
              <a:prstGeom prst="line">
                <a:avLst/>
              </a:prstGeom>
              <a:noFill/>
              <a:ln w="57150">
                <a:solidFill>
                  <a:srgbClr val="800000"/>
                </a:solidFill>
                <a:round/>
              </a:ln>
            </p:spPr>
            <p:txBody>
              <a:bodyPr/>
              <a:lstStyle/>
              <a:p>
                <a:endParaRPr lang="zh-CN" altLang="en-US"/>
              </a:p>
            </p:txBody>
          </p:sp>
          <p:sp>
            <p:nvSpPr>
              <p:cNvPr id="32787" name="直接连接符 815140"/>
              <p:cNvSpPr>
                <a:spLocks noChangeShapeType="1"/>
              </p:cNvSpPr>
              <p:nvPr/>
            </p:nvSpPr>
            <p:spPr bwMode="auto">
              <a:xfrm flipH="1">
                <a:off x="1701" y="2931"/>
                <a:ext cx="272" cy="0"/>
              </a:xfrm>
              <a:prstGeom prst="line">
                <a:avLst/>
              </a:prstGeom>
              <a:noFill/>
              <a:ln w="57150">
                <a:solidFill>
                  <a:srgbClr val="800000"/>
                </a:solidFill>
                <a:round/>
              </a:ln>
            </p:spPr>
            <p:txBody>
              <a:bodyPr/>
              <a:lstStyle/>
              <a:p>
                <a:endParaRPr lang="zh-CN" altLang="en-US"/>
              </a:p>
            </p:txBody>
          </p:sp>
          <p:sp>
            <p:nvSpPr>
              <p:cNvPr id="32788" name="文本框 815141"/>
              <p:cNvSpPr txBox="1">
                <a:spLocks noChangeArrowheads="1"/>
              </p:cNvSpPr>
              <p:nvPr/>
            </p:nvSpPr>
            <p:spPr bwMode="auto">
              <a:xfrm>
                <a:off x="1973" y="2750"/>
                <a:ext cx="2887" cy="317"/>
              </a:xfrm>
              <a:prstGeom prst="rect">
                <a:avLst/>
              </a:prstGeom>
              <a:solidFill>
                <a:srgbClr val="CCFFCC"/>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各国经济体制的改革</a:t>
                </a:r>
              </a:p>
            </p:txBody>
          </p:sp>
          <p:sp>
            <p:nvSpPr>
              <p:cNvPr id="32789" name="文本框 815142"/>
              <p:cNvSpPr txBox="1">
                <a:spLocks noChangeArrowheads="1"/>
              </p:cNvSpPr>
              <p:nvPr/>
            </p:nvSpPr>
            <p:spPr bwMode="auto">
              <a:xfrm>
                <a:off x="1973" y="2387"/>
                <a:ext cx="2887" cy="317"/>
              </a:xfrm>
              <a:prstGeom prst="rect">
                <a:avLst/>
              </a:prstGeom>
              <a:solidFill>
                <a:srgbClr val="CCFFCC"/>
              </a:solidFill>
              <a:ln w="19050">
                <a:solidFill>
                  <a:srgbClr val="FF0000"/>
                </a:solidFill>
                <a:miter lim="800000"/>
              </a:ln>
            </p:spPr>
            <p:txBody>
              <a:bodyPr>
                <a:spAutoFit/>
              </a:bodyPr>
              <a:lstStyle/>
              <a:p>
                <a:pPr eaLnBrk="1" hangingPunct="1">
                  <a:lnSpc>
                    <a:spcPct val="125000"/>
                  </a:lnSpc>
                  <a:spcBef>
                    <a:spcPct val="50000"/>
                  </a:spcBef>
                </a:pPr>
                <a:r>
                  <a:rPr lang="zh-CN" altLang="en-US">
                    <a:solidFill>
                      <a:srgbClr val="A50021"/>
                    </a:solidFill>
                    <a:latin typeface="楷体" panose="02010609060101010101" pitchFamily="49" charset="-122"/>
                    <a:ea typeface="楷体" panose="02010609060101010101" pitchFamily="49" charset="-122"/>
                  </a:rPr>
                  <a:t>跨国公司的发展</a:t>
                </a:r>
              </a:p>
            </p:txBody>
          </p:sp>
          <p:sp>
            <p:nvSpPr>
              <p:cNvPr id="32790" name="直接连接符 815143"/>
              <p:cNvSpPr>
                <a:spLocks noChangeShapeType="1"/>
              </p:cNvSpPr>
              <p:nvPr/>
            </p:nvSpPr>
            <p:spPr bwMode="auto">
              <a:xfrm flipH="1">
                <a:off x="1565" y="2523"/>
                <a:ext cx="136" cy="0"/>
              </a:xfrm>
              <a:prstGeom prst="line">
                <a:avLst/>
              </a:prstGeom>
              <a:noFill/>
              <a:ln w="57150">
                <a:solidFill>
                  <a:srgbClr val="800000"/>
                </a:solidFill>
                <a:round/>
              </a:ln>
            </p:spPr>
            <p:txBody>
              <a:bodyPr/>
              <a:lstStyle/>
              <a:p>
                <a:endParaRPr lang="zh-CN" altLang="en-US"/>
              </a:p>
            </p:txBody>
          </p:sp>
        </p:grpSp>
        <p:sp>
          <p:nvSpPr>
            <p:cNvPr id="65574" name="矩形 815145"/>
            <p:cNvSpPr>
              <a:spLocks noChangeArrowheads="1" noChangeShapeType="1" noTextEdit="1"/>
            </p:cNvSpPr>
            <p:nvPr/>
          </p:nvSpPr>
          <p:spPr bwMode="auto">
            <a:xfrm rot="5400000">
              <a:off x="4491" y="2205"/>
              <a:ext cx="1451" cy="591"/>
            </a:xfrm>
            <a:prstGeom prst="rect">
              <a:avLst/>
            </a:prstGeom>
          </p:spPr>
          <p:txBody>
            <a:bodyPr vert="eaVert" wrap="none" fromWordArt="1">
              <a:prstTxWarp prst="textPlain">
                <a:avLst>
                  <a:gd name="adj" fmla="val 50000"/>
                </a:avLst>
              </a:prstTxWarp>
              <a:scene3d>
                <a:camera prst="legacyPerspectiveFront">
                  <a:rot lat="20639999" lon="20699999" rev="0"/>
                </a:camera>
                <a:lightRig rig="legacyNormal3" dir="l"/>
              </a:scene3d>
              <a:sp3d extrusionH="201600" prstMaterial="legacyPlastic">
                <a:extrusionClr>
                  <a:srgbClr val="FF9966"/>
                </a:extrusionClr>
              </a:sp3d>
            </a:bodyPr>
            <a:lstStyle/>
            <a:p>
              <a:pPr algn="ctr" eaLnBrk="1" fontAlgn="auto" hangingPunct="1">
                <a:spcBef>
                  <a:spcPct val="50000"/>
                </a:spcBef>
                <a:defRPr/>
              </a:pPr>
              <a:r>
                <a:rPr lang="zh-CN" altLang="en-US" sz="3600" dirty="0">
                  <a:solidFill>
                    <a:srgbClr val="FF0000"/>
                  </a:solidFill>
                  <a:latin typeface="宋体" panose="02010600030101010101" pitchFamily="2" charset="-122"/>
                  <a:ea typeface="宋体" panose="02010600030101010101" pitchFamily="2" charset="-122"/>
                </a:rPr>
                <a:t>顺势而为</a:t>
              </a:r>
              <a:endParaRPr lang="en-US" altLang="zh-CN" sz="3600" dirty="0">
                <a:solidFill>
                  <a:srgbClr val="FF0000"/>
                </a:solidFill>
                <a:latin typeface="宋体" panose="02010600030101010101" pitchFamily="2" charset="-122"/>
                <a:ea typeface="宋体" panose="02010600030101010101" pitchFamily="2" charset="-122"/>
              </a:endParaRPr>
            </a:p>
            <a:p>
              <a:pPr algn="ctr" eaLnBrk="1" fontAlgn="auto" hangingPunct="1">
                <a:spcBef>
                  <a:spcPct val="50000"/>
                </a:spcBef>
                <a:defRPr/>
              </a:pPr>
              <a:r>
                <a:rPr lang="zh-CN" altLang="en-US" sz="3600" dirty="0">
                  <a:solidFill>
                    <a:srgbClr val="FF0000"/>
                  </a:solidFill>
                  <a:latin typeface="宋体" panose="02010600030101010101" pitchFamily="2" charset="-122"/>
                  <a:ea typeface="宋体" panose="02010600030101010101" pitchFamily="2" charset="-122"/>
                </a:rPr>
                <a:t> 趋利避害</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761868"/>
          <p:cNvSpPr>
            <a:spLocks noChangeArrowheads="1" noChangeShapeType="1" noTextEdit="1"/>
          </p:cNvSpPr>
          <p:nvPr/>
        </p:nvSpPr>
        <p:spPr bwMode="auto">
          <a:xfrm>
            <a:off x="442913" y="80963"/>
            <a:ext cx="3097212" cy="504825"/>
          </a:xfrm>
          <a:prstGeom prst="rect">
            <a:avLst/>
          </a:prstGeom>
        </p:spPr>
        <p:txBody>
          <a:bodyPr wrap="none" fromWordArt="1">
            <a:prstTxWarp prst="textDeflate">
              <a:avLst>
                <a:gd name="adj" fmla="val 26259"/>
              </a:avLst>
            </a:prstTxWarp>
          </a:bodyPr>
          <a:lstStyle/>
          <a:p>
            <a:pPr algn="ctr"/>
            <a:r>
              <a:rPr lang="zh-CN" altLang="en-US" sz="5400" kern="10">
                <a:ln w="0">
                  <a:solidFill>
                    <a:srgbClr val="000080"/>
                  </a:solidFill>
                  <a:round/>
                </a:ln>
                <a:solidFill>
                  <a:srgbClr val="FF0000"/>
                </a:solidFill>
                <a:latin typeface="华文隶书"/>
                <a:ea typeface="华文隶书"/>
              </a:rPr>
              <a:t>垄断理论</a:t>
            </a:r>
          </a:p>
        </p:txBody>
      </p:sp>
      <p:grpSp>
        <p:nvGrpSpPr>
          <p:cNvPr id="7171" name="组合 761930"/>
          <p:cNvGrpSpPr/>
          <p:nvPr/>
        </p:nvGrpSpPr>
        <p:grpSpPr bwMode="auto">
          <a:xfrm>
            <a:off x="153988" y="822325"/>
            <a:ext cx="3336925" cy="5703888"/>
            <a:chOff x="53" y="655"/>
            <a:chExt cx="2102" cy="3160"/>
          </a:xfrm>
        </p:grpSpPr>
        <p:sp>
          <p:nvSpPr>
            <p:cNvPr id="7216" name="矩形 761873"/>
            <p:cNvSpPr>
              <a:spLocks noChangeArrowheads="1"/>
            </p:cNvSpPr>
            <p:nvPr/>
          </p:nvSpPr>
          <p:spPr bwMode="auto">
            <a:xfrm>
              <a:off x="295" y="669"/>
              <a:ext cx="1859" cy="746"/>
            </a:xfrm>
            <a:prstGeom prst="rect">
              <a:avLst/>
            </a:prstGeom>
            <a:gradFill rotWithShape="0">
              <a:gsLst>
                <a:gs pos="0">
                  <a:srgbClr val="FFFF99"/>
                </a:gs>
                <a:gs pos="50000">
                  <a:srgbClr val="FFFFFF"/>
                </a:gs>
                <a:gs pos="100000">
                  <a:srgbClr val="FFFF99"/>
                </a:gs>
              </a:gsLst>
              <a:lin ang="0" scaled="1"/>
            </a:gradFill>
            <a:ln w="9525">
              <a:miter lim="800000"/>
            </a:ln>
            <a:scene3d>
              <a:camera prst="legacyObliqueTopLeft"/>
              <a:lightRig rig="legacyFlat3" dir="t"/>
            </a:scene3d>
            <a:sp3d extrusionH="430200" prstMaterial="legacyMatte">
              <a:bevelT w="13500" h="13500" prst="angle"/>
              <a:bevelB w="13500" h="13500" prst="angle"/>
              <a:extrusionClr>
                <a:srgbClr val="FFFF99"/>
              </a:extrusionClr>
            </a:sp3d>
          </p:spPr>
          <p:txBody>
            <a:bodyPr anchor="ctr">
              <a:spAutoFit/>
              <a:flatTx/>
            </a:bodyPr>
            <a:lstStyle/>
            <a:p>
              <a:pPr algn="ctr" eaLnBrk="1" hangingPunct="1">
                <a:spcBef>
                  <a:spcPct val="50000"/>
                </a:spcBef>
              </a:pPr>
              <a:r>
                <a:rPr lang="zh-CN" altLang="en-US" sz="2000">
                  <a:solidFill>
                    <a:srgbClr val="0000FF"/>
                  </a:solidFill>
                  <a:ea typeface="幼圆" pitchFamily="49" charset="-122"/>
                </a:rPr>
                <a:t>自由竞争资本主义</a:t>
              </a:r>
            </a:p>
            <a:p>
              <a:pPr algn="ctr" eaLnBrk="1" hangingPunct="1">
                <a:spcBef>
                  <a:spcPct val="50000"/>
                </a:spcBef>
              </a:pPr>
              <a:r>
                <a:rPr lang="en-US" altLang="zh-CN" sz="1600">
                  <a:solidFill>
                    <a:srgbClr val="003399"/>
                  </a:solidFill>
                  <a:latin typeface="楷体" panose="02010609060101010101" pitchFamily="49" charset="-122"/>
                  <a:ea typeface="楷体" panose="02010609060101010101" pitchFamily="49" charset="-122"/>
                </a:rPr>
                <a:t>19</a:t>
              </a:r>
              <a:r>
                <a:rPr lang="zh-CN" altLang="en-US" sz="1600">
                  <a:solidFill>
                    <a:srgbClr val="003399"/>
                  </a:solidFill>
                  <a:latin typeface="楷体" panose="02010609060101010101" pitchFamily="49" charset="-122"/>
                  <a:ea typeface="楷体" panose="02010609060101010101" pitchFamily="49" charset="-122"/>
                </a:rPr>
                <a:t>世纪</a:t>
              </a:r>
              <a:r>
                <a:rPr lang="en-US" altLang="zh-CN" sz="1600">
                  <a:solidFill>
                    <a:srgbClr val="003399"/>
                  </a:solidFill>
                  <a:latin typeface="楷体" panose="02010609060101010101" pitchFamily="49" charset="-122"/>
                  <a:ea typeface="楷体" panose="02010609060101010101" pitchFamily="49" charset="-122"/>
                </a:rPr>
                <a:t>70</a:t>
              </a:r>
              <a:r>
                <a:rPr lang="zh-CN" altLang="en-US" sz="1600">
                  <a:solidFill>
                    <a:srgbClr val="003399"/>
                  </a:solidFill>
                  <a:latin typeface="楷体" panose="02010609060101010101" pitchFamily="49" charset="-122"/>
                  <a:ea typeface="楷体" panose="02010609060101010101" pitchFamily="49" charset="-122"/>
                </a:rPr>
                <a:t>年代以前</a:t>
              </a:r>
              <a:endParaRPr lang="en-US" altLang="zh-CN" sz="1600">
                <a:solidFill>
                  <a:srgbClr val="003399"/>
                </a:solidFill>
                <a:latin typeface="楷体" panose="02010609060101010101" pitchFamily="49" charset="-122"/>
                <a:ea typeface="楷体" panose="02010609060101010101" pitchFamily="49" charset="-122"/>
              </a:endParaRPr>
            </a:p>
            <a:p>
              <a:pPr algn="ctr" eaLnBrk="1" hangingPunct="1">
                <a:spcBef>
                  <a:spcPct val="50000"/>
                </a:spcBef>
              </a:pPr>
              <a:r>
                <a:rPr lang="zh-CN" altLang="en-US" sz="1800">
                  <a:solidFill>
                    <a:srgbClr val="FF0000"/>
                  </a:solidFill>
                </a:rPr>
                <a:t>（马克思恩格斯所处时代）</a:t>
              </a:r>
            </a:p>
          </p:txBody>
        </p:sp>
        <p:sp>
          <p:nvSpPr>
            <p:cNvPr id="7217" name="矩形 761874"/>
            <p:cNvSpPr>
              <a:spLocks noChangeArrowheads="1"/>
            </p:cNvSpPr>
            <p:nvPr/>
          </p:nvSpPr>
          <p:spPr bwMode="auto">
            <a:xfrm>
              <a:off x="295" y="1485"/>
              <a:ext cx="1859" cy="656"/>
            </a:xfrm>
            <a:prstGeom prst="rect">
              <a:avLst/>
            </a:prstGeom>
            <a:gradFill rotWithShape="0">
              <a:gsLst>
                <a:gs pos="0">
                  <a:srgbClr val="FFFF99"/>
                </a:gs>
                <a:gs pos="50000">
                  <a:srgbClr val="FFFFFF"/>
                </a:gs>
                <a:gs pos="100000">
                  <a:srgbClr val="FFFF99"/>
                </a:gs>
              </a:gsLst>
              <a:lin ang="0" scaled="1"/>
            </a:gradFill>
            <a:ln w="9525">
              <a:miter lim="800000"/>
            </a:ln>
            <a:scene3d>
              <a:camera prst="legacyObliqueTopLeft"/>
              <a:lightRig rig="legacyFlat3" dir="t"/>
            </a:scene3d>
            <a:sp3d extrusionH="430200" prstMaterial="legacyMatte">
              <a:bevelT w="13500" h="13500" prst="angle"/>
              <a:bevelB w="13500" h="13500" prst="angle"/>
              <a:extrusionClr>
                <a:srgbClr val="FFFF99"/>
              </a:extrusionClr>
            </a:sp3d>
          </p:spPr>
          <p:txBody>
            <a:bodyPr anchor="ctr">
              <a:spAutoFit/>
              <a:flatTx/>
            </a:bodyPr>
            <a:lstStyle/>
            <a:p>
              <a:pPr algn="ctr" eaLnBrk="1" hangingPunct="1">
                <a:spcBef>
                  <a:spcPct val="50000"/>
                </a:spcBef>
              </a:pPr>
              <a:r>
                <a:rPr lang="zh-CN" altLang="en-US" sz="2000">
                  <a:solidFill>
                    <a:srgbClr val="0000FF"/>
                  </a:solidFill>
                  <a:ea typeface="幼圆" pitchFamily="49" charset="-122"/>
                </a:rPr>
                <a:t>私人垄断资本主义</a:t>
              </a:r>
            </a:p>
            <a:p>
              <a:pPr algn="ctr" eaLnBrk="1" hangingPunct="1">
                <a:spcBef>
                  <a:spcPct val="50000"/>
                </a:spcBef>
              </a:pPr>
              <a:r>
                <a:rPr lang="en-US" altLang="zh-CN" sz="1600">
                  <a:solidFill>
                    <a:srgbClr val="003399"/>
                  </a:solidFill>
                  <a:latin typeface="楷体_GB2312" pitchFamily="49" charset="-122"/>
                </a:rPr>
                <a:t>1</a:t>
              </a:r>
              <a:r>
                <a:rPr lang="en-US" altLang="zh-CN" sz="1600">
                  <a:solidFill>
                    <a:srgbClr val="003399"/>
                  </a:solidFill>
                  <a:latin typeface="楷体" panose="02010609060101010101" pitchFamily="49" charset="-122"/>
                  <a:ea typeface="楷体" panose="02010609060101010101" pitchFamily="49" charset="-122"/>
                </a:rPr>
                <a:t>9</a:t>
              </a:r>
              <a:r>
                <a:rPr lang="zh-CN" altLang="en-US" sz="1600">
                  <a:solidFill>
                    <a:srgbClr val="003399"/>
                  </a:solidFill>
                  <a:latin typeface="楷体" panose="02010609060101010101" pitchFamily="49" charset="-122"/>
                  <a:ea typeface="楷体" panose="02010609060101010101" pitchFamily="49" charset="-122"/>
                </a:rPr>
                <a:t>世纪</a:t>
              </a:r>
              <a:r>
                <a:rPr lang="en-US" altLang="zh-CN" sz="1600">
                  <a:solidFill>
                    <a:srgbClr val="003399"/>
                  </a:solidFill>
                  <a:latin typeface="楷体" panose="02010609060101010101" pitchFamily="49" charset="-122"/>
                  <a:ea typeface="楷体" panose="02010609060101010101" pitchFamily="49" charset="-122"/>
                </a:rPr>
                <a:t>70</a:t>
              </a:r>
              <a:r>
                <a:rPr lang="zh-CN" altLang="en-US" sz="1600">
                  <a:solidFill>
                    <a:srgbClr val="003399"/>
                  </a:solidFill>
                  <a:latin typeface="楷体" panose="02010609060101010101" pitchFamily="49" charset="-122"/>
                  <a:ea typeface="楷体" panose="02010609060101010101" pitchFamily="49" charset="-122"/>
                </a:rPr>
                <a:t>年代</a:t>
              </a:r>
              <a:r>
                <a:rPr lang="en-US" altLang="zh-CN" sz="1600">
                  <a:solidFill>
                    <a:srgbClr val="003399"/>
                  </a:solidFill>
                  <a:latin typeface="楷体" panose="02010609060101010101" pitchFamily="49" charset="-122"/>
                  <a:ea typeface="楷体" panose="02010609060101010101" pitchFamily="49" charset="-122"/>
                </a:rPr>
                <a:t>-20</a:t>
              </a:r>
              <a:r>
                <a:rPr lang="zh-CN" altLang="en-US" sz="1600">
                  <a:solidFill>
                    <a:srgbClr val="003399"/>
                  </a:solidFill>
                  <a:latin typeface="楷体" panose="02010609060101010101" pitchFamily="49" charset="-122"/>
                  <a:ea typeface="楷体" panose="02010609060101010101" pitchFamily="49" charset="-122"/>
                </a:rPr>
                <a:t>世纪</a:t>
              </a:r>
              <a:r>
                <a:rPr lang="en-US" altLang="zh-CN" sz="1600">
                  <a:solidFill>
                    <a:srgbClr val="003399"/>
                  </a:solidFill>
                  <a:latin typeface="楷体" panose="02010609060101010101" pitchFamily="49" charset="-122"/>
                  <a:ea typeface="楷体" panose="02010609060101010101" pitchFamily="49" charset="-122"/>
                </a:rPr>
                <a:t>30</a:t>
              </a:r>
              <a:r>
                <a:rPr lang="zh-CN" altLang="en-US" sz="1600">
                  <a:solidFill>
                    <a:srgbClr val="003399"/>
                  </a:solidFill>
                  <a:latin typeface="楷体" panose="02010609060101010101" pitchFamily="49" charset="-122"/>
                  <a:ea typeface="楷体" panose="02010609060101010101" pitchFamily="49" charset="-122"/>
                </a:rPr>
                <a:t>年代</a:t>
              </a:r>
              <a:endParaRPr lang="en-US" altLang="zh-CN" sz="1600">
                <a:solidFill>
                  <a:srgbClr val="003399"/>
                </a:solidFill>
                <a:latin typeface="楷体" panose="02010609060101010101" pitchFamily="49" charset="-122"/>
                <a:ea typeface="楷体" panose="02010609060101010101" pitchFamily="49" charset="-122"/>
              </a:endParaRPr>
            </a:p>
            <a:p>
              <a:pPr algn="ctr" eaLnBrk="1" hangingPunct="1">
                <a:spcBef>
                  <a:spcPct val="50000"/>
                </a:spcBef>
              </a:pPr>
              <a:r>
                <a:rPr lang="zh-CN" altLang="en-US" sz="1800">
                  <a:solidFill>
                    <a:srgbClr val="FF0000"/>
                  </a:solidFill>
                </a:rPr>
                <a:t>（列宁所处时代）</a:t>
              </a:r>
              <a:endParaRPr lang="zh-CN" altLang="en-US" sz="1800">
                <a:solidFill>
                  <a:srgbClr val="990000"/>
                </a:solidFill>
                <a:ea typeface="黑体" panose="02010609060101010101" pitchFamily="49" charset="-122"/>
              </a:endParaRPr>
            </a:p>
          </p:txBody>
        </p:sp>
        <p:sp>
          <p:nvSpPr>
            <p:cNvPr id="7218" name="矩形 761875"/>
            <p:cNvSpPr>
              <a:spLocks noChangeArrowheads="1"/>
            </p:cNvSpPr>
            <p:nvPr/>
          </p:nvSpPr>
          <p:spPr bwMode="auto">
            <a:xfrm>
              <a:off x="295" y="2255"/>
              <a:ext cx="1860" cy="659"/>
            </a:xfrm>
            <a:prstGeom prst="rect">
              <a:avLst/>
            </a:prstGeom>
            <a:gradFill rotWithShape="0">
              <a:gsLst>
                <a:gs pos="0">
                  <a:srgbClr val="FFFF99"/>
                </a:gs>
                <a:gs pos="50000">
                  <a:srgbClr val="FFFFFF"/>
                </a:gs>
                <a:gs pos="100000">
                  <a:srgbClr val="FFFF99"/>
                </a:gs>
              </a:gsLst>
              <a:lin ang="0" scaled="1"/>
            </a:gradFill>
            <a:ln w="9525">
              <a:miter lim="800000"/>
            </a:ln>
            <a:scene3d>
              <a:camera prst="legacyObliqueTopLeft"/>
              <a:lightRig rig="legacyFlat3" dir="t"/>
            </a:scene3d>
            <a:sp3d extrusionH="430200" prstMaterial="legacyMatte">
              <a:bevelT w="13500" h="13500" prst="angle"/>
              <a:bevelB w="13500" h="13500" prst="angle"/>
              <a:extrusionClr>
                <a:srgbClr val="FFFF99"/>
              </a:extrusionClr>
            </a:sp3d>
          </p:spPr>
          <p:txBody>
            <a:bodyPr anchor="ctr">
              <a:spAutoFit/>
              <a:flatTx/>
            </a:bodyPr>
            <a:lstStyle/>
            <a:p>
              <a:pPr algn="ctr" eaLnBrk="1" hangingPunct="1">
                <a:spcBef>
                  <a:spcPct val="50000"/>
                </a:spcBef>
              </a:pPr>
              <a:r>
                <a:rPr lang="zh-CN" altLang="en-US" sz="2000">
                  <a:solidFill>
                    <a:srgbClr val="0000FF"/>
                  </a:solidFill>
                  <a:ea typeface="幼圆" pitchFamily="49" charset="-122"/>
                </a:rPr>
                <a:t>国家垄断资本主义</a:t>
              </a:r>
            </a:p>
            <a:p>
              <a:pPr algn="ctr" eaLnBrk="1" hangingPunct="1">
                <a:spcBef>
                  <a:spcPct val="50000"/>
                </a:spcBef>
              </a:pPr>
              <a:r>
                <a:rPr lang="en-US" altLang="zh-CN" sz="1600">
                  <a:solidFill>
                    <a:srgbClr val="003399"/>
                  </a:solidFill>
                  <a:latin typeface="楷体" panose="02010609060101010101" pitchFamily="49" charset="-122"/>
                  <a:ea typeface="楷体" panose="02010609060101010101" pitchFamily="49" charset="-122"/>
                </a:rPr>
                <a:t>20</a:t>
              </a:r>
              <a:r>
                <a:rPr lang="zh-CN" altLang="en-US" sz="1600">
                  <a:solidFill>
                    <a:srgbClr val="003399"/>
                  </a:solidFill>
                  <a:latin typeface="楷体" panose="02010609060101010101" pitchFamily="49" charset="-122"/>
                  <a:ea typeface="楷体" panose="02010609060101010101" pitchFamily="49" charset="-122"/>
                </a:rPr>
                <a:t>世纪</a:t>
              </a:r>
              <a:r>
                <a:rPr lang="en-US" altLang="zh-CN" sz="1600">
                  <a:solidFill>
                    <a:srgbClr val="003399"/>
                  </a:solidFill>
                  <a:latin typeface="楷体" panose="02010609060101010101" pitchFamily="49" charset="-122"/>
                  <a:ea typeface="楷体" panose="02010609060101010101" pitchFamily="49" charset="-122"/>
                </a:rPr>
                <a:t>30</a:t>
              </a:r>
              <a:r>
                <a:rPr lang="zh-CN" altLang="en-US" sz="1600">
                  <a:solidFill>
                    <a:srgbClr val="003399"/>
                  </a:solidFill>
                  <a:latin typeface="楷体" panose="02010609060101010101" pitchFamily="49" charset="-122"/>
                  <a:ea typeface="楷体" panose="02010609060101010101" pitchFamily="49" charset="-122"/>
                </a:rPr>
                <a:t>年代</a:t>
              </a:r>
              <a:r>
                <a:rPr lang="en-US" altLang="zh-CN" sz="1600">
                  <a:solidFill>
                    <a:srgbClr val="003399"/>
                  </a:solidFill>
                  <a:latin typeface="楷体" panose="02010609060101010101" pitchFamily="49" charset="-122"/>
                  <a:ea typeface="楷体" panose="02010609060101010101" pitchFamily="49" charset="-122"/>
                </a:rPr>
                <a:t>-20</a:t>
              </a:r>
              <a:r>
                <a:rPr lang="zh-CN" altLang="en-US" sz="1600">
                  <a:solidFill>
                    <a:srgbClr val="003399"/>
                  </a:solidFill>
                  <a:latin typeface="楷体" panose="02010609060101010101" pitchFamily="49" charset="-122"/>
                  <a:ea typeface="楷体" panose="02010609060101010101" pitchFamily="49" charset="-122"/>
                </a:rPr>
                <a:t>世纪</a:t>
              </a:r>
              <a:r>
                <a:rPr lang="en-US" altLang="zh-CN" sz="1600">
                  <a:solidFill>
                    <a:srgbClr val="003399"/>
                  </a:solidFill>
                  <a:latin typeface="楷体" panose="02010609060101010101" pitchFamily="49" charset="-122"/>
                  <a:ea typeface="楷体" panose="02010609060101010101" pitchFamily="49" charset="-122"/>
                </a:rPr>
                <a:t>70</a:t>
              </a:r>
              <a:r>
                <a:rPr lang="zh-CN" altLang="en-US" sz="1600">
                  <a:solidFill>
                    <a:srgbClr val="003399"/>
                  </a:solidFill>
                  <a:latin typeface="楷体" panose="02010609060101010101" pitchFamily="49" charset="-122"/>
                  <a:ea typeface="楷体" panose="02010609060101010101" pitchFamily="49" charset="-122"/>
                </a:rPr>
                <a:t>年代</a:t>
              </a:r>
              <a:r>
                <a:rPr lang="zh-CN" altLang="en-US" sz="1800">
                  <a:solidFill>
                    <a:srgbClr val="FF0000"/>
                  </a:solidFill>
                </a:rPr>
                <a:t>（两大阵营对峙时代）</a:t>
              </a:r>
            </a:p>
          </p:txBody>
        </p:sp>
        <p:sp>
          <p:nvSpPr>
            <p:cNvPr id="7219" name="矩形 761876"/>
            <p:cNvSpPr>
              <a:spLocks noChangeArrowheads="1"/>
            </p:cNvSpPr>
            <p:nvPr/>
          </p:nvSpPr>
          <p:spPr bwMode="auto">
            <a:xfrm>
              <a:off x="295" y="3069"/>
              <a:ext cx="1859" cy="746"/>
            </a:xfrm>
            <a:prstGeom prst="rect">
              <a:avLst/>
            </a:prstGeom>
            <a:gradFill rotWithShape="0">
              <a:gsLst>
                <a:gs pos="0">
                  <a:srgbClr val="FFFF99"/>
                </a:gs>
                <a:gs pos="50000">
                  <a:srgbClr val="FFFFFF"/>
                </a:gs>
                <a:gs pos="100000">
                  <a:srgbClr val="FFFF99"/>
                </a:gs>
              </a:gsLst>
              <a:lin ang="0" scaled="1"/>
            </a:gradFill>
            <a:ln w="9525">
              <a:miter lim="800000"/>
            </a:ln>
            <a:scene3d>
              <a:camera prst="legacyObliqueTopLeft"/>
              <a:lightRig rig="legacyFlat3" dir="t"/>
            </a:scene3d>
            <a:sp3d extrusionH="430200" prstMaterial="legacyMatte">
              <a:bevelT w="13500" h="13500" prst="angle"/>
              <a:bevelB w="13500" h="13500" prst="angle"/>
              <a:extrusionClr>
                <a:srgbClr val="FFFF99"/>
              </a:extrusionClr>
            </a:sp3d>
          </p:spPr>
          <p:txBody>
            <a:bodyPr anchor="ctr">
              <a:spAutoFit/>
              <a:flatTx/>
            </a:bodyPr>
            <a:lstStyle/>
            <a:p>
              <a:pPr algn="ctr" eaLnBrk="1" hangingPunct="1">
                <a:spcBef>
                  <a:spcPct val="50000"/>
                </a:spcBef>
              </a:pPr>
              <a:r>
                <a:rPr lang="zh-CN" altLang="en-US" sz="2000">
                  <a:solidFill>
                    <a:srgbClr val="0000FF"/>
                  </a:solidFill>
                  <a:ea typeface="幼圆" pitchFamily="49" charset="-122"/>
                </a:rPr>
                <a:t>资本主义全球化</a:t>
              </a:r>
            </a:p>
            <a:p>
              <a:pPr algn="ctr" eaLnBrk="1" hangingPunct="1">
                <a:spcBef>
                  <a:spcPct val="50000"/>
                </a:spcBef>
              </a:pPr>
              <a:r>
                <a:rPr lang="zh-CN" altLang="en-US" sz="1600">
                  <a:solidFill>
                    <a:srgbClr val="003399"/>
                  </a:solidFill>
                  <a:latin typeface="楷体" panose="02010609060101010101" pitchFamily="49" charset="-122"/>
                  <a:ea typeface="楷体" panose="02010609060101010101" pitchFamily="49" charset="-122"/>
                </a:rPr>
                <a:t>当  今</a:t>
              </a:r>
              <a:endParaRPr lang="en-US" altLang="zh-CN" sz="1200">
                <a:solidFill>
                  <a:srgbClr val="003399"/>
                </a:solidFill>
                <a:latin typeface="楷体" panose="02010609060101010101" pitchFamily="49" charset="-122"/>
                <a:ea typeface="楷体" panose="02010609060101010101" pitchFamily="49" charset="-122"/>
              </a:endParaRPr>
            </a:p>
            <a:p>
              <a:pPr algn="ctr" eaLnBrk="1" hangingPunct="1">
                <a:spcBef>
                  <a:spcPct val="50000"/>
                </a:spcBef>
              </a:pPr>
              <a:r>
                <a:rPr lang="zh-CN" altLang="en-US" sz="1800">
                  <a:solidFill>
                    <a:srgbClr val="FF0000"/>
                  </a:solidFill>
                </a:rPr>
                <a:t>（和平发展成为时代主题）</a:t>
              </a:r>
              <a:endParaRPr lang="zh-CN" altLang="en-US" sz="1800">
                <a:solidFill>
                  <a:srgbClr val="990000"/>
                </a:solidFill>
                <a:ea typeface="黑体" panose="02010609060101010101" pitchFamily="49" charset="-122"/>
              </a:endParaRPr>
            </a:p>
          </p:txBody>
        </p:sp>
        <p:sp>
          <p:nvSpPr>
            <p:cNvPr id="7220" name="矩形 761877"/>
            <p:cNvSpPr>
              <a:spLocks noChangeArrowheads="1" noChangeShapeType="1" noTextEdit="1"/>
            </p:cNvSpPr>
            <p:nvPr/>
          </p:nvSpPr>
          <p:spPr bwMode="auto">
            <a:xfrm rot="5400000">
              <a:off x="-216" y="924"/>
              <a:ext cx="720" cy="182"/>
            </a:xfrm>
            <a:prstGeom prst="rect">
              <a:avLst/>
            </a:prstGeom>
          </p:spPr>
          <p:txBody>
            <a:bodyPr vert="eaVert" wrap="none" fromWordArt="1">
              <a:prstTxWarp prst="textPlain">
                <a:avLst>
                  <a:gd name="adj" fmla="val 50000"/>
                </a:avLst>
              </a:prstTxWarp>
              <a:scene3d>
                <a:camera prst="legacyPerspectiveFront">
                  <a:rot lat="20639990" lon="20699983" rev="0"/>
                </a:camera>
                <a:lightRig rig="legacyNormal3" dir="l"/>
              </a:scene3d>
              <a:sp3d extrusionH="201600" prstMaterial="legacyPlastic">
                <a:extrusionClr>
                  <a:srgbClr val="FF9966"/>
                </a:extrusionClr>
              </a:sp3d>
            </a:bodyPr>
            <a:lstStyle/>
            <a:p>
              <a:pPr algn="ctr" fontAlgn="auto"/>
              <a:r>
                <a:rPr lang="zh-CN" altLang="en-US" sz="3600" kern="10">
                  <a:ln w="9525">
                    <a:round/>
                  </a:ln>
                  <a:solidFill>
                    <a:srgbClr val="CC0000"/>
                  </a:solidFill>
                  <a:latin typeface="宋体" panose="02010600030101010101" pitchFamily="2" charset="-122"/>
                  <a:ea typeface="宋体" panose="02010600030101010101" pitchFamily="2" charset="-122"/>
                </a:rPr>
                <a:t>历 史</a:t>
              </a:r>
            </a:p>
          </p:txBody>
        </p:sp>
        <p:sp>
          <p:nvSpPr>
            <p:cNvPr id="7221" name="直接连接符 761889"/>
            <p:cNvSpPr>
              <a:spLocks noChangeShapeType="1"/>
            </p:cNvSpPr>
            <p:nvPr/>
          </p:nvSpPr>
          <p:spPr bwMode="auto">
            <a:xfrm>
              <a:off x="1202" y="1298"/>
              <a:ext cx="0" cy="182"/>
            </a:xfrm>
            <a:prstGeom prst="line">
              <a:avLst/>
            </a:prstGeom>
            <a:noFill/>
            <a:ln w="57150">
              <a:solidFill>
                <a:srgbClr val="339966"/>
              </a:solidFill>
              <a:round/>
              <a:tailEnd type="triangle" w="med" len="med"/>
            </a:ln>
          </p:spPr>
          <p:txBody>
            <a:bodyPr/>
            <a:lstStyle/>
            <a:p>
              <a:endParaRPr lang="zh-CN" altLang="en-US"/>
            </a:p>
          </p:txBody>
        </p:sp>
        <p:sp>
          <p:nvSpPr>
            <p:cNvPr id="7222" name="直接连接符 761890"/>
            <p:cNvSpPr>
              <a:spLocks noChangeShapeType="1"/>
            </p:cNvSpPr>
            <p:nvPr/>
          </p:nvSpPr>
          <p:spPr bwMode="auto">
            <a:xfrm>
              <a:off x="1202" y="2069"/>
              <a:ext cx="0" cy="182"/>
            </a:xfrm>
            <a:prstGeom prst="line">
              <a:avLst/>
            </a:prstGeom>
            <a:noFill/>
            <a:ln w="57150">
              <a:solidFill>
                <a:srgbClr val="339966"/>
              </a:solidFill>
              <a:round/>
              <a:tailEnd type="triangle" w="med" len="med"/>
            </a:ln>
          </p:spPr>
          <p:txBody>
            <a:bodyPr/>
            <a:lstStyle/>
            <a:p>
              <a:endParaRPr lang="zh-CN" altLang="en-US"/>
            </a:p>
          </p:txBody>
        </p:sp>
        <p:sp>
          <p:nvSpPr>
            <p:cNvPr id="7223" name="直接连接符 761891"/>
            <p:cNvSpPr>
              <a:spLocks noChangeShapeType="1"/>
            </p:cNvSpPr>
            <p:nvPr/>
          </p:nvSpPr>
          <p:spPr bwMode="auto">
            <a:xfrm>
              <a:off x="1202" y="2840"/>
              <a:ext cx="0" cy="227"/>
            </a:xfrm>
            <a:prstGeom prst="line">
              <a:avLst/>
            </a:prstGeom>
            <a:noFill/>
            <a:ln w="57150">
              <a:solidFill>
                <a:srgbClr val="339966"/>
              </a:solidFill>
              <a:round/>
              <a:tailEnd type="triangle" w="med" len="med"/>
            </a:ln>
          </p:spPr>
          <p:txBody>
            <a:bodyPr/>
            <a:lstStyle/>
            <a:p>
              <a:endParaRPr lang="zh-CN" altLang="en-US"/>
            </a:p>
          </p:txBody>
        </p:sp>
      </p:grpSp>
      <p:grpSp>
        <p:nvGrpSpPr>
          <p:cNvPr id="7172" name="组合 761929"/>
          <p:cNvGrpSpPr/>
          <p:nvPr/>
        </p:nvGrpSpPr>
        <p:grpSpPr bwMode="auto">
          <a:xfrm>
            <a:off x="3678238" y="360363"/>
            <a:ext cx="5292725" cy="6021387"/>
            <a:chOff x="2426" y="218"/>
            <a:chExt cx="3334" cy="3530"/>
          </a:xfrm>
        </p:grpSpPr>
        <p:sp>
          <p:nvSpPr>
            <p:cNvPr id="7174" name="矩形 761869"/>
            <p:cNvSpPr>
              <a:spLocks noChangeArrowheads="1"/>
            </p:cNvSpPr>
            <p:nvPr/>
          </p:nvSpPr>
          <p:spPr bwMode="auto">
            <a:xfrm>
              <a:off x="4513" y="663"/>
              <a:ext cx="726"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noProof="1">
                  <a:solidFill>
                    <a:srgbClr val="990000"/>
                  </a:solidFill>
                  <a:latin typeface="楷体" panose="02010609060101010101" pitchFamily="49" charset="-122"/>
                  <a:ea typeface="楷体" panose="02010609060101010101" pitchFamily="49" charset="-122"/>
                </a:rPr>
                <a:t>垄断组织</a:t>
              </a:r>
            </a:p>
          </p:txBody>
        </p:sp>
        <p:sp>
          <p:nvSpPr>
            <p:cNvPr id="7175" name="矩形 761878"/>
            <p:cNvSpPr>
              <a:spLocks noChangeArrowheads="1" noChangeShapeType="1" noTextEdit="1"/>
            </p:cNvSpPr>
            <p:nvPr/>
          </p:nvSpPr>
          <p:spPr bwMode="auto">
            <a:xfrm rot="5400000">
              <a:off x="2376" y="568"/>
              <a:ext cx="635" cy="181"/>
            </a:xfrm>
            <a:prstGeom prst="rect">
              <a:avLst/>
            </a:prstGeom>
          </p:spPr>
          <p:txBody>
            <a:bodyPr vert="eaVert" wrap="none" fromWordArt="1">
              <a:prstTxWarp prst="textPlain">
                <a:avLst>
                  <a:gd name="adj" fmla="val 50000"/>
                </a:avLst>
              </a:prstTxWarp>
              <a:scene3d>
                <a:camera prst="legacyPerspectiveFront">
                  <a:rot lat="20639990" lon="20699983" rev="0"/>
                </a:camera>
                <a:lightRig rig="legacyNormal3" dir="l"/>
              </a:scene3d>
              <a:sp3d extrusionH="201600" prstMaterial="legacyPlastic">
                <a:extrusionClr>
                  <a:srgbClr val="FF9966"/>
                </a:extrusionClr>
              </a:sp3d>
            </a:bodyPr>
            <a:lstStyle/>
            <a:p>
              <a:pPr algn="ctr" fontAlgn="auto"/>
              <a:r>
                <a:rPr lang="zh-CN" altLang="en-US" sz="3600" kern="10">
                  <a:ln w="9525">
                    <a:round/>
                  </a:ln>
                  <a:solidFill>
                    <a:srgbClr val="CC0000"/>
                  </a:solidFill>
                  <a:latin typeface="宋体" panose="02010600030101010101" pitchFamily="2" charset="-122"/>
                  <a:ea typeface="宋体" panose="02010600030101010101" pitchFamily="2" charset="-122"/>
                </a:rPr>
                <a:t>逻 辑</a:t>
              </a:r>
            </a:p>
          </p:txBody>
        </p:sp>
        <p:sp>
          <p:nvSpPr>
            <p:cNvPr id="7176" name="直接连接符 761879"/>
            <p:cNvSpPr>
              <a:spLocks noChangeShapeType="1"/>
            </p:cNvSpPr>
            <p:nvPr/>
          </p:nvSpPr>
          <p:spPr bwMode="auto">
            <a:xfrm>
              <a:off x="2426" y="527"/>
              <a:ext cx="0" cy="3221"/>
            </a:xfrm>
            <a:prstGeom prst="line">
              <a:avLst/>
            </a:prstGeom>
            <a:noFill/>
            <a:ln w="57150">
              <a:solidFill>
                <a:srgbClr val="FF0000"/>
              </a:solidFill>
              <a:round/>
            </a:ln>
          </p:spPr>
          <p:txBody>
            <a:bodyPr/>
            <a:lstStyle/>
            <a:p>
              <a:endParaRPr lang="zh-CN" altLang="en-US"/>
            </a:p>
          </p:txBody>
        </p:sp>
        <p:sp>
          <p:nvSpPr>
            <p:cNvPr id="7177" name="矩形 761881"/>
            <p:cNvSpPr>
              <a:spLocks noChangeArrowheads="1"/>
            </p:cNvSpPr>
            <p:nvPr/>
          </p:nvSpPr>
          <p:spPr bwMode="auto">
            <a:xfrm>
              <a:off x="3061" y="218"/>
              <a:ext cx="907" cy="235"/>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00"/>
                  </a:solidFill>
                  <a:ea typeface="幼圆" pitchFamily="49" charset="-122"/>
                </a:rPr>
                <a:t>自由竞争</a:t>
              </a:r>
            </a:p>
          </p:txBody>
        </p:sp>
        <p:sp>
          <p:nvSpPr>
            <p:cNvPr id="7178" name="矩形 761882"/>
            <p:cNvSpPr>
              <a:spLocks noChangeArrowheads="1"/>
            </p:cNvSpPr>
            <p:nvPr/>
          </p:nvSpPr>
          <p:spPr bwMode="auto">
            <a:xfrm>
              <a:off x="3107" y="2576"/>
              <a:ext cx="917" cy="235"/>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00"/>
                  </a:solidFill>
                  <a:ea typeface="幼圆" pitchFamily="49" charset="-122"/>
                </a:rPr>
                <a:t>国际化</a:t>
              </a:r>
            </a:p>
          </p:txBody>
        </p:sp>
        <p:sp>
          <p:nvSpPr>
            <p:cNvPr id="7179" name="矩形 761883"/>
            <p:cNvSpPr>
              <a:spLocks noChangeArrowheads="1"/>
            </p:cNvSpPr>
            <p:nvPr/>
          </p:nvSpPr>
          <p:spPr bwMode="auto">
            <a:xfrm>
              <a:off x="3107" y="943"/>
              <a:ext cx="907" cy="235"/>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00"/>
                  </a:solidFill>
                  <a:ea typeface="幼圆" pitchFamily="49" charset="-122"/>
                </a:rPr>
                <a:t>私人垄断</a:t>
              </a:r>
            </a:p>
          </p:txBody>
        </p:sp>
        <p:sp>
          <p:nvSpPr>
            <p:cNvPr id="7180" name="矩形 761884"/>
            <p:cNvSpPr>
              <a:spLocks noChangeArrowheads="1"/>
            </p:cNvSpPr>
            <p:nvPr/>
          </p:nvSpPr>
          <p:spPr bwMode="auto">
            <a:xfrm>
              <a:off x="3107" y="1760"/>
              <a:ext cx="907" cy="235"/>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00"/>
                  </a:solidFill>
                  <a:ea typeface="幼圆" pitchFamily="49" charset="-122"/>
                </a:rPr>
                <a:t>国家垄断</a:t>
              </a:r>
            </a:p>
          </p:txBody>
        </p:sp>
        <p:sp>
          <p:nvSpPr>
            <p:cNvPr id="7181" name="圆角矩形 7"/>
            <p:cNvSpPr>
              <a:spLocks noChangeArrowheads="1"/>
            </p:cNvSpPr>
            <p:nvPr/>
          </p:nvSpPr>
          <p:spPr bwMode="auto">
            <a:xfrm>
              <a:off x="2812" y="476"/>
              <a:ext cx="640" cy="363"/>
            </a:xfrm>
            <a:prstGeom prst="roundRect">
              <a:avLst>
                <a:gd name="adj" fmla="val 10444"/>
              </a:avLst>
            </a:prstGeom>
            <a:solidFill>
              <a:srgbClr val="FFFFCC"/>
            </a:solidFill>
            <a:ln w="9525">
              <a:solidFill>
                <a:schemeClr val="tx1"/>
              </a:solidFill>
              <a:round/>
            </a:ln>
          </p:spPr>
          <p:txBody>
            <a:bodyPr/>
            <a:lstStyle/>
            <a:p>
              <a:pPr eaLnBrk="1" hangingPunct="1">
                <a:lnSpc>
                  <a:spcPct val="85000"/>
                </a:lnSpc>
                <a:spcBef>
                  <a:spcPct val="50000"/>
                </a:spcBef>
              </a:pPr>
              <a:r>
                <a:rPr lang="zh-CN" altLang="en-US" sz="1400">
                  <a:solidFill>
                    <a:srgbClr val="0000FF"/>
                  </a:solidFill>
                  <a:ea typeface="幼圆" pitchFamily="49" charset="-122"/>
                </a:rPr>
                <a:t>生产集中 </a:t>
              </a:r>
            </a:p>
            <a:p>
              <a:pPr eaLnBrk="1" hangingPunct="1">
                <a:lnSpc>
                  <a:spcPct val="85000"/>
                </a:lnSpc>
                <a:spcBef>
                  <a:spcPct val="50000"/>
                </a:spcBef>
              </a:pPr>
              <a:r>
                <a:rPr lang="zh-CN" altLang="en-US" sz="1400">
                  <a:solidFill>
                    <a:srgbClr val="0000FF"/>
                  </a:solidFill>
                  <a:ea typeface="幼圆" pitchFamily="49" charset="-122"/>
                </a:rPr>
                <a:t>资本集中</a:t>
              </a:r>
            </a:p>
          </p:txBody>
        </p:sp>
        <p:sp>
          <p:nvSpPr>
            <p:cNvPr id="7182" name="直接连接符 761886"/>
            <p:cNvSpPr>
              <a:spLocks noChangeShapeType="1"/>
            </p:cNvSpPr>
            <p:nvPr/>
          </p:nvSpPr>
          <p:spPr bwMode="auto">
            <a:xfrm>
              <a:off x="3516" y="477"/>
              <a:ext cx="0" cy="363"/>
            </a:xfrm>
            <a:prstGeom prst="line">
              <a:avLst/>
            </a:prstGeom>
            <a:noFill/>
            <a:ln w="57150">
              <a:solidFill>
                <a:srgbClr val="339966"/>
              </a:solidFill>
              <a:round/>
              <a:tailEnd type="triangle" w="med" len="med"/>
            </a:ln>
          </p:spPr>
          <p:txBody>
            <a:bodyPr/>
            <a:lstStyle/>
            <a:p>
              <a:endParaRPr lang="zh-CN" altLang="en-US"/>
            </a:p>
          </p:txBody>
        </p:sp>
        <p:sp>
          <p:nvSpPr>
            <p:cNvPr id="7183" name="直接连接符 761887"/>
            <p:cNvSpPr>
              <a:spLocks noChangeShapeType="1"/>
            </p:cNvSpPr>
            <p:nvPr/>
          </p:nvSpPr>
          <p:spPr bwMode="auto">
            <a:xfrm flipH="1">
              <a:off x="3515" y="1207"/>
              <a:ext cx="0" cy="454"/>
            </a:xfrm>
            <a:prstGeom prst="line">
              <a:avLst/>
            </a:prstGeom>
            <a:noFill/>
            <a:ln w="57150">
              <a:solidFill>
                <a:srgbClr val="339966"/>
              </a:solidFill>
              <a:round/>
              <a:tailEnd type="triangle" w="med" len="med"/>
            </a:ln>
          </p:spPr>
          <p:txBody>
            <a:bodyPr/>
            <a:lstStyle/>
            <a:p>
              <a:endParaRPr lang="zh-CN" altLang="en-US"/>
            </a:p>
          </p:txBody>
        </p:sp>
        <p:sp>
          <p:nvSpPr>
            <p:cNvPr id="7184" name="圆角矩形 7"/>
            <p:cNvSpPr>
              <a:spLocks noChangeArrowheads="1"/>
            </p:cNvSpPr>
            <p:nvPr/>
          </p:nvSpPr>
          <p:spPr bwMode="auto">
            <a:xfrm>
              <a:off x="2517" y="1275"/>
              <a:ext cx="953" cy="317"/>
            </a:xfrm>
            <a:prstGeom prst="roundRect">
              <a:avLst>
                <a:gd name="adj" fmla="val 10444"/>
              </a:avLst>
            </a:prstGeom>
            <a:solidFill>
              <a:srgbClr val="FFFFCC"/>
            </a:solidFill>
            <a:ln w="9525">
              <a:solidFill>
                <a:schemeClr val="tx1"/>
              </a:solidFill>
              <a:round/>
            </a:ln>
          </p:spPr>
          <p:txBody>
            <a:bodyPr/>
            <a:lstStyle/>
            <a:p>
              <a:pPr eaLnBrk="1" hangingPunct="1">
                <a:spcBef>
                  <a:spcPct val="50000"/>
                </a:spcBef>
              </a:pPr>
              <a:r>
                <a:rPr lang="zh-CN" altLang="en-US" sz="1400">
                  <a:solidFill>
                    <a:srgbClr val="0000FF"/>
                  </a:solidFill>
                  <a:ea typeface="幼圆" pitchFamily="49" charset="-122"/>
                </a:rPr>
                <a:t>国家政权和私人垄断资本融合</a:t>
              </a:r>
            </a:p>
          </p:txBody>
        </p:sp>
        <p:sp>
          <p:nvSpPr>
            <p:cNvPr id="7185" name="矩形 761892"/>
            <p:cNvSpPr>
              <a:spLocks noChangeArrowheads="1"/>
            </p:cNvSpPr>
            <p:nvPr/>
          </p:nvSpPr>
          <p:spPr bwMode="auto">
            <a:xfrm>
              <a:off x="3016" y="3393"/>
              <a:ext cx="953" cy="235"/>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00"/>
                  </a:solidFill>
                  <a:ea typeface="幼圆" pitchFamily="49" charset="-122"/>
                </a:rPr>
                <a:t>全球化</a:t>
              </a:r>
            </a:p>
          </p:txBody>
        </p:sp>
        <p:sp>
          <p:nvSpPr>
            <p:cNvPr id="7186" name="直接连接符 761893"/>
            <p:cNvSpPr>
              <a:spLocks noChangeShapeType="1"/>
            </p:cNvSpPr>
            <p:nvPr/>
          </p:nvSpPr>
          <p:spPr bwMode="auto">
            <a:xfrm flipH="1">
              <a:off x="3515" y="2024"/>
              <a:ext cx="0" cy="453"/>
            </a:xfrm>
            <a:prstGeom prst="line">
              <a:avLst/>
            </a:prstGeom>
            <a:noFill/>
            <a:ln w="57150">
              <a:solidFill>
                <a:srgbClr val="339966"/>
              </a:solidFill>
              <a:round/>
              <a:tailEnd type="triangle" w="med" len="med"/>
            </a:ln>
          </p:spPr>
          <p:txBody>
            <a:bodyPr/>
            <a:lstStyle/>
            <a:p>
              <a:endParaRPr lang="zh-CN" altLang="en-US"/>
            </a:p>
          </p:txBody>
        </p:sp>
        <p:sp>
          <p:nvSpPr>
            <p:cNvPr id="7187" name="直接连接符 761894"/>
            <p:cNvSpPr>
              <a:spLocks noChangeShapeType="1"/>
            </p:cNvSpPr>
            <p:nvPr/>
          </p:nvSpPr>
          <p:spPr bwMode="auto">
            <a:xfrm flipH="1">
              <a:off x="3515" y="2840"/>
              <a:ext cx="0" cy="453"/>
            </a:xfrm>
            <a:prstGeom prst="line">
              <a:avLst/>
            </a:prstGeom>
            <a:noFill/>
            <a:ln w="57150">
              <a:solidFill>
                <a:srgbClr val="339966"/>
              </a:solidFill>
              <a:round/>
              <a:tailEnd type="triangle" w="med" len="med"/>
            </a:ln>
          </p:spPr>
          <p:txBody>
            <a:bodyPr/>
            <a:lstStyle/>
            <a:p>
              <a:endParaRPr lang="zh-CN" altLang="en-US"/>
            </a:p>
          </p:txBody>
        </p:sp>
        <p:sp>
          <p:nvSpPr>
            <p:cNvPr id="7188" name="矩形 761895"/>
            <p:cNvSpPr>
              <a:spLocks noChangeArrowheads="1"/>
            </p:cNvSpPr>
            <p:nvPr/>
          </p:nvSpPr>
          <p:spPr bwMode="auto">
            <a:xfrm>
              <a:off x="4513" y="935"/>
              <a:ext cx="1089"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noProof="1">
                  <a:solidFill>
                    <a:srgbClr val="990000"/>
                  </a:solidFill>
                  <a:latin typeface="楷体" panose="02010609060101010101" pitchFamily="49" charset="-122"/>
                  <a:ea typeface="楷体" panose="02010609060101010101" pitchFamily="49" charset="-122"/>
                </a:rPr>
                <a:t>金融资本 金融寡头</a:t>
              </a:r>
            </a:p>
          </p:txBody>
        </p:sp>
        <p:sp>
          <p:nvSpPr>
            <p:cNvPr id="7189" name="矩形 761896"/>
            <p:cNvSpPr>
              <a:spLocks noChangeArrowheads="1"/>
            </p:cNvSpPr>
            <p:nvPr/>
          </p:nvSpPr>
          <p:spPr bwMode="auto">
            <a:xfrm>
              <a:off x="4513" y="1207"/>
              <a:ext cx="1089"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垄断利润 垄断价格</a:t>
              </a:r>
            </a:p>
          </p:txBody>
        </p:sp>
        <p:sp>
          <p:nvSpPr>
            <p:cNvPr id="7190" name="直接连接符 761897"/>
            <p:cNvSpPr>
              <a:spLocks noChangeShapeType="1"/>
            </p:cNvSpPr>
            <p:nvPr/>
          </p:nvSpPr>
          <p:spPr bwMode="auto">
            <a:xfrm>
              <a:off x="4241" y="754"/>
              <a:ext cx="0" cy="590"/>
            </a:xfrm>
            <a:prstGeom prst="line">
              <a:avLst/>
            </a:prstGeom>
            <a:noFill/>
            <a:ln w="28575">
              <a:solidFill>
                <a:srgbClr val="0000FF"/>
              </a:solidFill>
              <a:round/>
            </a:ln>
          </p:spPr>
          <p:txBody>
            <a:bodyPr/>
            <a:lstStyle/>
            <a:p>
              <a:endParaRPr lang="zh-CN" altLang="en-US"/>
            </a:p>
          </p:txBody>
        </p:sp>
        <p:sp>
          <p:nvSpPr>
            <p:cNvPr id="7191" name="直接连接符 761898"/>
            <p:cNvSpPr>
              <a:spLocks noChangeShapeType="1"/>
            </p:cNvSpPr>
            <p:nvPr/>
          </p:nvSpPr>
          <p:spPr bwMode="auto">
            <a:xfrm flipH="1">
              <a:off x="4014" y="1026"/>
              <a:ext cx="272" cy="0"/>
            </a:xfrm>
            <a:prstGeom prst="line">
              <a:avLst/>
            </a:prstGeom>
            <a:noFill/>
            <a:ln w="28575">
              <a:solidFill>
                <a:srgbClr val="0000FF"/>
              </a:solidFill>
              <a:round/>
            </a:ln>
          </p:spPr>
          <p:txBody>
            <a:bodyPr/>
            <a:lstStyle/>
            <a:p>
              <a:endParaRPr lang="zh-CN" altLang="en-US"/>
            </a:p>
          </p:txBody>
        </p:sp>
        <p:sp>
          <p:nvSpPr>
            <p:cNvPr id="7192" name="直接连接符 761899"/>
            <p:cNvSpPr>
              <a:spLocks noChangeShapeType="1"/>
            </p:cNvSpPr>
            <p:nvPr/>
          </p:nvSpPr>
          <p:spPr bwMode="auto">
            <a:xfrm flipH="1">
              <a:off x="4241" y="754"/>
              <a:ext cx="272" cy="0"/>
            </a:xfrm>
            <a:prstGeom prst="line">
              <a:avLst/>
            </a:prstGeom>
            <a:noFill/>
            <a:ln w="28575">
              <a:solidFill>
                <a:srgbClr val="0000FF"/>
              </a:solidFill>
              <a:round/>
            </a:ln>
          </p:spPr>
          <p:txBody>
            <a:bodyPr/>
            <a:lstStyle/>
            <a:p>
              <a:endParaRPr lang="zh-CN" altLang="en-US"/>
            </a:p>
          </p:txBody>
        </p:sp>
        <p:sp>
          <p:nvSpPr>
            <p:cNvPr id="7193" name="直接连接符 761900"/>
            <p:cNvSpPr>
              <a:spLocks noChangeShapeType="1"/>
            </p:cNvSpPr>
            <p:nvPr/>
          </p:nvSpPr>
          <p:spPr bwMode="auto">
            <a:xfrm flipH="1">
              <a:off x="4241" y="1344"/>
              <a:ext cx="272" cy="0"/>
            </a:xfrm>
            <a:prstGeom prst="line">
              <a:avLst/>
            </a:prstGeom>
            <a:noFill/>
            <a:ln w="28575">
              <a:solidFill>
                <a:srgbClr val="0000FF"/>
              </a:solidFill>
              <a:round/>
            </a:ln>
          </p:spPr>
          <p:txBody>
            <a:bodyPr/>
            <a:lstStyle/>
            <a:p>
              <a:endParaRPr lang="zh-CN" altLang="en-US"/>
            </a:p>
          </p:txBody>
        </p:sp>
        <p:sp>
          <p:nvSpPr>
            <p:cNvPr id="7194" name="直接连接符 761901"/>
            <p:cNvSpPr>
              <a:spLocks noChangeShapeType="1"/>
            </p:cNvSpPr>
            <p:nvPr/>
          </p:nvSpPr>
          <p:spPr bwMode="auto">
            <a:xfrm flipH="1">
              <a:off x="4241" y="1026"/>
              <a:ext cx="272" cy="0"/>
            </a:xfrm>
            <a:prstGeom prst="line">
              <a:avLst/>
            </a:prstGeom>
            <a:noFill/>
            <a:ln w="28575">
              <a:solidFill>
                <a:srgbClr val="0000FF"/>
              </a:solidFill>
              <a:round/>
            </a:ln>
          </p:spPr>
          <p:txBody>
            <a:bodyPr/>
            <a:lstStyle/>
            <a:p>
              <a:endParaRPr lang="zh-CN" altLang="en-US"/>
            </a:p>
          </p:txBody>
        </p:sp>
        <p:sp>
          <p:nvSpPr>
            <p:cNvPr id="7195" name="矩形 761902"/>
            <p:cNvSpPr>
              <a:spLocks noChangeArrowheads="1"/>
            </p:cNvSpPr>
            <p:nvPr/>
          </p:nvSpPr>
          <p:spPr bwMode="auto">
            <a:xfrm>
              <a:off x="4513" y="1480"/>
              <a:ext cx="726"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形成原因</a:t>
              </a:r>
            </a:p>
          </p:txBody>
        </p:sp>
        <p:sp>
          <p:nvSpPr>
            <p:cNvPr id="7196" name="矩形 761903"/>
            <p:cNvSpPr>
              <a:spLocks noChangeArrowheads="1"/>
            </p:cNvSpPr>
            <p:nvPr/>
          </p:nvSpPr>
          <p:spPr bwMode="auto">
            <a:xfrm>
              <a:off x="4513" y="1752"/>
              <a:ext cx="726"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主要形式</a:t>
              </a:r>
            </a:p>
          </p:txBody>
        </p:sp>
        <p:sp>
          <p:nvSpPr>
            <p:cNvPr id="7197" name="矩形 761904"/>
            <p:cNvSpPr>
              <a:spLocks noChangeArrowheads="1"/>
            </p:cNvSpPr>
            <p:nvPr/>
          </p:nvSpPr>
          <p:spPr bwMode="auto">
            <a:xfrm>
              <a:off x="4513" y="2024"/>
              <a:ext cx="726"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作用及实质</a:t>
              </a:r>
            </a:p>
          </p:txBody>
        </p:sp>
        <p:sp>
          <p:nvSpPr>
            <p:cNvPr id="7198" name="直接连接符 761905"/>
            <p:cNvSpPr>
              <a:spLocks noChangeShapeType="1"/>
            </p:cNvSpPr>
            <p:nvPr/>
          </p:nvSpPr>
          <p:spPr bwMode="auto">
            <a:xfrm>
              <a:off x="4241" y="1570"/>
              <a:ext cx="0" cy="545"/>
            </a:xfrm>
            <a:prstGeom prst="line">
              <a:avLst/>
            </a:prstGeom>
            <a:noFill/>
            <a:ln w="28575">
              <a:solidFill>
                <a:srgbClr val="0000FF"/>
              </a:solidFill>
              <a:round/>
            </a:ln>
          </p:spPr>
          <p:txBody>
            <a:bodyPr/>
            <a:lstStyle/>
            <a:p>
              <a:endParaRPr lang="zh-CN" altLang="en-US"/>
            </a:p>
          </p:txBody>
        </p:sp>
        <p:sp>
          <p:nvSpPr>
            <p:cNvPr id="7199" name="直接连接符 761906"/>
            <p:cNvSpPr>
              <a:spLocks noChangeShapeType="1"/>
            </p:cNvSpPr>
            <p:nvPr/>
          </p:nvSpPr>
          <p:spPr bwMode="auto">
            <a:xfrm flipH="1">
              <a:off x="4014" y="1842"/>
              <a:ext cx="227" cy="0"/>
            </a:xfrm>
            <a:prstGeom prst="line">
              <a:avLst/>
            </a:prstGeom>
            <a:noFill/>
            <a:ln w="28575">
              <a:solidFill>
                <a:srgbClr val="0000FF"/>
              </a:solidFill>
              <a:round/>
            </a:ln>
          </p:spPr>
          <p:txBody>
            <a:bodyPr/>
            <a:lstStyle/>
            <a:p>
              <a:endParaRPr lang="zh-CN" altLang="en-US"/>
            </a:p>
          </p:txBody>
        </p:sp>
        <p:sp>
          <p:nvSpPr>
            <p:cNvPr id="7200" name="直接连接符 761907"/>
            <p:cNvSpPr>
              <a:spLocks noChangeShapeType="1"/>
            </p:cNvSpPr>
            <p:nvPr/>
          </p:nvSpPr>
          <p:spPr bwMode="auto">
            <a:xfrm flipH="1">
              <a:off x="4241" y="1570"/>
              <a:ext cx="272" cy="0"/>
            </a:xfrm>
            <a:prstGeom prst="line">
              <a:avLst/>
            </a:prstGeom>
            <a:noFill/>
            <a:ln w="28575">
              <a:solidFill>
                <a:srgbClr val="0000FF"/>
              </a:solidFill>
              <a:round/>
            </a:ln>
          </p:spPr>
          <p:txBody>
            <a:bodyPr/>
            <a:lstStyle/>
            <a:p>
              <a:endParaRPr lang="zh-CN" altLang="en-US"/>
            </a:p>
          </p:txBody>
        </p:sp>
        <p:sp>
          <p:nvSpPr>
            <p:cNvPr id="7201" name="直接连接符 761908"/>
            <p:cNvSpPr>
              <a:spLocks noChangeShapeType="1"/>
            </p:cNvSpPr>
            <p:nvPr/>
          </p:nvSpPr>
          <p:spPr bwMode="auto">
            <a:xfrm flipH="1">
              <a:off x="4241" y="2115"/>
              <a:ext cx="272" cy="0"/>
            </a:xfrm>
            <a:prstGeom prst="line">
              <a:avLst/>
            </a:prstGeom>
            <a:noFill/>
            <a:ln w="28575">
              <a:solidFill>
                <a:srgbClr val="0000FF"/>
              </a:solidFill>
              <a:round/>
            </a:ln>
          </p:spPr>
          <p:txBody>
            <a:bodyPr/>
            <a:lstStyle/>
            <a:p>
              <a:endParaRPr lang="zh-CN" altLang="en-US"/>
            </a:p>
          </p:txBody>
        </p:sp>
        <p:sp>
          <p:nvSpPr>
            <p:cNvPr id="7202" name="直接连接符 761909"/>
            <p:cNvSpPr>
              <a:spLocks noChangeShapeType="1"/>
            </p:cNvSpPr>
            <p:nvPr/>
          </p:nvSpPr>
          <p:spPr bwMode="auto">
            <a:xfrm flipH="1">
              <a:off x="4241" y="1842"/>
              <a:ext cx="272" cy="0"/>
            </a:xfrm>
            <a:prstGeom prst="line">
              <a:avLst/>
            </a:prstGeom>
            <a:noFill/>
            <a:ln w="28575">
              <a:solidFill>
                <a:srgbClr val="0000FF"/>
              </a:solidFill>
              <a:round/>
            </a:ln>
          </p:spPr>
          <p:txBody>
            <a:bodyPr/>
            <a:lstStyle/>
            <a:p>
              <a:endParaRPr lang="zh-CN" altLang="en-US"/>
            </a:p>
          </p:txBody>
        </p:sp>
        <p:sp>
          <p:nvSpPr>
            <p:cNvPr id="7203" name="矩形 761912"/>
            <p:cNvSpPr>
              <a:spLocks noChangeArrowheads="1"/>
            </p:cNvSpPr>
            <p:nvPr/>
          </p:nvSpPr>
          <p:spPr bwMode="auto">
            <a:xfrm>
              <a:off x="4513" y="2341"/>
              <a:ext cx="726"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动因、后果</a:t>
              </a:r>
            </a:p>
          </p:txBody>
        </p:sp>
        <p:sp>
          <p:nvSpPr>
            <p:cNvPr id="7204" name="矩形 761913"/>
            <p:cNvSpPr>
              <a:spLocks noChangeArrowheads="1"/>
            </p:cNvSpPr>
            <p:nvPr/>
          </p:nvSpPr>
          <p:spPr bwMode="auto">
            <a:xfrm>
              <a:off x="4513" y="2614"/>
              <a:ext cx="1247" cy="226"/>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noProof="1">
                  <a:solidFill>
                    <a:srgbClr val="990000"/>
                  </a:solidFill>
                  <a:latin typeface="楷体" panose="02010609060101010101" pitchFamily="49" charset="-122"/>
                  <a:ea typeface="楷体" panose="02010609060101010101" pitchFamily="49" charset="-122"/>
                </a:rPr>
                <a:t>基本形式：资本输出</a:t>
              </a:r>
            </a:p>
          </p:txBody>
        </p:sp>
        <p:sp>
          <p:nvSpPr>
            <p:cNvPr id="7205" name="矩形 761914"/>
            <p:cNvSpPr>
              <a:spLocks noChangeArrowheads="1"/>
            </p:cNvSpPr>
            <p:nvPr/>
          </p:nvSpPr>
          <p:spPr bwMode="auto">
            <a:xfrm>
              <a:off x="4513" y="2886"/>
              <a:ext cx="862"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noProof="1">
                  <a:solidFill>
                    <a:srgbClr val="990000"/>
                  </a:solidFill>
                  <a:latin typeface="楷体" panose="02010609060101010101" pitchFamily="49" charset="-122"/>
                  <a:ea typeface="楷体" panose="02010609060101010101" pitchFamily="49" charset="-122"/>
                </a:rPr>
                <a:t>国际垄断同盟</a:t>
              </a:r>
            </a:p>
          </p:txBody>
        </p:sp>
        <p:sp>
          <p:nvSpPr>
            <p:cNvPr id="7206" name="直接连接符 761915"/>
            <p:cNvSpPr>
              <a:spLocks noChangeShapeType="1"/>
            </p:cNvSpPr>
            <p:nvPr/>
          </p:nvSpPr>
          <p:spPr bwMode="auto">
            <a:xfrm>
              <a:off x="4241" y="2431"/>
              <a:ext cx="0" cy="545"/>
            </a:xfrm>
            <a:prstGeom prst="line">
              <a:avLst/>
            </a:prstGeom>
            <a:noFill/>
            <a:ln w="28575">
              <a:solidFill>
                <a:srgbClr val="0000FF"/>
              </a:solidFill>
              <a:round/>
            </a:ln>
          </p:spPr>
          <p:txBody>
            <a:bodyPr/>
            <a:lstStyle/>
            <a:p>
              <a:endParaRPr lang="zh-CN" altLang="en-US"/>
            </a:p>
          </p:txBody>
        </p:sp>
        <p:sp>
          <p:nvSpPr>
            <p:cNvPr id="7207" name="直接连接符 761916"/>
            <p:cNvSpPr>
              <a:spLocks noChangeShapeType="1"/>
            </p:cNvSpPr>
            <p:nvPr/>
          </p:nvSpPr>
          <p:spPr bwMode="auto">
            <a:xfrm flipH="1">
              <a:off x="4014" y="2703"/>
              <a:ext cx="227" cy="0"/>
            </a:xfrm>
            <a:prstGeom prst="line">
              <a:avLst/>
            </a:prstGeom>
            <a:noFill/>
            <a:ln w="28575">
              <a:solidFill>
                <a:srgbClr val="0000FF"/>
              </a:solidFill>
              <a:round/>
            </a:ln>
          </p:spPr>
          <p:txBody>
            <a:bodyPr/>
            <a:lstStyle/>
            <a:p>
              <a:endParaRPr lang="zh-CN" altLang="en-US"/>
            </a:p>
          </p:txBody>
        </p:sp>
        <p:sp>
          <p:nvSpPr>
            <p:cNvPr id="7208" name="直接连接符 761917"/>
            <p:cNvSpPr>
              <a:spLocks noChangeShapeType="1"/>
            </p:cNvSpPr>
            <p:nvPr/>
          </p:nvSpPr>
          <p:spPr bwMode="auto">
            <a:xfrm flipH="1">
              <a:off x="4241" y="2431"/>
              <a:ext cx="272" cy="0"/>
            </a:xfrm>
            <a:prstGeom prst="line">
              <a:avLst/>
            </a:prstGeom>
            <a:noFill/>
            <a:ln w="28575">
              <a:solidFill>
                <a:srgbClr val="0000FF"/>
              </a:solidFill>
              <a:round/>
            </a:ln>
          </p:spPr>
          <p:txBody>
            <a:bodyPr/>
            <a:lstStyle/>
            <a:p>
              <a:endParaRPr lang="zh-CN" altLang="en-US"/>
            </a:p>
          </p:txBody>
        </p:sp>
        <p:sp>
          <p:nvSpPr>
            <p:cNvPr id="7209" name="直接连接符 761918"/>
            <p:cNvSpPr>
              <a:spLocks noChangeShapeType="1"/>
            </p:cNvSpPr>
            <p:nvPr/>
          </p:nvSpPr>
          <p:spPr bwMode="auto">
            <a:xfrm flipH="1">
              <a:off x="4241" y="2976"/>
              <a:ext cx="272" cy="0"/>
            </a:xfrm>
            <a:prstGeom prst="line">
              <a:avLst/>
            </a:prstGeom>
            <a:noFill/>
            <a:ln w="28575">
              <a:solidFill>
                <a:srgbClr val="0000FF"/>
              </a:solidFill>
              <a:round/>
            </a:ln>
          </p:spPr>
          <p:txBody>
            <a:bodyPr/>
            <a:lstStyle/>
            <a:p>
              <a:endParaRPr lang="zh-CN" altLang="en-US"/>
            </a:p>
          </p:txBody>
        </p:sp>
        <p:sp>
          <p:nvSpPr>
            <p:cNvPr id="7210" name="直接连接符 761919"/>
            <p:cNvSpPr>
              <a:spLocks noChangeShapeType="1"/>
            </p:cNvSpPr>
            <p:nvPr/>
          </p:nvSpPr>
          <p:spPr bwMode="auto">
            <a:xfrm flipH="1">
              <a:off x="4241" y="2703"/>
              <a:ext cx="272" cy="0"/>
            </a:xfrm>
            <a:prstGeom prst="line">
              <a:avLst/>
            </a:prstGeom>
            <a:noFill/>
            <a:ln w="28575">
              <a:solidFill>
                <a:srgbClr val="0000FF"/>
              </a:solidFill>
              <a:round/>
            </a:ln>
          </p:spPr>
          <p:txBody>
            <a:bodyPr/>
            <a:lstStyle/>
            <a:p>
              <a:endParaRPr lang="zh-CN" altLang="en-US"/>
            </a:p>
          </p:txBody>
        </p:sp>
        <p:sp>
          <p:nvSpPr>
            <p:cNvPr id="7211" name="直接连接符 761920"/>
            <p:cNvSpPr>
              <a:spLocks noChangeShapeType="1"/>
            </p:cNvSpPr>
            <p:nvPr/>
          </p:nvSpPr>
          <p:spPr bwMode="auto">
            <a:xfrm flipH="1">
              <a:off x="3969" y="3521"/>
              <a:ext cx="499" cy="0"/>
            </a:xfrm>
            <a:prstGeom prst="line">
              <a:avLst/>
            </a:prstGeom>
            <a:noFill/>
            <a:ln w="28575">
              <a:solidFill>
                <a:srgbClr val="0000FF"/>
              </a:solidFill>
              <a:round/>
            </a:ln>
          </p:spPr>
          <p:txBody>
            <a:bodyPr/>
            <a:lstStyle/>
            <a:p>
              <a:endParaRPr lang="zh-CN" altLang="en-US"/>
            </a:p>
          </p:txBody>
        </p:sp>
        <p:sp>
          <p:nvSpPr>
            <p:cNvPr id="7212" name="矩形 761921"/>
            <p:cNvSpPr>
              <a:spLocks noChangeArrowheads="1"/>
            </p:cNvSpPr>
            <p:nvPr/>
          </p:nvSpPr>
          <p:spPr bwMode="auto">
            <a:xfrm>
              <a:off x="4468" y="3385"/>
              <a:ext cx="970" cy="227"/>
            </a:xfrm>
            <a:prstGeom prst="rect">
              <a:avLst/>
            </a:prstGeom>
            <a:solidFill>
              <a:srgbClr val="CCFFFF"/>
            </a:solidFill>
            <a:ln w="9525">
              <a:solidFill>
                <a:schemeClr val="tx1"/>
              </a:solidFill>
              <a:miter lim="800000"/>
            </a:ln>
          </p:spPr>
          <p:txBody>
            <a:bodyPr wrap="none" anchor="ctr"/>
            <a:lstStyle/>
            <a:p>
              <a:pPr algn="ctr" eaLnBrk="1" hangingPunct="1">
                <a:spcBef>
                  <a:spcPct val="50000"/>
                </a:spcBef>
              </a:pPr>
              <a:r>
                <a:rPr lang="zh-CN" altLang="en-US" sz="1600">
                  <a:solidFill>
                    <a:srgbClr val="990000"/>
                  </a:solidFill>
                  <a:latin typeface="楷体" panose="02010609060101010101" pitchFamily="49" charset="-122"/>
                  <a:ea typeface="楷体" panose="02010609060101010101" pitchFamily="49" charset="-122"/>
                </a:rPr>
                <a:t>表现 动因 后果</a:t>
              </a:r>
            </a:p>
          </p:txBody>
        </p:sp>
        <p:sp>
          <p:nvSpPr>
            <p:cNvPr id="7213" name="圆角矩形 7"/>
            <p:cNvSpPr>
              <a:spLocks noChangeArrowheads="1"/>
            </p:cNvSpPr>
            <p:nvPr/>
          </p:nvSpPr>
          <p:spPr bwMode="auto">
            <a:xfrm>
              <a:off x="2562" y="2115"/>
              <a:ext cx="816" cy="227"/>
            </a:xfrm>
            <a:prstGeom prst="roundRect">
              <a:avLst>
                <a:gd name="adj" fmla="val 10444"/>
              </a:avLst>
            </a:prstGeom>
            <a:solidFill>
              <a:srgbClr val="FFFFCC"/>
            </a:solidFill>
            <a:ln w="9525">
              <a:solidFill>
                <a:schemeClr val="tx1"/>
              </a:solidFill>
              <a:round/>
            </a:ln>
          </p:spPr>
          <p:txBody>
            <a:bodyPr/>
            <a:lstStyle/>
            <a:p>
              <a:pPr eaLnBrk="1" hangingPunct="1">
                <a:spcBef>
                  <a:spcPct val="50000"/>
                </a:spcBef>
              </a:pPr>
              <a:r>
                <a:rPr lang="zh-CN" altLang="en-US" sz="1400">
                  <a:solidFill>
                    <a:srgbClr val="0000FF"/>
                  </a:solidFill>
                  <a:ea typeface="幼圆" pitchFamily="49" charset="-122"/>
                </a:rPr>
                <a:t>国际垄断统治</a:t>
              </a:r>
            </a:p>
          </p:txBody>
        </p:sp>
        <p:sp>
          <p:nvSpPr>
            <p:cNvPr id="7214" name="椭圆 761926"/>
            <p:cNvSpPr>
              <a:spLocks noChangeArrowheads="1"/>
            </p:cNvSpPr>
            <p:nvPr/>
          </p:nvSpPr>
          <p:spPr bwMode="auto">
            <a:xfrm>
              <a:off x="2562" y="2523"/>
              <a:ext cx="485" cy="1089"/>
            </a:xfrm>
            <a:prstGeom prst="ellipse">
              <a:avLst/>
            </a:prstGeom>
            <a:gradFill rotWithShape="0">
              <a:gsLst>
                <a:gs pos="0">
                  <a:srgbClr val="FFFF99"/>
                </a:gs>
                <a:gs pos="50000">
                  <a:srgbClr val="FFFFFF"/>
                </a:gs>
                <a:gs pos="100000">
                  <a:srgbClr val="FFFF99"/>
                </a:gs>
              </a:gsLst>
              <a:lin ang="0" scaled="1"/>
            </a:gradFill>
            <a:ln w="9525">
              <a:round/>
            </a:ln>
            <a:scene3d>
              <a:camera prst="legacyObliqueTopLeft"/>
              <a:lightRig rig="legacyFlat3" dir="t"/>
            </a:scene3d>
            <a:sp3d extrusionH="430200" prstMaterial="legacyMatte">
              <a:bevelT w="13500" h="13500" prst="angle"/>
              <a:bevelB w="13500" h="13500" prst="angle"/>
              <a:extrusionClr>
                <a:srgbClr val="FFFF99"/>
              </a:extrusionClr>
            </a:sp3d>
          </p:spPr>
          <p:txBody>
            <a:bodyPr>
              <a:flatTx/>
            </a:bodyPr>
            <a:lstStyle/>
            <a:p>
              <a:pPr eaLnBrk="1" hangingPunct="1">
                <a:spcBef>
                  <a:spcPct val="50000"/>
                </a:spcBef>
              </a:pPr>
              <a:endParaRPr lang="zh-CN" altLang="en-US"/>
            </a:p>
          </p:txBody>
        </p:sp>
        <p:sp>
          <p:nvSpPr>
            <p:cNvPr id="7215" name="矩形 761927"/>
            <p:cNvSpPr>
              <a:spLocks noChangeArrowheads="1" noChangeShapeType="1" noTextEdit="1"/>
            </p:cNvSpPr>
            <p:nvPr/>
          </p:nvSpPr>
          <p:spPr bwMode="auto">
            <a:xfrm rot="5400000">
              <a:off x="2286" y="2880"/>
              <a:ext cx="952" cy="227"/>
            </a:xfrm>
            <a:prstGeom prst="rect">
              <a:avLst/>
            </a:prstGeom>
          </p:spPr>
          <p:txBody>
            <a:bodyPr vert="eaVert" wrap="none" fromWordArt="1">
              <a:prstTxWarp prst="textPlain">
                <a:avLst>
                  <a:gd name="adj" fmla="val 50000"/>
                </a:avLst>
              </a:prstTxWarp>
            </a:bodyPr>
            <a:lstStyle/>
            <a:p>
              <a:pPr algn="ctr" fontAlgn="auto"/>
              <a:r>
                <a:rPr lang="zh-CN" altLang="en-US" sz="3600" kern="10">
                  <a:ln w="9525">
                    <a:solidFill>
                      <a:srgbClr val="800000"/>
                    </a:solidFill>
                    <a:round/>
                  </a:ln>
                  <a:solidFill>
                    <a:srgbClr val="800000"/>
                  </a:solidFill>
                  <a:effectLst>
                    <a:outerShdw dist="35921" dir="2700000" algn="ctr" rotWithShape="0">
                      <a:srgbClr val="B2B2B2">
                        <a:alpha val="79999"/>
                      </a:srgbClr>
                    </a:outerShdw>
                  </a:effectLst>
                  <a:latin typeface="华文行楷"/>
                  <a:ea typeface="华文行楷"/>
                </a:rPr>
                <a:t>五大特征</a:t>
              </a:r>
            </a:p>
          </p:txBody>
        </p:sp>
      </p:grpSp>
      <p:sp>
        <p:nvSpPr>
          <p:cNvPr id="7173" name="矩形 761928" descr="白色大理石"/>
          <p:cNvSpPr>
            <a:spLocks noChangeArrowheads="1" noChangeShapeType="1" noTextEdit="1"/>
          </p:cNvSpPr>
          <p:nvPr/>
        </p:nvSpPr>
        <p:spPr bwMode="auto">
          <a:xfrm>
            <a:off x="6919913" y="6240463"/>
            <a:ext cx="1951037" cy="287337"/>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a:ln w="9525">
                  <a:round/>
                </a:ln>
                <a:solidFill>
                  <a:srgbClr val="FF0000"/>
                </a:solidFill>
                <a:latin typeface="宋体" panose="02010600030101010101" pitchFamily="2" charset="-122"/>
                <a:ea typeface="宋体" panose="02010600030101010101" pitchFamily="2" charset="-122"/>
              </a:rPr>
              <a:t>列强瓜分世界</a:t>
            </a:r>
          </a:p>
        </p:txBody>
      </p:sp>
    </p:spTree>
    <p:extLst>
      <p:ext uri="{BB962C8B-B14F-4D97-AF65-F5344CB8AC3E}">
        <p14:creationId xmlns:p14="http://schemas.microsoft.com/office/powerpoint/2010/main" val="2707743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7" name="矩形 769026"/>
          <p:cNvSpPr/>
          <p:nvPr/>
        </p:nvSpPr>
        <p:spPr>
          <a:xfrm>
            <a:off x="734060" y="3068955"/>
            <a:ext cx="7675563" cy="1845310"/>
          </a:xfrm>
          <a:prstGeom prst="rect">
            <a:avLst/>
          </a:prstGeom>
          <a:noFill/>
          <a:ln w="9525">
            <a:noFill/>
          </a:ln>
        </p:spPr>
        <p:txBody>
          <a:bodyPr>
            <a:spAutoFit/>
          </a:bodyPr>
          <a:lstStyle/>
          <a:p>
            <a:pPr eaLnBrk="1" hangingPunct="1">
              <a:lnSpc>
                <a:spcPct val="125000"/>
              </a:lnSpc>
              <a:spcBef>
                <a:spcPct val="50000"/>
              </a:spcBef>
              <a:defRPr/>
            </a:pPr>
            <a:r>
              <a:rPr lang="zh-CN" altLang="en-US" noProof="1">
                <a:solidFill>
                  <a:srgbClr val="000000"/>
                </a:solidFill>
                <a:effectLst/>
                <a:ea typeface="幼圆" pitchFamily="49" charset="-122"/>
              </a:rPr>
              <a:t>一、第二次世界大战后资本主义的变化及其实质</a:t>
            </a:r>
          </a:p>
          <a:p>
            <a:pPr eaLnBrk="1" hangingPunct="1">
              <a:lnSpc>
                <a:spcPct val="125000"/>
              </a:lnSpc>
              <a:spcBef>
                <a:spcPct val="50000"/>
              </a:spcBef>
              <a:defRPr/>
            </a:pPr>
            <a:r>
              <a:rPr lang="zh-CN" altLang="en-US" noProof="1">
                <a:solidFill>
                  <a:srgbClr val="000000"/>
                </a:solidFill>
                <a:effectLst/>
                <a:ea typeface="幼圆" pitchFamily="49" charset="-122"/>
              </a:rPr>
              <a:t>二、当代资本主义变化的新特征</a:t>
            </a:r>
          </a:p>
          <a:p>
            <a:pPr eaLnBrk="1" hangingPunct="1">
              <a:lnSpc>
                <a:spcPct val="125000"/>
              </a:lnSpc>
              <a:spcBef>
                <a:spcPct val="50000"/>
              </a:spcBef>
              <a:defRPr/>
            </a:pPr>
            <a:r>
              <a:rPr lang="zh-CN" altLang="en-US" noProof="1">
                <a:solidFill>
                  <a:srgbClr val="000000"/>
                </a:solidFill>
                <a:effectLst/>
                <a:ea typeface="幼圆" pitchFamily="49" charset="-122"/>
              </a:rPr>
              <a:t>三、世界大变局下资本主义的矛盾和冲突</a:t>
            </a:r>
          </a:p>
        </p:txBody>
      </p:sp>
      <p:sp>
        <p:nvSpPr>
          <p:cNvPr id="33796" name="矩形 769027"/>
          <p:cNvSpPr>
            <a:spLocks noChangeArrowheads="1" noChangeShapeType="1" noTextEdit="1"/>
          </p:cNvSpPr>
          <p:nvPr/>
        </p:nvSpPr>
        <p:spPr bwMode="auto">
          <a:xfrm>
            <a:off x="1115378" y="549275"/>
            <a:ext cx="7273925" cy="1511300"/>
          </a:xfrm>
          <a:prstGeom prst="rect">
            <a:avLst/>
          </a:prstGeom>
        </p:spPr>
        <p:txBody>
          <a:bodyPr wrap="none" fromWordArt="1">
            <a:prstTxWarp prst="textDeflate">
              <a:avLst>
                <a:gd name="adj" fmla="val 26259"/>
              </a:avLst>
            </a:prstTxWarp>
          </a:bodyPr>
          <a:lstStyle/>
          <a:p>
            <a:pPr algn="ctr"/>
            <a:r>
              <a:rPr lang="zh-CN" altLang="en-US" sz="5400" kern="10">
                <a:ln w="0">
                  <a:solidFill>
                    <a:srgbClr val="000080"/>
                  </a:solidFill>
                  <a:round/>
                </a:ln>
                <a:solidFill>
                  <a:srgbClr val="FF0000"/>
                </a:solidFill>
                <a:latin typeface="华文隶书"/>
                <a:ea typeface="华文隶书"/>
              </a:rPr>
              <a:t>第二节 正确认识当代资本主义的新变化</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770051"/>
          <p:cNvSpPr>
            <a:spLocks noChangeArrowheads="1"/>
          </p:cNvSpPr>
          <p:nvPr/>
        </p:nvSpPr>
        <p:spPr bwMode="auto">
          <a:xfrm>
            <a:off x="357505" y="1375410"/>
            <a:ext cx="3550920" cy="553085"/>
          </a:xfrm>
          <a:prstGeom prst="rect">
            <a:avLst/>
          </a:prstGeom>
          <a:solidFill>
            <a:srgbClr val="CCFFFF"/>
          </a:solidFill>
          <a:ln w="12700">
            <a:solidFill>
              <a:srgbClr val="FF3300"/>
            </a:solidFill>
            <a:miter lim="800000"/>
          </a:ln>
        </p:spPr>
        <p:txBody>
          <a:bodyPr wrap="square">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（一）变化的主要表现</a:t>
            </a:r>
            <a:endParaRPr lang="zh-CN" altLang="en-US"/>
          </a:p>
        </p:txBody>
      </p:sp>
      <p:grpSp>
        <p:nvGrpSpPr>
          <p:cNvPr id="35843" name="组合 717854"/>
          <p:cNvGrpSpPr/>
          <p:nvPr/>
        </p:nvGrpSpPr>
        <p:grpSpPr bwMode="auto">
          <a:xfrm>
            <a:off x="357188" y="2186305"/>
            <a:ext cx="5643562" cy="571500"/>
            <a:chOff x="1338" y="1109"/>
            <a:chExt cx="3696" cy="384"/>
          </a:xfrm>
        </p:grpSpPr>
        <p:sp>
          <p:nvSpPr>
            <p:cNvPr id="62482"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5862" name="文本框 717856"/>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生产资料所有制的变化 </a:t>
              </a:r>
            </a:p>
          </p:txBody>
        </p:sp>
      </p:grpSp>
      <p:grpSp>
        <p:nvGrpSpPr>
          <p:cNvPr id="35844" name="组合 717854"/>
          <p:cNvGrpSpPr/>
          <p:nvPr/>
        </p:nvGrpSpPr>
        <p:grpSpPr bwMode="auto">
          <a:xfrm>
            <a:off x="357823" y="3194368"/>
            <a:ext cx="5643562" cy="573087"/>
            <a:chOff x="1338" y="1109"/>
            <a:chExt cx="3696" cy="385"/>
          </a:xfrm>
        </p:grpSpPr>
        <p:sp>
          <p:nvSpPr>
            <p:cNvPr id="62480"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5860" name="文本框 717856"/>
            <p:cNvSpPr txBox="1">
              <a:spLocks noChangeArrowheads="1"/>
            </p:cNvSpPr>
            <p:nvPr/>
          </p:nvSpPr>
          <p:spPr bwMode="auto">
            <a:xfrm>
              <a:off x="1439" y="1122"/>
              <a:ext cx="3552" cy="372"/>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劳资关系和分配关系的变化 </a:t>
              </a:r>
            </a:p>
          </p:txBody>
        </p:sp>
      </p:grpSp>
      <p:grpSp>
        <p:nvGrpSpPr>
          <p:cNvPr id="35845" name="组合 717854"/>
          <p:cNvGrpSpPr/>
          <p:nvPr/>
        </p:nvGrpSpPr>
        <p:grpSpPr bwMode="auto">
          <a:xfrm>
            <a:off x="357188" y="4129723"/>
            <a:ext cx="5643562" cy="576262"/>
            <a:chOff x="1338" y="1109"/>
            <a:chExt cx="3696" cy="384"/>
          </a:xfrm>
        </p:grpSpPr>
        <p:sp>
          <p:nvSpPr>
            <p:cNvPr id="62478"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5858" name="文本框 717856"/>
            <p:cNvSpPr txBox="1">
              <a:spLocks noChangeArrowheads="1"/>
            </p:cNvSpPr>
            <p:nvPr/>
          </p:nvSpPr>
          <p:spPr bwMode="auto">
            <a:xfrm>
              <a:off x="1439" y="1122"/>
              <a:ext cx="3552" cy="369"/>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社会阶层和阶级结构的变化 </a:t>
              </a:r>
            </a:p>
          </p:txBody>
        </p:sp>
      </p:grpSp>
      <p:grpSp>
        <p:nvGrpSpPr>
          <p:cNvPr id="35846" name="组合 717854"/>
          <p:cNvGrpSpPr/>
          <p:nvPr/>
        </p:nvGrpSpPr>
        <p:grpSpPr bwMode="auto">
          <a:xfrm>
            <a:off x="357188" y="5935663"/>
            <a:ext cx="5643562" cy="566191"/>
            <a:chOff x="1338" y="1109"/>
            <a:chExt cx="3696" cy="544"/>
          </a:xfrm>
        </p:grpSpPr>
        <p:sp>
          <p:nvSpPr>
            <p:cNvPr id="62476"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5856" name="文本框 717856"/>
            <p:cNvSpPr txBox="1">
              <a:spLocks noChangeArrowheads="1"/>
            </p:cNvSpPr>
            <p:nvPr/>
          </p:nvSpPr>
          <p:spPr bwMode="auto">
            <a:xfrm>
              <a:off x="1439" y="1122"/>
              <a:ext cx="3552" cy="531"/>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5 政治制度的变化 </a:t>
              </a:r>
            </a:p>
          </p:txBody>
        </p:sp>
      </p:grpSp>
      <p:grpSp>
        <p:nvGrpSpPr>
          <p:cNvPr id="35847" name="组合 717854"/>
          <p:cNvGrpSpPr/>
          <p:nvPr/>
        </p:nvGrpSpPr>
        <p:grpSpPr bwMode="auto">
          <a:xfrm>
            <a:off x="357188" y="5032058"/>
            <a:ext cx="5643562" cy="576262"/>
            <a:chOff x="1338" y="1109"/>
            <a:chExt cx="3696" cy="384"/>
          </a:xfrm>
        </p:grpSpPr>
        <p:sp>
          <p:nvSpPr>
            <p:cNvPr id="62474"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5854" name="文本框 717856"/>
            <p:cNvSpPr txBox="1">
              <a:spLocks noChangeArrowheads="1"/>
            </p:cNvSpPr>
            <p:nvPr/>
          </p:nvSpPr>
          <p:spPr bwMode="auto">
            <a:xfrm>
              <a:off x="1439" y="1122"/>
              <a:ext cx="3552" cy="369"/>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4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经济调节机制和经济危机形态的变化</a:t>
              </a:r>
              <a:endParaRPr lang="en-US" altLang="zh-CN">
                <a:solidFill>
                  <a:schemeClr val="bg1"/>
                </a:solidFill>
                <a:latin typeface="楷体" panose="02010609060101010101" pitchFamily="49" charset="-122"/>
                <a:ea typeface="楷体" panose="02010609060101010101" pitchFamily="49" charset="-122"/>
              </a:endParaRPr>
            </a:p>
          </p:txBody>
        </p:sp>
      </p:grpSp>
      <p:sp>
        <p:nvSpPr>
          <p:cNvPr id="35848" name="矩形 19"/>
          <p:cNvSpPr>
            <a:spLocks noChangeArrowheads="1"/>
          </p:cNvSpPr>
          <p:nvPr/>
        </p:nvSpPr>
        <p:spPr bwMode="auto">
          <a:xfrm>
            <a:off x="250825" y="333375"/>
            <a:ext cx="8607425" cy="557213"/>
          </a:xfrm>
          <a:prstGeom prst="rect">
            <a:avLst/>
          </a:prstGeom>
          <a:noFill/>
          <a:ln w="38100">
            <a:noFill/>
            <a:miter lim="800000"/>
          </a:ln>
        </p:spPr>
        <p:txBody>
          <a:bodyPr>
            <a:spAutoFit/>
          </a:bodyPr>
          <a:lstStyle/>
          <a:p>
            <a:pPr>
              <a:lnSpc>
                <a:spcPct val="125000"/>
              </a:lnSpc>
              <a:spcBef>
                <a:spcPct val="50000"/>
              </a:spcBef>
            </a:pPr>
            <a:r>
              <a:rPr lang="zh-CN" altLang="en-US" sz="2800" noProof="1">
                <a:solidFill>
                  <a:schemeClr val="tx1"/>
                </a:solidFill>
                <a:latin typeface="幼圆" pitchFamily="49" charset="-122"/>
                <a:ea typeface="幼圆" pitchFamily="49" charset="-122"/>
              </a:rPr>
              <a:t>一、第二次世界大战后资本主义变化的新特点</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771075"/>
          <p:cNvSpPr>
            <a:spLocks noChangeArrowheads="1"/>
          </p:cNvSpPr>
          <p:nvPr/>
        </p:nvSpPr>
        <p:spPr bwMode="auto">
          <a:xfrm>
            <a:off x="323850" y="1134110"/>
            <a:ext cx="3240088" cy="119888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a:t> </a:t>
            </a:r>
            <a:r>
              <a:rPr lang="zh-CN" altLang="en-US">
                <a:solidFill>
                  <a:srgbClr val="3333FF"/>
                </a:solidFill>
                <a:latin typeface="幼圆" pitchFamily="49" charset="-122"/>
                <a:ea typeface="幼圆" pitchFamily="49" charset="-122"/>
              </a:rPr>
              <a:t>资本主义初期：</a:t>
            </a:r>
          </a:p>
          <a:p>
            <a:pPr>
              <a:lnSpc>
                <a:spcPct val="125000"/>
              </a:lnSpc>
              <a:spcBef>
                <a:spcPct val="50000"/>
              </a:spcBef>
              <a:defRPr/>
            </a:pPr>
            <a:r>
              <a:rPr lang="zh-CN" altLang="en-US">
                <a:solidFill>
                  <a:srgbClr val="FF0000"/>
                </a:solidFill>
                <a:latin typeface="楷体_GB2312" pitchFamily="49" charset="-122"/>
              </a:rPr>
              <a:t>   </a:t>
            </a:r>
            <a:r>
              <a:rPr lang="en-US" altLang="zh-CN">
                <a:solidFill>
                  <a:srgbClr val="FF0000"/>
                </a:solidFill>
                <a:latin typeface="楷体_GB2312" pitchFamily="49" charset="-122"/>
              </a:rPr>
              <a:t> </a:t>
            </a:r>
            <a:r>
              <a:rPr lang="zh-CN" altLang="en-US">
                <a:solidFill>
                  <a:srgbClr val="FF0000"/>
                </a:solidFill>
                <a:latin typeface="楷体" panose="02010609060101010101" pitchFamily="49" charset="-122"/>
                <a:ea typeface="楷体" panose="02010609060101010101" pitchFamily="49" charset="-122"/>
              </a:rPr>
              <a:t>个体资本所有制  </a:t>
            </a:r>
          </a:p>
        </p:txBody>
      </p:sp>
      <p:sp>
        <p:nvSpPr>
          <p:cNvPr id="63491" name="矩形 771076"/>
          <p:cNvSpPr>
            <a:spLocks noChangeArrowheads="1"/>
          </p:cNvSpPr>
          <p:nvPr/>
        </p:nvSpPr>
        <p:spPr bwMode="auto">
          <a:xfrm>
            <a:off x="3857625" y="1201579"/>
            <a:ext cx="3786188" cy="1106805"/>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spcBef>
                <a:spcPct val="50000"/>
              </a:spcBef>
              <a:defRPr/>
            </a:pPr>
            <a:r>
              <a:rPr lang="en-US" altLang="zh-CN" dirty="0"/>
              <a:t> </a:t>
            </a:r>
            <a:r>
              <a:rPr lang="en-US" altLang="zh-CN" dirty="0">
                <a:solidFill>
                  <a:srgbClr val="3333FF"/>
                </a:solidFill>
                <a:latin typeface="幼圆" pitchFamily="49" charset="-122"/>
                <a:ea typeface="幼圆" pitchFamily="49" charset="-122"/>
              </a:rPr>
              <a:t>19</a:t>
            </a:r>
            <a:r>
              <a:rPr lang="zh-CN" altLang="en-US" dirty="0">
                <a:solidFill>
                  <a:srgbClr val="3333FF"/>
                </a:solidFill>
                <a:latin typeface="幼圆" pitchFamily="49" charset="-122"/>
                <a:ea typeface="幼圆" pitchFamily="49" charset="-122"/>
              </a:rPr>
              <a:t>世纪末</a:t>
            </a:r>
            <a:r>
              <a:rPr lang="en-US" altLang="zh-CN" dirty="0">
                <a:solidFill>
                  <a:srgbClr val="3333FF"/>
                </a:solidFill>
                <a:latin typeface="幼圆" pitchFamily="49" charset="-122"/>
                <a:ea typeface="幼圆" pitchFamily="49" charset="-122"/>
              </a:rPr>
              <a:t>20</a:t>
            </a:r>
            <a:r>
              <a:rPr lang="zh-CN" altLang="en-US" dirty="0">
                <a:solidFill>
                  <a:srgbClr val="3333FF"/>
                </a:solidFill>
                <a:latin typeface="幼圆" pitchFamily="49" charset="-122"/>
                <a:ea typeface="幼圆" pitchFamily="49" charset="-122"/>
              </a:rPr>
              <a:t>世纪初：</a:t>
            </a:r>
          </a:p>
          <a:p>
            <a:pPr>
              <a:lnSpc>
                <a:spcPct val="125000"/>
              </a:lnSpc>
              <a:spcBef>
                <a:spcPct val="50000"/>
              </a:spcBef>
              <a:defRPr/>
            </a:pPr>
            <a:r>
              <a:rPr lang="zh-CN" altLang="en-US" dirty="0">
                <a:solidFill>
                  <a:srgbClr val="FF0000"/>
                </a:solidFill>
                <a:latin typeface="楷体_GB2312" pitchFamily="49" charset="-122"/>
              </a:rPr>
              <a:t>    </a:t>
            </a:r>
            <a:r>
              <a:rPr lang="zh-CN" altLang="en-US" dirty="0">
                <a:solidFill>
                  <a:srgbClr val="FF0000"/>
                </a:solidFill>
                <a:latin typeface="楷体" panose="02010609060101010101" pitchFamily="49" charset="-122"/>
                <a:ea typeface="楷体" panose="02010609060101010101" pitchFamily="49" charset="-122"/>
              </a:rPr>
              <a:t>私人股份资本所有制</a:t>
            </a:r>
            <a:r>
              <a:rPr lang="zh-CN" altLang="en-US" dirty="0">
                <a:solidFill>
                  <a:srgbClr val="FF0000"/>
                </a:solidFill>
                <a:latin typeface="楷体_GB2312" pitchFamily="49" charset="-122"/>
              </a:rPr>
              <a:t>  </a:t>
            </a:r>
          </a:p>
        </p:txBody>
      </p:sp>
      <p:sp>
        <p:nvSpPr>
          <p:cNvPr id="63492" name="矩形 771077"/>
          <p:cNvSpPr>
            <a:spLocks noChangeArrowheads="1"/>
          </p:cNvSpPr>
          <p:nvPr/>
        </p:nvSpPr>
        <p:spPr bwMode="auto">
          <a:xfrm>
            <a:off x="357188" y="2421097"/>
            <a:ext cx="3240087" cy="1106805"/>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spcBef>
                <a:spcPct val="50000"/>
              </a:spcBef>
              <a:defRPr/>
            </a:pPr>
            <a:r>
              <a:rPr lang="en-US" altLang="zh-CN" dirty="0"/>
              <a:t> </a:t>
            </a:r>
            <a:r>
              <a:rPr lang="zh-CN" altLang="en-US" dirty="0">
                <a:solidFill>
                  <a:srgbClr val="3333FF"/>
                </a:solidFill>
                <a:latin typeface="幼圆" pitchFamily="49" charset="-122"/>
                <a:ea typeface="幼圆" pitchFamily="49" charset="-122"/>
              </a:rPr>
              <a:t>第二次世界大战后：</a:t>
            </a:r>
          </a:p>
          <a:p>
            <a:pPr>
              <a:lnSpc>
                <a:spcPct val="125000"/>
              </a:lnSpc>
              <a:spcBef>
                <a:spcPct val="50000"/>
              </a:spcBef>
              <a:defRPr/>
            </a:pPr>
            <a:r>
              <a:rPr lang="zh-CN" altLang="en-US" dirty="0">
                <a:solidFill>
                  <a:srgbClr val="FF0000"/>
                </a:solidFill>
                <a:latin typeface="楷体_GB2312" pitchFamily="49" charset="-122"/>
              </a:rPr>
              <a:t>    </a:t>
            </a:r>
            <a:r>
              <a:rPr lang="zh-CN" altLang="en-US" dirty="0">
                <a:solidFill>
                  <a:srgbClr val="FF0000"/>
                </a:solidFill>
                <a:latin typeface="楷体" panose="02010609060101010101" pitchFamily="49" charset="-122"/>
                <a:ea typeface="楷体" panose="02010609060101010101" pitchFamily="49" charset="-122"/>
              </a:rPr>
              <a:t>国家资本所有制</a:t>
            </a:r>
            <a:r>
              <a:rPr lang="zh-CN" altLang="en-US" dirty="0">
                <a:solidFill>
                  <a:srgbClr val="FF0000"/>
                </a:solidFill>
                <a:latin typeface="楷体_GB2312" pitchFamily="49" charset="-122"/>
              </a:rPr>
              <a:t>  </a:t>
            </a:r>
          </a:p>
        </p:txBody>
      </p:sp>
      <p:sp>
        <p:nvSpPr>
          <p:cNvPr id="63493" name="矩形 771078"/>
          <p:cNvSpPr>
            <a:spLocks noChangeArrowheads="1"/>
          </p:cNvSpPr>
          <p:nvPr/>
        </p:nvSpPr>
        <p:spPr bwMode="auto">
          <a:xfrm>
            <a:off x="3857625" y="2421097"/>
            <a:ext cx="3816350" cy="1106805"/>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spcBef>
                <a:spcPct val="50000"/>
              </a:spcBef>
              <a:defRPr/>
            </a:pPr>
            <a:r>
              <a:rPr lang="en-US" altLang="zh-CN" dirty="0"/>
              <a:t> </a:t>
            </a:r>
            <a:r>
              <a:rPr lang="zh-CN" altLang="en-US" dirty="0">
                <a:solidFill>
                  <a:srgbClr val="3333FF"/>
                </a:solidFill>
                <a:latin typeface="幼圆" pitchFamily="49" charset="-122"/>
                <a:ea typeface="幼圆" pitchFamily="49" charset="-122"/>
              </a:rPr>
              <a:t>最新发展：</a:t>
            </a:r>
          </a:p>
          <a:p>
            <a:pPr>
              <a:lnSpc>
                <a:spcPct val="125000"/>
              </a:lnSpc>
              <a:spcBef>
                <a:spcPct val="50000"/>
              </a:spcBef>
              <a:defRPr/>
            </a:pPr>
            <a:r>
              <a:rPr lang="zh-CN" altLang="en-US" dirty="0">
                <a:solidFill>
                  <a:srgbClr val="FF0000"/>
                </a:solidFill>
                <a:latin typeface="楷体_GB2312" pitchFamily="49" charset="-122"/>
              </a:rPr>
              <a:t>     </a:t>
            </a:r>
            <a:r>
              <a:rPr lang="zh-CN" altLang="en-US" dirty="0">
                <a:solidFill>
                  <a:srgbClr val="FF0000"/>
                </a:solidFill>
                <a:latin typeface="楷体" panose="02010609060101010101" pitchFamily="49" charset="-122"/>
                <a:ea typeface="楷体" panose="02010609060101010101" pitchFamily="49" charset="-122"/>
              </a:rPr>
              <a:t>法人资本所有制  </a:t>
            </a:r>
          </a:p>
        </p:txBody>
      </p:sp>
      <p:sp>
        <p:nvSpPr>
          <p:cNvPr id="36870" name="矩形 771087"/>
          <p:cNvSpPr>
            <a:spLocks noChangeArrowheads="1"/>
          </p:cNvSpPr>
          <p:nvPr/>
        </p:nvSpPr>
        <p:spPr bwMode="auto">
          <a:xfrm>
            <a:off x="357505" y="3790950"/>
            <a:ext cx="8571865" cy="2113280"/>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zh-CN" altLang="en-US">
                <a:solidFill>
                  <a:srgbClr val="990000"/>
                </a:solidFill>
                <a:latin typeface="楷体" panose="02010609060101010101" pitchFamily="49" charset="-122"/>
                <a:ea typeface="楷体" panose="02010609060101010101" pitchFamily="49" charset="-122"/>
              </a:rPr>
              <a:t>各类法人取代个人或家族股东成为企业的主要出资人，企业的股票高度集中于少数法人股东之手，法人股东凭借手中集中化的控股权干预甚至直接参与公司治理，监督和制约管理阶层的经营行为，使公司资本的所有权与控制权重新趋于合一。</a:t>
            </a:r>
          </a:p>
        </p:txBody>
      </p:sp>
      <p:grpSp>
        <p:nvGrpSpPr>
          <p:cNvPr id="36871" name="组合 717854"/>
          <p:cNvGrpSpPr/>
          <p:nvPr/>
        </p:nvGrpSpPr>
        <p:grpSpPr bwMode="auto">
          <a:xfrm>
            <a:off x="401638" y="332740"/>
            <a:ext cx="3987800" cy="647700"/>
            <a:chOff x="1338" y="1109"/>
            <a:chExt cx="3696" cy="384"/>
          </a:xfrm>
        </p:grpSpPr>
        <p:sp>
          <p:nvSpPr>
            <p:cNvPr id="63500"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6873" name="文本框 717856"/>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生产资料所有制的变化</a:t>
              </a:r>
              <a:r>
                <a:rPr lang="en-US" altLang="zh-CN">
                  <a:solidFill>
                    <a:schemeClr val="bg1"/>
                  </a:solidFill>
                  <a:latin typeface="楷体" panose="02010609060101010101" pitchFamily="49" charset="-122"/>
                  <a:ea typeface="楷体" panose="02010609060101010101" pitchFamily="49" charset="-122"/>
                </a:rPr>
                <a:t> </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772100"/>
          <p:cNvSpPr>
            <a:spLocks noChangeArrowheads="1"/>
          </p:cNvSpPr>
          <p:nvPr/>
        </p:nvSpPr>
        <p:spPr bwMode="auto">
          <a:xfrm>
            <a:off x="428625" y="1522413"/>
            <a:ext cx="8215313" cy="792162"/>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sz="1800" dirty="0">
                <a:solidFill>
                  <a:srgbClr val="3333FF"/>
                </a:solidFill>
                <a:latin typeface="幼圆" pitchFamily="49" charset="-122"/>
                <a:ea typeface="幼圆" pitchFamily="49" charset="-122"/>
              </a:rPr>
              <a:t>  </a:t>
            </a:r>
            <a:r>
              <a:rPr lang="zh-CN" altLang="en-US" sz="1800" dirty="0">
                <a:solidFill>
                  <a:srgbClr val="3333FF"/>
                </a:solidFill>
                <a:latin typeface="幼圆" pitchFamily="49" charset="-122"/>
                <a:ea typeface="幼圆" pitchFamily="49" charset="-122"/>
              </a:rPr>
              <a:t>随着社会生产力的发展和工人阶级反抗力量的不断壮大，资本家及其代理人开始采取一些缓和劳资关系的激励制度，促使工人自觉地服从资本家的意志。</a:t>
            </a:r>
          </a:p>
        </p:txBody>
      </p:sp>
      <p:sp>
        <p:nvSpPr>
          <p:cNvPr id="64515" name="矩形 772101"/>
          <p:cNvSpPr>
            <a:spLocks noChangeArrowheads="1"/>
          </p:cNvSpPr>
          <p:nvPr/>
        </p:nvSpPr>
        <p:spPr bwMode="auto">
          <a:xfrm>
            <a:off x="428625" y="2526983"/>
            <a:ext cx="3883025" cy="553085"/>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a:t> </a:t>
            </a:r>
            <a:r>
              <a:rPr lang="zh-CN" altLang="en-US">
                <a:solidFill>
                  <a:srgbClr val="990000"/>
                </a:solidFill>
                <a:latin typeface="楷体" panose="02010609060101010101" pitchFamily="49" charset="-122"/>
                <a:ea typeface="楷体" panose="02010609060101010101" pitchFamily="49" charset="-122"/>
              </a:rPr>
              <a:t>职工参与决策</a:t>
            </a:r>
          </a:p>
        </p:txBody>
      </p:sp>
      <p:sp>
        <p:nvSpPr>
          <p:cNvPr id="64516" name="矩形 772102"/>
          <p:cNvSpPr>
            <a:spLocks noChangeArrowheads="1"/>
          </p:cNvSpPr>
          <p:nvPr/>
        </p:nvSpPr>
        <p:spPr bwMode="auto">
          <a:xfrm>
            <a:off x="4643755" y="2526983"/>
            <a:ext cx="3889375" cy="553085"/>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a:t> </a:t>
            </a:r>
            <a:r>
              <a:rPr lang="zh-CN" altLang="en-US">
                <a:solidFill>
                  <a:srgbClr val="990000"/>
                </a:solidFill>
                <a:latin typeface="楷体" panose="02010609060101010101" pitchFamily="49" charset="-122"/>
                <a:ea typeface="楷体" panose="02010609060101010101" pitchFamily="49" charset="-122"/>
              </a:rPr>
              <a:t>终身雇佣</a:t>
            </a:r>
          </a:p>
        </p:txBody>
      </p:sp>
      <p:sp>
        <p:nvSpPr>
          <p:cNvPr id="64517" name="矩形 772103"/>
          <p:cNvSpPr>
            <a:spLocks noChangeArrowheads="1"/>
          </p:cNvSpPr>
          <p:nvPr/>
        </p:nvSpPr>
        <p:spPr bwMode="auto">
          <a:xfrm>
            <a:off x="428625" y="3193415"/>
            <a:ext cx="2829560" cy="553085"/>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a:t> </a:t>
            </a:r>
            <a:r>
              <a:rPr lang="zh-CN" altLang="en-US">
                <a:solidFill>
                  <a:srgbClr val="990000"/>
                </a:solidFill>
                <a:latin typeface="楷体" panose="02010609060101010101" pitchFamily="49" charset="-122"/>
                <a:ea typeface="楷体" panose="02010609060101010101" pitchFamily="49" charset="-122"/>
              </a:rPr>
              <a:t>职工持股</a:t>
            </a:r>
          </a:p>
        </p:txBody>
      </p:sp>
      <p:sp>
        <p:nvSpPr>
          <p:cNvPr id="64518" name="矩形 772104"/>
          <p:cNvSpPr>
            <a:spLocks noChangeArrowheads="1"/>
          </p:cNvSpPr>
          <p:nvPr/>
        </p:nvSpPr>
        <p:spPr bwMode="auto">
          <a:xfrm>
            <a:off x="3542665" y="3201988"/>
            <a:ext cx="4990465" cy="553085"/>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dirty="0"/>
              <a:t> </a:t>
            </a:r>
            <a:r>
              <a:rPr lang="zh-CN" altLang="en-US" dirty="0">
                <a:solidFill>
                  <a:srgbClr val="990000"/>
                </a:solidFill>
                <a:latin typeface="楷体" panose="02010609060101010101" pitchFamily="49" charset="-122"/>
                <a:ea typeface="楷体" panose="02010609060101010101" pitchFamily="49" charset="-122"/>
              </a:rPr>
              <a:t>普及化、全民化的社会福利制度</a:t>
            </a:r>
          </a:p>
        </p:txBody>
      </p:sp>
      <p:grpSp>
        <p:nvGrpSpPr>
          <p:cNvPr id="37895" name="组合 717854"/>
          <p:cNvGrpSpPr/>
          <p:nvPr/>
        </p:nvGrpSpPr>
        <p:grpSpPr bwMode="auto">
          <a:xfrm>
            <a:off x="377508" y="621030"/>
            <a:ext cx="4391025" cy="576263"/>
            <a:chOff x="1338" y="1109"/>
            <a:chExt cx="3696" cy="384"/>
          </a:xfrm>
        </p:grpSpPr>
        <p:sp>
          <p:nvSpPr>
            <p:cNvPr id="64524"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7907" name="文本框 717856"/>
            <p:cNvSpPr txBox="1">
              <a:spLocks noChangeArrowheads="1"/>
            </p:cNvSpPr>
            <p:nvPr/>
          </p:nvSpPr>
          <p:spPr bwMode="auto">
            <a:xfrm>
              <a:off x="1439" y="1122"/>
              <a:ext cx="3552" cy="369"/>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劳资关系和分配关系的变化</a:t>
              </a:r>
              <a:r>
                <a:rPr lang="en-US" altLang="zh-CN">
                  <a:solidFill>
                    <a:schemeClr val="bg1"/>
                  </a:solidFill>
                  <a:latin typeface="楷体" panose="02010609060101010101" pitchFamily="49" charset="-122"/>
                  <a:ea typeface="楷体" panose="02010609060101010101" pitchFamily="49" charset="-122"/>
                </a:rPr>
                <a:t> </a:t>
              </a:r>
            </a:p>
          </p:txBody>
        </p:sp>
      </p:grpSp>
      <p:grpSp>
        <p:nvGrpSpPr>
          <p:cNvPr id="37896" name="组合 717854"/>
          <p:cNvGrpSpPr/>
          <p:nvPr/>
        </p:nvGrpSpPr>
        <p:grpSpPr bwMode="auto">
          <a:xfrm>
            <a:off x="428625" y="4143375"/>
            <a:ext cx="4391025" cy="572988"/>
            <a:chOff x="1338" y="1109"/>
            <a:chExt cx="3696" cy="385"/>
          </a:xfrm>
        </p:grpSpPr>
        <p:sp>
          <p:nvSpPr>
            <p:cNvPr id="15"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7905" name="文本框 717856"/>
            <p:cNvSpPr txBox="1">
              <a:spLocks noChangeArrowheads="1"/>
            </p:cNvSpPr>
            <p:nvPr/>
          </p:nvSpPr>
          <p:spPr bwMode="auto">
            <a:xfrm>
              <a:off x="1439" y="1122"/>
              <a:ext cx="3552" cy="372"/>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社会阶层和阶级结构的变化</a:t>
              </a:r>
              <a:r>
                <a:rPr lang="en-US" altLang="zh-CN">
                  <a:solidFill>
                    <a:schemeClr val="bg1"/>
                  </a:solidFill>
                  <a:latin typeface="楷体" panose="02010609060101010101" pitchFamily="49" charset="-122"/>
                  <a:ea typeface="楷体" panose="02010609060101010101" pitchFamily="49" charset="-122"/>
                </a:rPr>
                <a:t> </a:t>
              </a:r>
            </a:p>
          </p:txBody>
        </p:sp>
      </p:grpSp>
      <p:sp>
        <p:nvSpPr>
          <p:cNvPr id="17" name="矩形 773124"/>
          <p:cNvSpPr>
            <a:spLocks noChangeArrowheads="1"/>
          </p:cNvSpPr>
          <p:nvPr/>
        </p:nvSpPr>
        <p:spPr bwMode="auto">
          <a:xfrm>
            <a:off x="428625" y="4857750"/>
            <a:ext cx="6572250"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资本家的地位和作用已经发生很大变化</a:t>
            </a:r>
          </a:p>
        </p:txBody>
      </p:sp>
      <p:sp>
        <p:nvSpPr>
          <p:cNvPr id="18" name="矩形 773125"/>
          <p:cNvSpPr>
            <a:spLocks noChangeArrowheads="1"/>
          </p:cNvSpPr>
          <p:nvPr/>
        </p:nvSpPr>
        <p:spPr bwMode="auto">
          <a:xfrm>
            <a:off x="428625" y="5429250"/>
            <a:ext cx="6572250"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高级职业经理成为大公司经营活动的实际控制者</a:t>
            </a:r>
          </a:p>
        </p:txBody>
      </p:sp>
      <p:sp>
        <p:nvSpPr>
          <p:cNvPr id="19" name="矩形 773126"/>
          <p:cNvSpPr>
            <a:spLocks noChangeArrowheads="1"/>
          </p:cNvSpPr>
          <p:nvPr/>
        </p:nvSpPr>
        <p:spPr bwMode="auto">
          <a:xfrm>
            <a:off x="428625" y="6000750"/>
            <a:ext cx="8215313"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知识型和服务型劳动者的数量不断增加，劳动方式发生了新变化</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774148"/>
          <p:cNvSpPr>
            <a:spLocks noChangeArrowheads="1"/>
          </p:cNvSpPr>
          <p:nvPr/>
        </p:nvSpPr>
        <p:spPr bwMode="auto">
          <a:xfrm>
            <a:off x="323850" y="1337628"/>
            <a:ext cx="8309610" cy="860425"/>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000" dirty="0"/>
              <a:t>     </a:t>
            </a:r>
            <a:r>
              <a:rPr lang="en-US" altLang="zh-CN" sz="2000" dirty="0">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市场机制已不是唯一的经济调节机制，资产阶级国家开始对经济进行全面干预。</a:t>
            </a:r>
          </a:p>
        </p:txBody>
      </p:sp>
      <p:sp>
        <p:nvSpPr>
          <p:cNvPr id="69635" name="矩形 774149"/>
          <p:cNvSpPr>
            <a:spLocks noChangeArrowheads="1"/>
          </p:cNvSpPr>
          <p:nvPr/>
        </p:nvSpPr>
        <p:spPr bwMode="auto">
          <a:xfrm>
            <a:off x="357505" y="2358073"/>
            <a:ext cx="8275320" cy="1245235"/>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000" dirty="0"/>
              <a:t>     </a:t>
            </a:r>
            <a:r>
              <a:rPr lang="zh-CN" altLang="en-US" sz="2000" dirty="0">
                <a:solidFill>
                  <a:srgbClr val="990000"/>
                </a:solidFill>
                <a:latin typeface="楷体" panose="02010609060101010101" pitchFamily="49" charset="-122"/>
                <a:ea typeface="楷体" panose="02010609060101010101" pitchFamily="49" charset="-122"/>
              </a:rPr>
              <a:t>经济危机形态也发生了变化，表现在：经济危机的四个阶段之间的差别有所减弱，各阶段的交替过程已不如过去那样明显；金融危机频繁发生，对整个经济的影响加强。</a:t>
            </a:r>
          </a:p>
        </p:txBody>
      </p:sp>
      <p:grpSp>
        <p:nvGrpSpPr>
          <p:cNvPr id="38916" name="组合 717854"/>
          <p:cNvGrpSpPr/>
          <p:nvPr/>
        </p:nvGrpSpPr>
        <p:grpSpPr bwMode="auto">
          <a:xfrm>
            <a:off x="323850" y="514350"/>
            <a:ext cx="5614988" cy="647700"/>
            <a:chOff x="1338" y="1109"/>
            <a:chExt cx="3696" cy="384"/>
          </a:xfrm>
        </p:grpSpPr>
        <p:sp>
          <p:nvSpPr>
            <p:cNvPr id="69640"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8924" name="文本框 717856"/>
            <p:cNvSpPr txBox="1">
              <a:spLocks noChangeArrowheads="1"/>
            </p:cNvSpPr>
            <p:nvPr/>
          </p:nvSpPr>
          <p:spPr bwMode="auto">
            <a:xfrm>
              <a:off x="1439" y="1122"/>
              <a:ext cx="3552"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4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经济调节机制和经济危机形态的变化</a:t>
              </a:r>
              <a:endParaRPr lang="en-US" altLang="zh-CN">
                <a:solidFill>
                  <a:schemeClr val="bg1"/>
                </a:solidFill>
                <a:latin typeface="楷体" panose="02010609060101010101" pitchFamily="49" charset="-122"/>
                <a:ea typeface="楷体" panose="02010609060101010101" pitchFamily="49" charset="-122"/>
              </a:endParaRPr>
            </a:p>
          </p:txBody>
        </p:sp>
      </p:grpSp>
      <p:grpSp>
        <p:nvGrpSpPr>
          <p:cNvPr id="38917" name="组合 717854"/>
          <p:cNvGrpSpPr/>
          <p:nvPr/>
        </p:nvGrpSpPr>
        <p:grpSpPr bwMode="auto">
          <a:xfrm>
            <a:off x="357188" y="3714750"/>
            <a:ext cx="3000375" cy="636588"/>
            <a:chOff x="1338" y="1109"/>
            <a:chExt cx="3696" cy="543"/>
          </a:xfrm>
        </p:grpSpPr>
        <p:sp>
          <p:nvSpPr>
            <p:cNvPr id="11"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8922" name="文本框 717856"/>
            <p:cNvSpPr txBox="1">
              <a:spLocks noChangeArrowheads="1"/>
            </p:cNvSpPr>
            <p:nvPr/>
          </p:nvSpPr>
          <p:spPr bwMode="auto">
            <a:xfrm>
              <a:off x="1439" y="1122"/>
              <a:ext cx="3552" cy="472"/>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5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政治制度的变化</a:t>
              </a:r>
              <a:r>
                <a:rPr lang="en-US" altLang="zh-CN">
                  <a:solidFill>
                    <a:schemeClr val="bg1"/>
                  </a:solidFill>
                  <a:latin typeface="楷体" panose="02010609060101010101" pitchFamily="49" charset="-122"/>
                  <a:ea typeface="楷体" panose="02010609060101010101" pitchFamily="49" charset="-122"/>
                </a:rPr>
                <a:t> </a:t>
              </a:r>
            </a:p>
          </p:txBody>
        </p:sp>
      </p:grpSp>
      <p:sp>
        <p:nvSpPr>
          <p:cNvPr id="13" name="矩形 775173"/>
          <p:cNvSpPr>
            <a:spLocks noChangeArrowheads="1"/>
          </p:cNvSpPr>
          <p:nvPr/>
        </p:nvSpPr>
        <p:spPr bwMode="auto">
          <a:xfrm>
            <a:off x="357188" y="4572000"/>
            <a:ext cx="7572375"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latin typeface="楷体" panose="02010609060101010101" pitchFamily="49" charset="-122"/>
                <a:ea typeface="楷体" panose="02010609060101010101" pitchFamily="49" charset="-122"/>
              </a:rPr>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政治制度出现多元化的趋势，公民权利有所扩大</a:t>
            </a:r>
          </a:p>
        </p:txBody>
      </p:sp>
      <p:sp>
        <p:nvSpPr>
          <p:cNvPr id="14" name="矩形 775174"/>
          <p:cNvSpPr>
            <a:spLocks noChangeArrowheads="1"/>
          </p:cNvSpPr>
          <p:nvPr/>
        </p:nvSpPr>
        <p:spPr bwMode="auto">
          <a:xfrm>
            <a:off x="357188" y="5143500"/>
            <a:ext cx="7572375" cy="47625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重视并加强法制建设</a:t>
            </a:r>
          </a:p>
        </p:txBody>
      </p:sp>
      <p:sp>
        <p:nvSpPr>
          <p:cNvPr id="15" name="矩形 775175"/>
          <p:cNvSpPr>
            <a:spLocks noChangeArrowheads="1"/>
          </p:cNvSpPr>
          <p:nvPr/>
        </p:nvSpPr>
        <p:spPr bwMode="auto">
          <a:xfrm>
            <a:off x="357188" y="5715000"/>
            <a:ext cx="7572375"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改良主义政党在政治舞台上的影响日益扩大</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778244"/>
          <p:cNvSpPr>
            <a:spLocks noChangeArrowheads="1"/>
          </p:cNvSpPr>
          <p:nvPr/>
        </p:nvSpPr>
        <p:spPr bwMode="auto">
          <a:xfrm>
            <a:off x="357188" y="3429000"/>
            <a:ext cx="8320087" cy="477838"/>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科学技术革命和生产力的发展，是资本主义发生变化的根本推动力量</a:t>
            </a:r>
          </a:p>
        </p:txBody>
      </p:sp>
      <p:sp>
        <p:nvSpPr>
          <p:cNvPr id="72707" name="矩形 778245"/>
          <p:cNvSpPr>
            <a:spLocks noChangeArrowheads="1"/>
          </p:cNvSpPr>
          <p:nvPr/>
        </p:nvSpPr>
        <p:spPr bwMode="auto">
          <a:xfrm>
            <a:off x="357188" y="4071938"/>
            <a:ext cx="8320087" cy="862012"/>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latin typeface="楷体" panose="02010609060101010101" pitchFamily="49" charset="-122"/>
                <a:ea typeface="楷体" panose="02010609060101010101" pitchFamily="49" charset="-122"/>
              </a:rPr>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工人阶级争取自身权利和利益的斗争，是推动资本主义发生变化的重要力量</a:t>
            </a:r>
          </a:p>
        </p:txBody>
      </p:sp>
      <p:sp>
        <p:nvSpPr>
          <p:cNvPr id="72708" name="矩形 778246"/>
          <p:cNvSpPr>
            <a:spLocks noChangeArrowheads="1"/>
          </p:cNvSpPr>
          <p:nvPr/>
        </p:nvSpPr>
        <p:spPr bwMode="auto">
          <a:xfrm>
            <a:off x="357188" y="5072063"/>
            <a:ext cx="8358187" cy="477837"/>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社会主义制度初步显示的优越性对资本主义产生了重要影响</a:t>
            </a:r>
          </a:p>
        </p:txBody>
      </p:sp>
      <p:sp>
        <p:nvSpPr>
          <p:cNvPr id="72709" name="矩形 778247"/>
          <p:cNvSpPr>
            <a:spLocks noChangeArrowheads="1"/>
          </p:cNvSpPr>
          <p:nvPr/>
        </p:nvSpPr>
        <p:spPr bwMode="auto">
          <a:xfrm>
            <a:off x="357188" y="5715000"/>
            <a:ext cx="8358187" cy="862013"/>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主张改良主义的政党对资本主义制度的改革，也对资本主义发展变化起到了重要作用</a:t>
            </a:r>
          </a:p>
        </p:txBody>
      </p:sp>
      <p:grpSp>
        <p:nvGrpSpPr>
          <p:cNvPr id="39942" name="组合 717854"/>
          <p:cNvGrpSpPr/>
          <p:nvPr/>
        </p:nvGrpSpPr>
        <p:grpSpPr bwMode="auto">
          <a:xfrm>
            <a:off x="357188" y="2571750"/>
            <a:ext cx="2773362" cy="636588"/>
            <a:chOff x="1338" y="1109"/>
            <a:chExt cx="3696" cy="543"/>
          </a:xfrm>
        </p:grpSpPr>
        <p:sp>
          <p:nvSpPr>
            <p:cNvPr id="72715"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39946" name="文本框 717856"/>
            <p:cNvSpPr txBox="1">
              <a:spLocks noChangeArrowheads="1"/>
            </p:cNvSpPr>
            <p:nvPr/>
          </p:nvSpPr>
          <p:spPr bwMode="auto">
            <a:xfrm>
              <a:off x="1439" y="1122"/>
              <a:ext cx="3552" cy="41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变化的原因</a:t>
              </a:r>
              <a:endParaRPr lang="en-US" altLang="zh-CN">
                <a:solidFill>
                  <a:schemeClr val="bg1"/>
                </a:solidFill>
                <a:latin typeface="楷体" panose="02010609060101010101" pitchFamily="49" charset="-122"/>
                <a:ea typeface="楷体" panose="02010609060101010101" pitchFamily="49" charset="-122"/>
              </a:endParaRPr>
            </a:p>
          </p:txBody>
        </p:sp>
      </p:grpSp>
      <p:sp>
        <p:nvSpPr>
          <p:cNvPr id="39943" name="矩形 770052"/>
          <p:cNvSpPr>
            <a:spLocks noChangeArrowheads="1"/>
          </p:cNvSpPr>
          <p:nvPr/>
        </p:nvSpPr>
        <p:spPr bwMode="auto">
          <a:xfrm>
            <a:off x="357188" y="285750"/>
            <a:ext cx="4130675" cy="552450"/>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（二）变化的原因和实质</a:t>
            </a:r>
            <a:endParaRPr lang="zh-CN" altLang="en-US"/>
          </a:p>
        </p:txBody>
      </p:sp>
      <p:sp>
        <p:nvSpPr>
          <p:cNvPr id="14" name="矩形 777221"/>
          <p:cNvSpPr>
            <a:spLocks noChangeArrowheads="1"/>
          </p:cNvSpPr>
          <p:nvPr/>
        </p:nvSpPr>
        <p:spPr bwMode="auto">
          <a:xfrm>
            <a:off x="357188" y="928688"/>
            <a:ext cx="8286750" cy="1285875"/>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dirty="0">
                <a:solidFill>
                  <a:srgbClr val="3333FF"/>
                </a:solidFill>
                <a:latin typeface="幼圆" pitchFamily="49" charset="-122"/>
                <a:ea typeface="幼圆" pitchFamily="49" charset="-122"/>
              </a:rPr>
              <a:t>   </a:t>
            </a:r>
            <a:r>
              <a:rPr lang="zh-CN" altLang="en-US" sz="1800" dirty="0">
                <a:solidFill>
                  <a:srgbClr val="3333FF"/>
                </a:solidFill>
                <a:latin typeface="幼圆" pitchFamily="49" charset="-122"/>
                <a:ea typeface="幼圆" pitchFamily="49" charset="-122"/>
              </a:rPr>
              <a:t>正确认识第二次世界大战后资本主义变化的原因和实质，对于在新的历史条件下深刻把握资本主义的本质和规律，具有十分重要的意义。</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779268"/>
          <p:cNvSpPr>
            <a:spLocks noChangeArrowheads="1"/>
          </p:cNvSpPr>
          <p:nvPr/>
        </p:nvSpPr>
        <p:spPr bwMode="auto">
          <a:xfrm>
            <a:off x="285750" y="2071688"/>
            <a:ext cx="8643938" cy="477837"/>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latin typeface="楷体" panose="02010609060101010101" pitchFamily="49" charset="-122"/>
                <a:ea typeface="楷体" panose="02010609060101010101" pitchFamily="49" charset="-122"/>
              </a:rPr>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从根本上说是人类社会发展一般规律和资本主义经济规律作用的结果</a:t>
            </a:r>
          </a:p>
        </p:txBody>
      </p:sp>
      <p:sp>
        <p:nvSpPr>
          <p:cNvPr id="73731" name="矩形 779269"/>
          <p:cNvSpPr>
            <a:spLocks noChangeArrowheads="1"/>
          </p:cNvSpPr>
          <p:nvPr/>
        </p:nvSpPr>
        <p:spPr bwMode="auto">
          <a:xfrm>
            <a:off x="214313" y="3279775"/>
            <a:ext cx="8715375" cy="862013"/>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000" dirty="0"/>
              <a:t> </a:t>
            </a:r>
            <a:r>
              <a:rPr lang="en-US" altLang="zh-CN" sz="2000" dirty="0">
                <a:solidFill>
                  <a:srgbClr val="990000"/>
                </a:solidFill>
                <a:latin typeface="楷体" panose="02010609060101010101" pitchFamily="49" charset="-122"/>
                <a:ea typeface="楷体" panose="02010609060101010101" pitchFamily="49" charset="-122"/>
              </a:rPr>
              <a:t>- </a:t>
            </a:r>
            <a:r>
              <a:rPr lang="zh-CN" altLang="en-US" sz="2000" dirty="0">
                <a:solidFill>
                  <a:srgbClr val="990000"/>
                </a:solidFill>
                <a:latin typeface="楷体" panose="02010609060101010101" pitchFamily="49" charset="-122"/>
                <a:ea typeface="楷体" panose="02010609060101010101" pitchFamily="49" charset="-122"/>
              </a:rPr>
              <a:t>是在资本主义制度基本框架内的变化，并不意味着资本主义生产关系的根本性质发生了变化</a:t>
            </a:r>
          </a:p>
        </p:txBody>
      </p:sp>
      <p:sp>
        <p:nvSpPr>
          <p:cNvPr id="73732" name="矩形 779270"/>
          <p:cNvSpPr>
            <a:spLocks noChangeArrowheads="1"/>
          </p:cNvSpPr>
          <p:nvPr/>
        </p:nvSpPr>
        <p:spPr bwMode="auto">
          <a:xfrm>
            <a:off x="250825" y="4797425"/>
            <a:ext cx="8713788" cy="1655763"/>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a:solidFill>
                  <a:srgbClr val="3333FF"/>
                </a:solidFill>
                <a:latin typeface="幼圆" pitchFamily="49" charset="-122"/>
                <a:ea typeface="幼圆" pitchFamily="49" charset="-122"/>
              </a:rPr>
              <a:t>  </a:t>
            </a:r>
            <a:r>
              <a:rPr lang="zh-CN" altLang="en-US" sz="1800">
                <a:solidFill>
                  <a:srgbClr val="000000"/>
                </a:solidFill>
                <a:latin typeface="黑体" panose="02010609060101010101" pitchFamily="49" charset="-122"/>
                <a:ea typeface="黑体" panose="02010609060101010101" pitchFamily="49" charset="-122"/>
              </a:rPr>
              <a:t>虽然当代资本主义发生了一些新变化，但是这些变化并没有改变资本主义制度的本质，并没有克服资本主义的基本矛盾，也没有改变马克思主义关于资本主义的基本论断的科学性，从根本上产生于资本主义基本矛盾的金融危机和经济危机依然是资本主义不可克服的痼疾。</a:t>
            </a:r>
          </a:p>
        </p:txBody>
      </p:sp>
      <p:grpSp>
        <p:nvGrpSpPr>
          <p:cNvPr id="40965" name="组合 717854"/>
          <p:cNvGrpSpPr/>
          <p:nvPr/>
        </p:nvGrpSpPr>
        <p:grpSpPr bwMode="auto">
          <a:xfrm>
            <a:off x="285750" y="928688"/>
            <a:ext cx="2773363" cy="636587"/>
            <a:chOff x="1338" y="1109"/>
            <a:chExt cx="3696" cy="543"/>
          </a:xfrm>
        </p:grpSpPr>
        <p:sp>
          <p:nvSpPr>
            <p:cNvPr id="73737"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0967" name="文本框 717856"/>
            <p:cNvSpPr txBox="1">
              <a:spLocks noChangeArrowheads="1"/>
            </p:cNvSpPr>
            <p:nvPr/>
          </p:nvSpPr>
          <p:spPr bwMode="auto">
            <a:xfrm>
              <a:off x="1439" y="1122"/>
              <a:ext cx="3552" cy="41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en-US" altLang="zh-CN">
                  <a:solidFill>
                    <a:schemeClr val="bg1"/>
                  </a:solidFill>
                  <a:latin typeface="楷体" panose="02010609060101010101" pitchFamily="49" charset="-122"/>
                  <a:ea typeface="楷体" panose="02010609060101010101" pitchFamily="49" charset="-122"/>
                  <a:sym typeface="宋体" panose="02010600030101010101" pitchFamily="2" charset="-122"/>
                </a:rPr>
                <a:t>变化的</a:t>
              </a:r>
              <a:r>
                <a:rPr lang="zh-CN" altLang="en-US">
                  <a:solidFill>
                    <a:schemeClr val="bg1"/>
                  </a:solidFill>
                  <a:latin typeface="楷体" panose="02010609060101010101" pitchFamily="49" charset="-122"/>
                  <a:ea typeface="楷体" panose="02010609060101010101" pitchFamily="49" charset="-122"/>
                  <a:sym typeface="宋体" panose="02010600030101010101" pitchFamily="2" charset="-122"/>
                </a:rPr>
                <a:t>实质</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组合 791649"/>
          <p:cNvGrpSpPr/>
          <p:nvPr/>
        </p:nvGrpSpPr>
        <p:grpSpPr bwMode="auto">
          <a:xfrm>
            <a:off x="214313" y="71438"/>
            <a:ext cx="8750299" cy="6786562"/>
            <a:chOff x="180" y="48"/>
            <a:chExt cx="5512" cy="4137"/>
          </a:xfrm>
        </p:grpSpPr>
        <p:sp>
          <p:nvSpPr>
            <p:cNvPr id="34820" name="矩形 791650"/>
            <p:cNvSpPr>
              <a:spLocks noChangeArrowheads="1"/>
            </p:cNvSpPr>
            <p:nvPr/>
          </p:nvSpPr>
          <p:spPr bwMode="auto">
            <a:xfrm>
              <a:off x="180" y="409"/>
              <a:ext cx="408" cy="3742"/>
            </a:xfrm>
            <a:prstGeom prst="rect">
              <a:avLst/>
            </a:prstGeom>
            <a:solidFill>
              <a:srgbClr val="CCFFFF"/>
            </a:solidFill>
            <a:ln w="9525">
              <a:miter lim="800000"/>
            </a:ln>
            <a:scene3d>
              <a:camera prst="legacyObliqueTopLeft"/>
              <a:lightRig rig="legacyFlat3" dir="t"/>
            </a:scene3d>
            <a:sp3d extrusionH="430200" prstMaterial="legacyMatte">
              <a:bevelT w="13500" h="13500" prst="angle"/>
              <a:bevelB w="13500" h="13500" prst="angle"/>
              <a:extrusionClr>
                <a:srgbClr val="CCFFFF"/>
              </a:extrusionClr>
            </a:sp3d>
          </p:spPr>
          <p:txBody>
            <a:bodyPr anchor="ctr">
              <a:spAutoFit/>
              <a:flatTx/>
            </a:bodyPr>
            <a:lstStyle/>
            <a:p>
              <a:pPr algn="ctr" eaLnBrk="1" hangingPunct="1">
                <a:spcBef>
                  <a:spcPct val="50000"/>
                </a:spcBef>
              </a:pPr>
              <a:r>
                <a:rPr lang="zh-CN" altLang="en-US" sz="2000">
                  <a:solidFill>
                    <a:srgbClr val="0000CC"/>
                  </a:solidFill>
                  <a:ea typeface="幼圆" pitchFamily="49" charset="-122"/>
                </a:rPr>
                <a:t>第二次世界大战后资本主义的变化及其实质</a:t>
              </a:r>
            </a:p>
          </p:txBody>
        </p:sp>
        <p:sp>
          <p:nvSpPr>
            <p:cNvPr id="34821" name="直接连接符 791651"/>
            <p:cNvSpPr>
              <a:spLocks noChangeShapeType="1"/>
            </p:cNvSpPr>
            <p:nvPr/>
          </p:nvSpPr>
          <p:spPr bwMode="auto">
            <a:xfrm>
              <a:off x="657" y="890"/>
              <a:ext cx="228" cy="0"/>
            </a:xfrm>
            <a:prstGeom prst="line">
              <a:avLst/>
            </a:prstGeom>
            <a:noFill/>
            <a:ln w="57150">
              <a:solidFill>
                <a:srgbClr val="800000"/>
              </a:solidFill>
              <a:round/>
              <a:tailEnd type="triangle" w="med" len="med"/>
            </a:ln>
          </p:spPr>
          <p:txBody>
            <a:bodyPr/>
            <a:lstStyle/>
            <a:p>
              <a:endParaRPr lang="zh-CN" altLang="en-US"/>
            </a:p>
          </p:txBody>
        </p:sp>
        <p:sp>
          <p:nvSpPr>
            <p:cNvPr id="34822" name="直接连接符 791652"/>
            <p:cNvSpPr>
              <a:spLocks noChangeShapeType="1"/>
            </p:cNvSpPr>
            <p:nvPr/>
          </p:nvSpPr>
          <p:spPr bwMode="auto">
            <a:xfrm>
              <a:off x="674" y="904"/>
              <a:ext cx="29" cy="2889"/>
            </a:xfrm>
            <a:prstGeom prst="line">
              <a:avLst/>
            </a:prstGeom>
            <a:noFill/>
            <a:ln w="57150">
              <a:solidFill>
                <a:srgbClr val="800000"/>
              </a:solidFill>
              <a:round/>
            </a:ln>
          </p:spPr>
          <p:txBody>
            <a:bodyPr/>
            <a:lstStyle/>
            <a:p>
              <a:endParaRPr lang="zh-CN" altLang="en-US"/>
            </a:p>
          </p:txBody>
        </p:sp>
        <p:sp>
          <p:nvSpPr>
            <p:cNvPr id="34823" name="直接连接符 791653"/>
            <p:cNvSpPr>
              <a:spLocks noChangeShapeType="1"/>
            </p:cNvSpPr>
            <p:nvPr/>
          </p:nvSpPr>
          <p:spPr bwMode="auto">
            <a:xfrm>
              <a:off x="567" y="2659"/>
              <a:ext cx="317" cy="0"/>
            </a:xfrm>
            <a:prstGeom prst="line">
              <a:avLst/>
            </a:prstGeom>
            <a:noFill/>
            <a:ln w="57150">
              <a:solidFill>
                <a:srgbClr val="800000"/>
              </a:solidFill>
              <a:round/>
              <a:tailEnd type="triangle" w="med" len="med"/>
            </a:ln>
          </p:spPr>
          <p:txBody>
            <a:bodyPr/>
            <a:lstStyle/>
            <a:p>
              <a:endParaRPr lang="zh-CN" altLang="en-US"/>
            </a:p>
          </p:txBody>
        </p:sp>
        <p:sp>
          <p:nvSpPr>
            <p:cNvPr id="34824" name="直接连接符 791654"/>
            <p:cNvSpPr>
              <a:spLocks noChangeShapeType="1"/>
            </p:cNvSpPr>
            <p:nvPr/>
          </p:nvSpPr>
          <p:spPr bwMode="auto">
            <a:xfrm>
              <a:off x="703" y="3793"/>
              <a:ext cx="226" cy="0"/>
            </a:xfrm>
            <a:prstGeom prst="line">
              <a:avLst/>
            </a:prstGeom>
            <a:noFill/>
            <a:ln w="57150">
              <a:solidFill>
                <a:srgbClr val="800000"/>
              </a:solidFill>
              <a:round/>
              <a:tailEnd type="triangle" w="med" len="med"/>
            </a:ln>
          </p:spPr>
          <p:txBody>
            <a:bodyPr/>
            <a:lstStyle/>
            <a:p>
              <a:endParaRPr lang="zh-CN" altLang="en-US"/>
            </a:p>
          </p:txBody>
        </p:sp>
        <p:sp>
          <p:nvSpPr>
            <p:cNvPr id="34825" name="矩形 791655"/>
            <p:cNvSpPr>
              <a:spLocks noChangeArrowheads="1"/>
            </p:cNvSpPr>
            <p:nvPr/>
          </p:nvSpPr>
          <p:spPr bwMode="auto">
            <a:xfrm>
              <a:off x="975" y="799"/>
              <a:ext cx="531"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rgbClr val="0000FF"/>
                  </a:solidFill>
                  <a:ea typeface="幼圆" pitchFamily="49" charset="-122"/>
                </a:rPr>
                <a:t>表 现</a:t>
              </a:r>
            </a:p>
          </p:txBody>
        </p:sp>
        <p:sp>
          <p:nvSpPr>
            <p:cNvPr id="34826" name="矩形 791656"/>
            <p:cNvSpPr>
              <a:spLocks noChangeArrowheads="1"/>
            </p:cNvSpPr>
            <p:nvPr/>
          </p:nvSpPr>
          <p:spPr bwMode="auto">
            <a:xfrm>
              <a:off x="975" y="2568"/>
              <a:ext cx="576"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rgbClr val="0000FF"/>
                  </a:solidFill>
                  <a:ea typeface="幼圆" pitchFamily="49" charset="-122"/>
                </a:rPr>
                <a:t>原 因</a:t>
              </a:r>
            </a:p>
          </p:txBody>
        </p:sp>
        <p:sp>
          <p:nvSpPr>
            <p:cNvPr id="34827" name="矩形 791657"/>
            <p:cNvSpPr>
              <a:spLocks noChangeArrowheads="1"/>
            </p:cNvSpPr>
            <p:nvPr/>
          </p:nvSpPr>
          <p:spPr bwMode="auto">
            <a:xfrm>
              <a:off x="1020" y="3702"/>
              <a:ext cx="576" cy="272"/>
            </a:xfrm>
            <a:prstGeom prst="rect">
              <a:avLst/>
            </a:prstGeom>
            <a:solidFill>
              <a:srgbClr val="FFCC99"/>
            </a:solidFill>
            <a:ln w="9525">
              <a:miter lim="800000"/>
            </a:ln>
            <a:scene3d>
              <a:camera prst="legacyObliqueTopLeft"/>
              <a:lightRig rig="legacyFlat3" dir="t"/>
            </a:scene3d>
            <a:sp3d extrusionH="430200" prstMaterial="legacyMatte">
              <a:bevelT w="13500" h="13500" prst="angle"/>
              <a:bevelB w="13500" h="13500" prst="angle"/>
              <a:extrusionClr>
                <a:srgbClr val="FFCC99"/>
              </a:extrusionClr>
            </a:sp3d>
          </p:spPr>
          <p:txBody>
            <a:bodyPr wrap="none" anchor="ctr">
              <a:flatTx/>
            </a:bodyPr>
            <a:lstStyle/>
            <a:p>
              <a:pPr algn="ctr" eaLnBrk="1" hangingPunct="1">
                <a:spcBef>
                  <a:spcPct val="50000"/>
                </a:spcBef>
              </a:pPr>
              <a:r>
                <a:rPr lang="zh-CN" altLang="en-US">
                  <a:solidFill>
                    <a:srgbClr val="0000FF"/>
                  </a:solidFill>
                  <a:ea typeface="幼圆" pitchFamily="49" charset="-122"/>
                </a:rPr>
                <a:t>实 质</a:t>
              </a:r>
            </a:p>
          </p:txBody>
        </p:sp>
        <p:grpSp>
          <p:nvGrpSpPr>
            <p:cNvPr id="34828" name="组合 791658"/>
            <p:cNvGrpSpPr/>
            <p:nvPr/>
          </p:nvGrpSpPr>
          <p:grpSpPr bwMode="auto">
            <a:xfrm>
              <a:off x="1519" y="48"/>
              <a:ext cx="4173" cy="1854"/>
              <a:chOff x="1519" y="48"/>
              <a:chExt cx="4173" cy="1854"/>
            </a:xfrm>
          </p:grpSpPr>
          <p:sp>
            <p:nvSpPr>
              <p:cNvPr id="34852" name="直接连接符 791659"/>
              <p:cNvSpPr>
                <a:spLocks noChangeShapeType="1"/>
              </p:cNvSpPr>
              <p:nvPr/>
            </p:nvSpPr>
            <p:spPr bwMode="auto">
              <a:xfrm flipH="1">
                <a:off x="1519" y="981"/>
                <a:ext cx="182" cy="0"/>
              </a:xfrm>
              <a:prstGeom prst="line">
                <a:avLst/>
              </a:prstGeom>
              <a:noFill/>
              <a:ln w="57150">
                <a:solidFill>
                  <a:srgbClr val="800000"/>
                </a:solidFill>
                <a:round/>
              </a:ln>
            </p:spPr>
            <p:txBody>
              <a:bodyPr/>
              <a:lstStyle/>
              <a:p>
                <a:endParaRPr lang="zh-CN" altLang="en-US"/>
              </a:p>
            </p:txBody>
          </p:sp>
          <p:sp>
            <p:nvSpPr>
              <p:cNvPr id="34853" name="文本框 791660"/>
              <p:cNvSpPr txBox="1">
                <a:spLocks noChangeArrowheads="1"/>
              </p:cNvSpPr>
              <p:nvPr/>
            </p:nvSpPr>
            <p:spPr bwMode="auto">
              <a:xfrm>
                <a:off x="1800" y="48"/>
                <a:ext cx="3889" cy="291"/>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生产资料所有制（法人资本所有制）</a:t>
                </a:r>
              </a:p>
            </p:txBody>
          </p:sp>
          <p:sp>
            <p:nvSpPr>
              <p:cNvPr id="34854" name="直接连接符 791661"/>
              <p:cNvSpPr>
                <a:spLocks noChangeShapeType="1"/>
              </p:cNvSpPr>
              <p:nvPr/>
            </p:nvSpPr>
            <p:spPr bwMode="auto">
              <a:xfrm>
                <a:off x="1656" y="135"/>
                <a:ext cx="29" cy="1579"/>
              </a:xfrm>
              <a:prstGeom prst="line">
                <a:avLst/>
              </a:prstGeom>
              <a:noFill/>
              <a:ln w="57150">
                <a:solidFill>
                  <a:srgbClr val="800000"/>
                </a:solidFill>
                <a:round/>
              </a:ln>
            </p:spPr>
            <p:txBody>
              <a:bodyPr/>
              <a:lstStyle/>
              <a:p>
                <a:endParaRPr lang="zh-CN" altLang="en-US"/>
              </a:p>
            </p:txBody>
          </p:sp>
          <p:sp>
            <p:nvSpPr>
              <p:cNvPr id="34855" name="直接连接符 791662"/>
              <p:cNvSpPr>
                <a:spLocks noChangeShapeType="1"/>
              </p:cNvSpPr>
              <p:nvPr/>
            </p:nvSpPr>
            <p:spPr bwMode="auto">
              <a:xfrm flipH="1">
                <a:off x="1665" y="139"/>
                <a:ext cx="136" cy="0"/>
              </a:xfrm>
              <a:prstGeom prst="line">
                <a:avLst/>
              </a:prstGeom>
              <a:noFill/>
              <a:ln w="57150">
                <a:solidFill>
                  <a:srgbClr val="800000"/>
                </a:solidFill>
                <a:round/>
              </a:ln>
            </p:spPr>
            <p:txBody>
              <a:bodyPr/>
              <a:lstStyle/>
              <a:p>
                <a:endParaRPr lang="zh-CN" altLang="en-US"/>
              </a:p>
            </p:txBody>
          </p:sp>
          <p:sp>
            <p:nvSpPr>
              <p:cNvPr id="34856" name="直接连接符 791663"/>
              <p:cNvSpPr>
                <a:spLocks noChangeShapeType="1"/>
              </p:cNvSpPr>
              <p:nvPr/>
            </p:nvSpPr>
            <p:spPr bwMode="auto">
              <a:xfrm flipH="1">
                <a:off x="1655" y="618"/>
                <a:ext cx="137" cy="0"/>
              </a:xfrm>
              <a:prstGeom prst="line">
                <a:avLst/>
              </a:prstGeom>
              <a:noFill/>
              <a:ln w="57150">
                <a:solidFill>
                  <a:srgbClr val="800000"/>
                </a:solidFill>
                <a:round/>
              </a:ln>
            </p:spPr>
            <p:txBody>
              <a:bodyPr/>
              <a:lstStyle/>
              <a:p>
                <a:endParaRPr lang="zh-CN" altLang="en-US"/>
              </a:p>
            </p:txBody>
          </p:sp>
          <p:sp>
            <p:nvSpPr>
              <p:cNvPr id="34857" name="直接连接符 791664"/>
              <p:cNvSpPr>
                <a:spLocks noChangeShapeType="1"/>
              </p:cNvSpPr>
              <p:nvPr/>
            </p:nvSpPr>
            <p:spPr bwMode="auto">
              <a:xfrm flipH="1">
                <a:off x="1655" y="981"/>
                <a:ext cx="137" cy="0"/>
              </a:xfrm>
              <a:prstGeom prst="line">
                <a:avLst/>
              </a:prstGeom>
              <a:noFill/>
              <a:ln w="57150">
                <a:solidFill>
                  <a:srgbClr val="800000"/>
                </a:solidFill>
                <a:round/>
              </a:ln>
            </p:spPr>
            <p:txBody>
              <a:bodyPr/>
              <a:lstStyle/>
              <a:p>
                <a:endParaRPr lang="zh-CN" altLang="en-US"/>
              </a:p>
            </p:txBody>
          </p:sp>
          <p:sp>
            <p:nvSpPr>
              <p:cNvPr id="34858" name="文本框 791665"/>
              <p:cNvSpPr txBox="1">
                <a:spLocks noChangeArrowheads="1"/>
              </p:cNvSpPr>
              <p:nvPr/>
            </p:nvSpPr>
            <p:spPr bwMode="auto">
              <a:xfrm>
                <a:off x="1803" y="822"/>
                <a:ext cx="3889" cy="290"/>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社会阶层和阶级结构（食利着、经理阶层、白领工人）</a:t>
                </a:r>
              </a:p>
            </p:txBody>
          </p:sp>
          <p:sp>
            <p:nvSpPr>
              <p:cNvPr id="34859" name="文本框 791666"/>
              <p:cNvSpPr txBox="1">
                <a:spLocks noChangeArrowheads="1"/>
              </p:cNvSpPr>
              <p:nvPr/>
            </p:nvSpPr>
            <p:spPr bwMode="auto">
              <a:xfrm>
                <a:off x="1800" y="443"/>
                <a:ext cx="3889" cy="301"/>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劳资关系和分配关系（职工参与、持股，终身雇佣）</a:t>
                </a:r>
              </a:p>
            </p:txBody>
          </p:sp>
          <p:sp>
            <p:nvSpPr>
              <p:cNvPr id="34860" name="文本框 791667"/>
              <p:cNvSpPr txBox="1">
                <a:spLocks noChangeArrowheads="1"/>
              </p:cNvSpPr>
              <p:nvPr/>
            </p:nvSpPr>
            <p:spPr bwMode="auto">
              <a:xfrm>
                <a:off x="1803" y="1217"/>
                <a:ext cx="3889" cy="301"/>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经济调节机制和经济危机形态（国家干预、金融危机）</a:t>
                </a:r>
              </a:p>
            </p:txBody>
          </p:sp>
          <p:sp>
            <p:nvSpPr>
              <p:cNvPr id="34861" name="文本框 791668"/>
              <p:cNvSpPr txBox="1">
                <a:spLocks noChangeArrowheads="1"/>
              </p:cNvSpPr>
              <p:nvPr/>
            </p:nvSpPr>
            <p:spPr bwMode="auto">
              <a:xfrm>
                <a:off x="1800" y="1612"/>
                <a:ext cx="3889" cy="290"/>
              </a:xfrm>
              <a:prstGeom prst="rect">
                <a:avLst/>
              </a:prstGeom>
              <a:solidFill>
                <a:srgbClr val="CCFFFF"/>
              </a:solidFill>
              <a:ln w="19050">
                <a:solidFill>
                  <a:srgbClr val="FF0000"/>
                </a:solidFill>
                <a:miter lim="800000"/>
              </a:ln>
            </p:spPr>
            <p:txBody>
              <a:bodyPr>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政治制度（公民、法治、宪政、改良）</a:t>
                </a:r>
                <a:endParaRPr lang="en-US" altLang="zh-CN" sz="2000">
                  <a:solidFill>
                    <a:srgbClr val="A50021"/>
                  </a:solidFill>
                  <a:latin typeface="楷体_GB2312" pitchFamily="49" charset="-122"/>
                </a:endParaRPr>
              </a:p>
            </p:txBody>
          </p:sp>
          <p:sp>
            <p:nvSpPr>
              <p:cNvPr id="34862" name="直接连接符 791669"/>
              <p:cNvSpPr>
                <a:spLocks noChangeShapeType="1"/>
              </p:cNvSpPr>
              <p:nvPr/>
            </p:nvSpPr>
            <p:spPr bwMode="auto">
              <a:xfrm flipH="1">
                <a:off x="1655" y="1344"/>
                <a:ext cx="137" cy="0"/>
              </a:xfrm>
              <a:prstGeom prst="line">
                <a:avLst/>
              </a:prstGeom>
              <a:noFill/>
              <a:ln w="57150">
                <a:solidFill>
                  <a:srgbClr val="800000"/>
                </a:solidFill>
                <a:round/>
              </a:ln>
            </p:spPr>
            <p:txBody>
              <a:bodyPr/>
              <a:lstStyle/>
              <a:p>
                <a:endParaRPr lang="zh-CN" altLang="en-US"/>
              </a:p>
            </p:txBody>
          </p:sp>
          <p:sp>
            <p:nvSpPr>
              <p:cNvPr id="34863" name="直接连接符 791670"/>
              <p:cNvSpPr>
                <a:spLocks noChangeShapeType="1"/>
              </p:cNvSpPr>
              <p:nvPr/>
            </p:nvSpPr>
            <p:spPr bwMode="auto">
              <a:xfrm flipH="1">
                <a:off x="1655" y="1706"/>
                <a:ext cx="137" cy="0"/>
              </a:xfrm>
              <a:prstGeom prst="line">
                <a:avLst/>
              </a:prstGeom>
              <a:noFill/>
              <a:ln w="57150">
                <a:solidFill>
                  <a:srgbClr val="800000"/>
                </a:solidFill>
                <a:round/>
              </a:ln>
            </p:spPr>
            <p:txBody>
              <a:bodyPr/>
              <a:lstStyle/>
              <a:p>
                <a:endParaRPr lang="zh-CN" altLang="en-US"/>
              </a:p>
            </p:txBody>
          </p:sp>
        </p:grpSp>
        <p:grpSp>
          <p:nvGrpSpPr>
            <p:cNvPr id="34829" name="组合 791671"/>
            <p:cNvGrpSpPr/>
            <p:nvPr/>
          </p:nvGrpSpPr>
          <p:grpSpPr bwMode="auto">
            <a:xfrm>
              <a:off x="1610" y="3575"/>
              <a:ext cx="3267" cy="610"/>
              <a:chOff x="1655" y="3575"/>
              <a:chExt cx="3267" cy="610"/>
            </a:xfrm>
          </p:grpSpPr>
          <p:sp>
            <p:nvSpPr>
              <p:cNvPr id="34841" name="直接连接符 791672"/>
              <p:cNvSpPr>
                <a:spLocks noChangeShapeType="1"/>
              </p:cNvSpPr>
              <p:nvPr/>
            </p:nvSpPr>
            <p:spPr bwMode="auto">
              <a:xfrm>
                <a:off x="3651" y="3838"/>
                <a:ext cx="318" cy="0"/>
              </a:xfrm>
              <a:prstGeom prst="line">
                <a:avLst/>
              </a:prstGeom>
              <a:noFill/>
              <a:ln w="57150">
                <a:solidFill>
                  <a:srgbClr val="FF0000"/>
                </a:solidFill>
                <a:round/>
                <a:tailEnd type="triangle" w="med" len="med"/>
              </a:ln>
            </p:spPr>
            <p:txBody>
              <a:bodyPr/>
              <a:lstStyle/>
              <a:p>
                <a:endParaRPr lang="zh-CN" altLang="en-US"/>
              </a:p>
            </p:txBody>
          </p:sp>
          <p:sp>
            <p:nvSpPr>
              <p:cNvPr id="34842" name="直接连接符 791673"/>
              <p:cNvSpPr>
                <a:spLocks noChangeShapeType="1"/>
              </p:cNvSpPr>
              <p:nvPr/>
            </p:nvSpPr>
            <p:spPr bwMode="auto">
              <a:xfrm flipH="1">
                <a:off x="1655" y="3838"/>
                <a:ext cx="182" cy="0"/>
              </a:xfrm>
              <a:prstGeom prst="line">
                <a:avLst/>
              </a:prstGeom>
              <a:noFill/>
              <a:ln w="57150">
                <a:solidFill>
                  <a:srgbClr val="800000"/>
                </a:solidFill>
                <a:round/>
              </a:ln>
            </p:spPr>
            <p:txBody>
              <a:bodyPr/>
              <a:lstStyle/>
              <a:p>
                <a:endParaRPr lang="zh-CN" altLang="en-US"/>
              </a:p>
            </p:txBody>
          </p:sp>
          <p:sp>
            <p:nvSpPr>
              <p:cNvPr id="34843" name="直接连接符 791674"/>
              <p:cNvSpPr>
                <a:spLocks noChangeShapeType="1"/>
              </p:cNvSpPr>
              <p:nvPr/>
            </p:nvSpPr>
            <p:spPr bwMode="auto">
              <a:xfrm flipH="1">
                <a:off x="1845" y="3662"/>
                <a:ext cx="273" cy="0"/>
              </a:xfrm>
              <a:prstGeom prst="line">
                <a:avLst/>
              </a:prstGeom>
              <a:noFill/>
              <a:ln w="57150">
                <a:solidFill>
                  <a:srgbClr val="800000"/>
                </a:solidFill>
                <a:round/>
              </a:ln>
            </p:spPr>
            <p:txBody>
              <a:bodyPr/>
              <a:lstStyle/>
              <a:p>
                <a:endParaRPr lang="zh-CN" altLang="en-US"/>
              </a:p>
            </p:txBody>
          </p:sp>
          <p:sp>
            <p:nvSpPr>
              <p:cNvPr id="34844" name="Rectangle 2"/>
              <p:cNvSpPr txBox="1">
                <a:spLocks noChangeArrowheads="1"/>
              </p:cNvSpPr>
              <p:nvPr/>
            </p:nvSpPr>
            <p:spPr bwMode="auto">
              <a:xfrm>
                <a:off x="2115" y="3575"/>
                <a:ext cx="1088" cy="294"/>
              </a:xfrm>
              <a:prstGeom prst="rect">
                <a:avLst/>
              </a:prstGeom>
              <a:solidFill>
                <a:schemeClr val="tx2">
                  <a:lumMod val="20000"/>
                  <a:lumOff val="80000"/>
                </a:schemeClr>
              </a:solidFill>
              <a:ln w="28575">
                <a:solidFill>
                  <a:schemeClr val="accent2"/>
                </a:solidFill>
                <a:miter lim="800000"/>
              </a:ln>
            </p:spPr>
            <p:txBody>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自我调节</a:t>
                </a:r>
              </a:p>
            </p:txBody>
          </p:sp>
          <p:sp>
            <p:nvSpPr>
              <p:cNvPr id="34845" name="直接连接符 791676"/>
              <p:cNvSpPr>
                <a:spLocks noChangeShapeType="1"/>
              </p:cNvSpPr>
              <p:nvPr/>
            </p:nvSpPr>
            <p:spPr bwMode="auto">
              <a:xfrm>
                <a:off x="1837" y="3657"/>
                <a:ext cx="0" cy="454"/>
              </a:xfrm>
              <a:prstGeom prst="line">
                <a:avLst/>
              </a:prstGeom>
              <a:noFill/>
              <a:ln w="57150">
                <a:solidFill>
                  <a:srgbClr val="800000"/>
                </a:solidFill>
                <a:round/>
              </a:ln>
            </p:spPr>
            <p:txBody>
              <a:bodyPr/>
              <a:lstStyle/>
              <a:p>
                <a:endParaRPr lang="zh-CN" altLang="en-US"/>
              </a:p>
            </p:txBody>
          </p:sp>
          <p:sp>
            <p:nvSpPr>
              <p:cNvPr id="34846" name="直接连接符 791677"/>
              <p:cNvSpPr>
                <a:spLocks noChangeShapeType="1"/>
              </p:cNvSpPr>
              <p:nvPr/>
            </p:nvSpPr>
            <p:spPr bwMode="auto">
              <a:xfrm flipH="1">
                <a:off x="1848" y="4095"/>
                <a:ext cx="261" cy="0"/>
              </a:xfrm>
              <a:prstGeom prst="line">
                <a:avLst/>
              </a:prstGeom>
              <a:noFill/>
              <a:ln w="57150">
                <a:solidFill>
                  <a:srgbClr val="800000"/>
                </a:solidFill>
                <a:round/>
              </a:ln>
            </p:spPr>
            <p:txBody>
              <a:bodyPr/>
              <a:lstStyle/>
              <a:p>
                <a:endParaRPr lang="zh-CN" altLang="en-US"/>
              </a:p>
            </p:txBody>
          </p:sp>
          <p:sp>
            <p:nvSpPr>
              <p:cNvPr id="34847" name="Rectangle 2"/>
              <p:cNvSpPr txBox="1">
                <a:spLocks noChangeArrowheads="1"/>
              </p:cNvSpPr>
              <p:nvPr/>
            </p:nvSpPr>
            <p:spPr bwMode="auto">
              <a:xfrm>
                <a:off x="2115" y="3929"/>
                <a:ext cx="1384" cy="256"/>
              </a:xfrm>
              <a:prstGeom prst="rect">
                <a:avLst/>
              </a:prstGeom>
              <a:solidFill>
                <a:schemeClr val="tx2">
                  <a:lumMod val="20000"/>
                  <a:lumOff val="80000"/>
                </a:schemeClr>
              </a:solidFill>
              <a:ln w="28575">
                <a:solidFill>
                  <a:schemeClr val="accent2"/>
                </a:solidFill>
                <a:miter lim="800000"/>
              </a:ln>
            </p:spPr>
            <p:txBody>
              <a:bodyPr/>
              <a:lstStyle/>
              <a:p>
                <a:pPr eaLnBrk="1" hangingPunct="1">
                  <a:lnSpc>
                    <a:spcPct val="125000"/>
                  </a:lnSpc>
                  <a:spcBef>
                    <a:spcPct val="50000"/>
                  </a:spcBef>
                </a:pPr>
                <a:r>
                  <a:rPr lang="zh-CN" altLang="en-US" sz="2000" dirty="0">
                    <a:solidFill>
                      <a:srgbClr val="A50021"/>
                    </a:solidFill>
                    <a:latin typeface="楷体" panose="02010609060101010101" pitchFamily="49" charset="-122"/>
                    <a:ea typeface="楷体" panose="02010609060101010101" pitchFamily="49" charset="-122"/>
                  </a:rPr>
                  <a:t>制度框架内变化</a:t>
                </a:r>
              </a:p>
            </p:txBody>
          </p:sp>
          <p:sp>
            <p:nvSpPr>
              <p:cNvPr id="34848" name="矩形 791679"/>
              <p:cNvSpPr>
                <a:spLocks noChangeArrowheads="1"/>
              </p:cNvSpPr>
              <p:nvPr/>
            </p:nvSpPr>
            <p:spPr bwMode="auto">
              <a:xfrm>
                <a:off x="3969" y="3612"/>
                <a:ext cx="953" cy="499"/>
              </a:xfrm>
              <a:prstGeom prst="rect">
                <a:avLst/>
              </a:prstGeom>
              <a:solidFill>
                <a:srgbClr val="99CCFF"/>
              </a:solidFill>
              <a:ln w="28575">
                <a:solidFill>
                  <a:schemeClr val="tx1"/>
                </a:solidFill>
                <a:miter lim="800000"/>
              </a:ln>
            </p:spPr>
            <p:txBody>
              <a:bodyPr/>
              <a:lstStyle/>
              <a:p>
                <a:pPr eaLnBrk="1" hangingPunct="1">
                  <a:lnSpc>
                    <a:spcPct val="125000"/>
                  </a:lnSpc>
                  <a:spcBef>
                    <a:spcPct val="20000"/>
                  </a:spcBef>
                </a:pPr>
                <a:r>
                  <a:rPr lang="zh-CN" altLang="en-US" sz="1600">
                    <a:solidFill>
                      <a:srgbClr val="0000CC"/>
                    </a:solidFill>
                    <a:ea typeface="幼圆" pitchFamily="49" charset="-122"/>
                  </a:rPr>
                  <a:t>没有改变资本主义制度本质</a:t>
                </a:r>
                <a:endParaRPr lang="zh-CN" altLang="en-US" sz="1600">
                  <a:solidFill>
                    <a:srgbClr val="0000CC"/>
                  </a:solidFill>
                  <a:latin typeface="楷体_GB2312" pitchFamily="49" charset="-122"/>
                </a:endParaRPr>
              </a:p>
            </p:txBody>
          </p:sp>
          <p:sp>
            <p:nvSpPr>
              <p:cNvPr id="34849" name="直接连接符 791680"/>
              <p:cNvSpPr>
                <a:spLocks noChangeShapeType="1"/>
              </p:cNvSpPr>
              <p:nvPr/>
            </p:nvSpPr>
            <p:spPr bwMode="auto">
              <a:xfrm flipH="1">
                <a:off x="3651" y="3657"/>
                <a:ext cx="0" cy="408"/>
              </a:xfrm>
              <a:prstGeom prst="line">
                <a:avLst/>
              </a:prstGeom>
              <a:noFill/>
              <a:ln w="57150">
                <a:solidFill>
                  <a:srgbClr val="800000"/>
                </a:solidFill>
                <a:round/>
              </a:ln>
            </p:spPr>
            <p:txBody>
              <a:bodyPr/>
              <a:lstStyle/>
              <a:p>
                <a:endParaRPr lang="zh-CN" altLang="en-US"/>
              </a:p>
            </p:txBody>
          </p:sp>
          <p:sp>
            <p:nvSpPr>
              <p:cNvPr id="34850" name="直接连接符 791681"/>
              <p:cNvSpPr>
                <a:spLocks noChangeShapeType="1"/>
              </p:cNvSpPr>
              <p:nvPr/>
            </p:nvSpPr>
            <p:spPr bwMode="auto">
              <a:xfrm flipH="1">
                <a:off x="3197" y="3657"/>
                <a:ext cx="454" cy="0"/>
              </a:xfrm>
              <a:prstGeom prst="line">
                <a:avLst/>
              </a:prstGeom>
              <a:noFill/>
              <a:ln w="57150">
                <a:solidFill>
                  <a:srgbClr val="800000"/>
                </a:solidFill>
                <a:round/>
              </a:ln>
            </p:spPr>
            <p:txBody>
              <a:bodyPr/>
              <a:lstStyle/>
              <a:p>
                <a:endParaRPr lang="zh-CN" altLang="en-US"/>
              </a:p>
            </p:txBody>
          </p:sp>
          <p:sp>
            <p:nvSpPr>
              <p:cNvPr id="34851" name="直接连接符 791682"/>
              <p:cNvSpPr>
                <a:spLocks noChangeShapeType="1"/>
              </p:cNvSpPr>
              <p:nvPr/>
            </p:nvSpPr>
            <p:spPr bwMode="auto">
              <a:xfrm flipH="1">
                <a:off x="3493" y="4065"/>
                <a:ext cx="159" cy="0"/>
              </a:xfrm>
              <a:prstGeom prst="line">
                <a:avLst/>
              </a:prstGeom>
              <a:noFill/>
              <a:ln w="57150">
                <a:solidFill>
                  <a:srgbClr val="800000"/>
                </a:solidFill>
                <a:round/>
              </a:ln>
            </p:spPr>
            <p:txBody>
              <a:bodyPr/>
              <a:lstStyle/>
              <a:p>
                <a:endParaRPr lang="zh-CN" altLang="en-US"/>
              </a:p>
            </p:txBody>
          </p:sp>
        </p:grpSp>
        <p:grpSp>
          <p:nvGrpSpPr>
            <p:cNvPr id="34830" name="组合 791683"/>
            <p:cNvGrpSpPr/>
            <p:nvPr/>
          </p:nvGrpSpPr>
          <p:grpSpPr bwMode="auto">
            <a:xfrm>
              <a:off x="1565" y="2182"/>
              <a:ext cx="3359" cy="1335"/>
              <a:chOff x="1565" y="2091"/>
              <a:chExt cx="3359" cy="1335"/>
            </a:xfrm>
          </p:grpSpPr>
          <p:sp>
            <p:nvSpPr>
              <p:cNvPr id="34831" name="文本框 791684"/>
              <p:cNvSpPr txBox="1">
                <a:spLocks noChangeArrowheads="1"/>
              </p:cNvSpPr>
              <p:nvPr/>
            </p:nvSpPr>
            <p:spPr bwMode="auto">
              <a:xfrm>
                <a:off x="1980" y="2091"/>
                <a:ext cx="2944" cy="290"/>
              </a:xfrm>
              <a:prstGeom prst="rect">
                <a:avLst/>
              </a:prstGeom>
              <a:solidFill>
                <a:srgbClr val="CCFFCC"/>
              </a:solidFill>
              <a:ln w="19050">
                <a:solidFill>
                  <a:srgbClr val="FF0000"/>
                </a:solidFill>
                <a:miter lim="800000"/>
              </a:ln>
            </p:spPr>
            <p:txBody>
              <a:bodyPr wrap="square">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科技革命和生产力发展</a:t>
                </a:r>
              </a:p>
            </p:txBody>
          </p:sp>
          <p:sp>
            <p:nvSpPr>
              <p:cNvPr id="34832" name="直接连接符 791685"/>
              <p:cNvSpPr>
                <a:spLocks noChangeShapeType="1"/>
              </p:cNvSpPr>
              <p:nvPr/>
            </p:nvSpPr>
            <p:spPr bwMode="auto">
              <a:xfrm flipH="1">
                <a:off x="1701" y="2265"/>
                <a:ext cx="9" cy="893"/>
              </a:xfrm>
              <a:prstGeom prst="line">
                <a:avLst/>
              </a:prstGeom>
              <a:noFill/>
              <a:ln w="57150">
                <a:solidFill>
                  <a:srgbClr val="800000"/>
                </a:solidFill>
                <a:round/>
              </a:ln>
            </p:spPr>
            <p:txBody>
              <a:bodyPr/>
              <a:lstStyle/>
              <a:p>
                <a:endParaRPr lang="zh-CN" altLang="en-US"/>
              </a:p>
            </p:txBody>
          </p:sp>
          <p:sp>
            <p:nvSpPr>
              <p:cNvPr id="34833" name="直接连接符 791686"/>
              <p:cNvSpPr>
                <a:spLocks noChangeShapeType="1"/>
              </p:cNvSpPr>
              <p:nvPr/>
            </p:nvSpPr>
            <p:spPr bwMode="auto">
              <a:xfrm flipH="1">
                <a:off x="1710" y="2265"/>
                <a:ext cx="272" cy="0"/>
              </a:xfrm>
              <a:prstGeom prst="line">
                <a:avLst/>
              </a:prstGeom>
              <a:noFill/>
              <a:ln w="57150">
                <a:solidFill>
                  <a:srgbClr val="800000"/>
                </a:solidFill>
                <a:round/>
              </a:ln>
            </p:spPr>
            <p:txBody>
              <a:bodyPr/>
              <a:lstStyle/>
              <a:p>
                <a:endParaRPr lang="zh-CN" altLang="en-US"/>
              </a:p>
            </p:txBody>
          </p:sp>
          <p:sp>
            <p:nvSpPr>
              <p:cNvPr id="34834" name="直接连接符 791687"/>
              <p:cNvSpPr>
                <a:spLocks noChangeShapeType="1"/>
              </p:cNvSpPr>
              <p:nvPr/>
            </p:nvSpPr>
            <p:spPr bwMode="auto">
              <a:xfrm flipH="1">
                <a:off x="1665" y="2613"/>
                <a:ext cx="317" cy="0"/>
              </a:xfrm>
              <a:prstGeom prst="line">
                <a:avLst/>
              </a:prstGeom>
              <a:noFill/>
              <a:ln w="57150">
                <a:solidFill>
                  <a:srgbClr val="800000"/>
                </a:solidFill>
                <a:round/>
              </a:ln>
            </p:spPr>
            <p:txBody>
              <a:bodyPr/>
              <a:lstStyle/>
              <a:p>
                <a:endParaRPr lang="zh-CN" altLang="en-US"/>
              </a:p>
            </p:txBody>
          </p:sp>
          <p:sp>
            <p:nvSpPr>
              <p:cNvPr id="34835" name="直接连接符 791688"/>
              <p:cNvSpPr>
                <a:spLocks noChangeShapeType="1"/>
              </p:cNvSpPr>
              <p:nvPr/>
            </p:nvSpPr>
            <p:spPr bwMode="auto">
              <a:xfrm flipH="1">
                <a:off x="1710" y="2962"/>
                <a:ext cx="272" cy="0"/>
              </a:xfrm>
              <a:prstGeom prst="line">
                <a:avLst/>
              </a:prstGeom>
              <a:noFill/>
              <a:ln w="57150">
                <a:solidFill>
                  <a:srgbClr val="800000"/>
                </a:solidFill>
                <a:round/>
              </a:ln>
            </p:spPr>
            <p:txBody>
              <a:bodyPr/>
              <a:lstStyle/>
              <a:p>
                <a:endParaRPr lang="zh-CN" altLang="en-US"/>
              </a:p>
            </p:txBody>
          </p:sp>
          <p:sp>
            <p:nvSpPr>
              <p:cNvPr id="34836" name="文本框 791689"/>
              <p:cNvSpPr txBox="1">
                <a:spLocks noChangeArrowheads="1"/>
              </p:cNvSpPr>
              <p:nvPr/>
            </p:nvSpPr>
            <p:spPr bwMode="auto">
              <a:xfrm>
                <a:off x="1980" y="2787"/>
                <a:ext cx="2944" cy="290"/>
              </a:xfrm>
              <a:prstGeom prst="rect">
                <a:avLst/>
              </a:prstGeom>
              <a:solidFill>
                <a:srgbClr val="CCFFCC"/>
              </a:solidFill>
              <a:ln w="19050">
                <a:solidFill>
                  <a:srgbClr val="FF0000"/>
                </a:solidFill>
                <a:miter lim="800000"/>
              </a:ln>
            </p:spPr>
            <p:txBody>
              <a:bodyPr wrap="square">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社会主义制度初步显示的优越性的影响</a:t>
                </a:r>
              </a:p>
            </p:txBody>
          </p:sp>
          <p:sp>
            <p:nvSpPr>
              <p:cNvPr id="34837" name="文本框 791690"/>
              <p:cNvSpPr txBox="1">
                <a:spLocks noChangeArrowheads="1"/>
              </p:cNvSpPr>
              <p:nvPr/>
            </p:nvSpPr>
            <p:spPr bwMode="auto">
              <a:xfrm>
                <a:off x="1980" y="2439"/>
                <a:ext cx="2936" cy="290"/>
              </a:xfrm>
              <a:prstGeom prst="rect">
                <a:avLst/>
              </a:prstGeom>
              <a:solidFill>
                <a:srgbClr val="CCFFCC"/>
              </a:solidFill>
              <a:ln w="19050">
                <a:solidFill>
                  <a:srgbClr val="FF0000"/>
                </a:solidFill>
                <a:miter lim="800000"/>
              </a:ln>
            </p:spPr>
            <p:txBody>
              <a:bodyPr wrap="square">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工人阶级争取自身权利和利益的斗争</a:t>
                </a:r>
              </a:p>
            </p:txBody>
          </p:sp>
          <p:sp>
            <p:nvSpPr>
              <p:cNvPr id="34838" name="文本框 791691"/>
              <p:cNvSpPr txBox="1">
                <a:spLocks noChangeArrowheads="1"/>
              </p:cNvSpPr>
              <p:nvPr/>
            </p:nvSpPr>
            <p:spPr bwMode="auto">
              <a:xfrm>
                <a:off x="1980" y="3136"/>
                <a:ext cx="2944" cy="290"/>
              </a:xfrm>
              <a:prstGeom prst="rect">
                <a:avLst/>
              </a:prstGeom>
              <a:solidFill>
                <a:srgbClr val="CCFFCC"/>
              </a:solidFill>
              <a:ln w="19050">
                <a:solidFill>
                  <a:srgbClr val="FF0000"/>
                </a:solidFill>
                <a:miter lim="800000"/>
              </a:ln>
            </p:spPr>
            <p:txBody>
              <a:bodyPr wrap="square">
                <a:spAutoFit/>
              </a:bodyPr>
              <a:lstStyle/>
              <a:p>
                <a:pPr eaLnBrk="1" hangingPunct="1">
                  <a:lnSpc>
                    <a:spcPct val="125000"/>
                  </a:lnSpc>
                  <a:spcBef>
                    <a:spcPct val="50000"/>
                  </a:spcBef>
                </a:pPr>
                <a:r>
                  <a:rPr lang="zh-CN" altLang="en-US" sz="2000">
                    <a:solidFill>
                      <a:srgbClr val="A50021"/>
                    </a:solidFill>
                    <a:latin typeface="楷体" panose="02010609060101010101" pitchFamily="49" charset="-122"/>
                    <a:ea typeface="楷体" panose="02010609060101010101" pitchFamily="49" charset="-122"/>
                  </a:rPr>
                  <a:t>改良主义政党的执政与改革</a:t>
                </a:r>
              </a:p>
            </p:txBody>
          </p:sp>
          <p:sp>
            <p:nvSpPr>
              <p:cNvPr id="34839" name="直接连接符 791692"/>
              <p:cNvSpPr>
                <a:spLocks noChangeShapeType="1"/>
              </p:cNvSpPr>
              <p:nvPr/>
            </p:nvSpPr>
            <p:spPr bwMode="auto">
              <a:xfrm flipH="1">
                <a:off x="1701" y="3158"/>
                <a:ext cx="272" cy="0"/>
              </a:xfrm>
              <a:prstGeom prst="line">
                <a:avLst/>
              </a:prstGeom>
              <a:noFill/>
              <a:ln w="57150">
                <a:solidFill>
                  <a:srgbClr val="800000"/>
                </a:solidFill>
                <a:round/>
              </a:ln>
            </p:spPr>
            <p:txBody>
              <a:bodyPr/>
              <a:lstStyle/>
              <a:p>
                <a:endParaRPr lang="zh-CN" altLang="en-US"/>
              </a:p>
            </p:txBody>
          </p:sp>
          <p:sp>
            <p:nvSpPr>
              <p:cNvPr id="34840" name="直接连接符 791693"/>
              <p:cNvSpPr>
                <a:spLocks noChangeShapeType="1"/>
              </p:cNvSpPr>
              <p:nvPr/>
            </p:nvSpPr>
            <p:spPr bwMode="auto">
              <a:xfrm flipH="1">
                <a:off x="1565" y="2614"/>
                <a:ext cx="136" cy="0"/>
              </a:xfrm>
              <a:prstGeom prst="line">
                <a:avLst/>
              </a:prstGeom>
              <a:noFill/>
              <a:ln w="57150">
                <a:solidFill>
                  <a:srgbClr val="800000"/>
                </a:solidFill>
                <a:round/>
              </a:ln>
            </p:spPr>
            <p:txBody>
              <a:bodyPr/>
              <a:lstStyle/>
              <a:p>
                <a:endParaRPr lang="zh-CN" altLang="en-US"/>
              </a:p>
            </p:txBody>
          </p:sp>
        </p:grpSp>
      </p:grpSp>
    </p:spTree>
    <p:extLst>
      <p:ext uri="{BB962C8B-B14F-4D97-AF65-F5344CB8AC3E}">
        <p14:creationId xmlns:p14="http://schemas.microsoft.com/office/powerpoint/2010/main" val="2473342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770050"/>
          <p:cNvSpPr>
            <a:spLocks noChangeArrowheads="1"/>
          </p:cNvSpPr>
          <p:nvPr/>
        </p:nvSpPr>
        <p:spPr bwMode="auto">
          <a:xfrm>
            <a:off x="250825" y="333375"/>
            <a:ext cx="8453438" cy="706755"/>
          </a:xfrm>
          <a:prstGeom prst="rect">
            <a:avLst/>
          </a:prstGeom>
          <a:noFill/>
          <a:ln w="38100">
            <a:noFill/>
            <a:miter lim="800000"/>
          </a:ln>
        </p:spPr>
        <p:txBody>
          <a:bodyPr>
            <a:spAutoFit/>
          </a:bodyPr>
          <a:lstStyle/>
          <a:p>
            <a:pPr>
              <a:lnSpc>
                <a:spcPct val="125000"/>
              </a:lnSpc>
              <a:spcBef>
                <a:spcPct val="50000"/>
              </a:spcBef>
            </a:pPr>
            <a:r>
              <a:rPr lang="zh-CN" altLang="en-US" sz="3200" noProof="1">
                <a:solidFill>
                  <a:schemeClr val="tx1"/>
                </a:solidFill>
                <a:latin typeface="幼圆" pitchFamily="49" charset="-122"/>
                <a:ea typeface="幼圆" pitchFamily="49" charset="-122"/>
              </a:rPr>
              <a:t>二、当代资本主义变化的新特征</a:t>
            </a:r>
          </a:p>
        </p:txBody>
      </p:sp>
      <p:grpSp>
        <p:nvGrpSpPr>
          <p:cNvPr id="41987" name="组合 717854"/>
          <p:cNvGrpSpPr/>
          <p:nvPr/>
        </p:nvGrpSpPr>
        <p:grpSpPr bwMode="auto">
          <a:xfrm>
            <a:off x="382270" y="2189798"/>
            <a:ext cx="6399790" cy="636587"/>
            <a:chOff x="1338" y="1109"/>
            <a:chExt cx="7602" cy="543"/>
          </a:xfrm>
        </p:grpSpPr>
        <p:sp>
          <p:nvSpPr>
            <p:cNvPr id="74765" name="圆角矩形 717855"/>
            <p:cNvSpPr>
              <a:spLocks noChangeArrowheads="1"/>
            </p:cNvSpPr>
            <p:nvPr/>
          </p:nvSpPr>
          <p:spPr bwMode="auto">
            <a:xfrm>
              <a:off x="1338" y="1109"/>
              <a:ext cx="7601"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6" name="文本框 717856"/>
            <p:cNvSpPr txBox="1">
              <a:spLocks noChangeArrowheads="1"/>
            </p:cNvSpPr>
            <p:nvPr/>
          </p:nvSpPr>
          <p:spPr bwMode="auto">
            <a:xfrm>
              <a:off x="1439" y="1122"/>
              <a:ext cx="7501" cy="472"/>
            </a:xfrm>
            <a:prstGeom prst="rect">
              <a:avLst/>
            </a:prstGeom>
            <a:noFill/>
            <a:ln w="9525">
              <a:noFill/>
              <a:miter lim="800000"/>
            </a:ln>
          </p:spPr>
          <p:txBody>
            <a:bodyPr wrap="square">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国际金融垄断资本主义影响日益显现</a:t>
              </a:r>
            </a:p>
          </p:txBody>
        </p:sp>
      </p:grpSp>
      <p:grpSp>
        <p:nvGrpSpPr>
          <p:cNvPr id="41988" name="组合 717854"/>
          <p:cNvGrpSpPr/>
          <p:nvPr/>
        </p:nvGrpSpPr>
        <p:grpSpPr bwMode="auto">
          <a:xfrm>
            <a:off x="382270" y="3141980"/>
            <a:ext cx="6399412" cy="638175"/>
            <a:chOff x="1338" y="1109"/>
            <a:chExt cx="6032" cy="543"/>
          </a:xfrm>
        </p:grpSpPr>
        <p:sp>
          <p:nvSpPr>
            <p:cNvPr id="74763" name="圆角矩形 717855"/>
            <p:cNvSpPr>
              <a:spLocks noChangeArrowheads="1"/>
            </p:cNvSpPr>
            <p:nvPr/>
          </p:nvSpPr>
          <p:spPr bwMode="auto">
            <a:xfrm>
              <a:off x="1338" y="1109"/>
              <a:ext cx="6032"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4" name="文本框 717856"/>
            <p:cNvSpPr txBox="1">
              <a:spLocks noChangeArrowheads="1"/>
            </p:cNvSpPr>
            <p:nvPr/>
          </p:nvSpPr>
          <p:spPr bwMode="auto">
            <a:xfrm>
              <a:off x="1439" y="1122"/>
              <a:ext cx="5656" cy="471"/>
            </a:xfrm>
            <a:prstGeom prst="rect">
              <a:avLst/>
            </a:prstGeom>
            <a:noFill/>
            <a:ln w="9525">
              <a:noFill/>
              <a:miter lim="800000"/>
            </a:ln>
          </p:spPr>
          <p:txBody>
            <a:bodyPr wrap="square">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社会阶级层级结构呈现复杂性、多样化</a:t>
              </a:r>
            </a:p>
          </p:txBody>
        </p:sp>
      </p:grpSp>
      <p:grpSp>
        <p:nvGrpSpPr>
          <p:cNvPr id="41990" name="组合 717854"/>
          <p:cNvGrpSpPr/>
          <p:nvPr/>
        </p:nvGrpSpPr>
        <p:grpSpPr bwMode="auto">
          <a:xfrm>
            <a:off x="382905" y="1253173"/>
            <a:ext cx="6398321" cy="638175"/>
            <a:chOff x="1338" y="1109"/>
            <a:chExt cx="7651" cy="543"/>
          </a:xfrm>
        </p:grpSpPr>
        <p:sp>
          <p:nvSpPr>
            <p:cNvPr id="74761" name="圆角矩形 717855"/>
            <p:cNvSpPr>
              <a:spLocks noChangeArrowheads="1"/>
            </p:cNvSpPr>
            <p:nvPr/>
          </p:nvSpPr>
          <p:spPr bwMode="auto">
            <a:xfrm>
              <a:off x="1338" y="1109"/>
              <a:ext cx="7651"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2" name="文本框 717856"/>
            <p:cNvSpPr txBox="1">
              <a:spLocks noChangeArrowheads="1"/>
            </p:cNvSpPr>
            <p:nvPr/>
          </p:nvSpPr>
          <p:spPr bwMode="auto">
            <a:xfrm>
              <a:off x="1439" y="1122"/>
              <a:ext cx="7547" cy="471"/>
            </a:xfrm>
            <a:prstGeom prst="rect">
              <a:avLst/>
            </a:prstGeom>
            <a:noFill/>
            <a:ln w="9525">
              <a:noFill/>
              <a:miter lim="800000"/>
            </a:ln>
          </p:spPr>
          <p:txBody>
            <a:bodyPr wrap="square">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科技创新加速资本主义生产方式变化</a:t>
              </a:r>
            </a:p>
          </p:txBody>
        </p:sp>
      </p:grpSp>
      <p:grpSp>
        <p:nvGrpSpPr>
          <p:cNvPr id="2" name="组合 717854"/>
          <p:cNvGrpSpPr/>
          <p:nvPr/>
        </p:nvGrpSpPr>
        <p:grpSpPr bwMode="auto">
          <a:xfrm>
            <a:off x="382270" y="4133850"/>
            <a:ext cx="8351487" cy="1101234"/>
            <a:chOff x="1338" y="1109"/>
            <a:chExt cx="7872" cy="937"/>
          </a:xfrm>
        </p:grpSpPr>
        <p:sp>
          <p:nvSpPr>
            <p:cNvPr id="3" name="圆角矩形 717855"/>
            <p:cNvSpPr>
              <a:spLocks noChangeArrowheads="1"/>
            </p:cNvSpPr>
            <p:nvPr>
              <p:custDataLst>
                <p:tags r:id="rId1"/>
              </p:custDataLst>
            </p:nvPr>
          </p:nvSpPr>
          <p:spPr bwMode="auto">
            <a:xfrm>
              <a:off x="1338" y="1109"/>
              <a:ext cx="7872" cy="937"/>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 name="文本框 717856"/>
            <p:cNvSpPr txBox="1">
              <a:spLocks noChangeArrowheads="1"/>
            </p:cNvSpPr>
            <p:nvPr>
              <p:custDataLst>
                <p:tags r:id="rId2"/>
              </p:custDataLst>
            </p:nvPr>
          </p:nvSpPr>
          <p:spPr bwMode="auto">
            <a:xfrm>
              <a:off x="1439" y="1122"/>
              <a:ext cx="7706" cy="863"/>
            </a:xfrm>
            <a:prstGeom prst="rect">
              <a:avLst/>
            </a:prstGeom>
            <a:noFill/>
            <a:ln w="9525">
              <a:noFill/>
              <a:miter lim="800000"/>
            </a:ln>
          </p:spPr>
          <p:txBody>
            <a:bodyPr wrap="square">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4 </a:t>
              </a:r>
              <a:r>
                <a:rPr lang="zh-CN" altLang="en-US">
                  <a:solidFill>
                    <a:schemeClr val="bg1"/>
                  </a:solidFill>
                  <a:latin typeface="楷体" panose="02010609060101010101" pitchFamily="49" charset="-122"/>
                  <a:ea typeface="楷体" panose="02010609060101010101" pitchFamily="49" charset="-122"/>
                </a:rPr>
                <a:t>发达资本主义国家啊凭借经济、科技、文化传播等超级优势，在世界范围内推行霸权主义和强权政治</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770050"/>
          <p:cNvSpPr>
            <a:spLocks noChangeArrowheads="1"/>
          </p:cNvSpPr>
          <p:nvPr/>
        </p:nvSpPr>
        <p:spPr bwMode="auto">
          <a:xfrm>
            <a:off x="250825" y="333375"/>
            <a:ext cx="8453438" cy="706755"/>
          </a:xfrm>
          <a:prstGeom prst="rect">
            <a:avLst/>
          </a:prstGeom>
          <a:noFill/>
          <a:ln w="38100">
            <a:noFill/>
            <a:miter lim="800000"/>
          </a:ln>
        </p:spPr>
        <p:txBody>
          <a:bodyPr>
            <a:spAutoFit/>
          </a:bodyPr>
          <a:lstStyle/>
          <a:p>
            <a:pPr>
              <a:lnSpc>
                <a:spcPct val="125000"/>
              </a:lnSpc>
              <a:spcBef>
                <a:spcPct val="50000"/>
              </a:spcBef>
            </a:pPr>
            <a:r>
              <a:rPr lang="zh-CN" altLang="en-US" sz="3200" noProof="1">
                <a:solidFill>
                  <a:schemeClr val="tx1"/>
                </a:solidFill>
                <a:latin typeface="幼圆" pitchFamily="49" charset="-122"/>
                <a:ea typeface="幼圆" pitchFamily="49" charset="-122"/>
              </a:rPr>
              <a:t>三、世界大变局下资本主义的矛盾与冲突</a:t>
            </a:r>
          </a:p>
        </p:txBody>
      </p:sp>
      <p:grpSp>
        <p:nvGrpSpPr>
          <p:cNvPr id="41987" name="组合 717854"/>
          <p:cNvGrpSpPr/>
          <p:nvPr/>
        </p:nvGrpSpPr>
        <p:grpSpPr bwMode="auto">
          <a:xfrm>
            <a:off x="4714875" y="3214688"/>
            <a:ext cx="3111500" cy="636587"/>
            <a:chOff x="1338" y="1109"/>
            <a:chExt cx="3696" cy="543"/>
          </a:xfrm>
        </p:grpSpPr>
        <p:sp>
          <p:nvSpPr>
            <p:cNvPr id="74765"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6" name="文本框 717856"/>
            <p:cNvSpPr txBox="1">
              <a:spLocks noChangeArrowheads="1"/>
            </p:cNvSpPr>
            <p:nvPr/>
          </p:nvSpPr>
          <p:spPr bwMode="auto">
            <a:xfrm>
              <a:off x="1439" y="1122"/>
              <a:ext cx="3552" cy="473"/>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政治体制失灵</a:t>
              </a:r>
              <a:endParaRPr lang="en-US" altLang="zh-CN">
                <a:solidFill>
                  <a:schemeClr val="bg1"/>
                </a:solidFill>
                <a:latin typeface="楷体" panose="02010609060101010101" pitchFamily="49" charset="-122"/>
                <a:ea typeface="楷体" panose="02010609060101010101" pitchFamily="49" charset="-122"/>
              </a:endParaRPr>
            </a:p>
          </p:txBody>
        </p:sp>
      </p:grpSp>
      <p:grpSp>
        <p:nvGrpSpPr>
          <p:cNvPr id="41988" name="组合 717854"/>
          <p:cNvGrpSpPr/>
          <p:nvPr/>
        </p:nvGrpSpPr>
        <p:grpSpPr bwMode="auto">
          <a:xfrm>
            <a:off x="4714875" y="4286250"/>
            <a:ext cx="3921125" cy="638175"/>
            <a:chOff x="1338" y="1109"/>
            <a:chExt cx="3696" cy="543"/>
          </a:xfrm>
        </p:grpSpPr>
        <p:sp>
          <p:nvSpPr>
            <p:cNvPr id="74763"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4" name="文本框 717856"/>
            <p:cNvSpPr txBox="1">
              <a:spLocks noChangeArrowheads="1"/>
            </p:cNvSpPr>
            <p:nvPr/>
          </p:nvSpPr>
          <p:spPr bwMode="auto">
            <a:xfrm>
              <a:off x="1439" y="1122"/>
              <a:ext cx="3552" cy="471"/>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社会融合机制失效</a:t>
              </a:r>
              <a:endParaRPr lang="en-US" altLang="zh-CN">
                <a:solidFill>
                  <a:schemeClr val="bg1"/>
                </a:solidFill>
                <a:latin typeface="楷体" panose="02010609060101010101" pitchFamily="49" charset="-122"/>
                <a:ea typeface="楷体" panose="02010609060101010101" pitchFamily="49" charset="-122"/>
              </a:endParaRPr>
            </a:p>
          </p:txBody>
        </p:sp>
      </p:grpSp>
      <p:sp>
        <p:nvSpPr>
          <p:cNvPr id="41989" name="圆角矩形 6"/>
          <p:cNvSpPr>
            <a:spLocks noChangeArrowheads="1"/>
          </p:cNvSpPr>
          <p:nvPr/>
        </p:nvSpPr>
        <p:spPr bwMode="auto">
          <a:xfrm>
            <a:off x="271780" y="1657350"/>
            <a:ext cx="4112895" cy="4082415"/>
          </a:xfrm>
          <a:prstGeom prst="roundRect">
            <a:avLst>
              <a:gd name="adj" fmla="val 16667"/>
            </a:avLst>
          </a:prstGeom>
          <a:solidFill>
            <a:srgbClr val="FFFFCC"/>
          </a:solidFill>
          <a:ln w="28575">
            <a:solidFill>
              <a:srgbClr val="FF00FF"/>
            </a:solidFill>
            <a:round/>
          </a:ln>
        </p:spPr>
        <p:txBody>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   </a:t>
            </a:r>
            <a:r>
              <a:rPr lang="zh-CN" altLang="en-US" sz="2000">
                <a:solidFill>
                  <a:srgbClr val="0000FF"/>
                </a:solidFill>
                <a:latin typeface="楷体" panose="02010609060101010101" pitchFamily="49" charset="-122"/>
                <a:ea typeface="楷体" panose="02010609060101010101" pitchFamily="49" charset="-122"/>
              </a:rPr>
              <a:t>当今世界正在经历一场百年未有之大变局，国际格局和国际体系深刻调整，全球治理体系深刻变革，国际力量对比正在发生近代以来最具革命性的变化，世界进入新的动荡变革期。</a:t>
            </a:r>
            <a:r>
              <a:rPr lang="zh-CN" altLang="en-US" sz="2000">
                <a:solidFill>
                  <a:srgbClr val="FF0000"/>
                </a:solidFill>
                <a:latin typeface="幼圆" pitchFamily="49" charset="-122"/>
                <a:ea typeface="幼圆" pitchFamily="49" charset="-122"/>
              </a:rPr>
              <a:t>资本主义社会问题加速积累，资本主义国家内部的矛盾和冲突日益明显。</a:t>
            </a:r>
            <a:endParaRPr lang="zh-CN" altLang="en-US" sz="2000">
              <a:solidFill>
                <a:srgbClr val="0000FF"/>
              </a:solidFill>
              <a:latin typeface="楷体" panose="02010609060101010101" pitchFamily="49" charset="-122"/>
              <a:ea typeface="楷体" panose="02010609060101010101" pitchFamily="49" charset="-122"/>
            </a:endParaRPr>
          </a:p>
        </p:txBody>
      </p:sp>
      <p:grpSp>
        <p:nvGrpSpPr>
          <p:cNvPr id="41990" name="组合 717854"/>
          <p:cNvGrpSpPr/>
          <p:nvPr/>
        </p:nvGrpSpPr>
        <p:grpSpPr bwMode="auto">
          <a:xfrm>
            <a:off x="4714875" y="2214563"/>
            <a:ext cx="3090863" cy="638175"/>
            <a:chOff x="1338" y="1109"/>
            <a:chExt cx="3696" cy="543"/>
          </a:xfrm>
        </p:grpSpPr>
        <p:sp>
          <p:nvSpPr>
            <p:cNvPr id="74761"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1992" name="文本框 717856"/>
            <p:cNvSpPr txBox="1">
              <a:spLocks noChangeArrowheads="1"/>
            </p:cNvSpPr>
            <p:nvPr/>
          </p:nvSpPr>
          <p:spPr bwMode="auto">
            <a:xfrm>
              <a:off x="1439" y="1122"/>
              <a:ext cx="3552" cy="471"/>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经济发展失调</a:t>
              </a:r>
              <a:endParaRPr lang="en-US" altLang="zh-CN">
                <a:solidFill>
                  <a:schemeClr val="bg1"/>
                </a:solidFill>
                <a:latin typeface="楷体" panose="02010609060101010101" pitchFamily="49" charset="-122"/>
                <a:ea typeface="楷体" panose="02010609060101010101" pitchFamily="49"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组合 717854"/>
          <p:cNvGrpSpPr/>
          <p:nvPr/>
        </p:nvGrpSpPr>
        <p:grpSpPr bwMode="auto">
          <a:xfrm>
            <a:off x="500063" y="571500"/>
            <a:ext cx="3090862" cy="585788"/>
            <a:chOff x="1338" y="1109"/>
            <a:chExt cx="3696" cy="543"/>
          </a:xfrm>
        </p:grpSpPr>
        <p:sp>
          <p:nvSpPr>
            <p:cNvPr id="75791"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3022" name="文本框 717856"/>
            <p:cNvSpPr txBox="1">
              <a:spLocks noChangeArrowheads="1"/>
            </p:cNvSpPr>
            <p:nvPr/>
          </p:nvSpPr>
          <p:spPr bwMode="auto">
            <a:xfrm>
              <a:off x="1439" y="1122"/>
              <a:ext cx="3552" cy="514"/>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经济发展失调</a:t>
              </a:r>
              <a:endParaRPr lang="en-US" altLang="zh-CN">
                <a:solidFill>
                  <a:schemeClr val="bg1"/>
                </a:solidFill>
                <a:latin typeface="楷体" panose="02010609060101010101" pitchFamily="49" charset="-122"/>
                <a:ea typeface="楷体" panose="02010609060101010101" pitchFamily="49" charset="-122"/>
              </a:endParaRPr>
            </a:p>
          </p:txBody>
        </p:sp>
      </p:grpSp>
      <p:grpSp>
        <p:nvGrpSpPr>
          <p:cNvPr id="43011" name="组合 2079"/>
          <p:cNvGrpSpPr/>
          <p:nvPr/>
        </p:nvGrpSpPr>
        <p:grpSpPr bwMode="auto">
          <a:xfrm>
            <a:off x="573088" y="3857625"/>
            <a:ext cx="4198937" cy="504825"/>
            <a:chOff x="0" y="0"/>
            <a:chExt cx="3696" cy="384"/>
          </a:xfrm>
        </p:grpSpPr>
        <p:sp>
          <p:nvSpPr>
            <p:cNvPr id="75789"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3020"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1</a:t>
              </a:r>
              <a:r>
                <a:rPr lang="zh-CN" altLang="en-US" sz="2000">
                  <a:solidFill>
                    <a:srgbClr val="0000FF"/>
                  </a:solidFill>
                  <a:latin typeface="楷体" panose="02010609060101010101" pitchFamily="49" charset="-122"/>
                  <a:ea typeface="楷体" panose="02010609060101010101" pitchFamily="49" charset="-122"/>
                </a:rPr>
                <a:t>）虚拟经济与实体经济发展失衡</a:t>
              </a:r>
            </a:p>
          </p:txBody>
        </p:sp>
      </p:grpSp>
      <p:grpSp>
        <p:nvGrpSpPr>
          <p:cNvPr id="43012" name="组合 2079"/>
          <p:cNvGrpSpPr/>
          <p:nvPr/>
        </p:nvGrpSpPr>
        <p:grpSpPr bwMode="auto">
          <a:xfrm>
            <a:off x="608013" y="4530725"/>
            <a:ext cx="4178300" cy="504825"/>
            <a:chOff x="0" y="0"/>
            <a:chExt cx="3696" cy="384"/>
          </a:xfrm>
        </p:grpSpPr>
        <p:sp>
          <p:nvSpPr>
            <p:cNvPr id="75787"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3018"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2</a:t>
              </a:r>
              <a:r>
                <a:rPr lang="zh-CN" altLang="en-US" sz="2000">
                  <a:solidFill>
                    <a:srgbClr val="0000FF"/>
                  </a:solidFill>
                  <a:latin typeface="楷体" panose="02010609060101010101" pitchFamily="49" charset="-122"/>
                  <a:ea typeface="楷体" panose="02010609060101010101" pitchFamily="49" charset="-122"/>
                </a:rPr>
                <a:t>）福利风险增加</a:t>
              </a:r>
            </a:p>
          </p:txBody>
        </p:sp>
      </p:grpSp>
      <p:grpSp>
        <p:nvGrpSpPr>
          <p:cNvPr id="43013" name="组合 2079"/>
          <p:cNvGrpSpPr/>
          <p:nvPr/>
        </p:nvGrpSpPr>
        <p:grpSpPr bwMode="auto">
          <a:xfrm>
            <a:off x="609600" y="5226050"/>
            <a:ext cx="4176713" cy="504825"/>
            <a:chOff x="0" y="0"/>
            <a:chExt cx="3696" cy="384"/>
          </a:xfrm>
        </p:grpSpPr>
        <p:sp>
          <p:nvSpPr>
            <p:cNvPr id="75785"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3016"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3</a:t>
              </a:r>
              <a:r>
                <a:rPr lang="zh-CN" altLang="en-US" sz="2000">
                  <a:solidFill>
                    <a:srgbClr val="0000FF"/>
                  </a:solidFill>
                  <a:latin typeface="楷体" panose="02010609060101010101" pitchFamily="49" charset="-122"/>
                  <a:ea typeface="楷体" panose="02010609060101010101" pitchFamily="49" charset="-122"/>
                </a:rPr>
                <a:t>）债务负担沉重</a:t>
              </a:r>
            </a:p>
          </p:txBody>
        </p:sp>
      </p:grpSp>
      <p:sp>
        <p:nvSpPr>
          <p:cNvPr id="43014" name="圆角矩形 6"/>
          <p:cNvSpPr>
            <a:spLocks noChangeArrowheads="1"/>
          </p:cNvSpPr>
          <p:nvPr/>
        </p:nvSpPr>
        <p:spPr bwMode="auto">
          <a:xfrm>
            <a:off x="500063" y="1643063"/>
            <a:ext cx="8001000" cy="1982787"/>
          </a:xfrm>
          <a:prstGeom prst="roundRect">
            <a:avLst>
              <a:gd name="adj" fmla="val 16667"/>
            </a:avLst>
          </a:prstGeom>
          <a:solidFill>
            <a:srgbClr val="FFFFCC"/>
          </a:solidFill>
          <a:ln w="28575">
            <a:solidFill>
              <a:srgbClr val="FF00FF"/>
            </a:solidFill>
            <a:round/>
          </a:ln>
        </p:spPr>
        <p:txBody>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    </a:t>
            </a:r>
            <a:r>
              <a:rPr lang="zh-CN" altLang="en-US" sz="2000">
                <a:solidFill>
                  <a:srgbClr val="0000FF"/>
                </a:solidFill>
                <a:latin typeface="楷体" panose="02010609060101010101" pitchFamily="49" charset="-122"/>
                <a:ea typeface="楷体" panose="02010609060101010101" pitchFamily="49" charset="-122"/>
              </a:rPr>
              <a:t>2008年国际金融危机之后，西方主要资本主义国家采取各种措施应对危机，虽暂时避免了金融秩序崩溃，但对推动经济复苏效果有限，经济发展仍然面临一系列问题，具体表现为：</a:t>
            </a:r>
            <a:endParaRPr lang="en-US" altLang="zh-CN" sz="2000">
              <a:solidFill>
                <a:srgbClr val="0000FF"/>
              </a:solidFill>
              <a:latin typeface="楷体" panose="02010609060101010101" pitchFamily="49" charset="-122"/>
              <a:ea typeface="楷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组合 717854"/>
          <p:cNvGrpSpPr/>
          <p:nvPr/>
        </p:nvGrpSpPr>
        <p:grpSpPr bwMode="auto">
          <a:xfrm>
            <a:off x="357188" y="357188"/>
            <a:ext cx="3111500" cy="636587"/>
            <a:chOff x="1338" y="1109"/>
            <a:chExt cx="3696" cy="543"/>
          </a:xfrm>
        </p:grpSpPr>
        <p:sp>
          <p:nvSpPr>
            <p:cNvPr id="76817"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4049" name="文本框 717856"/>
            <p:cNvSpPr txBox="1">
              <a:spLocks noChangeArrowheads="1"/>
            </p:cNvSpPr>
            <p:nvPr/>
          </p:nvSpPr>
          <p:spPr bwMode="auto">
            <a:xfrm>
              <a:off x="1439" y="1122"/>
              <a:ext cx="3552" cy="473"/>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政治体制失灵</a:t>
              </a:r>
              <a:endParaRPr lang="en-US" altLang="zh-CN">
                <a:solidFill>
                  <a:schemeClr val="bg1"/>
                </a:solidFill>
                <a:latin typeface="楷体" panose="02010609060101010101" pitchFamily="49" charset="-122"/>
                <a:ea typeface="楷体" panose="02010609060101010101" pitchFamily="49" charset="-122"/>
              </a:endParaRPr>
            </a:p>
          </p:txBody>
        </p:sp>
      </p:grpSp>
      <p:grpSp>
        <p:nvGrpSpPr>
          <p:cNvPr id="44035" name="组合 2079"/>
          <p:cNvGrpSpPr/>
          <p:nvPr/>
        </p:nvGrpSpPr>
        <p:grpSpPr bwMode="auto">
          <a:xfrm>
            <a:off x="338138" y="3176588"/>
            <a:ext cx="4876800" cy="504825"/>
            <a:chOff x="0" y="0"/>
            <a:chExt cx="3696" cy="384"/>
          </a:xfrm>
        </p:grpSpPr>
        <p:sp>
          <p:nvSpPr>
            <p:cNvPr id="76815"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4047"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1</a:t>
              </a:r>
              <a:r>
                <a:rPr lang="zh-CN" altLang="en-US" sz="2000">
                  <a:solidFill>
                    <a:srgbClr val="0000FF"/>
                  </a:solidFill>
                  <a:latin typeface="楷体" panose="02010609060101010101" pitchFamily="49" charset="-122"/>
                  <a:ea typeface="楷体" panose="02010609060101010101" pitchFamily="49" charset="-122"/>
                </a:rPr>
                <a:t>）西式选举往往难以选贤</a:t>
              </a:r>
            </a:p>
          </p:txBody>
        </p:sp>
      </p:grpSp>
      <p:grpSp>
        <p:nvGrpSpPr>
          <p:cNvPr id="44036" name="组合 2079"/>
          <p:cNvGrpSpPr/>
          <p:nvPr/>
        </p:nvGrpSpPr>
        <p:grpSpPr bwMode="auto">
          <a:xfrm>
            <a:off x="338138" y="4602163"/>
            <a:ext cx="4876800" cy="504825"/>
            <a:chOff x="0" y="0"/>
            <a:chExt cx="3696" cy="384"/>
          </a:xfrm>
        </p:grpSpPr>
        <p:sp>
          <p:nvSpPr>
            <p:cNvPr id="76813"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4045"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3</a:t>
              </a:r>
              <a:r>
                <a:rPr lang="zh-CN" altLang="en-US" sz="2000">
                  <a:solidFill>
                    <a:srgbClr val="0000FF"/>
                  </a:solidFill>
                  <a:latin typeface="楷体" panose="02010609060101010101" pitchFamily="49" charset="-122"/>
                  <a:ea typeface="楷体" panose="02010609060101010101" pitchFamily="49" charset="-122"/>
                </a:rPr>
                <a:t>）“民主陷阱”会阻碍国家治理</a:t>
              </a:r>
            </a:p>
          </p:txBody>
        </p:sp>
      </p:grpSp>
      <p:grpSp>
        <p:nvGrpSpPr>
          <p:cNvPr id="44037" name="组合 2079"/>
          <p:cNvGrpSpPr/>
          <p:nvPr/>
        </p:nvGrpSpPr>
        <p:grpSpPr bwMode="auto">
          <a:xfrm>
            <a:off x="346075" y="5238750"/>
            <a:ext cx="4868863" cy="504825"/>
            <a:chOff x="0" y="0"/>
            <a:chExt cx="3696" cy="384"/>
          </a:xfrm>
        </p:grpSpPr>
        <p:sp>
          <p:nvSpPr>
            <p:cNvPr id="76811"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4043"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4</a:t>
              </a:r>
              <a:r>
                <a:rPr lang="zh-CN" altLang="en-US" sz="2000">
                  <a:solidFill>
                    <a:srgbClr val="0000FF"/>
                  </a:solidFill>
                  <a:latin typeface="楷体" panose="02010609060101010101" pitchFamily="49" charset="-122"/>
                  <a:ea typeface="楷体" panose="02010609060101010101" pitchFamily="49" charset="-122"/>
                </a:rPr>
                <a:t>）传统精英政治走向衰落</a:t>
              </a:r>
            </a:p>
          </p:txBody>
        </p:sp>
      </p:grpSp>
      <p:sp>
        <p:nvSpPr>
          <p:cNvPr id="44038" name="圆角矩形 6"/>
          <p:cNvSpPr>
            <a:spLocks noChangeArrowheads="1"/>
          </p:cNvSpPr>
          <p:nvPr/>
        </p:nvSpPr>
        <p:spPr bwMode="auto">
          <a:xfrm>
            <a:off x="357188" y="1279525"/>
            <a:ext cx="8318500" cy="1501775"/>
          </a:xfrm>
          <a:prstGeom prst="roundRect">
            <a:avLst>
              <a:gd name="adj" fmla="val 16667"/>
            </a:avLst>
          </a:prstGeom>
          <a:solidFill>
            <a:srgbClr val="FFFFCC"/>
          </a:solidFill>
          <a:ln w="28575">
            <a:solidFill>
              <a:srgbClr val="FF00FF"/>
            </a:solidFill>
            <a:round/>
          </a:ln>
        </p:spPr>
        <p:txBody>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   </a:t>
            </a:r>
            <a:r>
              <a:rPr lang="zh-CN" sz="2000">
                <a:solidFill>
                  <a:srgbClr val="0000FF"/>
                </a:solidFill>
                <a:latin typeface="楷体" panose="02010609060101010101" pitchFamily="49" charset="-122"/>
                <a:ea typeface="楷体" panose="02010609060101010101" pitchFamily="49" charset="-122"/>
              </a:rPr>
              <a:t>长期以来，西方国家标榜民主并不遗余力地向外输出民主，但近年来移植西式民主的国家陷入动荡，西方国家本身也出现了某些治理危机，暴露出西式民主的弊端和局限</a:t>
            </a:r>
            <a:r>
              <a:rPr lang="zh-CN" altLang="en-US" sz="2000">
                <a:solidFill>
                  <a:srgbClr val="0000FF"/>
                </a:solidFill>
                <a:latin typeface="楷体" panose="02010609060101010101" pitchFamily="49" charset="-122"/>
                <a:ea typeface="楷体" panose="02010609060101010101" pitchFamily="49" charset="-122"/>
              </a:rPr>
              <a:t>：</a:t>
            </a:r>
            <a:endParaRPr lang="en-US" altLang="zh-CN" sz="2000">
              <a:solidFill>
                <a:srgbClr val="0000FF"/>
              </a:solidFill>
              <a:latin typeface="楷体" panose="02010609060101010101" pitchFamily="49" charset="-122"/>
              <a:ea typeface="楷体" panose="02010609060101010101" pitchFamily="49" charset="-122"/>
            </a:endParaRPr>
          </a:p>
        </p:txBody>
      </p:sp>
      <p:grpSp>
        <p:nvGrpSpPr>
          <p:cNvPr id="44039" name="组合 2079"/>
          <p:cNvGrpSpPr/>
          <p:nvPr/>
        </p:nvGrpSpPr>
        <p:grpSpPr bwMode="auto">
          <a:xfrm>
            <a:off x="338138" y="3903663"/>
            <a:ext cx="4876800" cy="504825"/>
            <a:chOff x="0" y="0"/>
            <a:chExt cx="3696" cy="384"/>
          </a:xfrm>
        </p:grpSpPr>
        <p:sp>
          <p:nvSpPr>
            <p:cNvPr id="76809"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4041"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2</a:t>
              </a:r>
              <a:r>
                <a:rPr lang="zh-CN" altLang="en-US" sz="2000">
                  <a:solidFill>
                    <a:srgbClr val="0000FF"/>
                  </a:solidFill>
                  <a:latin typeface="楷体" panose="02010609060101010101" pitchFamily="49" charset="-122"/>
                  <a:ea typeface="楷体" panose="02010609060101010101" pitchFamily="49" charset="-122"/>
                </a:rPr>
                <a:t>）政党利益可能凌驾于国家利益之上</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组合 717854"/>
          <p:cNvGrpSpPr/>
          <p:nvPr/>
        </p:nvGrpSpPr>
        <p:grpSpPr bwMode="auto">
          <a:xfrm>
            <a:off x="554038" y="731838"/>
            <a:ext cx="3921125" cy="638175"/>
            <a:chOff x="1338" y="1109"/>
            <a:chExt cx="3696" cy="543"/>
          </a:xfrm>
        </p:grpSpPr>
        <p:sp>
          <p:nvSpPr>
            <p:cNvPr id="77840" name="圆角矩形 717855"/>
            <p:cNvSpPr>
              <a:spLocks noChangeArrowheads="1"/>
            </p:cNvSpPr>
            <p:nvPr/>
          </p:nvSpPr>
          <p:spPr bwMode="auto">
            <a:xfrm>
              <a:off x="1338" y="1109"/>
              <a:ext cx="3696" cy="543"/>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5070" name="文本框 717856"/>
            <p:cNvSpPr txBox="1">
              <a:spLocks noChangeArrowheads="1"/>
            </p:cNvSpPr>
            <p:nvPr/>
          </p:nvSpPr>
          <p:spPr bwMode="auto">
            <a:xfrm>
              <a:off x="1439" y="1122"/>
              <a:ext cx="3552" cy="471"/>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3 </a:t>
              </a:r>
              <a:r>
                <a:rPr lang="zh-CN" altLang="en-US">
                  <a:solidFill>
                    <a:schemeClr val="bg1"/>
                  </a:solidFill>
                  <a:latin typeface="楷体" panose="02010609060101010101" pitchFamily="49" charset="-122"/>
                  <a:ea typeface="楷体" panose="02010609060101010101" pitchFamily="49" charset="-122"/>
                </a:rPr>
                <a:t>社会融合机制失效</a:t>
              </a:r>
              <a:endParaRPr lang="en-US" altLang="zh-CN">
                <a:solidFill>
                  <a:schemeClr val="bg1"/>
                </a:solidFill>
                <a:latin typeface="楷体" panose="02010609060101010101" pitchFamily="49" charset="-122"/>
                <a:ea typeface="楷体" panose="02010609060101010101" pitchFamily="49" charset="-122"/>
              </a:endParaRPr>
            </a:p>
          </p:txBody>
        </p:sp>
      </p:grpSp>
      <p:grpSp>
        <p:nvGrpSpPr>
          <p:cNvPr id="45059" name="组合 2079"/>
          <p:cNvGrpSpPr/>
          <p:nvPr/>
        </p:nvGrpSpPr>
        <p:grpSpPr bwMode="auto">
          <a:xfrm>
            <a:off x="500063" y="3214688"/>
            <a:ext cx="2757487" cy="504825"/>
            <a:chOff x="0" y="0"/>
            <a:chExt cx="3696" cy="384"/>
          </a:xfrm>
        </p:grpSpPr>
        <p:sp>
          <p:nvSpPr>
            <p:cNvPr id="77838"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5068"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1</a:t>
              </a:r>
              <a:r>
                <a:rPr lang="zh-CN" altLang="en-US" sz="2000">
                  <a:solidFill>
                    <a:srgbClr val="0000FF"/>
                  </a:solidFill>
                  <a:latin typeface="楷体" panose="02010609060101010101" pitchFamily="49" charset="-122"/>
                  <a:ea typeface="楷体" panose="02010609060101010101" pitchFamily="49" charset="-122"/>
                </a:rPr>
                <a:t>）社会极端思潮抬头</a:t>
              </a:r>
            </a:p>
          </p:txBody>
        </p:sp>
      </p:grpSp>
      <p:grpSp>
        <p:nvGrpSpPr>
          <p:cNvPr id="45060" name="组合 2079"/>
          <p:cNvGrpSpPr/>
          <p:nvPr/>
        </p:nvGrpSpPr>
        <p:grpSpPr bwMode="auto">
          <a:xfrm>
            <a:off x="500063" y="4071938"/>
            <a:ext cx="2752725" cy="504825"/>
            <a:chOff x="0" y="0"/>
            <a:chExt cx="3696" cy="384"/>
          </a:xfrm>
        </p:grpSpPr>
        <p:sp>
          <p:nvSpPr>
            <p:cNvPr id="77836"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5066"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2</a:t>
              </a:r>
              <a:r>
                <a:rPr lang="zh-CN" altLang="en-US" sz="2000">
                  <a:solidFill>
                    <a:srgbClr val="0000FF"/>
                  </a:solidFill>
                  <a:latin typeface="楷体" panose="02010609060101010101" pitchFamily="49" charset="-122"/>
                  <a:ea typeface="楷体" panose="02010609060101010101" pitchFamily="49" charset="-122"/>
                </a:rPr>
                <a:t>）社会流动性退化</a:t>
              </a:r>
            </a:p>
          </p:txBody>
        </p:sp>
      </p:grpSp>
      <p:grpSp>
        <p:nvGrpSpPr>
          <p:cNvPr id="45061" name="组合 2079"/>
          <p:cNvGrpSpPr/>
          <p:nvPr/>
        </p:nvGrpSpPr>
        <p:grpSpPr bwMode="auto">
          <a:xfrm>
            <a:off x="500063" y="4929188"/>
            <a:ext cx="2779712" cy="504825"/>
            <a:chOff x="0" y="0"/>
            <a:chExt cx="3696" cy="384"/>
          </a:xfrm>
        </p:grpSpPr>
        <p:sp>
          <p:nvSpPr>
            <p:cNvPr id="77834"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5064" name="文本框 2081"/>
            <p:cNvSpPr txBox="1">
              <a:spLocks noChangeArrowheads="1"/>
            </p:cNvSpPr>
            <p:nvPr/>
          </p:nvSpPr>
          <p:spPr bwMode="auto">
            <a:xfrm>
              <a:off x="100" y="13"/>
              <a:ext cx="3551" cy="362"/>
            </a:xfrm>
            <a:prstGeom prst="rect">
              <a:avLst/>
            </a:prstGeom>
            <a:solidFill>
              <a:srgbClr val="CCFFFF"/>
            </a:solidFill>
            <a:ln w="9525">
              <a:noFill/>
              <a:miter lim="800000"/>
            </a:ln>
          </p:spPr>
          <p:txBody>
            <a:bodyPr>
              <a:spAutoFit/>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3</a:t>
              </a:r>
              <a:r>
                <a:rPr lang="zh-CN" altLang="en-US" sz="2000">
                  <a:solidFill>
                    <a:srgbClr val="0000FF"/>
                  </a:solidFill>
                  <a:latin typeface="楷体" panose="02010609060101010101" pitchFamily="49" charset="-122"/>
                  <a:ea typeface="楷体" panose="02010609060101010101" pitchFamily="49" charset="-122"/>
                </a:rPr>
                <a:t>）社会矛盾激化</a:t>
              </a:r>
            </a:p>
          </p:txBody>
        </p:sp>
      </p:grpSp>
      <p:sp>
        <p:nvSpPr>
          <p:cNvPr id="45062" name="圆角矩形 6"/>
          <p:cNvSpPr>
            <a:spLocks noChangeArrowheads="1"/>
          </p:cNvSpPr>
          <p:nvPr/>
        </p:nvSpPr>
        <p:spPr bwMode="auto">
          <a:xfrm>
            <a:off x="500063" y="1643063"/>
            <a:ext cx="7643812" cy="1320800"/>
          </a:xfrm>
          <a:prstGeom prst="roundRect">
            <a:avLst>
              <a:gd name="adj" fmla="val 16667"/>
            </a:avLst>
          </a:prstGeom>
          <a:solidFill>
            <a:srgbClr val="FFFFCC"/>
          </a:solidFill>
          <a:ln w="28575">
            <a:solidFill>
              <a:srgbClr val="FF00FF"/>
            </a:solidFill>
            <a:round/>
          </a:ln>
        </p:spPr>
        <p:txBody>
          <a:bodyPr/>
          <a:lstStyle/>
          <a:p>
            <a:pPr eaLnBrk="1" hangingPunct="1">
              <a:lnSpc>
                <a:spcPct val="125000"/>
              </a:lnSpc>
              <a:spcBef>
                <a:spcPct val="50000"/>
              </a:spcBef>
            </a:pPr>
            <a:r>
              <a:rPr lang="en-US" altLang="zh-CN" sz="2000">
                <a:solidFill>
                  <a:srgbClr val="0000FF"/>
                </a:solidFill>
                <a:latin typeface="楷体" panose="02010609060101010101" pitchFamily="49" charset="-122"/>
                <a:ea typeface="楷体" panose="02010609060101010101" pitchFamily="49" charset="-122"/>
              </a:rPr>
              <a:t>   </a:t>
            </a:r>
            <a:r>
              <a:rPr lang="zh-CN" sz="2000">
                <a:solidFill>
                  <a:srgbClr val="0000FF"/>
                </a:solidFill>
                <a:latin typeface="楷体" panose="02010609060101010101" pitchFamily="49" charset="-122"/>
                <a:ea typeface="楷体" panose="02010609060101010101" pitchFamily="49" charset="-122"/>
              </a:rPr>
              <a:t>近年来，西方社会不断出现不同群体、阶层的矛盾与冲突，甚至社会动荡。</a:t>
            </a:r>
            <a:endParaRPr lang="en-US" altLang="zh-CN" sz="2000">
              <a:solidFill>
                <a:srgbClr val="0000FF"/>
              </a:solidFill>
              <a:latin typeface="楷体" panose="02010609060101010101" pitchFamily="49" charset="-122"/>
              <a:ea typeface="楷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781313"/>
          <p:cNvSpPr>
            <a:spLocks noChangeArrowheads="1" noChangeShapeType="1" noTextEdit="1"/>
          </p:cNvSpPr>
          <p:nvPr/>
        </p:nvSpPr>
        <p:spPr bwMode="auto">
          <a:xfrm>
            <a:off x="900113" y="333375"/>
            <a:ext cx="7345362" cy="1655763"/>
          </a:xfrm>
          <a:prstGeom prst="rect">
            <a:avLst/>
          </a:prstGeom>
        </p:spPr>
        <p:txBody>
          <a:bodyPr wrap="none" fromWordArt="1">
            <a:prstTxWarp prst="textDeflate">
              <a:avLst>
                <a:gd name="adj" fmla="val 26259"/>
              </a:avLst>
            </a:prstTxWarp>
          </a:bodyPr>
          <a:lstStyle/>
          <a:p>
            <a:pPr algn="ctr"/>
            <a:r>
              <a:rPr lang="zh-CN" altLang="en-US" sz="5400" kern="10">
                <a:ln w="0">
                  <a:solidFill>
                    <a:srgbClr val="000080"/>
                  </a:solidFill>
                  <a:round/>
                </a:ln>
                <a:solidFill>
                  <a:srgbClr val="FF0000"/>
                </a:solidFill>
                <a:latin typeface="华文隶书"/>
                <a:ea typeface="华文隶书"/>
              </a:rPr>
              <a:t>第三节 资本主义的历史地位和发展趋势</a:t>
            </a:r>
          </a:p>
        </p:txBody>
      </p:sp>
      <p:sp>
        <p:nvSpPr>
          <p:cNvPr id="46084" name="矩形 781315"/>
          <p:cNvSpPr>
            <a:spLocks noChangeArrowheads="1"/>
          </p:cNvSpPr>
          <p:nvPr/>
        </p:nvSpPr>
        <p:spPr bwMode="auto">
          <a:xfrm>
            <a:off x="827405" y="3068955"/>
            <a:ext cx="7426960" cy="1383665"/>
          </a:xfrm>
          <a:prstGeom prst="rect">
            <a:avLst/>
          </a:prstGeom>
          <a:noFill/>
          <a:ln w="9525">
            <a:noFill/>
            <a:miter lim="800000"/>
          </a:ln>
        </p:spPr>
        <p:txBody>
          <a:bodyPr wrap="square">
            <a:spAutoFit/>
          </a:bodyPr>
          <a:lstStyle/>
          <a:p>
            <a:pPr eaLnBrk="1" hangingPunct="1">
              <a:lnSpc>
                <a:spcPct val="125000"/>
              </a:lnSpc>
              <a:spcBef>
                <a:spcPct val="50000"/>
              </a:spcBef>
            </a:pPr>
            <a:r>
              <a:rPr lang="zh-CN" altLang="en-US" sz="2800" noProof="1">
                <a:solidFill>
                  <a:srgbClr val="000000"/>
                </a:solidFill>
                <a:ea typeface="幼圆" pitchFamily="49" charset="-122"/>
              </a:rPr>
              <a:t>一、资本主义的历史地位</a:t>
            </a:r>
          </a:p>
          <a:p>
            <a:pPr eaLnBrk="1" hangingPunct="1">
              <a:lnSpc>
                <a:spcPct val="125000"/>
              </a:lnSpc>
              <a:spcBef>
                <a:spcPct val="50000"/>
              </a:spcBef>
            </a:pPr>
            <a:r>
              <a:rPr lang="zh-CN" altLang="en-US" sz="2800" noProof="1">
                <a:solidFill>
                  <a:srgbClr val="000000"/>
                </a:solidFill>
                <a:ea typeface="幼圆" pitchFamily="49" charset="-122"/>
              </a:rPr>
              <a:t>二、资本主义为社会主义所代替的历史必然性</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804866"/>
          <p:cNvSpPr>
            <a:spLocks noChangeArrowheads="1"/>
          </p:cNvSpPr>
          <p:nvPr/>
        </p:nvSpPr>
        <p:spPr bwMode="auto">
          <a:xfrm>
            <a:off x="395605" y="3246438"/>
            <a:ext cx="7869555" cy="937260"/>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0000FF"/>
                </a:solidFill>
                <a:latin typeface="楷体" panose="02010609060101010101" pitchFamily="49" charset="-122"/>
                <a:ea typeface="楷体" panose="02010609060101010101" pitchFamily="49" charset="-122"/>
              </a:rPr>
              <a:t>- </a:t>
            </a:r>
            <a:r>
              <a:rPr lang="zh-CN" altLang="en-US" sz="2200">
                <a:solidFill>
                  <a:srgbClr val="0000FF"/>
                </a:solidFill>
                <a:latin typeface="楷体" panose="02010609060101010101" pitchFamily="49" charset="-122"/>
                <a:ea typeface="楷体" panose="02010609060101010101" pitchFamily="49" charset="-122"/>
              </a:rPr>
              <a:t>资本追求剩余价值的内在动力和竞争的外在压力推动了社会生产力的迅速发展</a:t>
            </a:r>
          </a:p>
        </p:txBody>
      </p:sp>
      <p:sp>
        <p:nvSpPr>
          <p:cNvPr id="80899" name="矩形 804867"/>
          <p:cNvSpPr>
            <a:spLocks noChangeArrowheads="1"/>
          </p:cNvSpPr>
          <p:nvPr/>
        </p:nvSpPr>
        <p:spPr bwMode="auto">
          <a:xfrm>
            <a:off x="395605" y="4407218"/>
            <a:ext cx="7880985" cy="1783715"/>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0000FF"/>
                </a:solidFill>
                <a:latin typeface="楷体" panose="02010609060101010101" pitchFamily="49" charset="-122"/>
                <a:ea typeface="楷体" panose="02010609060101010101" pitchFamily="49" charset="-122"/>
              </a:rPr>
              <a:t>- </a:t>
            </a:r>
            <a:r>
              <a:rPr lang="zh-CN" altLang="en-US" sz="2200">
                <a:solidFill>
                  <a:srgbClr val="0000FF"/>
                </a:solidFill>
                <a:latin typeface="楷体" panose="02010609060101010101" pitchFamily="49" charset="-122"/>
                <a:ea typeface="楷体" panose="02010609060101010101" pitchFamily="49" charset="-122"/>
              </a:rPr>
              <a:t>资本主义的意识形态和政治制度作为上层建筑在战胜封建社会自给自足的小生产的生产方式，保护、促进和完善资本主义生产方式方面起着重要作用，从而推动了社会生产力的迅速发展，促进了社会进步</a:t>
            </a:r>
            <a:r>
              <a:rPr lang="zh-CN" altLang="en-US" sz="2200">
                <a:solidFill>
                  <a:srgbClr val="0000FF"/>
                </a:solidFill>
                <a:latin typeface="楷体_GB2312" pitchFamily="49" charset="-122"/>
              </a:rPr>
              <a:t>。</a:t>
            </a:r>
          </a:p>
        </p:txBody>
      </p:sp>
      <p:sp>
        <p:nvSpPr>
          <p:cNvPr id="80900" name="矩形 804872"/>
          <p:cNvSpPr>
            <a:spLocks noChangeArrowheads="1"/>
          </p:cNvSpPr>
          <p:nvPr/>
        </p:nvSpPr>
        <p:spPr bwMode="auto">
          <a:xfrm>
            <a:off x="395605" y="2367915"/>
            <a:ext cx="7880985" cy="514350"/>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0000FF"/>
                </a:solidFill>
                <a:latin typeface="楷体" panose="02010609060101010101" pitchFamily="49" charset="-122"/>
                <a:ea typeface="楷体" panose="02010609060101010101" pitchFamily="49" charset="-122"/>
              </a:rPr>
              <a:t>- </a:t>
            </a:r>
            <a:r>
              <a:rPr lang="zh-CN" altLang="en-US" sz="2200">
                <a:solidFill>
                  <a:srgbClr val="0000FF"/>
                </a:solidFill>
                <a:latin typeface="楷体" panose="02010609060101010101" pitchFamily="49" charset="-122"/>
                <a:ea typeface="楷体" panose="02010609060101010101" pitchFamily="49" charset="-122"/>
              </a:rPr>
              <a:t>资本主义将科学技术转变为强大的生产力</a:t>
            </a:r>
          </a:p>
        </p:txBody>
      </p:sp>
      <p:grpSp>
        <p:nvGrpSpPr>
          <p:cNvPr id="48134" name="组合 804875"/>
          <p:cNvGrpSpPr/>
          <p:nvPr/>
        </p:nvGrpSpPr>
        <p:grpSpPr bwMode="auto">
          <a:xfrm>
            <a:off x="395288" y="1485265"/>
            <a:ext cx="4537075" cy="647700"/>
            <a:chOff x="1338" y="1109"/>
            <a:chExt cx="3696" cy="384"/>
          </a:xfrm>
        </p:grpSpPr>
        <p:sp>
          <p:nvSpPr>
            <p:cNvPr id="80904" name="圆角矩形 80487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8137" name="文本框 804877"/>
            <p:cNvSpPr txBox="1">
              <a:spLocks noChangeArrowheads="1"/>
            </p:cNvSpPr>
            <p:nvPr/>
          </p:nvSpPr>
          <p:spPr bwMode="auto">
            <a:xfrm>
              <a:off x="1439" y="1122"/>
              <a:ext cx="3553"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1 </a:t>
              </a:r>
              <a:r>
                <a:rPr lang="zh-CN" altLang="en-US">
                  <a:solidFill>
                    <a:schemeClr val="bg1"/>
                  </a:solidFill>
                  <a:latin typeface="楷体" panose="02010609060101010101" pitchFamily="49" charset="-122"/>
                  <a:ea typeface="楷体" panose="02010609060101010101" pitchFamily="49" charset="-122"/>
                </a:rPr>
                <a:t>资本主义巨大的历史进步性</a:t>
              </a:r>
            </a:p>
          </p:txBody>
        </p:sp>
      </p:grpSp>
      <p:sp>
        <p:nvSpPr>
          <p:cNvPr id="47106" name="矩形 782339"/>
          <p:cNvSpPr>
            <a:spLocks noChangeArrowheads="1"/>
          </p:cNvSpPr>
          <p:nvPr>
            <p:custDataLst>
              <p:tags r:id="rId1"/>
            </p:custDataLst>
          </p:nvPr>
        </p:nvSpPr>
        <p:spPr bwMode="auto">
          <a:xfrm>
            <a:off x="395605" y="476885"/>
            <a:ext cx="4846320" cy="706755"/>
          </a:xfrm>
          <a:prstGeom prst="rect">
            <a:avLst/>
          </a:prstGeom>
          <a:noFill/>
          <a:ln w="38100">
            <a:noFill/>
            <a:miter lim="800000"/>
          </a:ln>
        </p:spPr>
        <p:txBody>
          <a:bodyPr wrap="square">
            <a:spAutoFit/>
          </a:bodyPr>
          <a:lstStyle/>
          <a:p>
            <a:pPr>
              <a:lnSpc>
                <a:spcPct val="125000"/>
              </a:lnSpc>
              <a:spcBef>
                <a:spcPct val="50000"/>
              </a:spcBef>
            </a:pPr>
            <a:r>
              <a:rPr lang="zh-CN" altLang="en-US" sz="3200" noProof="1">
                <a:solidFill>
                  <a:schemeClr val="tx1"/>
                </a:solidFill>
                <a:latin typeface="幼圆" pitchFamily="49" charset="-122"/>
                <a:ea typeface="幼圆" pitchFamily="49" charset="-122"/>
              </a:rPr>
              <a:t>一、资本主义的历史地位</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788485"/>
          <p:cNvSpPr>
            <a:spLocks noChangeArrowheads="1"/>
          </p:cNvSpPr>
          <p:nvPr/>
        </p:nvSpPr>
        <p:spPr bwMode="auto">
          <a:xfrm>
            <a:off x="214313" y="1618933"/>
            <a:ext cx="8572500" cy="3241675"/>
          </a:xfrm>
          <a:prstGeom prst="rect">
            <a:avLst/>
          </a:prstGeom>
          <a:solidFill>
            <a:srgbClr val="D9F2AC"/>
          </a:solidFill>
          <a:ln w="9525">
            <a:solidFill>
              <a:srgbClr val="FF9900"/>
            </a:solidFill>
            <a:miter lim="800000"/>
          </a:ln>
        </p:spPr>
        <p:txBody>
          <a:bodyPr/>
          <a:lstStyle/>
          <a:p>
            <a:pPr eaLnBrk="1" hangingPunct="1">
              <a:lnSpc>
                <a:spcPct val="125000"/>
              </a:lnSpc>
              <a:spcBef>
                <a:spcPct val="50000"/>
              </a:spcBef>
            </a:pP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资本主义基本矛盾阻碍社会生产力的发展</a:t>
            </a:r>
          </a:p>
          <a:p>
            <a:pPr eaLnBrk="1" hangingPunct="1">
              <a:lnSpc>
                <a:spcPct val="125000"/>
              </a:lnSpc>
              <a:spcBef>
                <a:spcPct val="50000"/>
              </a:spcBef>
            </a:pP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资本主义制度下财富占有两极分化，引发经济危机</a:t>
            </a:r>
          </a:p>
          <a:p>
            <a:pPr eaLnBrk="1" hangingPunct="1">
              <a:lnSpc>
                <a:spcPct val="125000"/>
              </a:lnSpc>
              <a:spcBef>
                <a:spcPct val="50000"/>
              </a:spcBef>
            </a:pPr>
            <a:r>
              <a:rPr lang="en-US" altLang="zh-CN">
                <a:solidFill>
                  <a:srgbClr val="990000"/>
                </a:solidFill>
                <a:latin typeface="楷体" panose="02010609060101010101" pitchFamily="49" charset="-122"/>
                <a:ea typeface="楷体" panose="02010609060101010101" pitchFamily="49" charset="-122"/>
              </a:rPr>
              <a:t>- </a:t>
            </a:r>
            <a:r>
              <a:rPr lang="zh-CN" altLang="en-US">
                <a:solidFill>
                  <a:srgbClr val="990000"/>
                </a:solidFill>
                <a:latin typeface="楷体" panose="02010609060101010101" pitchFamily="49" charset="-122"/>
                <a:ea typeface="楷体" panose="02010609060101010101" pitchFamily="49" charset="-122"/>
              </a:rPr>
              <a:t>资本家阶级支配和控制资本主义经济和政治的发展和运行，不断激化社会矛盾和冲突。</a:t>
            </a:r>
          </a:p>
        </p:txBody>
      </p:sp>
      <p:sp>
        <p:nvSpPr>
          <p:cNvPr id="81923" name="矩形 788486"/>
          <p:cNvSpPr>
            <a:spLocks noChangeArrowheads="1"/>
          </p:cNvSpPr>
          <p:nvPr/>
        </p:nvSpPr>
        <p:spPr bwMode="auto">
          <a:xfrm>
            <a:off x="214313" y="5500688"/>
            <a:ext cx="8572500" cy="982662"/>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en-US" altLang="zh-CN">
                <a:solidFill>
                  <a:srgbClr val="3333FF"/>
                </a:solidFill>
                <a:latin typeface="幼圆" pitchFamily="49" charset="-122"/>
                <a:ea typeface="幼圆" pitchFamily="49" charset="-122"/>
              </a:rPr>
              <a:t>   </a:t>
            </a:r>
            <a:r>
              <a:rPr lang="zh-CN" altLang="en-US" sz="1800">
                <a:solidFill>
                  <a:srgbClr val="3333FF"/>
                </a:solidFill>
                <a:latin typeface="幼圆" pitchFamily="49" charset="-122"/>
                <a:ea typeface="幼圆" pitchFamily="49" charset="-122"/>
              </a:rPr>
              <a:t>这些局限性在资本主义生产方式范围内是不可能根本消除的，它决定了资本主义生产方式的历史过渡性。</a:t>
            </a:r>
          </a:p>
        </p:txBody>
      </p:sp>
      <p:grpSp>
        <p:nvGrpSpPr>
          <p:cNvPr id="49157" name="组合 788496"/>
          <p:cNvGrpSpPr/>
          <p:nvPr/>
        </p:nvGrpSpPr>
        <p:grpSpPr bwMode="auto">
          <a:xfrm>
            <a:off x="179388" y="404813"/>
            <a:ext cx="3744912" cy="647700"/>
            <a:chOff x="1338" y="1109"/>
            <a:chExt cx="3696" cy="384"/>
          </a:xfrm>
        </p:grpSpPr>
        <p:sp>
          <p:nvSpPr>
            <p:cNvPr id="81928" name="圆角矩形 788497"/>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ln>
            <a:effectLst>
              <a:outerShdw dist="53882" dir="2700000" algn="ctr" rotWithShape="0">
                <a:srgbClr val="000000">
                  <a:alpha val="50000"/>
                </a:srgbClr>
              </a:outerShdw>
            </a:effectLst>
          </p:spPr>
          <p:txBody>
            <a:bodyPr/>
            <a:lstStyle/>
            <a:p>
              <a:pPr eaLnBrk="1" hangingPunct="1">
                <a:spcBef>
                  <a:spcPct val="50000"/>
                </a:spcBef>
                <a:defRPr/>
              </a:pPr>
              <a:endParaRPr lang="zh-CN" altLang="en-US"/>
            </a:p>
          </p:txBody>
        </p:sp>
        <p:sp>
          <p:nvSpPr>
            <p:cNvPr id="49159" name="文本框 788498"/>
            <p:cNvSpPr txBox="1">
              <a:spLocks noChangeArrowheads="1"/>
            </p:cNvSpPr>
            <p:nvPr/>
          </p:nvSpPr>
          <p:spPr bwMode="auto">
            <a:xfrm>
              <a:off x="1438" y="1122"/>
              <a:ext cx="3554" cy="328"/>
            </a:xfrm>
            <a:prstGeom prst="rect">
              <a:avLst/>
            </a:prstGeom>
            <a:noFill/>
            <a:ln w="9525">
              <a:noFill/>
              <a:miter lim="800000"/>
            </a:ln>
          </p:spPr>
          <p:txBody>
            <a:bodyPr>
              <a:spAutoFit/>
            </a:bodyPr>
            <a:lstStyle/>
            <a:p>
              <a:pPr eaLnBrk="1" hangingPunct="1">
                <a:lnSpc>
                  <a:spcPct val="125000"/>
                </a:lnSpc>
                <a:spcBef>
                  <a:spcPct val="50000"/>
                </a:spcBef>
              </a:pPr>
              <a:r>
                <a:rPr lang="en-US" altLang="zh-CN">
                  <a:solidFill>
                    <a:schemeClr val="bg1"/>
                  </a:solidFill>
                  <a:latin typeface="楷体" panose="02010609060101010101" pitchFamily="49" charset="-122"/>
                  <a:ea typeface="楷体" panose="02010609060101010101" pitchFamily="49" charset="-122"/>
                </a:rPr>
                <a:t>2 </a:t>
              </a:r>
              <a:r>
                <a:rPr lang="zh-CN" altLang="en-US">
                  <a:solidFill>
                    <a:schemeClr val="bg1"/>
                  </a:solidFill>
                  <a:latin typeface="楷体" panose="02010609060101010101" pitchFamily="49" charset="-122"/>
                  <a:ea typeface="楷体" panose="02010609060101010101" pitchFamily="49" charset="-122"/>
                </a:rPr>
                <a:t>资本主义的自身局限性</a:t>
              </a:r>
            </a:p>
          </p:txBody>
        </p:sp>
      </p:gr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784387"/>
          <p:cNvSpPr>
            <a:spLocks noChangeArrowheads="1"/>
          </p:cNvSpPr>
          <p:nvPr/>
        </p:nvSpPr>
        <p:spPr bwMode="auto">
          <a:xfrm>
            <a:off x="285750" y="2214563"/>
            <a:ext cx="8358188" cy="553085"/>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资本主义的内在矛盾决定了资本主义必然被社会主义所代替</a:t>
            </a:r>
            <a:endParaRPr lang="zh-CN" altLang="en-US">
              <a:latin typeface="黑体" panose="02010609060101010101" pitchFamily="49" charset="-122"/>
              <a:ea typeface="黑体" panose="02010609060101010101" pitchFamily="49" charset="-122"/>
            </a:endParaRPr>
          </a:p>
        </p:txBody>
      </p:sp>
      <p:sp>
        <p:nvSpPr>
          <p:cNvPr id="83971" name="矩形 784388"/>
          <p:cNvSpPr>
            <a:spLocks noChangeArrowheads="1"/>
          </p:cNvSpPr>
          <p:nvPr/>
        </p:nvSpPr>
        <p:spPr bwMode="auto">
          <a:xfrm>
            <a:off x="286385" y="2997359"/>
            <a:ext cx="8358188" cy="51435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200" dirty="0">
                <a:solidFill>
                  <a:srgbClr val="990000"/>
                </a:solidFill>
                <a:latin typeface="楷体" panose="02010609060101010101" pitchFamily="49" charset="-122"/>
                <a:ea typeface="楷体" panose="02010609060101010101" pitchFamily="49" charset="-122"/>
              </a:rPr>
              <a:t>- </a:t>
            </a:r>
            <a:r>
              <a:rPr lang="zh-CN" altLang="en-US" sz="2200" dirty="0">
                <a:solidFill>
                  <a:srgbClr val="990000"/>
                </a:solidFill>
                <a:latin typeface="楷体" panose="02010609060101010101" pitchFamily="49" charset="-122"/>
                <a:ea typeface="楷体" panose="02010609060101010101" pitchFamily="49" charset="-122"/>
              </a:rPr>
              <a:t>资本主义基本矛盾“包含着现代的一切冲突的萌芽”</a:t>
            </a:r>
          </a:p>
        </p:txBody>
      </p:sp>
      <p:sp>
        <p:nvSpPr>
          <p:cNvPr id="83972" name="矩形 784389"/>
          <p:cNvSpPr>
            <a:spLocks noChangeArrowheads="1"/>
          </p:cNvSpPr>
          <p:nvPr/>
        </p:nvSpPr>
        <p:spPr bwMode="auto">
          <a:xfrm>
            <a:off x="285750" y="3644106"/>
            <a:ext cx="8358188" cy="93726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200" dirty="0">
                <a:solidFill>
                  <a:srgbClr val="990000"/>
                </a:solidFill>
                <a:latin typeface="楷体" panose="02010609060101010101" pitchFamily="49" charset="-122"/>
                <a:ea typeface="楷体" panose="02010609060101010101" pitchFamily="49" charset="-122"/>
              </a:rPr>
              <a:t>- </a:t>
            </a:r>
            <a:r>
              <a:rPr lang="zh-CN" altLang="en-US" sz="2200" dirty="0">
                <a:solidFill>
                  <a:srgbClr val="990000"/>
                </a:solidFill>
                <a:latin typeface="楷体" panose="02010609060101010101" pitchFamily="49" charset="-122"/>
                <a:ea typeface="楷体" panose="02010609060101010101" pitchFamily="49" charset="-122"/>
              </a:rPr>
              <a:t>资本积累推动资本主义基本矛盾不断激化并最终否定资本主义自身</a:t>
            </a:r>
          </a:p>
        </p:txBody>
      </p:sp>
      <p:sp>
        <p:nvSpPr>
          <p:cNvPr id="83973" name="矩形 784390"/>
          <p:cNvSpPr>
            <a:spLocks noChangeArrowheads="1"/>
          </p:cNvSpPr>
          <p:nvPr/>
        </p:nvSpPr>
        <p:spPr bwMode="auto">
          <a:xfrm>
            <a:off x="286385" y="4651534"/>
            <a:ext cx="8389938" cy="93726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200" dirty="0">
                <a:solidFill>
                  <a:srgbClr val="990000"/>
                </a:solidFill>
                <a:latin typeface="楷体" panose="02010609060101010101" pitchFamily="49" charset="-122"/>
                <a:ea typeface="楷体" panose="02010609060101010101" pitchFamily="49" charset="-122"/>
              </a:rPr>
              <a:t>- </a:t>
            </a:r>
            <a:r>
              <a:rPr lang="zh-CN" altLang="en-US" sz="2200" dirty="0">
                <a:solidFill>
                  <a:srgbClr val="990000"/>
                </a:solidFill>
                <a:latin typeface="楷体" panose="02010609060101010101" pitchFamily="49" charset="-122"/>
                <a:ea typeface="楷体" panose="02010609060101010101" pitchFamily="49" charset="-122"/>
              </a:rPr>
              <a:t>国家垄断资本主义是资本社会化的更高形式，将成为社会主义的前奏</a:t>
            </a:r>
          </a:p>
        </p:txBody>
      </p:sp>
      <p:sp>
        <p:nvSpPr>
          <p:cNvPr id="83974" name="矩形 784391"/>
          <p:cNvSpPr>
            <a:spLocks noChangeArrowheads="1"/>
          </p:cNvSpPr>
          <p:nvPr/>
        </p:nvSpPr>
        <p:spPr bwMode="auto">
          <a:xfrm>
            <a:off x="286385" y="5733257"/>
            <a:ext cx="8389938" cy="937260"/>
          </a:xfrm>
          <a:prstGeom prst="rect">
            <a:avLst/>
          </a:prstGeom>
          <a:solidFill>
            <a:srgbClr val="FFFF99"/>
          </a:solidFill>
          <a:ln w="9525">
            <a:noFill/>
            <a:miter lim="800000"/>
          </a:ln>
          <a:effectLst>
            <a:outerShdw dist="35921" dir="2700000" algn="ctr" rotWithShape="0">
              <a:schemeClr val="bg2"/>
            </a:outerShdw>
          </a:effectLst>
        </p:spPr>
        <p:txBody>
          <a:bodyPr anchor="ctr">
            <a:spAutoFit/>
          </a:bodyPr>
          <a:lstStyle/>
          <a:p>
            <a:pPr>
              <a:lnSpc>
                <a:spcPct val="125000"/>
              </a:lnSpc>
              <a:spcBef>
                <a:spcPct val="50000"/>
              </a:spcBef>
              <a:defRPr/>
            </a:pPr>
            <a:r>
              <a:rPr lang="en-US" altLang="zh-CN" sz="2200" dirty="0">
                <a:solidFill>
                  <a:srgbClr val="990000"/>
                </a:solidFill>
                <a:latin typeface="楷体" panose="02010609060101010101" pitchFamily="49" charset="-122"/>
                <a:ea typeface="楷体" panose="02010609060101010101" pitchFamily="49" charset="-122"/>
              </a:rPr>
              <a:t>- </a:t>
            </a:r>
            <a:r>
              <a:rPr lang="zh-CN" altLang="en-US" sz="2200" dirty="0">
                <a:solidFill>
                  <a:srgbClr val="990000"/>
                </a:solidFill>
                <a:latin typeface="楷体" panose="02010609060101010101" pitchFamily="49" charset="-122"/>
                <a:ea typeface="楷体" panose="02010609060101010101" pitchFamily="49" charset="-122"/>
              </a:rPr>
              <a:t>资本主义社会存在着资产阶级和无产阶级两大阶级之间的矛盾和斗争</a:t>
            </a:r>
          </a:p>
        </p:txBody>
      </p:sp>
      <p:sp>
        <p:nvSpPr>
          <p:cNvPr id="50183" name="矩形 9"/>
          <p:cNvSpPr>
            <a:spLocks noChangeArrowheads="1"/>
          </p:cNvSpPr>
          <p:nvPr/>
        </p:nvSpPr>
        <p:spPr bwMode="auto">
          <a:xfrm>
            <a:off x="250825" y="333375"/>
            <a:ext cx="8394065" cy="706755"/>
          </a:xfrm>
          <a:prstGeom prst="rect">
            <a:avLst/>
          </a:prstGeom>
          <a:noFill/>
          <a:ln w="38100">
            <a:noFill/>
            <a:miter lim="800000"/>
          </a:ln>
        </p:spPr>
        <p:txBody>
          <a:bodyPr wrap="square">
            <a:spAutoFit/>
          </a:bodyPr>
          <a:lstStyle/>
          <a:p>
            <a:pPr>
              <a:lnSpc>
                <a:spcPct val="125000"/>
              </a:lnSpc>
              <a:spcBef>
                <a:spcPct val="50000"/>
              </a:spcBef>
            </a:pPr>
            <a:r>
              <a:rPr lang="zh-CN" altLang="en-US" sz="3200" noProof="1">
                <a:solidFill>
                  <a:schemeClr val="tx1"/>
                </a:solidFill>
                <a:latin typeface="幼圆" pitchFamily="49" charset="-122"/>
                <a:ea typeface="幼圆" pitchFamily="49" charset="-122"/>
              </a:rPr>
              <a:t>二、资本主义为社会主义所代替的历史必然性</a:t>
            </a:r>
          </a:p>
        </p:txBody>
      </p:sp>
      <p:sp>
        <p:nvSpPr>
          <p:cNvPr id="11" name="矩形 783366"/>
          <p:cNvSpPr>
            <a:spLocks noChangeArrowheads="1"/>
          </p:cNvSpPr>
          <p:nvPr/>
        </p:nvSpPr>
        <p:spPr bwMode="auto">
          <a:xfrm>
            <a:off x="250825" y="1143000"/>
            <a:ext cx="8393113" cy="714375"/>
          </a:xfrm>
          <a:prstGeom prst="rect">
            <a:avLst/>
          </a:prstGeom>
          <a:solidFill>
            <a:srgbClr val="B7E7D2"/>
          </a:solidFill>
          <a:ln w="9525">
            <a:noFill/>
            <a:miter lim="800000"/>
          </a:ln>
          <a:effectLst>
            <a:outerShdw dist="53882" dir="2700000" algn="ctr" rotWithShape="0">
              <a:schemeClr val="bg2"/>
            </a:outerShdw>
          </a:effectLst>
        </p:spPr>
        <p:txBody>
          <a:bodyPr/>
          <a:lstStyle/>
          <a:p>
            <a:pPr eaLnBrk="1" hangingPunct="1">
              <a:lnSpc>
                <a:spcPct val="125000"/>
              </a:lnSpc>
              <a:spcBef>
                <a:spcPct val="20000"/>
              </a:spcBef>
              <a:defRPr/>
            </a:pPr>
            <a:r>
              <a:rPr lang="zh-CN" altLang="en-US" sz="1800" dirty="0">
                <a:solidFill>
                  <a:srgbClr val="3333FF"/>
                </a:solidFill>
                <a:latin typeface="幼圆" pitchFamily="49" charset="-122"/>
                <a:ea typeface="幼圆" pitchFamily="49" charset="-122"/>
              </a:rPr>
              <a:t>从人类社会发展长河看，资本主义终究要被社会主义取代是历史发展的基本趋势。</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785411"/>
          <p:cNvSpPr>
            <a:spLocks noChangeArrowheads="1"/>
          </p:cNvSpPr>
          <p:nvPr/>
        </p:nvSpPr>
        <p:spPr bwMode="auto">
          <a:xfrm>
            <a:off x="323850" y="549275"/>
            <a:ext cx="7250113" cy="553085"/>
          </a:xfrm>
          <a:prstGeom prst="rect">
            <a:avLst/>
          </a:prstGeom>
          <a:solidFill>
            <a:srgbClr val="CCFFFF"/>
          </a:solidFill>
          <a:ln w="12700">
            <a:solidFill>
              <a:srgbClr val="FF3300"/>
            </a:solidFill>
            <a:miter lim="800000"/>
          </a:ln>
        </p:spPr>
        <p:txBody>
          <a:bodyPr>
            <a:spAutoFit/>
          </a:bodyPr>
          <a:lstStyle/>
          <a:p>
            <a:pPr eaLnBrk="1" hangingPunct="1">
              <a:lnSpc>
                <a:spcPct val="125000"/>
              </a:lnSpc>
              <a:spcBef>
                <a:spcPct val="50000"/>
              </a:spcBef>
            </a:pPr>
            <a:r>
              <a:rPr lang="zh-CN" altLang="en-US">
                <a:solidFill>
                  <a:srgbClr val="0000FF"/>
                </a:solidFill>
                <a:latin typeface="黑体" panose="02010609060101010101" pitchFamily="49" charset="-122"/>
                <a:ea typeface="黑体" panose="02010609060101010101" pitchFamily="49" charset="-122"/>
              </a:rPr>
              <a:t>社会主义代替资本主义是一个</a:t>
            </a:r>
            <a:r>
              <a:rPr lang="zh-CN" altLang="en-US">
                <a:solidFill>
                  <a:srgbClr val="FF0000"/>
                </a:solidFill>
                <a:latin typeface="黑体" panose="02010609060101010101" pitchFamily="49" charset="-122"/>
                <a:ea typeface="黑体" panose="02010609060101010101" pitchFamily="49" charset="-122"/>
              </a:rPr>
              <a:t>长期的历史过程</a:t>
            </a:r>
          </a:p>
        </p:txBody>
      </p:sp>
      <p:sp>
        <p:nvSpPr>
          <p:cNvPr id="84995" name="矩形 785412"/>
          <p:cNvSpPr>
            <a:spLocks noChangeArrowheads="1"/>
          </p:cNvSpPr>
          <p:nvPr/>
        </p:nvSpPr>
        <p:spPr bwMode="auto">
          <a:xfrm>
            <a:off x="377825" y="1614488"/>
            <a:ext cx="7197090" cy="937260"/>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任何社会形态的存在都有</a:t>
            </a:r>
            <a:r>
              <a:rPr lang="zh-CN" altLang="en-US" sz="2200">
                <a:solidFill>
                  <a:srgbClr val="0000FF"/>
                </a:solidFill>
                <a:latin typeface="隶书" pitchFamily="49" charset="-122"/>
                <a:ea typeface="幼圆" pitchFamily="49" charset="-122"/>
              </a:rPr>
              <a:t>相对稳定性</a:t>
            </a:r>
            <a:r>
              <a:rPr lang="zh-CN" altLang="en-US" sz="2200">
                <a:solidFill>
                  <a:srgbClr val="990000"/>
                </a:solidFill>
                <a:latin typeface="楷体" panose="02010609060101010101" pitchFamily="49" charset="-122"/>
                <a:ea typeface="楷体" panose="02010609060101010101" pitchFamily="49" charset="-122"/>
              </a:rPr>
              <a:t>，从产生到衰亡都要经过相当长的时间跨度</a:t>
            </a:r>
          </a:p>
        </p:txBody>
      </p:sp>
      <p:sp>
        <p:nvSpPr>
          <p:cNvPr id="84996" name="矩形 785413"/>
          <p:cNvSpPr>
            <a:spLocks noChangeArrowheads="1"/>
          </p:cNvSpPr>
          <p:nvPr/>
        </p:nvSpPr>
        <p:spPr bwMode="auto">
          <a:xfrm>
            <a:off x="445770" y="2853055"/>
            <a:ext cx="7197090" cy="514350"/>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资本主义发展</a:t>
            </a:r>
            <a:r>
              <a:rPr lang="zh-CN" altLang="en-US" sz="2200">
                <a:solidFill>
                  <a:srgbClr val="0000FF"/>
                </a:solidFill>
                <a:latin typeface="隶书" pitchFamily="49" charset="-122"/>
                <a:ea typeface="幼圆" pitchFamily="49" charset="-122"/>
              </a:rPr>
              <a:t>不平衡性</a:t>
            </a:r>
            <a:r>
              <a:rPr lang="zh-CN" altLang="en-US" sz="2200">
                <a:solidFill>
                  <a:srgbClr val="990000"/>
                </a:solidFill>
                <a:latin typeface="楷体" panose="02010609060101010101" pitchFamily="49" charset="-122"/>
                <a:ea typeface="楷体" panose="02010609060101010101" pitchFamily="49" charset="-122"/>
              </a:rPr>
              <a:t>决定了过渡的长期性</a:t>
            </a:r>
          </a:p>
        </p:txBody>
      </p:sp>
      <p:sp>
        <p:nvSpPr>
          <p:cNvPr id="84997" name="矩形 785414"/>
          <p:cNvSpPr>
            <a:spLocks noChangeArrowheads="1"/>
          </p:cNvSpPr>
          <p:nvPr/>
        </p:nvSpPr>
        <p:spPr bwMode="auto">
          <a:xfrm>
            <a:off x="468630" y="4000818"/>
            <a:ext cx="7105650" cy="937260"/>
          </a:xfrm>
          <a:prstGeom prst="rect">
            <a:avLst/>
          </a:prstGeom>
          <a:solidFill>
            <a:srgbClr val="FFFF99"/>
          </a:solidFill>
          <a:ln w="9525">
            <a:noFill/>
            <a:miter lim="800000"/>
          </a:ln>
          <a:effectLst>
            <a:outerShdw dist="35921" dir="2700000" algn="ctr" rotWithShape="0">
              <a:schemeClr val="bg2"/>
            </a:outerShdw>
          </a:effectLst>
        </p:spPr>
        <p:txBody>
          <a:bodyPr wrap="square" anchor="ctr">
            <a:spAutoFit/>
          </a:bodyPr>
          <a:lstStyle/>
          <a:p>
            <a:pPr>
              <a:lnSpc>
                <a:spcPct val="125000"/>
              </a:lnSpc>
              <a:spcBef>
                <a:spcPct val="50000"/>
              </a:spcBef>
              <a:defRPr/>
            </a:pPr>
            <a:r>
              <a:rPr lang="en-US" altLang="zh-CN" sz="2200"/>
              <a:t> </a:t>
            </a:r>
            <a:r>
              <a:rPr lang="en-US" altLang="zh-CN" sz="2200">
                <a:solidFill>
                  <a:srgbClr val="990000"/>
                </a:solidFill>
                <a:latin typeface="楷体" panose="02010609060101010101" pitchFamily="49" charset="-122"/>
                <a:ea typeface="楷体" panose="02010609060101010101" pitchFamily="49" charset="-122"/>
              </a:rPr>
              <a:t>- </a:t>
            </a:r>
            <a:r>
              <a:rPr lang="zh-CN" altLang="en-US" sz="2200">
                <a:solidFill>
                  <a:srgbClr val="990000"/>
                </a:solidFill>
                <a:latin typeface="楷体" panose="02010609060101010101" pitchFamily="49" charset="-122"/>
                <a:ea typeface="楷体" panose="02010609060101010101" pitchFamily="49" charset="-122"/>
              </a:rPr>
              <a:t>资本主义通过自我调节还能为生产力的发展提供一定的空间</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Q3ZmQ4NmNjOTNhM2YzOTQ2M2Y1ZTdjYTllZWQ0OT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2"/>
          </a:solidFill>
          <a:prstDash val="dashDot"/>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w="28575" cap="flat" cmpd="sng" algn="ctr">
          <a:solidFill>
            <a:schemeClr val="tx2"/>
          </a:solidFill>
          <a:prstDash val="dashDot"/>
          <a:round/>
          <a:headEnd type="none" w="med" len="med"/>
          <a:tailEnd type="none" w="med" len="med"/>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4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Balloons</Template>
  <TotalTime>6</TotalTime>
  <Words>4346</Words>
  <Application>Microsoft Office PowerPoint</Application>
  <PresentationFormat>全屏显示(4:3)</PresentationFormat>
  <Paragraphs>363</Paragraphs>
  <Slides>47</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47</vt:i4>
      </vt:variant>
    </vt:vector>
  </HeadingPairs>
  <TitlesOfParts>
    <vt:vector size="60" baseType="lpstr">
      <vt:lpstr>黑体</vt:lpstr>
      <vt:lpstr>华文行楷</vt:lpstr>
      <vt:lpstr>华文隶书</vt:lpstr>
      <vt:lpstr>华文新魏</vt:lpstr>
      <vt:lpstr>楷体</vt:lpstr>
      <vt:lpstr>楷体_GB2312</vt:lpstr>
      <vt:lpstr>隶书</vt:lpstr>
      <vt:lpstr>宋体</vt:lpstr>
      <vt:lpstr>幼圆</vt:lpstr>
      <vt:lpstr>Arial</vt:lpstr>
      <vt:lpstr>Times New Roman</vt:lpstr>
      <vt:lpstr>Verdana</vt:lpstr>
      <vt:lpstr>Balloons</vt:lpstr>
      <vt:lpstr>PowerPoint 演示文稿</vt:lpstr>
      <vt:lpstr>PowerPoint 演示文稿</vt:lpstr>
      <vt:lpstr>PowerPoint 演示文稿</vt:lpstr>
      <vt:lpstr>第一节 垄断资本主义的形成与发展</vt:lpstr>
      <vt:lpstr>一、资本主义从自由竞争到垄断</vt:lpstr>
      <vt:lpstr>PowerPoint 演示文稿</vt:lpstr>
      <vt:lpstr>（二）垄断条件下竞争的特点</vt:lpstr>
      <vt:lpstr>（三）金融资本与金融寡头</vt:lpstr>
      <vt:lpstr>（四）垄断利润和垄断价格</vt:lpstr>
      <vt:lpstr>垄断价格</vt:lpstr>
      <vt:lpstr>二、垄断资本主义的发展</vt:lpstr>
      <vt:lpstr>2.国家垄断资本主义形成和发展的原因</vt:lpstr>
      <vt:lpstr>3.国家垄断资本主义的主要形式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微软用户</cp:lastModifiedBy>
  <cp:revision>120</cp:revision>
  <dcterms:created xsi:type="dcterms:W3CDTF">2113-01-01T00:00:00Z</dcterms:created>
  <dcterms:modified xsi:type="dcterms:W3CDTF">2023-12-20T00:33:22Z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34B9BD6677844F62AF167F811F8A8BD2_12</vt:lpwstr>
  </property>
  <property fmtid="{D5CDD505-2E9C-101B-9397-08002B2CF9AE}" pid="3" name="KSOProductBuildVer">
    <vt:lpwstr>2052-12.1.0.15990</vt:lpwstr>
  </property>
</Properties>
</file>